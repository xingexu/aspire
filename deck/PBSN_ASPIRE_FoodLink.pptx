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Good afternoon. We’re Xinge, Nuo, Zohra and Ahana. We chose USC Food Support, and our plan is called FoodLink.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[0:10–0:30] Need for Food Support is broad but use is narrow, and the USC’s roadmap already calls for more awareness. FoodLink brings it to students: a USC Now tab, shelves co-run with faculty councils, and surplus from The Spoke and The Wave. We ask for an eleven-week, $6,900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[0:30–0:55] We chose Food Support because need is broad and use is narrow. Hamper demand more than doubled in 2023–24. Nationally, 40% of students skip meals because of cost; at TMU, half are food insecure but only one in five has used the food bank. And the USC’s roadmap already commits to raising awareness of Food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[0:55–1:25] We found four root causes. Awareness: students meet the USC at O-Week, when overload peaks, and the Food Support page still says requests reopen September 2025. Access: one basement room, 24 hours a week, and hampers take at least two days. Relevance: it’s built for a week of groceries, not a missed lunch. Perception: need goes unspoken.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[1:25–1:40] One finding shaped our design: the USC closed walk-ins because they were hard to organize. So FoodLink brings walk-up access back with the controls walk-ins lacked: counted restocks, live stock, one-tap reports and a safety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[1:40–2:05] FoodLink works in three ways. Find it: a tab in USC Now shows live stock, live drops and every option, so there is no new app. Bring it: walk-up shelves in faculty and affiliate buildings, co-run with their councils. Fuel it: sealed surplus from The Spoke, The Wave and catering. It all feeds one weekly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[2:05–3:20] LIVE DEMO, 75 seconds. Open the app’s Live demo page and press Reset demo first. The phone is what the FoodLink tab in USC Now would show. Step 1: a student reports the UCC canned protein empty, with no login. Step 2: a volunteer logs a restock; the phone updates and the dashboard records what was taken. Step 3: a café posts twelve sealed sandwiches; imagine The Wave’s catering leftovers. The app checks the food-safety rules first. Step 4: the student reserves one with an anonymous code. Step 5: switch to USC dashboard; every number we just created is there, on top of simulated history. If the network fails, narrate the steps from this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[3:20–3:40] Will students use it? We have no Western data yet, so here is the closest evidence. Anonymous pantries at VCU were opened over five thousand times in a year with little misuse. Alberta’s walk-up pantry emptied in hours. Laurier’s free weekly distribution drew up to 200 students a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[3:40–4:05] For awareness we use messengers students already trust, as the case suggests. Council reps host shelves in their buildings. Sophs and dons show FoodLink on residence floors. Club executives post event leftovers as drops. And USC Now pushes live drops at the moments that matter: exam weeks, late nights and weekends.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[4:05–4:30] The USC’s businesses are its most frequent contact with students, so we put them to work. The Spoke and The Wave post sealed surplus as drops instead of wasting it. UCC tenants sponsor stock. A Purple Store tote makes carrying food look like shopping. O-Week and PurpleFest give launch moments, and Free the Dot stocks period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[4:30–4:55] The case warns about a crowded campus, so FoodLink adds engagement instead of moving it. Shelves cover today and hampers cover the week, and we track hamper requests. It’s one front door inside USC Now. Every shelf points to Peer Support and Free the Dot. And with 16 Council seats vacant, our volunteers are the USC’s next candidates.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[4:55–5:20] The pilot costs $6,900 for eleven weeks, under 20 cents per undergraduate. The biggest line is a part-time coordinator, priced at a third of the USC’s own $9,000 coordinator roles. The Student Life budget covers $4,900; host councils and a UCC tenant sponsor cover the rest, and the food from The Spoke and The Wave is surplus.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[5:20–5:45] We will measure engagement, not just food. Awareness from a USC Now poll, aiming fifteen points above January. A thousand items and 150 surplus portions. Two councils, ten clubs, three USC units. Thirty volunteers. Hamper requests must not fall, and safety incidents stay at zero. At week eleven we expand if five of six goals are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[5:45–6:10] In November we get approval, sign partners and add the USC Now tab. In December’s exams, surplus drops are a quick win, and we take a baseline poll. The pilot runs January to March. In April we report to Council and hand over to next year’s team, and if it works, every first-year meets FoodLink at O-Week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[6:10–6:30] The biggest risk is turnover, so councils own their shelves, the coordinator role carries over, and the app keeps the records and the playbook. If FoodLink only shifted students from hampers, the weekly numbers would show it. Food safety, stigma and site approval each have a control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[6:30–7:00] Our ask: approve an eleven-week pilot with $4,900 from the Student Life budget, two host councils, and introductions to The Spoke, The Wave and a UCC tenant. FoodLink keeps everything Food Support does today and brings it to where students already are, and the app is already built. Thank you;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SWOT, if a judge asks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How access narrowed,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Use only if a judge asks where a number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Bases for each budget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Why not something simpler.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Short answers for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13425"/>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685800" y="6382512"/>
            <a:ext cx="10820095" cy="0"/>
          </a:xfrm>
          <a:prstGeom prst="line">
            <a:avLst/>
          </a:prstGeom>
          <a:noFill/>
          <a:ln w="9525">
            <a:solidFill>
              <a:srgbClr val="D9D4C7"/>
            </a:solidFill>
            <a:prstDash val="solid"/>
          </a:ln>
        </p:spPr>
      </p:sp>
      <p:sp>
        <p:nvSpPr>
          <p:cNvPr id="3" name="Text 1"/>
          <p:cNvSpPr/>
          <p:nvPr/>
        </p:nvSpPr>
        <p:spPr>
          <a:xfrm>
            <a:off x="685800" y="6455664"/>
            <a:ext cx="1463040" cy="274320"/>
          </a:xfrm>
          <a:prstGeom prst="rect">
            <a:avLst/>
          </a:prstGeom>
          <a:noFill/>
          <a:ln/>
        </p:spPr>
        <p:txBody>
          <a:bodyPr wrap="square" lIns="0" tIns="0" rIns="0" bIns="0" rtlCol="0" anchor="ctr"/>
          <a:lstStyle/>
          <a:p>
            <a:pPr indent="0" marL="0">
              <a:buNone/>
            </a:pPr>
            <a:r>
              <a:rPr lang="en-US" sz="1200" b="1" dirty="0">
                <a:solidFill>
                  <a:srgbClr val="15201A"/>
                </a:solidFill>
                <a:latin typeface="Schibsted Grotesk" pitchFamily="34" charset="0"/>
                <a:ea typeface="Schibsted Grotesk" pitchFamily="34" charset="-122"/>
                <a:cs typeface="Schibsted Grotesk" pitchFamily="34" charset="-120"/>
              </a:rPr>
              <a:t>FoodLink</a:t>
            </a:r>
            <a:endParaRPr lang="en-US" sz="1200" dirty="0"/>
          </a:p>
        </p:txBody>
      </p:sp>
      <p:sp>
        <p:nvSpPr>
          <p:cNvPr id="4" name="Text 2"/>
          <p:cNvSpPr/>
          <p:nvPr/>
        </p:nvSpPr>
        <p:spPr>
          <a:xfrm>
            <a:off x="3553816" y="6455664"/>
            <a:ext cx="1188720" cy="274320"/>
          </a:xfrm>
          <a:prstGeom prst="rect">
            <a:avLst/>
          </a:prstGeom>
          <a:noFill/>
          <a:ln/>
        </p:spPr>
        <p:txBody>
          <a:bodyPr wrap="square" lIns="0" tIns="0" rIns="0" bIns="0" rtlCol="0" anchor="ctr"/>
          <a:lstStyle/>
          <a:p>
            <a:pPr algn="ctr" indent="0" marL="0">
              <a:buNone/>
            </a:pPr>
            <a:r>
              <a:rPr lang="en-US" sz="1100" dirty="0">
                <a:solidFill>
                  <a:srgbClr val="68716A"/>
                </a:solidFill>
                <a:latin typeface="Schibsted Grotesk" pitchFamily="34" charset="0"/>
                <a:ea typeface="Schibsted Grotesk" pitchFamily="34" charset="-122"/>
                <a:cs typeface="Schibsted Grotesk" pitchFamily="34" charset="-120"/>
              </a:rPr>
              <a:t>Diagnosis</a:t>
            </a:r>
            <a:endParaRPr lang="en-US" sz="1100" dirty="0"/>
          </a:p>
        </p:txBody>
      </p:sp>
      <p:sp>
        <p:nvSpPr>
          <p:cNvPr id="5" name="Text 3"/>
          <p:cNvSpPr/>
          <p:nvPr/>
        </p:nvSpPr>
        <p:spPr>
          <a:xfrm>
            <a:off x="4852264" y="6455664"/>
            <a:ext cx="1188720" cy="274320"/>
          </a:xfrm>
          <a:prstGeom prst="rect">
            <a:avLst/>
          </a:prstGeom>
          <a:noFill/>
          <a:ln/>
        </p:spPr>
        <p:txBody>
          <a:bodyPr wrap="square" lIns="0" tIns="0" rIns="0" bIns="0" rtlCol="0" anchor="ctr"/>
          <a:lstStyle/>
          <a:p>
            <a:pPr algn="ctr" indent="0" marL="0">
              <a:buNone/>
            </a:pPr>
            <a:r>
              <a:rPr lang="en-US" sz="1100" dirty="0">
                <a:solidFill>
                  <a:srgbClr val="68716A"/>
                </a:solidFill>
                <a:latin typeface="Schibsted Grotesk" pitchFamily="34" charset="0"/>
                <a:ea typeface="Schibsted Grotesk" pitchFamily="34" charset="-122"/>
                <a:cs typeface="Schibsted Grotesk" pitchFamily="34" charset="-120"/>
              </a:rPr>
              <a:t>Solution</a:t>
            </a:r>
            <a:endParaRPr lang="en-US" sz="1100" dirty="0"/>
          </a:p>
        </p:txBody>
      </p:sp>
      <p:sp>
        <p:nvSpPr>
          <p:cNvPr id="6" name="Text 4"/>
          <p:cNvSpPr/>
          <p:nvPr/>
        </p:nvSpPr>
        <p:spPr>
          <a:xfrm>
            <a:off x="6150712" y="6455664"/>
            <a:ext cx="1188720" cy="274320"/>
          </a:xfrm>
          <a:prstGeom prst="rect">
            <a:avLst/>
          </a:prstGeom>
          <a:noFill/>
          <a:ln/>
        </p:spPr>
        <p:txBody>
          <a:bodyPr wrap="square" lIns="0" tIns="0" rIns="0" bIns="0" rtlCol="0" anchor="ctr"/>
          <a:lstStyle/>
          <a:p>
            <a:pPr algn="ctr" indent="0" marL="0">
              <a:buNone/>
            </a:pPr>
            <a:r>
              <a:rPr lang="en-US" sz="1100" dirty="0">
                <a:solidFill>
                  <a:srgbClr val="68716A"/>
                </a:solidFill>
                <a:latin typeface="Schibsted Grotesk" pitchFamily="34" charset="0"/>
                <a:ea typeface="Schibsted Grotesk" pitchFamily="34" charset="-122"/>
                <a:cs typeface="Schibsted Grotesk" pitchFamily="34" charset="-120"/>
              </a:rPr>
              <a:t>Engagement</a:t>
            </a:r>
            <a:endParaRPr lang="en-US" sz="1100" dirty="0"/>
          </a:p>
        </p:txBody>
      </p:sp>
      <p:sp>
        <p:nvSpPr>
          <p:cNvPr id="7" name="Text 5"/>
          <p:cNvSpPr/>
          <p:nvPr/>
        </p:nvSpPr>
        <p:spPr>
          <a:xfrm>
            <a:off x="7449160" y="6455664"/>
            <a:ext cx="1188720" cy="274320"/>
          </a:xfrm>
          <a:prstGeom prst="rect">
            <a:avLst/>
          </a:prstGeom>
          <a:noFill/>
          <a:ln/>
        </p:spPr>
        <p:txBody>
          <a:bodyPr wrap="square" lIns="0" tIns="0" rIns="0" bIns="0" rtlCol="0" anchor="ctr"/>
          <a:lstStyle/>
          <a:p>
            <a:pPr algn="ctr" indent="0" marL="0">
              <a:buNone/>
            </a:pPr>
            <a:r>
              <a:rPr lang="en-US" sz="1100" dirty="0">
                <a:solidFill>
                  <a:srgbClr val="68716A"/>
                </a:solidFill>
                <a:latin typeface="Schibsted Grotesk" pitchFamily="34" charset="0"/>
                <a:ea typeface="Schibsted Grotesk" pitchFamily="34" charset="-122"/>
                <a:cs typeface="Schibsted Grotesk" pitchFamily="34" charset="-120"/>
              </a:rPr>
              <a:t>Execution</a:t>
            </a:r>
            <a:endParaRPr lang="en-US" sz="1100" dirty="0"/>
          </a:p>
        </p:txBody>
      </p:sp>
      <p:sp>
        <p:nvSpPr>
          <p:cNvPr id="8" name="Text 6"/>
          <p:cNvSpPr/>
          <p:nvPr>
            <p:ph idx="106" type="title" hasCustomPrompt="1"/>
          </p:nvPr>
        </p:nvSpPr>
        <p:spPr>
          <a:xfrm>
            <a:off x="685800" y="502920"/>
            <a:ext cx="10241280" cy="1188720"/>
          </a:xfrm>
          <a:prstGeom prst="rect">
            <a:avLst/>
          </a:prstGeom>
          <a:noFill/>
          <a:ln/>
        </p:spPr>
        <p:txBody>
          <a:bodyPr wrap="square" rtlCol="0"/>
          <a:lstStyle>
            <a:lvl1pPr algn="l" indent="0" marL="0">
              <a:lnSpc>
                <a:spcPct val="95000"/>
              </a:lnSpc>
              <a:buNone/>
              <a:defRPr lang="en-US" sz="3400" b="1" dirty="0">
                <a:solidFill>
                  <a:srgbClr val="15201A"/>
                </a:solidFill>
                <a:latin typeface="Schibsted Grotesk" pitchFamily="34" charset="0"/>
                <a:ea typeface="Schibsted Grotesk" pitchFamily="34" charset="-122"/>
                <a:cs typeface="Schibsted Grotesk" pitchFamily="34" charset="-120"/>
              </a:defRPr>
            </a:lvl1pPr>
          </a:lstStyle>
          <a:p>
            <a:pPr algn="l" indent="0" marL="0">
              <a:lnSpc>
                <a:spcPct val="95000"/>
              </a:lnSpc>
              <a:buNone/>
            </a:pPr>
            <a:endParaRPr lang="en-US" sz="34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GNOSIS">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685800" y="6382512"/>
            <a:ext cx="10820095" cy="0"/>
          </a:xfrm>
          <a:prstGeom prst="line">
            <a:avLst/>
          </a:prstGeom>
          <a:noFill/>
          <a:ln w="9525">
            <a:solidFill>
              <a:srgbClr val="D9D4C7"/>
            </a:solidFill>
            <a:prstDash val="solid"/>
          </a:ln>
        </p:spPr>
      </p:sp>
      <p:sp>
        <p:nvSpPr>
          <p:cNvPr id="3" name="Text 1"/>
          <p:cNvSpPr/>
          <p:nvPr/>
        </p:nvSpPr>
        <p:spPr>
          <a:xfrm>
            <a:off x="685800" y="6455664"/>
            <a:ext cx="1463040" cy="274320"/>
          </a:xfrm>
          <a:prstGeom prst="rect">
            <a:avLst/>
          </a:prstGeom>
          <a:noFill/>
          <a:ln/>
        </p:spPr>
        <p:txBody>
          <a:bodyPr wrap="square" lIns="0" tIns="0" rIns="0" bIns="0" rtlCol="0" anchor="ctr"/>
          <a:lstStyle/>
          <a:p>
            <a:pPr indent="0" marL="0">
              <a:buNone/>
            </a:pPr>
            <a:r>
              <a:rPr lang="en-US" sz="1200" b="1" dirty="0">
                <a:solidFill>
                  <a:srgbClr val="15201A"/>
                </a:solidFill>
                <a:latin typeface="Schibsted Grotesk" pitchFamily="34" charset="0"/>
                <a:ea typeface="Schibsted Grotesk" pitchFamily="34" charset="-122"/>
                <a:cs typeface="Schibsted Grotesk" pitchFamily="34" charset="-120"/>
              </a:rPr>
              <a:t>FoodLink</a:t>
            </a:r>
            <a:endParaRPr lang="en-US" sz="1200" dirty="0"/>
          </a:p>
        </p:txBody>
      </p:sp>
      <p:sp>
        <p:nvSpPr>
          <p:cNvPr id="4" name="Shape 2"/>
          <p:cNvSpPr/>
          <p:nvPr/>
        </p:nvSpPr>
        <p:spPr>
          <a:xfrm>
            <a:off x="3736696" y="6359652"/>
            <a:ext cx="822960" cy="45720"/>
          </a:xfrm>
          <a:prstGeom prst="rect">
            <a:avLst/>
          </a:prstGeom>
          <a:solidFill>
            <a:srgbClr val="A97A2F"/>
          </a:solidFill>
          <a:ln w="12700">
            <a:solidFill>
              <a:srgbClr val="A97A2F"/>
            </a:solidFill>
            <a:prstDash val="solid"/>
          </a:ln>
        </p:spPr>
      </p:sp>
      <p:sp>
        <p:nvSpPr>
          <p:cNvPr id="5" name="Text 3"/>
          <p:cNvSpPr/>
          <p:nvPr/>
        </p:nvSpPr>
        <p:spPr>
          <a:xfrm>
            <a:off x="3553816" y="6455664"/>
            <a:ext cx="1188720" cy="274320"/>
          </a:xfrm>
          <a:prstGeom prst="rect">
            <a:avLst/>
          </a:prstGeom>
          <a:noFill/>
          <a:ln/>
        </p:spPr>
        <p:txBody>
          <a:bodyPr wrap="square" lIns="0" tIns="0" rIns="0" bIns="0" rtlCol="0" anchor="ctr"/>
          <a:lstStyle/>
          <a:p>
            <a:pPr algn="ctr" indent="0" marL="0">
              <a:buNone/>
            </a:pPr>
            <a:r>
              <a:rPr lang="en-US" sz="1100" b="1" dirty="0">
                <a:solidFill>
                  <a:srgbClr val="15201A"/>
                </a:solidFill>
                <a:latin typeface="Schibsted Grotesk" pitchFamily="34" charset="0"/>
                <a:ea typeface="Schibsted Grotesk" pitchFamily="34" charset="-122"/>
                <a:cs typeface="Schibsted Grotesk" pitchFamily="34" charset="-120"/>
              </a:rPr>
              <a:t>Diagnosis</a:t>
            </a:r>
            <a:endParaRPr lang="en-US" sz="1100" dirty="0"/>
          </a:p>
        </p:txBody>
      </p:sp>
      <p:sp>
        <p:nvSpPr>
          <p:cNvPr id="6" name="Text 4"/>
          <p:cNvSpPr/>
          <p:nvPr/>
        </p:nvSpPr>
        <p:spPr>
          <a:xfrm>
            <a:off x="4852264" y="6455664"/>
            <a:ext cx="1188720" cy="274320"/>
          </a:xfrm>
          <a:prstGeom prst="rect">
            <a:avLst/>
          </a:prstGeom>
          <a:noFill/>
          <a:ln/>
        </p:spPr>
        <p:txBody>
          <a:bodyPr wrap="square" lIns="0" tIns="0" rIns="0" bIns="0" rtlCol="0" anchor="ctr"/>
          <a:lstStyle/>
          <a:p>
            <a:pPr algn="ctr" indent="0" marL="0">
              <a:buNone/>
            </a:pPr>
            <a:r>
              <a:rPr lang="en-US" sz="1100" dirty="0">
                <a:solidFill>
                  <a:srgbClr val="68716A"/>
                </a:solidFill>
                <a:latin typeface="Schibsted Grotesk" pitchFamily="34" charset="0"/>
                <a:ea typeface="Schibsted Grotesk" pitchFamily="34" charset="-122"/>
                <a:cs typeface="Schibsted Grotesk" pitchFamily="34" charset="-120"/>
              </a:rPr>
              <a:t>Solution</a:t>
            </a:r>
            <a:endParaRPr lang="en-US" sz="1100" dirty="0"/>
          </a:p>
        </p:txBody>
      </p:sp>
      <p:sp>
        <p:nvSpPr>
          <p:cNvPr id="7" name="Text 5"/>
          <p:cNvSpPr/>
          <p:nvPr/>
        </p:nvSpPr>
        <p:spPr>
          <a:xfrm>
            <a:off x="6150712" y="6455664"/>
            <a:ext cx="1188720" cy="274320"/>
          </a:xfrm>
          <a:prstGeom prst="rect">
            <a:avLst/>
          </a:prstGeom>
          <a:noFill/>
          <a:ln/>
        </p:spPr>
        <p:txBody>
          <a:bodyPr wrap="square" lIns="0" tIns="0" rIns="0" bIns="0" rtlCol="0" anchor="ctr"/>
          <a:lstStyle/>
          <a:p>
            <a:pPr algn="ctr" indent="0" marL="0">
              <a:buNone/>
            </a:pPr>
            <a:r>
              <a:rPr lang="en-US" sz="1100" dirty="0">
                <a:solidFill>
                  <a:srgbClr val="68716A"/>
                </a:solidFill>
                <a:latin typeface="Schibsted Grotesk" pitchFamily="34" charset="0"/>
                <a:ea typeface="Schibsted Grotesk" pitchFamily="34" charset="-122"/>
                <a:cs typeface="Schibsted Grotesk" pitchFamily="34" charset="-120"/>
              </a:rPr>
              <a:t>Engagement</a:t>
            </a:r>
            <a:endParaRPr lang="en-US" sz="1100" dirty="0"/>
          </a:p>
        </p:txBody>
      </p:sp>
      <p:sp>
        <p:nvSpPr>
          <p:cNvPr id="8" name="Text 6"/>
          <p:cNvSpPr/>
          <p:nvPr/>
        </p:nvSpPr>
        <p:spPr>
          <a:xfrm>
            <a:off x="7449160" y="6455664"/>
            <a:ext cx="1188720" cy="274320"/>
          </a:xfrm>
          <a:prstGeom prst="rect">
            <a:avLst/>
          </a:prstGeom>
          <a:noFill/>
          <a:ln/>
        </p:spPr>
        <p:txBody>
          <a:bodyPr wrap="square" lIns="0" tIns="0" rIns="0" bIns="0" rtlCol="0" anchor="ctr"/>
          <a:lstStyle/>
          <a:p>
            <a:pPr algn="ctr" indent="0" marL="0">
              <a:buNone/>
            </a:pPr>
            <a:r>
              <a:rPr lang="en-US" sz="1100" dirty="0">
                <a:solidFill>
                  <a:srgbClr val="68716A"/>
                </a:solidFill>
                <a:latin typeface="Schibsted Grotesk" pitchFamily="34" charset="0"/>
                <a:ea typeface="Schibsted Grotesk" pitchFamily="34" charset="-122"/>
                <a:cs typeface="Schibsted Grotesk" pitchFamily="34" charset="-120"/>
              </a:rPr>
              <a:t>Execution</a:t>
            </a:r>
            <a:endParaRPr lang="en-US" sz="1100" dirty="0"/>
          </a:p>
        </p:txBody>
      </p:sp>
      <p:sp>
        <p:nvSpPr>
          <p:cNvPr id="9" name="Text 7"/>
          <p:cNvSpPr/>
          <p:nvPr>
            <p:ph idx="107" type="title" hasCustomPrompt="1"/>
          </p:nvPr>
        </p:nvSpPr>
        <p:spPr>
          <a:xfrm>
            <a:off x="685800" y="502920"/>
            <a:ext cx="10241280" cy="1188720"/>
          </a:xfrm>
          <a:prstGeom prst="rect">
            <a:avLst/>
          </a:prstGeom>
          <a:noFill/>
          <a:ln/>
        </p:spPr>
        <p:txBody>
          <a:bodyPr wrap="square" rtlCol="0"/>
          <a:lstStyle>
            <a:lvl1pPr algn="l" indent="0" marL="0">
              <a:lnSpc>
                <a:spcPct val="95000"/>
              </a:lnSpc>
              <a:buNone/>
              <a:defRPr lang="en-US" sz="3400" b="1" dirty="0">
                <a:solidFill>
                  <a:srgbClr val="15201A"/>
                </a:solidFill>
                <a:latin typeface="Schibsted Grotesk" pitchFamily="34" charset="0"/>
                <a:ea typeface="Schibsted Grotesk" pitchFamily="34" charset="-122"/>
                <a:cs typeface="Schibsted Grotesk" pitchFamily="34" charset="-120"/>
              </a:defRPr>
            </a:lvl1pPr>
          </a:lstStyle>
          <a:p>
            <a:pPr algn="l" indent="0" marL="0">
              <a:lnSpc>
                <a:spcPct val="95000"/>
              </a:lnSpc>
              <a:buNone/>
            </a:pPr>
            <a:endParaRPr lang="en-US" sz="34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OLUTION">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685800" y="6382512"/>
            <a:ext cx="10820095" cy="0"/>
          </a:xfrm>
          <a:prstGeom prst="line">
            <a:avLst/>
          </a:prstGeom>
          <a:noFill/>
          <a:ln w="9525">
            <a:solidFill>
              <a:srgbClr val="D9D4C7"/>
            </a:solidFill>
            <a:prstDash val="solid"/>
          </a:ln>
        </p:spPr>
      </p:sp>
      <p:sp>
        <p:nvSpPr>
          <p:cNvPr id="3" name="Text 1"/>
          <p:cNvSpPr/>
          <p:nvPr/>
        </p:nvSpPr>
        <p:spPr>
          <a:xfrm>
            <a:off x="685800" y="6455664"/>
            <a:ext cx="1463040" cy="274320"/>
          </a:xfrm>
          <a:prstGeom prst="rect">
            <a:avLst/>
          </a:prstGeom>
          <a:noFill/>
          <a:ln/>
        </p:spPr>
        <p:txBody>
          <a:bodyPr wrap="square" lIns="0" tIns="0" rIns="0" bIns="0" rtlCol="0" anchor="ctr"/>
          <a:lstStyle/>
          <a:p>
            <a:pPr indent="0" marL="0">
              <a:buNone/>
            </a:pPr>
            <a:r>
              <a:rPr lang="en-US" sz="1200" b="1" dirty="0">
                <a:solidFill>
                  <a:srgbClr val="15201A"/>
                </a:solidFill>
                <a:latin typeface="Schibsted Grotesk" pitchFamily="34" charset="0"/>
                <a:ea typeface="Schibsted Grotesk" pitchFamily="34" charset="-122"/>
                <a:cs typeface="Schibsted Grotesk" pitchFamily="34" charset="-120"/>
              </a:rPr>
              <a:t>FoodLink</a:t>
            </a:r>
            <a:endParaRPr lang="en-US" sz="1200" dirty="0"/>
          </a:p>
        </p:txBody>
      </p:sp>
      <p:sp>
        <p:nvSpPr>
          <p:cNvPr id="4" name="Text 2"/>
          <p:cNvSpPr/>
          <p:nvPr/>
        </p:nvSpPr>
        <p:spPr>
          <a:xfrm>
            <a:off x="3553816" y="6455664"/>
            <a:ext cx="1188720" cy="274320"/>
          </a:xfrm>
          <a:prstGeom prst="rect">
            <a:avLst/>
          </a:prstGeom>
          <a:noFill/>
          <a:ln/>
        </p:spPr>
        <p:txBody>
          <a:bodyPr wrap="square" lIns="0" tIns="0" rIns="0" bIns="0" rtlCol="0" anchor="ctr"/>
          <a:lstStyle/>
          <a:p>
            <a:pPr algn="ctr" indent="0" marL="0">
              <a:buNone/>
            </a:pPr>
            <a:r>
              <a:rPr lang="en-US" sz="1100" dirty="0">
                <a:solidFill>
                  <a:srgbClr val="68716A"/>
                </a:solidFill>
                <a:latin typeface="Schibsted Grotesk" pitchFamily="34" charset="0"/>
                <a:ea typeface="Schibsted Grotesk" pitchFamily="34" charset="-122"/>
                <a:cs typeface="Schibsted Grotesk" pitchFamily="34" charset="-120"/>
              </a:rPr>
              <a:t>Diagnosis</a:t>
            </a:r>
            <a:endParaRPr lang="en-US" sz="1100" dirty="0"/>
          </a:p>
        </p:txBody>
      </p:sp>
      <p:sp>
        <p:nvSpPr>
          <p:cNvPr id="5" name="Shape 3"/>
          <p:cNvSpPr/>
          <p:nvPr/>
        </p:nvSpPr>
        <p:spPr>
          <a:xfrm>
            <a:off x="5035144" y="6359652"/>
            <a:ext cx="822960" cy="45720"/>
          </a:xfrm>
          <a:prstGeom prst="rect">
            <a:avLst/>
          </a:prstGeom>
          <a:solidFill>
            <a:srgbClr val="A97A2F"/>
          </a:solidFill>
          <a:ln w="12700">
            <a:solidFill>
              <a:srgbClr val="A97A2F"/>
            </a:solidFill>
            <a:prstDash val="solid"/>
          </a:ln>
        </p:spPr>
      </p:sp>
      <p:sp>
        <p:nvSpPr>
          <p:cNvPr id="6" name="Text 4"/>
          <p:cNvSpPr/>
          <p:nvPr/>
        </p:nvSpPr>
        <p:spPr>
          <a:xfrm>
            <a:off x="4852264" y="6455664"/>
            <a:ext cx="1188720" cy="274320"/>
          </a:xfrm>
          <a:prstGeom prst="rect">
            <a:avLst/>
          </a:prstGeom>
          <a:noFill/>
          <a:ln/>
        </p:spPr>
        <p:txBody>
          <a:bodyPr wrap="square" lIns="0" tIns="0" rIns="0" bIns="0" rtlCol="0" anchor="ctr"/>
          <a:lstStyle/>
          <a:p>
            <a:pPr algn="ctr" indent="0" marL="0">
              <a:buNone/>
            </a:pPr>
            <a:r>
              <a:rPr lang="en-US" sz="1100" b="1" dirty="0">
                <a:solidFill>
                  <a:srgbClr val="15201A"/>
                </a:solidFill>
                <a:latin typeface="Schibsted Grotesk" pitchFamily="34" charset="0"/>
                <a:ea typeface="Schibsted Grotesk" pitchFamily="34" charset="-122"/>
                <a:cs typeface="Schibsted Grotesk" pitchFamily="34" charset="-120"/>
              </a:rPr>
              <a:t>Solution</a:t>
            </a:r>
            <a:endParaRPr lang="en-US" sz="1100" dirty="0"/>
          </a:p>
        </p:txBody>
      </p:sp>
      <p:sp>
        <p:nvSpPr>
          <p:cNvPr id="7" name="Text 5"/>
          <p:cNvSpPr/>
          <p:nvPr/>
        </p:nvSpPr>
        <p:spPr>
          <a:xfrm>
            <a:off x="6150712" y="6455664"/>
            <a:ext cx="1188720" cy="274320"/>
          </a:xfrm>
          <a:prstGeom prst="rect">
            <a:avLst/>
          </a:prstGeom>
          <a:noFill/>
          <a:ln/>
        </p:spPr>
        <p:txBody>
          <a:bodyPr wrap="square" lIns="0" tIns="0" rIns="0" bIns="0" rtlCol="0" anchor="ctr"/>
          <a:lstStyle/>
          <a:p>
            <a:pPr algn="ctr" indent="0" marL="0">
              <a:buNone/>
            </a:pPr>
            <a:r>
              <a:rPr lang="en-US" sz="1100" dirty="0">
                <a:solidFill>
                  <a:srgbClr val="68716A"/>
                </a:solidFill>
                <a:latin typeface="Schibsted Grotesk" pitchFamily="34" charset="0"/>
                <a:ea typeface="Schibsted Grotesk" pitchFamily="34" charset="-122"/>
                <a:cs typeface="Schibsted Grotesk" pitchFamily="34" charset="-120"/>
              </a:rPr>
              <a:t>Engagement</a:t>
            </a:r>
            <a:endParaRPr lang="en-US" sz="1100" dirty="0"/>
          </a:p>
        </p:txBody>
      </p:sp>
      <p:sp>
        <p:nvSpPr>
          <p:cNvPr id="8" name="Text 6"/>
          <p:cNvSpPr/>
          <p:nvPr/>
        </p:nvSpPr>
        <p:spPr>
          <a:xfrm>
            <a:off x="7449160" y="6455664"/>
            <a:ext cx="1188720" cy="274320"/>
          </a:xfrm>
          <a:prstGeom prst="rect">
            <a:avLst/>
          </a:prstGeom>
          <a:noFill/>
          <a:ln/>
        </p:spPr>
        <p:txBody>
          <a:bodyPr wrap="square" lIns="0" tIns="0" rIns="0" bIns="0" rtlCol="0" anchor="ctr"/>
          <a:lstStyle/>
          <a:p>
            <a:pPr algn="ctr" indent="0" marL="0">
              <a:buNone/>
            </a:pPr>
            <a:r>
              <a:rPr lang="en-US" sz="1100" dirty="0">
                <a:solidFill>
                  <a:srgbClr val="68716A"/>
                </a:solidFill>
                <a:latin typeface="Schibsted Grotesk" pitchFamily="34" charset="0"/>
                <a:ea typeface="Schibsted Grotesk" pitchFamily="34" charset="-122"/>
                <a:cs typeface="Schibsted Grotesk" pitchFamily="34" charset="-120"/>
              </a:rPr>
              <a:t>Execution</a:t>
            </a:r>
            <a:endParaRPr lang="en-US" sz="1100" dirty="0"/>
          </a:p>
        </p:txBody>
      </p:sp>
      <p:sp>
        <p:nvSpPr>
          <p:cNvPr id="9" name="Text 7"/>
          <p:cNvSpPr/>
          <p:nvPr>
            <p:ph idx="107" type="title" hasCustomPrompt="1"/>
          </p:nvPr>
        </p:nvSpPr>
        <p:spPr>
          <a:xfrm>
            <a:off x="685800" y="502920"/>
            <a:ext cx="10241280" cy="1188720"/>
          </a:xfrm>
          <a:prstGeom prst="rect">
            <a:avLst/>
          </a:prstGeom>
          <a:noFill/>
          <a:ln/>
        </p:spPr>
        <p:txBody>
          <a:bodyPr wrap="square" rtlCol="0"/>
          <a:lstStyle>
            <a:lvl1pPr algn="l" indent="0" marL="0">
              <a:lnSpc>
                <a:spcPct val="95000"/>
              </a:lnSpc>
              <a:buNone/>
              <a:defRPr lang="en-US" sz="3400" b="1" dirty="0">
                <a:solidFill>
                  <a:srgbClr val="15201A"/>
                </a:solidFill>
                <a:latin typeface="Schibsted Grotesk" pitchFamily="34" charset="0"/>
                <a:ea typeface="Schibsted Grotesk" pitchFamily="34" charset="-122"/>
                <a:cs typeface="Schibsted Grotesk" pitchFamily="34" charset="-120"/>
              </a:defRPr>
            </a:lvl1pPr>
          </a:lstStyle>
          <a:p>
            <a:pPr algn="l" indent="0" marL="0">
              <a:lnSpc>
                <a:spcPct val="95000"/>
              </a:lnSpc>
              <a:buNone/>
            </a:pPr>
            <a:endParaRPr lang="en-US" sz="34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GAGEMENT">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685800" y="6382512"/>
            <a:ext cx="10820095" cy="0"/>
          </a:xfrm>
          <a:prstGeom prst="line">
            <a:avLst/>
          </a:prstGeom>
          <a:noFill/>
          <a:ln w="9525">
            <a:solidFill>
              <a:srgbClr val="D9D4C7"/>
            </a:solidFill>
            <a:prstDash val="solid"/>
          </a:ln>
        </p:spPr>
      </p:sp>
      <p:sp>
        <p:nvSpPr>
          <p:cNvPr id="3" name="Text 1"/>
          <p:cNvSpPr/>
          <p:nvPr/>
        </p:nvSpPr>
        <p:spPr>
          <a:xfrm>
            <a:off x="685800" y="6455664"/>
            <a:ext cx="1463040" cy="274320"/>
          </a:xfrm>
          <a:prstGeom prst="rect">
            <a:avLst/>
          </a:prstGeom>
          <a:noFill/>
          <a:ln/>
        </p:spPr>
        <p:txBody>
          <a:bodyPr wrap="square" lIns="0" tIns="0" rIns="0" bIns="0" rtlCol="0" anchor="ctr"/>
          <a:lstStyle/>
          <a:p>
            <a:pPr indent="0" marL="0">
              <a:buNone/>
            </a:pPr>
            <a:r>
              <a:rPr lang="en-US" sz="1200" b="1" dirty="0">
                <a:solidFill>
                  <a:srgbClr val="15201A"/>
                </a:solidFill>
                <a:latin typeface="Schibsted Grotesk" pitchFamily="34" charset="0"/>
                <a:ea typeface="Schibsted Grotesk" pitchFamily="34" charset="-122"/>
                <a:cs typeface="Schibsted Grotesk" pitchFamily="34" charset="-120"/>
              </a:rPr>
              <a:t>FoodLink</a:t>
            </a:r>
            <a:endParaRPr lang="en-US" sz="1200" dirty="0"/>
          </a:p>
        </p:txBody>
      </p:sp>
      <p:sp>
        <p:nvSpPr>
          <p:cNvPr id="4" name="Text 2"/>
          <p:cNvSpPr/>
          <p:nvPr/>
        </p:nvSpPr>
        <p:spPr>
          <a:xfrm>
            <a:off x="3553816" y="6455664"/>
            <a:ext cx="1188720" cy="274320"/>
          </a:xfrm>
          <a:prstGeom prst="rect">
            <a:avLst/>
          </a:prstGeom>
          <a:noFill/>
          <a:ln/>
        </p:spPr>
        <p:txBody>
          <a:bodyPr wrap="square" lIns="0" tIns="0" rIns="0" bIns="0" rtlCol="0" anchor="ctr"/>
          <a:lstStyle/>
          <a:p>
            <a:pPr algn="ctr" indent="0" marL="0">
              <a:buNone/>
            </a:pPr>
            <a:r>
              <a:rPr lang="en-US" sz="1100" dirty="0">
                <a:solidFill>
                  <a:srgbClr val="68716A"/>
                </a:solidFill>
                <a:latin typeface="Schibsted Grotesk" pitchFamily="34" charset="0"/>
                <a:ea typeface="Schibsted Grotesk" pitchFamily="34" charset="-122"/>
                <a:cs typeface="Schibsted Grotesk" pitchFamily="34" charset="-120"/>
              </a:rPr>
              <a:t>Diagnosis</a:t>
            </a:r>
            <a:endParaRPr lang="en-US" sz="1100" dirty="0"/>
          </a:p>
        </p:txBody>
      </p:sp>
      <p:sp>
        <p:nvSpPr>
          <p:cNvPr id="5" name="Text 3"/>
          <p:cNvSpPr/>
          <p:nvPr/>
        </p:nvSpPr>
        <p:spPr>
          <a:xfrm>
            <a:off x="4852264" y="6455664"/>
            <a:ext cx="1188720" cy="274320"/>
          </a:xfrm>
          <a:prstGeom prst="rect">
            <a:avLst/>
          </a:prstGeom>
          <a:noFill/>
          <a:ln/>
        </p:spPr>
        <p:txBody>
          <a:bodyPr wrap="square" lIns="0" tIns="0" rIns="0" bIns="0" rtlCol="0" anchor="ctr"/>
          <a:lstStyle/>
          <a:p>
            <a:pPr algn="ctr" indent="0" marL="0">
              <a:buNone/>
            </a:pPr>
            <a:r>
              <a:rPr lang="en-US" sz="1100" dirty="0">
                <a:solidFill>
                  <a:srgbClr val="68716A"/>
                </a:solidFill>
                <a:latin typeface="Schibsted Grotesk" pitchFamily="34" charset="0"/>
                <a:ea typeface="Schibsted Grotesk" pitchFamily="34" charset="-122"/>
                <a:cs typeface="Schibsted Grotesk" pitchFamily="34" charset="-120"/>
              </a:rPr>
              <a:t>Solution</a:t>
            </a:r>
            <a:endParaRPr lang="en-US" sz="1100" dirty="0"/>
          </a:p>
        </p:txBody>
      </p:sp>
      <p:sp>
        <p:nvSpPr>
          <p:cNvPr id="6" name="Shape 4"/>
          <p:cNvSpPr/>
          <p:nvPr/>
        </p:nvSpPr>
        <p:spPr>
          <a:xfrm>
            <a:off x="6333592" y="6359652"/>
            <a:ext cx="822960" cy="45720"/>
          </a:xfrm>
          <a:prstGeom prst="rect">
            <a:avLst/>
          </a:prstGeom>
          <a:solidFill>
            <a:srgbClr val="A97A2F"/>
          </a:solidFill>
          <a:ln w="12700">
            <a:solidFill>
              <a:srgbClr val="A97A2F"/>
            </a:solidFill>
            <a:prstDash val="solid"/>
          </a:ln>
        </p:spPr>
      </p:sp>
      <p:sp>
        <p:nvSpPr>
          <p:cNvPr id="7" name="Text 5"/>
          <p:cNvSpPr/>
          <p:nvPr/>
        </p:nvSpPr>
        <p:spPr>
          <a:xfrm>
            <a:off x="6150712" y="6455664"/>
            <a:ext cx="1188720" cy="274320"/>
          </a:xfrm>
          <a:prstGeom prst="rect">
            <a:avLst/>
          </a:prstGeom>
          <a:noFill/>
          <a:ln/>
        </p:spPr>
        <p:txBody>
          <a:bodyPr wrap="square" lIns="0" tIns="0" rIns="0" bIns="0" rtlCol="0" anchor="ctr"/>
          <a:lstStyle/>
          <a:p>
            <a:pPr algn="ctr" indent="0" marL="0">
              <a:buNone/>
            </a:pPr>
            <a:r>
              <a:rPr lang="en-US" sz="1100" b="1" dirty="0">
                <a:solidFill>
                  <a:srgbClr val="15201A"/>
                </a:solidFill>
                <a:latin typeface="Schibsted Grotesk" pitchFamily="34" charset="0"/>
                <a:ea typeface="Schibsted Grotesk" pitchFamily="34" charset="-122"/>
                <a:cs typeface="Schibsted Grotesk" pitchFamily="34" charset="-120"/>
              </a:rPr>
              <a:t>Engagement</a:t>
            </a:r>
            <a:endParaRPr lang="en-US" sz="1100" dirty="0"/>
          </a:p>
        </p:txBody>
      </p:sp>
      <p:sp>
        <p:nvSpPr>
          <p:cNvPr id="8" name="Text 6"/>
          <p:cNvSpPr/>
          <p:nvPr/>
        </p:nvSpPr>
        <p:spPr>
          <a:xfrm>
            <a:off x="7449160" y="6455664"/>
            <a:ext cx="1188720" cy="274320"/>
          </a:xfrm>
          <a:prstGeom prst="rect">
            <a:avLst/>
          </a:prstGeom>
          <a:noFill/>
          <a:ln/>
        </p:spPr>
        <p:txBody>
          <a:bodyPr wrap="square" lIns="0" tIns="0" rIns="0" bIns="0" rtlCol="0" anchor="ctr"/>
          <a:lstStyle/>
          <a:p>
            <a:pPr algn="ctr" indent="0" marL="0">
              <a:buNone/>
            </a:pPr>
            <a:r>
              <a:rPr lang="en-US" sz="1100" dirty="0">
                <a:solidFill>
                  <a:srgbClr val="68716A"/>
                </a:solidFill>
                <a:latin typeface="Schibsted Grotesk" pitchFamily="34" charset="0"/>
                <a:ea typeface="Schibsted Grotesk" pitchFamily="34" charset="-122"/>
                <a:cs typeface="Schibsted Grotesk" pitchFamily="34" charset="-120"/>
              </a:rPr>
              <a:t>Execution</a:t>
            </a:r>
            <a:endParaRPr lang="en-US" sz="1100" dirty="0"/>
          </a:p>
        </p:txBody>
      </p:sp>
      <p:sp>
        <p:nvSpPr>
          <p:cNvPr id="9" name="Text 7"/>
          <p:cNvSpPr/>
          <p:nvPr>
            <p:ph idx="107" type="title" hasCustomPrompt="1"/>
          </p:nvPr>
        </p:nvSpPr>
        <p:spPr>
          <a:xfrm>
            <a:off x="685800" y="502920"/>
            <a:ext cx="10241280" cy="1188720"/>
          </a:xfrm>
          <a:prstGeom prst="rect">
            <a:avLst/>
          </a:prstGeom>
          <a:noFill/>
          <a:ln/>
        </p:spPr>
        <p:txBody>
          <a:bodyPr wrap="square" rtlCol="0"/>
          <a:lstStyle>
            <a:lvl1pPr algn="l" indent="0" marL="0">
              <a:lnSpc>
                <a:spcPct val="95000"/>
              </a:lnSpc>
              <a:buNone/>
              <a:defRPr lang="en-US" sz="3400" b="1" dirty="0">
                <a:solidFill>
                  <a:srgbClr val="15201A"/>
                </a:solidFill>
                <a:latin typeface="Schibsted Grotesk" pitchFamily="34" charset="0"/>
                <a:ea typeface="Schibsted Grotesk" pitchFamily="34" charset="-122"/>
                <a:cs typeface="Schibsted Grotesk" pitchFamily="34" charset="-120"/>
              </a:defRPr>
            </a:lvl1pPr>
          </a:lstStyle>
          <a:p>
            <a:pPr algn="l" indent="0" marL="0">
              <a:lnSpc>
                <a:spcPct val="95000"/>
              </a:lnSpc>
              <a:buNone/>
            </a:pPr>
            <a:endParaRPr lang="en-US" sz="34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XECUTION">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685800" y="6382512"/>
            <a:ext cx="10820095" cy="0"/>
          </a:xfrm>
          <a:prstGeom prst="line">
            <a:avLst/>
          </a:prstGeom>
          <a:noFill/>
          <a:ln w="9525">
            <a:solidFill>
              <a:srgbClr val="D9D4C7"/>
            </a:solidFill>
            <a:prstDash val="solid"/>
          </a:ln>
        </p:spPr>
      </p:sp>
      <p:sp>
        <p:nvSpPr>
          <p:cNvPr id="3" name="Text 1"/>
          <p:cNvSpPr/>
          <p:nvPr/>
        </p:nvSpPr>
        <p:spPr>
          <a:xfrm>
            <a:off x="685800" y="6455664"/>
            <a:ext cx="1463040" cy="274320"/>
          </a:xfrm>
          <a:prstGeom prst="rect">
            <a:avLst/>
          </a:prstGeom>
          <a:noFill/>
          <a:ln/>
        </p:spPr>
        <p:txBody>
          <a:bodyPr wrap="square" lIns="0" tIns="0" rIns="0" bIns="0" rtlCol="0" anchor="ctr"/>
          <a:lstStyle/>
          <a:p>
            <a:pPr indent="0" marL="0">
              <a:buNone/>
            </a:pPr>
            <a:r>
              <a:rPr lang="en-US" sz="1200" b="1" dirty="0">
                <a:solidFill>
                  <a:srgbClr val="15201A"/>
                </a:solidFill>
                <a:latin typeface="Schibsted Grotesk" pitchFamily="34" charset="0"/>
                <a:ea typeface="Schibsted Grotesk" pitchFamily="34" charset="-122"/>
                <a:cs typeface="Schibsted Grotesk" pitchFamily="34" charset="-120"/>
              </a:rPr>
              <a:t>FoodLink</a:t>
            </a:r>
            <a:endParaRPr lang="en-US" sz="1200" dirty="0"/>
          </a:p>
        </p:txBody>
      </p:sp>
      <p:sp>
        <p:nvSpPr>
          <p:cNvPr id="4" name="Text 2"/>
          <p:cNvSpPr/>
          <p:nvPr/>
        </p:nvSpPr>
        <p:spPr>
          <a:xfrm>
            <a:off x="3553816" y="6455664"/>
            <a:ext cx="1188720" cy="274320"/>
          </a:xfrm>
          <a:prstGeom prst="rect">
            <a:avLst/>
          </a:prstGeom>
          <a:noFill/>
          <a:ln/>
        </p:spPr>
        <p:txBody>
          <a:bodyPr wrap="square" lIns="0" tIns="0" rIns="0" bIns="0" rtlCol="0" anchor="ctr"/>
          <a:lstStyle/>
          <a:p>
            <a:pPr algn="ctr" indent="0" marL="0">
              <a:buNone/>
            </a:pPr>
            <a:r>
              <a:rPr lang="en-US" sz="1100" dirty="0">
                <a:solidFill>
                  <a:srgbClr val="68716A"/>
                </a:solidFill>
                <a:latin typeface="Schibsted Grotesk" pitchFamily="34" charset="0"/>
                <a:ea typeface="Schibsted Grotesk" pitchFamily="34" charset="-122"/>
                <a:cs typeface="Schibsted Grotesk" pitchFamily="34" charset="-120"/>
              </a:rPr>
              <a:t>Diagnosis</a:t>
            </a:r>
            <a:endParaRPr lang="en-US" sz="1100" dirty="0"/>
          </a:p>
        </p:txBody>
      </p:sp>
      <p:sp>
        <p:nvSpPr>
          <p:cNvPr id="5" name="Text 3"/>
          <p:cNvSpPr/>
          <p:nvPr/>
        </p:nvSpPr>
        <p:spPr>
          <a:xfrm>
            <a:off x="4852264" y="6455664"/>
            <a:ext cx="1188720" cy="274320"/>
          </a:xfrm>
          <a:prstGeom prst="rect">
            <a:avLst/>
          </a:prstGeom>
          <a:noFill/>
          <a:ln/>
        </p:spPr>
        <p:txBody>
          <a:bodyPr wrap="square" lIns="0" tIns="0" rIns="0" bIns="0" rtlCol="0" anchor="ctr"/>
          <a:lstStyle/>
          <a:p>
            <a:pPr algn="ctr" indent="0" marL="0">
              <a:buNone/>
            </a:pPr>
            <a:r>
              <a:rPr lang="en-US" sz="1100" dirty="0">
                <a:solidFill>
                  <a:srgbClr val="68716A"/>
                </a:solidFill>
                <a:latin typeface="Schibsted Grotesk" pitchFamily="34" charset="0"/>
                <a:ea typeface="Schibsted Grotesk" pitchFamily="34" charset="-122"/>
                <a:cs typeface="Schibsted Grotesk" pitchFamily="34" charset="-120"/>
              </a:rPr>
              <a:t>Solution</a:t>
            </a:r>
            <a:endParaRPr lang="en-US" sz="1100" dirty="0"/>
          </a:p>
        </p:txBody>
      </p:sp>
      <p:sp>
        <p:nvSpPr>
          <p:cNvPr id="6" name="Text 4"/>
          <p:cNvSpPr/>
          <p:nvPr/>
        </p:nvSpPr>
        <p:spPr>
          <a:xfrm>
            <a:off x="6150712" y="6455664"/>
            <a:ext cx="1188720" cy="274320"/>
          </a:xfrm>
          <a:prstGeom prst="rect">
            <a:avLst/>
          </a:prstGeom>
          <a:noFill/>
          <a:ln/>
        </p:spPr>
        <p:txBody>
          <a:bodyPr wrap="square" lIns="0" tIns="0" rIns="0" bIns="0" rtlCol="0" anchor="ctr"/>
          <a:lstStyle/>
          <a:p>
            <a:pPr algn="ctr" indent="0" marL="0">
              <a:buNone/>
            </a:pPr>
            <a:r>
              <a:rPr lang="en-US" sz="1100" dirty="0">
                <a:solidFill>
                  <a:srgbClr val="68716A"/>
                </a:solidFill>
                <a:latin typeface="Schibsted Grotesk" pitchFamily="34" charset="0"/>
                <a:ea typeface="Schibsted Grotesk" pitchFamily="34" charset="-122"/>
                <a:cs typeface="Schibsted Grotesk" pitchFamily="34" charset="-120"/>
              </a:rPr>
              <a:t>Engagement</a:t>
            </a:r>
            <a:endParaRPr lang="en-US" sz="1100" dirty="0"/>
          </a:p>
        </p:txBody>
      </p:sp>
      <p:sp>
        <p:nvSpPr>
          <p:cNvPr id="7" name="Shape 5"/>
          <p:cNvSpPr/>
          <p:nvPr/>
        </p:nvSpPr>
        <p:spPr>
          <a:xfrm>
            <a:off x="7632040" y="6359652"/>
            <a:ext cx="822960" cy="45720"/>
          </a:xfrm>
          <a:prstGeom prst="rect">
            <a:avLst/>
          </a:prstGeom>
          <a:solidFill>
            <a:srgbClr val="A97A2F"/>
          </a:solidFill>
          <a:ln w="12700">
            <a:solidFill>
              <a:srgbClr val="A97A2F"/>
            </a:solidFill>
            <a:prstDash val="solid"/>
          </a:ln>
        </p:spPr>
      </p:sp>
      <p:sp>
        <p:nvSpPr>
          <p:cNvPr id="8" name="Text 6"/>
          <p:cNvSpPr/>
          <p:nvPr/>
        </p:nvSpPr>
        <p:spPr>
          <a:xfrm>
            <a:off x="7449160" y="6455664"/>
            <a:ext cx="1188720" cy="274320"/>
          </a:xfrm>
          <a:prstGeom prst="rect">
            <a:avLst/>
          </a:prstGeom>
          <a:noFill/>
          <a:ln/>
        </p:spPr>
        <p:txBody>
          <a:bodyPr wrap="square" lIns="0" tIns="0" rIns="0" bIns="0" rtlCol="0" anchor="ctr"/>
          <a:lstStyle/>
          <a:p>
            <a:pPr algn="ctr" indent="0" marL="0">
              <a:buNone/>
            </a:pPr>
            <a:r>
              <a:rPr lang="en-US" sz="1100" b="1" dirty="0">
                <a:solidFill>
                  <a:srgbClr val="15201A"/>
                </a:solidFill>
                <a:latin typeface="Schibsted Grotesk" pitchFamily="34" charset="0"/>
                <a:ea typeface="Schibsted Grotesk" pitchFamily="34" charset="-122"/>
                <a:cs typeface="Schibsted Grotesk" pitchFamily="34" charset="-120"/>
              </a:rPr>
              <a:t>Execution</a:t>
            </a:r>
            <a:endParaRPr lang="en-US" sz="1100" dirty="0"/>
          </a:p>
        </p:txBody>
      </p:sp>
      <p:sp>
        <p:nvSpPr>
          <p:cNvPr id="9" name="Text 7"/>
          <p:cNvSpPr/>
          <p:nvPr>
            <p:ph idx="107" type="title" hasCustomPrompt="1"/>
          </p:nvPr>
        </p:nvSpPr>
        <p:spPr>
          <a:xfrm>
            <a:off x="685800" y="502920"/>
            <a:ext cx="10241280" cy="1188720"/>
          </a:xfrm>
          <a:prstGeom prst="rect">
            <a:avLst/>
          </a:prstGeom>
          <a:noFill/>
          <a:ln/>
        </p:spPr>
        <p:txBody>
          <a:bodyPr wrap="square" rtlCol="0"/>
          <a:lstStyle>
            <a:lvl1pPr algn="l" indent="0" marL="0">
              <a:lnSpc>
                <a:spcPct val="95000"/>
              </a:lnSpc>
              <a:buNone/>
              <a:defRPr lang="en-US" sz="3400" b="1" dirty="0">
                <a:solidFill>
                  <a:srgbClr val="15201A"/>
                </a:solidFill>
                <a:latin typeface="Schibsted Grotesk" pitchFamily="34" charset="0"/>
                <a:ea typeface="Schibsted Grotesk" pitchFamily="34" charset="-122"/>
                <a:cs typeface="Schibsted Grotesk" pitchFamily="34" charset="-120"/>
              </a:defRPr>
            </a:lvl1pPr>
          </a:lstStyle>
          <a:p>
            <a:pPr algn="l" indent="0" marL="0">
              <a:lnSpc>
                <a:spcPct val="95000"/>
              </a:lnSpc>
              <a:buNone/>
            </a:pPr>
            <a:endParaRPr lang="en-US" sz="34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LOSE">
    <p:bg>
      <p:bgPr>
        <a:solidFill>
          <a:srgbClr val="113425"/>
        </a:solidFill>
      </p:bgPr>
    </p:bg>
    <p:spTree>
      <p:nvGrpSpPr>
        <p:cNvPr id="1" name=""/>
        <p:cNvGrpSpPr/>
        <p:nvPr/>
      </p:nvGrpSpPr>
      <p:grpSpPr>
        <a:xfrm>
          <a:off x="0" y="0"/>
          <a:ext cx="0" cy="0"/>
          <a:chOff x="0" y="0"/>
          <a:chExt cx="0" cy="0"/>
        </a:xfrm>
      </p:grpSpPr>
      <p:sp>
        <p:nvSpPr>
          <p:cNvPr id="2" name="Shape 0"/>
          <p:cNvSpPr/>
          <p:nvPr/>
        </p:nvSpPr>
        <p:spPr>
          <a:xfrm>
            <a:off x="685800" y="6382512"/>
            <a:ext cx="10820095" cy="0"/>
          </a:xfrm>
          <a:prstGeom prst="line">
            <a:avLst/>
          </a:prstGeom>
          <a:noFill/>
          <a:ln w="9525">
            <a:solidFill>
              <a:srgbClr val="2F5444"/>
            </a:solidFill>
            <a:prstDash val="solid"/>
          </a:ln>
        </p:spPr>
      </p:sp>
      <p:sp>
        <p:nvSpPr>
          <p:cNvPr id="3" name="Text 1"/>
          <p:cNvSpPr/>
          <p:nvPr/>
        </p:nvSpPr>
        <p:spPr>
          <a:xfrm>
            <a:off x="685800" y="6455664"/>
            <a:ext cx="1463040" cy="274320"/>
          </a:xfrm>
          <a:prstGeom prst="rect">
            <a:avLst/>
          </a:prstGeom>
          <a:noFill/>
          <a:ln/>
        </p:spPr>
        <p:txBody>
          <a:bodyPr wrap="square" lIns="0" tIns="0" rIns="0" bIns="0" rtlCol="0" anchor="ctr"/>
          <a:lstStyle/>
          <a:p>
            <a:pPr indent="0" marL="0">
              <a:buNone/>
            </a:pPr>
            <a:r>
              <a:rPr lang="en-US" sz="1200" b="1" dirty="0">
                <a:solidFill>
                  <a:srgbClr val="F7F5EF"/>
                </a:solidFill>
                <a:latin typeface="Schibsted Grotesk" pitchFamily="34" charset="0"/>
                <a:ea typeface="Schibsted Grotesk" pitchFamily="34" charset="-122"/>
                <a:cs typeface="Schibsted Grotesk" pitchFamily="34" charset="-120"/>
              </a:rPr>
              <a:t>FoodLink</a:t>
            </a:r>
            <a:endParaRPr lang="en-US" sz="1200" dirty="0"/>
          </a:p>
        </p:txBody>
      </p:sp>
      <p:sp>
        <p:nvSpPr>
          <p:cNvPr id="4" name="Text 2"/>
          <p:cNvSpPr/>
          <p:nvPr/>
        </p:nvSpPr>
        <p:spPr>
          <a:xfrm>
            <a:off x="3553816" y="6455664"/>
            <a:ext cx="1188720" cy="274320"/>
          </a:xfrm>
          <a:prstGeom prst="rect">
            <a:avLst/>
          </a:prstGeom>
          <a:noFill/>
          <a:ln/>
        </p:spPr>
        <p:txBody>
          <a:bodyPr wrap="square" lIns="0" tIns="0" rIns="0" bIns="0" rtlCol="0" anchor="ctr"/>
          <a:lstStyle/>
          <a:p>
            <a:pPr algn="ctr" indent="0" marL="0">
              <a:buNone/>
            </a:pPr>
            <a:r>
              <a:rPr lang="en-US" sz="1100" dirty="0">
                <a:solidFill>
                  <a:srgbClr val="93AE9C"/>
                </a:solidFill>
                <a:latin typeface="Schibsted Grotesk" pitchFamily="34" charset="0"/>
                <a:ea typeface="Schibsted Grotesk" pitchFamily="34" charset="-122"/>
                <a:cs typeface="Schibsted Grotesk" pitchFamily="34" charset="-120"/>
              </a:rPr>
              <a:t>Diagnosis</a:t>
            </a:r>
            <a:endParaRPr lang="en-US" sz="1100" dirty="0"/>
          </a:p>
        </p:txBody>
      </p:sp>
      <p:sp>
        <p:nvSpPr>
          <p:cNvPr id="5" name="Text 3"/>
          <p:cNvSpPr/>
          <p:nvPr/>
        </p:nvSpPr>
        <p:spPr>
          <a:xfrm>
            <a:off x="4852264" y="6455664"/>
            <a:ext cx="1188720" cy="274320"/>
          </a:xfrm>
          <a:prstGeom prst="rect">
            <a:avLst/>
          </a:prstGeom>
          <a:noFill/>
          <a:ln/>
        </p:spPr>
        <p:txBody>
          <a:bodyPr wrap="square" lIns="0" tIns="0" rIns="0" bIns="0" rtlCol="0" anchor="ctr"/>
          <a:lstStyle/>
          <a:p>
            <a:pPr algn="ctr" indent="0" marL="0">
              <a:buNone/>
            </a:pPr>
            <a:r>
              <a:rPr lang="en-US" sz="1100" dirty="0">
                <a:solidFill>
                  <a:srgbClr val="93AE9C"/>
                </a:solidFill>
                <a:latin typeface="Schibsted Grotesk" pitchFamily="34" charset="0"/>
                <a:ea typeface="Schibsted Grotesk" pitchFamily="34" charset="-122"/>
                <a:cs typeface="Schibsted Grotesk" pitchFamily="34" charset="-120"/>
              </a:rPr>
              <a:t>Solution</a:t>
            </a:r>
            <a:endParaRPr lang="en-US" sz="1100" dirty="0"/>
          </a:p>
        </p:txBody>
      </p:sp>
      <p:sp>
        <p:nvSpPr>
          <p:cNvPr id="6" name="Text 4"/>
          <p:cNvSpPr/>
          <p:nvPr/>
        </p:nvSpPr>
        <p:spPr>
          <a:xfrm>
            <a:off x="6150712" y="6455664"/>
            <a:ext cx="1188720" cy="274320"/>
          </a:xfrm>
          <a:prstGeom prst="rect">
            <a:avLst/>
          </a:prstGeom>
          <a:noFill/>
          <a:ln/>
        </p:spPr>
        <p:txBody>
          <a:bodyPr wrap="square" lIns="0" tIns="0" rIns="0" bIns="0" rtlCol="0" anchor="ctr"/>
          <a:lstStyle/>
          <a:p>
            <a:pPr algn="ctr" indent="0" marL="0">
              <a:buNone/>
            </a:pPr>
            <a:r>
              <a:rPr lang="en-US" sz="1100" dirty="0">
                <a:solidFill>
                  <a:srgbClr val="93AE9C"/>
                </a:solidFill>
                <a:latin typeface="Schibsted Grotesk" pitchFamily="34" charset="0"/>
                <a:ea typeface="Schibsted Grotesk" pitchFamily="34" charset="-122"/>
                <a:cs typeface="Schibsted Grotesk" pitchFamily="34" charset="-120"/>
              </a:rPr>
              <a:t>Engagement</a:t>
            </a:r>
            <a:endParaRPr lang="en-US" sz="1100" dirty="0"/>
          </a:p>
        </p:txBody>
      </p:sp>
      <p:sp>
        <p:nvSpPr>
          <p:cNvPr id="7" name="Text 5"/>
          <p:cNvSpPr/>
          <p:nvPr/>
        </p:nvSpPr>
        <p:spPr>
          <a:xfrm>
            <a:off x="7449160" y="6455664"/>
            <a:ext cx="1188720" cy="274320"/>
          </a:xfrm>
          <a:prstGeom prst="rect">
            <a:avLst/>
          </a:prstGeom>
          <a:noFill/>
          <a:ln/>
        </p:spPr>
        <p:txBody>
          <a:bodyPr wrap="square" lIns="0" tIns="0" rIns="0" bIns="0" rtlCol="0" anchor="ctr"/>
          <a:lstStyle/>
          <a:p>
            <a:pPr algn="ctr" indent="0" marL="0">
              <a:buNone/>
            </a:pPr>
            <a:r>
              <a:rPr lang="en-US" sz="1100" dirty="0">
                <a:solidFill>
                  <a:srgbClr val="93AE9C"/>
                </a:solidFill>
                <a:latin typeface="Schibsted Grotesk" pitchFamily="34" charset="0"/>
                <a:ea typeface="Schibsted Grotesk" pitchFamily="34" charset="-122"/>
                <a:cs typeface="Schibsted Grotesk" pitchFamily="34" charset="-120"/>
              </a:rPr>
              <a:t>Execution</a:t>
            </a:r>
            <a:endParaRPr lang="en-US" sz="1100" dirty="0"/>
          </a:p>
        </p:txBody>
      </p:sp>
      <p:sp>
        <p:nvSpPr>
          <p:cNvPr id="8" name="Text 6"/>
          <p:cNvSpPr/>
          <p:nvPr>
            <p:ph idx="106" type="title" hasCustomPrompt="1"/>
          </p:nvPr>
        </p:nvSpPr>
        <p:spPr>
          <a:xfrm>
            <a:off x="685800" y="502920"/>
            <a:ext cx="10241280" cy="1188720"/>
          </a:xfrm>
          <a:prstGeom prst="rect">
            <a:avLst/>
          </a:prstGeom>
          <a:noFill/>
          <a:ln/>
        </p:spPr>
        <p:txBody>
          <a:bodyPr wrap="square" rtlCol="0"/>
          <a:lstStyle>
            <a:lvl1pPr algn="l" indent="0" marL="0">
              <a:lnSpc>
                <a:spcPct val="95000"/>
              </a:lnSpc>
              <a:buNone/>
              <a:defRPr lang="en-US" sz="3400" b="1" dirty="0">
                <a:solidFill>
                  <a:srgbClr val="F7F5EF"/>
                </a:solidFill>
                <a:latin typeface="Schibsted Grotesk" pitchFamily="34" charset="0"/>
                <a:ea typeface="Schibsted Grotesk" pitchFamily="34" charset="-122"/>
                <a:cs typeface="Schibsted Grotesk" pitchFamily="34" charset="-120"/>
              </a:defRPr>
            </a:lvl1pPr>
          </a:lstStyle>
          <a:p>
            <a:pPr algn="l" indent="0" marL="0">
              <a:lnSpc>
                <a:spcPct val="95000"/>
              </a:lnSpc>
              <a:buNone/>
            </a:pPr>
            <a:endParaRPr lang="en-US" sz="34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93AE9C"/>
                </a:solidFill>
                <a:latin typeface="Schibsted Grotesk"/>
                <a:ea typeface="Schibsted Grotesk"/>
                <a:cs typeface="Schibsted Grotesk"/>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PPENDIX">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685800" y="6382512"/>
            <a:ext cx="10820095" cy="0"/>
          </a:xfrm>
          <a:prstGeom prst="line">
            <a:avLst/>
          </a:prstGeom>
          <a:noFill/>
          <a:ln w="9525">
            <a:solidFill>
              <a:srgbClr val="D9D4C7"/>
            </a:solidFill>
            <a:prstDash val="solid"/>
          </a:ln>
        </p:spPr>
      </p:sp>
      <p:sp>
        <p:nvSpPr>
          <p:cNvPr id="3" name="Text 1"/>
          <p:cNvSpPr/>
          <p:nvPr/>
        </p:nvSpPr>
        <p:spPr>
          <a:xfrm>
            <a:off x="685800" y="6455664"/>
            <a:ext cx="1463040" cy="274320"/>
          </a:xfrm>
          <a:prstGeom prst="rect">
            <a:avLst/>
          </a:prstGeom>
          <a:noFill/>
          <a:ln/>
        </p:spPr>
        <p:txBody>
          <a:bodyPr wrap="square" lIns="0" tIns="0" rIns="0" bIns="0" rtlCol="0" anchor="ctr"/>
          <a:lstStyle/>
          <a:p>
            <a:pPr indent="0" marL="0">
              <a:buNone/>
            </a:pPr>
            <a:r>
              <a:rPr lang="en-US" sz="1200" b="1" dirty="0">
                <a:solidFill>
                  <a:srgbClr val="15201A"/>
                </a:solidFill>
                <a:latin typeface="Schibsted Grotesk" pitchFamily="34" charset="0"/>
                <a:ea typeface="Schibsted Grotesk" pitchFamily="34" charset="-122"/>
                <a:cs typeface="Schibsted Grotesk" pitchFamily="34" charset="-120"/>
              </a:rPr>
              <a:t>FoodLink</a:t>
            </a:r>
            <a:endParaRPr lang="en-US" sz="1200" dirty="0"/>
          </a:p>
        </p:txBody>
      </p:sp>
      <p:sp>
        <p:nvSpPr>
          <p:cNvPr id="4" name="Shape 2"/>
          <p:cNvSpPr/>
          <p:nvPr/>
        </p:nvSpPr>
        <p:spPr>
          <a:xfrm>
            <a:off x="5684368" y="6359652"/>
            <a:ext cx="822960" cy="45720"/>
          </a:xfrm>
          <a:prstGeom prst="rect">
            <a:avLst/>
          </a:prstGeom>
          <a:solidFill>
            <a:srgbClr val="A97A2F"/>
          </a:solidFill>
          <a:ln w="12700">
            <a:solidFill>
              <a:srgbClr val="A97A2F"/>
            </a:solidFill>
            <a:prstDash val="solid"/>
          </a:ln>
        </p:spPr>
      </p:sp>
      <p:sp>
        <p:nvSpPr>
          <p:cNvPr id="5" name="Text 3"/>
          <p:cNvSpPr/>
          <p:nvPr/>
        </p:nvSpPr>
        <p:spPr>
          <a:xfrm>
            <a:off x="5501488" y="6455664"/>
            <a:ext cx="1188720" cy="274320"/>
          </a:xfrm>
          <a:prstGeom prst="rect">
            <a:avLst/>
          </a:prstGeom>
          <a:noFill/>
          <a:ln/>
        </p:spPr>
        <p:txBody>
          <a:bodyPr wrap="square" lIns="0" tIns="0" rIns="0" bIns="0" rtlCol="0" anchor="ctr"/>
          <a:lstStyle/>
          <a:p>
            <a:pPr algn="ctr" indent="0" marL="0">
              <a:buNone/>
            </a:pPr>
            <a:r>
              <a:rPr lang="en-US" sz="1100" b="1" dirty="0">
                <a:solidFill>
                  <a:srgbClr val="15201A"/>
                </a:solidFill>
                <a:latin typeface="Schibsted Grotesk" pitchFamily="34" charset="0"/>
                <a:ea typeface="Schibsted Grotesk" pitchFamily="34" charset="-122"/>
                <a:cs typeface="Schibsted Grotesk" pitchFamily="34" charset="-120"/>
              </a:rPr>
              <a:t>Appendix</a:t>
            </a:r>
            <a:endParaRPr lang="en-US" sz="1100" dirty="0"/>
          </a:p>
        </p:txBody>
      </p:sp>
      <p:sp>
        <p:nvSpPr>
          <p:cNvPr id="6" name="Text 4"/>
          <p:cNvSpPr/>
          <p:nvPr>
            <p:ph idx="104" type="title" hasCustomPrompt="1"/>
          </p:nvPr>
        </p:nvSpPr>
        <p:spPr>
          <a:xfrm>
            <a:off x="685800" y="502920"/>
            <a:ext cx="10241280" cy="1188720"/>
          </a:xfrm>
          <a:prstGeom prst="rect">
            <a:avLst/>
          </a:prstGeom>
          <a:noFill/>
          <a:ln/>
        </p:spPr>
        <p:txBody>
          <a:bodyPr wrap="square" rtlCol="0"/>
          <a:lstStyle>
            <a:lvl1pPr algn="l" indent="0" marL="0">
              <a:lnSpc>
                <a:spcPct val="95000"/>
              </a:lnSpc>
              <a:buNone/>
              <a:defRPr lang="en-US" sz="3400" b="1" dirty="0">
                <a:solidFill>
                  <a:srgbClr val="15201A"/>
                </a:solidFill>
                <a:latin typeface="Schibsted Grotesk" pitchFamily="34" charset="0"/>
                <a:ea typeface="Schibsted Grotesk" pitchFamily="34" charset="-122"/>
                <a:cs typeface="Schibsted Grotesk" pitchFamily="34" charset="-120"/>
              </a:defRPr>
            </a:lvl1pPr>
          </a:lstStyle>
          <a:p>
            <a:pPr algn="l" indent="0" marL="0">
              <a:lnSpc>
                <a:spcPct val="95000"/>
              </a:lnSpc>
              <a:buNone/>
            </a:pPr>
            <a:endParaRPr lang="en-US" sz="34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1009</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5.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658368"/>
            <a:ext cx="7315200" cy="320040"/>
          </a:xfrm>
          <a:prstGeom prst="rect">
            <a:avLst/>
          </a:prstGeom>
          <a:noFill/>
          <a:ln/>
        </p:spPr>
        <p:txBody>
          <a:bodyPr wrap="square" lIns="0" tIns="0" rIns="0" bIns="0" rtlCol="0" anchor="t"/>
          <a:lstStyle/>
          <a:p>
            <a:pPr indent="0" marL="0">
              <a:buNone/>
            </a:pPr>
            <a:r>
              <a:rPr lang="en-US" sz="1400" dirty="0">
                <a:solidFill>
                  <a:srgbClr val="93AE9C"/>
                </a:solidFill>
                <a:latin typeface="Schibsted Grotesk" pitchFamily="34" charset="0"/>
                <a:ea typeface="Schibsted Grotesk" pitchFamily="34" charset="-122"/>
                <a:cs typeface="Schibsted Grotesk" pitchFamily="34" charset="-120"/>
              </a:rPr>
              <a:t>Prepared for Azaad Gill, VP Student Engagement, and the USC Executive Team</a:t>
            </a:r>
            <a:endParaRPr lang="en-US" sz="1400" dirty="0"/>
          </a:p>
        </p:txBody>
      </p:sp>
      <p:sp>
        <p:nvSpPr>
          <p:cNvPr id="3" name="Shape 1"/>
          <p:cNvSpPr/>
          <p:nvPr/>
        </p:nvSpPr>
        <p:spPr>
          <a:xfrm>
            <a:off x="685800" y="1664208"/>
            <a:ext cx="640080" cy="45720"/>
          </a:xfrm>
          <a:prstGeom prst="rect">
            <a:avLst/>
          </a:prstGeom>
          <a:solidFill>
            <a:srgbClr val="A97A2F"/>
          </a:solidFill>
          <a:ln w="12700">
            <a:solidFill>
              <a:srgbClr val="A97A2F"/>
            </a:solidFill>
            <a:prstDash val="solid"/>
          </a:ln>
        </p:spPr>
      </p:sp>
      <p:sp>
        <p:nvSpPr>
          <p:cNvPr id="4" name="Text 2"/>
          <p:cNvSpPr txBox="1"/>
          <p:nvPr/>
        </p:nvSpPr>
        <p:spPr>
          <a:xfrm>
            <a:off x="685800" y="1847088"/>
            <a:ext cx="6949440" cy="594360"/>
          </a:xfrm>
          <a:prstGeom prst="rect">
            <a:avLst/>
          </a:prstGeom>
          <a:noFill/>
          <a:ln/>
        </p:spPr>
        <p:txBody>
          <a:bodyPr wrap="square" lIns="0" tIns="0" rIns="0" bIns="0" rtlCol="0" anchor="t"/>
          <a:lstStyle/>
          <a:p>
            <a:pPr indent="0" marL="0">
              <a:buNone/>
            </a:pPr>
            <a:r>
              <a:rPr lang="en-US" sz="3400" b="1" dirty="0">
                <a:solidFill>
                  <a:srgbClr val="CBD9CE"/>
                </a:solidFill>
                <a:latin typeface="Schibsted Grotesk" pitchFamily="34" charset="0"/>
                <a:ea typeface="Schibsted Grotesk" pitchFamily="34" charset="-122"/>
                <a:cs typeface="Schibsted Grotesk" pitchFamily="34" charset="-120"/>
              </a:rPr>
              <a:t>PBSN ASPIRE:</a:t>
            </a:r>
            <a:endParaRPr lang="en-US" sz="3400" dirty="0"/>
          </a:p>
        </p:txBody>
      </p:sp>
      <p:sp>
        <p:nvSpPr>
          <p:cNvPr id="5" name="Text 3"/>
          <p:cNvSpPr txBox="1"/>
          <p:nvPr/>
        </p:nvSpPr>
        <p:spPr>
          <a:xfrm>
            <a:off x="685800" y="2377440"/>
            <a:ext cx="6949440" cy="1463040"/>
          </a:xfrm>
          <a:prstGeom prst="rect">
            <a:avLst/>
          </a:prstGeom>
          <a:noFill/>
          <a:ln/>
        </p:spPr>
        <p:txBody>
          <a:bodyPr wrap="square" lIns="0" tIns="0" rIns="0" bIns="0" rtlCol="0" anchor="t"/>
          <a:lstStyle/>
          <a:p>
            <a:pPr indent="0" marL="0">
              <a:buNone/>
            </a:pPr>
            <a:r>
              <a:rPr lang="en-US" sz="11200" b="1" dirty="0">
                <a:solidFill>
                  <a:srgbClr val="F7F5EF"/>
                </a:solidFill>
                <a:latin typeface="Schibsted Grotesk" pitchFamily="34" charset="0"/>
                <a:ea typeface="Schibsted Grotesk" pitchFamily="34" charset="-122"/>
                <a:cs typeface="Schibsted Grotesk" pitchFamily="34" charset="-120"/>
              </a:rPr>
              <a:t>FoodLink</a:t>
            </a:r>
            <a:endParaRPr lang="en-US" sz="11200" dirty="0"/>
          </a:p>
        </p:txBody>
      </p:sp>
      <p:sp>
        <p:nvSpPr>
          <p:cNvPr id="6" name="Text 4"/>
          <p:cNvSpPr txBox="1"/>
          <p:nvPr/>
        </p:nvSpPr>
        <p:spPr>
          <a:xfrm>
            <a:off x="685800" y="4005072"/>
            <a:ext cx="6309360" cy="777240"/>
          </a:xfrm>
          <a:prstGeom prst="rect">
            <a:avLst/>
          </a:prstGeom>
          <a:noFill/>
          <a:ln/>
        </p:spPr>
        <p:txBody>
          <a:bodyPr wrap="square" lIns="0" tIns="0" rIns="0" bIns="0" rtlCol="0" anchor="t"/>
          <a:lstStyle/>
          <a:p>
            <a:pPr indent="0" marL="0">
              <a:buNone/>
            </a:pPr>
            <a:r>
              <a:rPr lang="en-US" sz="2200" dirty="0">
                <a:solidFill>
                  <a:srgbClr val="CBD9CE"/>
                </a:solidFill>
                <a:latin typeface="Schibsted Grotesk" pitchFamily="34" charset="0"/>
                <a:ea typeface="Schibsted Grotesk" pitchFamily="34" charset="-122"/>
                <a:cs typeface="Schibsted Grotesk" pitchFamily="34" charset="-120"/>
              </a:rPr>
              <a:t>Bringing USC Food Support to where students already are.</a:t>
            </a:r>
            <a:endParaRPr lang="en-US" sz="2200" dirty="0"/>
          </a:p>
        </p:txBody>
      </p:sp>
      <p:sp>
        <p:nvSpPr>
          <p:cNvPr id="7" name="Shape 5"/>
          <p:cNvSpPr/>
          <p:nvPr/>
        </p:nvSpPr>
        <p:spPr>
          <a:xfrm>
            <a:off x="685800" y="5120640"/>
            <a:ext cx="6400800" cy="0"/>
          </a:xfrm>
          <a:prstGeom prst="line">
            <a:avLst/>
          </a:prstGeom>
          <a:noFill/>
          <a:ln w="9525">
            <a:solidFill>
              <a:srgbClr val="2F5444"/>
            </a:solidFill>
            <a:prstDash val="solid"/>
          </a:ln>
        </p:spPr>
      </p:sp>
      <p:sp>
        <p:nvSpPr>
          <p:cNvPr id="8" name="Text 6"/>
          <p:cNvSpPr txBox="1"/>
          <p:nvPr/>
        </p:nvSpPr>
        <p:spPr>
          <a:xfrm>
            <a:off x="685800" y="5266944"/>
            <a:ext cx="2743200" cy="274320"/>
          </a:xfrm>
          <a:prstGeom prst="rect">
            <a:avLst/>
          </a:prstGeom>
          <a:noFill/>
          <a:ln/>
        </p:spPr>
        <p:txBody>
          <a:bodyPr wrap="square" lIns="0" tIns="0" rIns="0" bIns="0" rtlCol="0" anchor="t"/>
          <a:lstStyle/>
          <a:p>
            <a:pPr indent="0" marL="0">
              <a:buNone/>
            </a:pPr>
            <a:r>
              <a:rPr lang="en-US" sz="1200" dirty="0">
                <a:solidFill>
                  <a:srgbClr val="93AE9C"/>
                </a:solidFill>
                <a:latin typeface="Schibsted Grotesk" pitchFamily="34" charset="0"/>
                <a:ea typeface="Schibsted Grotesk" pitchFamily="34" charset="-122"/>
                <a:cs typeface="Schibsted Grotesk" pitchFamily="34" charset="-120"/>
              </a:rPr>
              <a:t>Team</a:t>
            </a:r>
            <a:endParaRPr lang="en-US" sz="1200" dirty="0"/>
          </a:p>
        </p:txBody>
      </p:sp>
      <p:sp>
        <p:nvSpPr>
          <p:cNvPr id="9" name="Text 7"/>
          <p:cNvSpPr txBox="1"/>
          <p:nvPr/>
        </p:nvSpPr>
        <p:spPr>
          <a:xfrm>
            <a:off x="685800" y="5541264"/>
            <a:ext cx="6949440" cy="365760"/>
          </a:xfrm>
          <a:prstGeom prst="rect">
            <a:avLst/>
          </a:prstGeom>
          <a:noFill/>
          <a:ln/>
        </p:spPr>
        <p:txBody>
          <a:bodyPr wrap="square" lIns="0" tIns="0" rIns="0" bIns="0" rtlCol="0" anchor="t"/>
          <a:lstStyle/>
          <a:p>
            <a:pPr indent="0" marL="0">
              <a:buNone/>
            </a:pPr>
            <a:r>
              <a:rPr lang="en-US" sz="1600" dirty="0">
                <a:solidFill>
                  <a:srgbClr val="F7F5EF"/>
                </a:solidFill>
                <a:latin typeface="Schibsted Grotesk" pitchFamily="34" charset="0"/>
                <a:ea typeface="Schibsted Grotesk" pitchFamily="34" charset="-122"/>
                <a:cs typeface="Schibsted Grotesk" pitchFamily="34" charset="-120"/>
              </a:rPr>
              <a:t>Xinge Xu (Zinger)   ·   Nuo Zhang   ·   Zohra Khawaja   ·   Ahana Gehlot</a:t>
            </a:r>
            <a:endParaRPr lang="en-US" sz="1600" dirty="0"/>
          </a:p>
        </p:txBody>
      </p:sp>
      <p:pic>
        <p:nvPicPr>
          <p:cNvPr id="10" name="Image 0" descr="FoodLink on a phone: the Find food tab with live stock counts at the UCC shelf.">    </p:cNvPr>
          <p:cNvPicPr>
            <a:picLocks noChangeAspect="1"/>
          </p:cNvPicPr>
          <p:nvPr/>
        </p:nvPicPr>
        <p:blipFill>
          <a:blip r:embed="rId1"/>
          <a:stretch>
            <a:fillRect/>
          </a:stretch>
        </p:blipFill>
        <p:spPr>
          <a:xfrm>
            <a:off x="8092440" y="1128932"/>
            <a:ext cx="3291840" cy="57290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6"/>
          <p:cNvSpPr/>
          <p:nvPr>
            <p:ph idx="106" type="title" hasCustomPrompt="1"/>
          </p:nvPr>
        </p:nvSpPr>
        <p:spPr>
          <a:xfrm>
            <a:off x="685800" y="502920"/>
            <a:ext cx="10241280" cy="1188720"/>
          </a:xfrm>
          <a:prstGeom prst="rect">
            <a:avLst/>
          </a:prstGeom>
          <a:noFill/>
          <a:ln/>
        </p:spPr>
        <p:txBody>
          <a:bodyPr wrap="square" lIns="0" tIns="0" rIns="0" bIns="0" rtlCol="0" anchor="t"/>
          <a:lstStyle/>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We recommend FoodLink to bring USC</a:t>
            </a:r>
            <a:endParaRPr lang="en-US" sz="3400" dirty="0"/>
          </a:p>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Food Support to where students are</a:t>
            </a:r>
            <a:endParaRPr lang="en-US" sz="3400" dirty="0"/>
          </a:p>
        </p:txBody>
      </p:sp>
      <p:sp>
        <p:nvSpPr>
          <p:cNvPr id="3" name="Shape 1"/>
          <p:cNvSpPr/>
          <p:nvPr/>
        </p:nvSpPr>
        <p:spPr>
          <a:xfrm>
            <a:off x="685800" y="1783080"/>
            <a:ext cx="10820095" cy="0"/>
          </a:xfrm>
          <a:prstGeom prst="line">
            <a:avLst/>
          </a:prstGeom>
          <a:noFill/>
          <a:ln w="15875">
            <a:solidFill>
              <a:srgbClr val="15201A"/>
            </a:solidFill>
            <a:prstDash val="solid"/>
          </a:ln>
        </p:spPr>
      </p:sp>
      <p:sp>
        <p:nvSpPr>
          <p:cNvPr id="4" name="Text 2"/>
          <p:cNvSpPr txBox="1"/>
          <p:nvPr/>
        </p:nvSpPr>
        <p:spPr>
          <a:xfrm>
            <a:off x="685800" y="2011680"/>
            <a:ext cx="2533574" cy="457200"/>
          </a:xfrm>
          <a:prstGeom prst="rect">
            <a:avLst/>
          </a:prstGeom>
          <a:noFill/>
          <a:ln/>
        </p:spPr>
        <p:txBody>
          <a:bodyPr wrap="square" lIns="0" tIns="0" rIns="0" bIns="0" rtlCol="0" anchor="t"/>
          <a:lstStyle/>
          <a:p>
            <a:pPr indent="0" marL="0">
              <a:buNone/>
            </a:pPr>
            <a:r>
              <a:rPr lang="en-US" sz="2200" b="1" dirty="0">
                <a:solidFill>
                  <a:srgbClr val="1D5E40"/>
                </a:solidFill>
                <a:latin typeface="Schibsted Grotesk" pitchFamily="34" charset="0"/>
                <a:ea typeface="Schibsted Grotesk" pitchFamily="34" charset="-122"/>
                <a:cs typeface="Schibsted Grotesk" pitchFamily="34" charset="-120"/>
              </a:rPr>
              <a:t>Initiative</a:t>
            </a:r>
            <a:endParaRPr lang="en-US" sz="2200" dirty="0"/>
          </a:p>
        </p:txBody>
      </p:sp>
      <p:sp>
        <p:nvSpPr>
          <p:cNvPr id="5" name="Text 3"/>
          <p:cNvSpPr txBox="1"/>
          <p:nvPr/>
        </p:nvSpPr>
        <p:spPr>
          <a:xfrm>
            <a:off x="3447974" y="2039112"/>
            <a:ext cx="8057921" cy="822960"/>
          </a:xfrm>
          <a:prstGeom prst="rect">
            <a:avLst/>
          </a:prstGeom>
          <a:noFill/>
          <a:ln/>
        </p:spPr>
        <p:txBody>
          <a:bodyPr wrap="square" lIns="0" tIns="0" rIns="0" bIns="0" rtlCol="0" anchor="t"/>
          <a:lstStyle/>
          <a:p>
            <a:pPr indent="0" marL="0">
              <a:buNone/>
            </a:pPr>
            <a:r>
              <a:rPr lang="en-US" sz="1900" dirty="0">
                <a:solidFill>
                  <a:srgbClr val="15201A"/>
                </a:solidFill>
                <a:latin typeface="Schibsted Grotesk" pitchFamily="34" charset="0"/>
                <a:ea typeface="Schibsted Grotesk" pitchFamily="34" charset="-122"/>
                <a:cs typeface="Schibsted Grotesk" pitchFamily="34" charset="-120"/>
              </a:rPr>
              <a:t>Food Support Services. Need is broad, use is narrow, and the USC’s 2025–26 Roadmap already calls for raising awareness of it.</a:t>
            </a:r>
            <a:endParaRPr lang="en-US" sz="1900" dirty="0"/>
          </a:p>
        </p:txBody>
      </p:sp>
      <p:sp>
        <p:nvSpPr>
          <p:cNvPr id="6" name="Shape 4"/>
          <p:cNvSpPr/>
          <p:nvPr/>
        </p:nvSpPr>
        <p:spPr>
          <a:xfrm>
            <a:off x="685800" y="2834640"/>
            <a:ext cx="10820095" cy="0"/>
          </a:xfrm>
          <a:prstGeom prst="line">
            <a:avLst/>
          </a:prstGeom>
          <a:noFill/>
          <a:ln w="9525">
            <a:solidFill>
              <a:srgbClr val="D9D4C7"/>
            </a:solidFill>
            <a:prstDash val="solid"/>
          </a:ln>
        </p:spPr>
      </p:sp>
      <p:sp>
        <p:nvSpPr>
          <p:cNvPr id="7" name="Text 5"/>
          <p:cNvSpPr txBox="1"/>
          <p:nvPr/>
        </p:nvSpPr>
        <p:spPr>
          <a:xfrm>
            <a:off x="685800" y="3063240"/>
            <a:ext cx="2533574" cy="457200"/>
          </a:xfrm>
          <a:prstGeom prst="rect">
            <a:avLst/>
          </a:prstGeom>
          <a:noFill/>
          <a:ln/>
        </p:spPr>
        <p:txBody>
          <a:bodyPr wrap="square" lIns="0" tIns="0" rIns="0" bIns="0" rtlCol="0" anchor="t"/>
          <a:lstStyle/>
          <a:p>
            <a:pPr indent="0" marL="0">
              <a:buNone/>
            </a:pPr>
            <a:r>
              <a:rPr lang="en-US" sz="2200" b="1" dirty="0">
                <a:solidFill>
                  <a:srgbClr val="1D5E40"/>
                </a:solidFill>
                <a:latin typeface="Schibsted Grotesk" pitchFamily="34" charset="0"/>
                <a:ea typeface="Schibsted Grotesk" pitchFamily="34" charset="-122"/>
                <a:cs typeface="Schibsted Grotesk" pitchFamily="34" charset="-120"/>
              </a:rPr>
              <a:t>Root causes</a:t>
            </a:r>
            <a:endParaRPr lang="en-US" sz="2200" dirty="0"/>
          </a:p>
        </p:txBody>
      </p:sp>
      <p:sp>
        <p:nvSpPr>
          <p:cNvPr id="8" name="Text 6"/>
          <p:cNvSpPr txBox="1"/>
          <p:nvPr/>
        </p:nvSpPr>
        <p:spPr>
          <a:xfrm>
            <a:off x="3447974" y="3090672"/>
            <a:ext cx="8057921" cy="822960"/>
          </a:xfrm>
          <a:prstGeom prst="rect">
            <a:avLst/>
          </a:prstGeom>
          <a:noFill/>
          <a:ln/>
        </p:spPr>
        <p:txBody>
          <a:bodyPr wrap="square" lIns="0" tIns="0" rIns="0" bIns="0" rtlCol="0" anchor="t"/>
          <a:lstStyle/>
          <a:p>
            <a:pPr indent="0" marL="0">
              <a:buNone/>
            </a:pPr>
            <a:r>
              <a:rPr lang="en-US" sz="1900" dirty="0">
                <a:solidFill>
                  <a:srgbClr val="15201A"/>
                </a:solidFill>
                <a:latin typeface="Schibsted Grotesk" pitchFamily="34" charset="0"/>
                <a:ea typeface="Schibsted Grotesk" pitchFamily="34" charset="-122"/>
                <a:cs typeface="Schibsted Grotesk" pitchFamily="34" charset="-120"/>
              </a:rPr>
              <a:t>Students don’t hear of it when they need it, can reach it 24 hours a week in one basement room, and see it as a last resort.</a:t>
            </a:r>
            <a:endParaRPr lang="en-US" sz="1900" dirty="0"/>
          </a:p>
        </p:txBody>
      </p:sp>
      <p:sp>
        <p:nvSpPr>
          <p:cNvPr id="9" name="Shape 7"/>
          <p:cNvSpPr/>
          <p:nvPr/>
        </p:nvSpPr>
        <p:spPr>
          <a:xfrm>
            <a:off x="685800" y="3886200"/>
            <a:ext cx="10820095" cy="0"/>
          </a:xfrm>
          <a:prstGeom prst="line">
            <a:avLst/>
          </a:prstGeom>
          <a:noFill/>
          <a:ln w="9525">
            <a:solidFill>
              <a:srgbClr val="D9D4C7"/>
            </a:solidFill>
            <a:prstDash val="solid"/>
          </a:ln>
        </p:spPr>
      </p:sp>
      <p:sp>
        <p:nvSpPr>
          <p:cNvPr id="10" name="Text 8"/>
          <p:cNvSpPr txBox="1"/>
          <p:nvPr/>
        </p:nvSpPr>
        <p:spPr>
          <a:xfrm>
            <a:off x="685800" y="4114800"/>
            <a:ext cx="2533574" cy="457200"/>
          </a:xfrm>
          <a:prstGeom prst="rect">
            <a:avLst/>
          </a:prstGeom>
          <a:noFill/>
          <a:ln/>
        </p:spPr>
        <p:txBody>
          <a:bodyPr wrap="square" lIns="0" tIns="0" rIns="0" bIns="0" rtlCol="0" anchor="t"/>
          <a:lstStyle/>
          <a:p>
            <a:pPr indent="0" marL="0">
              <a:buNone/>
            </a:pPr>
            <a:r>
              <a:rPr lang="en-US" sz="2200" b="1" dirty="0">
                <a:solidFill>
                  <a:srgbClr val="1D5E40"/>
                </a:solidFill>
                <a:latin typeface="Schibsted Grotesk" pitchFamily="34" charset="0"/>
                <a:ea typeface="Schibsted Grotesk" pitchFamily="34" charset="-122"/>
                <a:cs typeface="Schibsted Grotesk" pitchFamily="34" charset="-120"/>
              </a:rPr>
              <a:t>Plan</a:t>
            </a:r>
            <a:endParaRPr lang="en-US" sz="2200" dirty="0"/>
          </a:p>
        </p:txBody>
      </p:sp>
      <p:sp>
        <p:nvSpPr>
          <p:cNvPr id="11" name="Text 9"/>
          <p:cNvSpPr txBox="1"/>
          <p:nvPr/>
        </p:nvSpPr>
        <p:spPr>
          <a:xfrm>
            <a:off x="3447974" y="4142232"/>
            <a:ext cx="8057921" cy="822960"/>
          </a:xfrm>
          <a:prstGeom prst="rect">
            <a:avLst/>
          </a:prstGeom>
          <a:noFill/>
          <a:ln/>
        </p:spPr>
        <p:txBody>
          <a:bodyPr wrap="square" lIns="0" tIns="0" rIns="0" bIns="0" rtlCol="0" anchor="t"/>
          <a:lstStyle/>
          <a:p>
            <a:pPr indent="0" marL="0">
              <a:buNone/>
            </a:pPr>
            <a:r>
              <a:rPr lang="en-US" sz="1900" dirty="0">
                <a:solidFill>
                  <a:srgbClr val="15201A"/>
                </a:solidFill>
                <a:latin typeface="Schibsted Grotesk" pitchFamily="34" charset="0"/>
                <a:ea typeface="Schibsted Grotesk" pitchFamily="34" charset="-122"/>
                <a:cs typeface="Schibsted Grotesk" pitchFamily="34" charset="-120"/>
              </a:rPr>
              <a:t>A FoodLink tab in USC Now, walk-up shelves co-run with faculty councils, and sealed surplus from The Spoke and The Wave.</a:t>
            </a:r>
            <a:endParaRPr lang="en-US" sz="1900" dirty="0"/>
          </a:p>
        </p:txBody>
      </p:sp>
      <p:sp>
        <p:nvSpPr>
          <p:cNvPr id="12" name="Shape 10"/>
          <p:cNvSpPr/>
          <p:nvPr/>
        </p:nvSpPr>
        <p:spPr>
          <a:xfrm>
            <a:off x="685800" y="4937760"/>
            <a:ext cx="10820095" cy="0"/>
          </a:xfrm>
          <a:prstGeom prst="line">
            <a:avLst/>
          </a:prstGeom>
          <a:noFill/>
          <a:ln w="9525">
            <a:solidFill>
              <a:srgbClr val="D9D4C7"/>
            </a:solidFill>
            <a:prstDash val="solid"/>
          </a:ln>
        </p:spPr>
      </p:sp>
      <p:sp>
        <p:nvSpPr>
          <p:cNvPr id="13" name="Text 11"/>
          <p:cNvSpPr txBox="1"/>
          <p:nvPr/>
        </p:nvSpPr>
        <p:spPr>
          <a:xfrm>
            <a:off x="685800" y="5166360"/>
            <a:ext cx="2533574" cy="457200"/>
          </a:xfrm>
          <a:prstGeom prst="rect">
            <a:avLst/>
          </a:prstGeom>
          <a:noFill/>
          <a:ln/>
        </p:spPr>
        <p:txBody>
          <a:bodyPr wrap="square" lIns="0" tIns="0" rIns="0" bIns="0" rtlCol="0" anchor="t"/>
          <a:lstStyle/>
          <a:p>
            <a:pPr indent="0" marL="0">
              <a:buNone/>
            </a:pPr>
            <a:r>
              <a:rPr lang="en-US" sz="2200" b="1" dirty="0">
                <a:solidFill>
                  <a:srgbClr val="1D5E40"/>
                </a:solidFill>
                <a:latin typeface="Schibsted Grotesk" pitchFamily="34" charset="0"/>
                <a:ea typeface="Schibsted Grotesk" pitchFamily="34" charset="-122"/>
                <a:cs typeface="Schibsted Grotesk" pitchFamily="34" charset="-120"/>
              </a:rPr>
              <a:t>Ask</a:t>
            </a:r>
            <a:endParaRPr lang="en-US" sz="2200" dirty="0"/>
          </a:p>
        </p:txBody>
      </p:sp>
      <p:sp>
        <p:nvSpPr>
          <p:cNvPr id="14" name="Text 12"/>
          <p:cNvSpPr txBox="1"/>
          <p:nvPr/>
        </p:nvSpPr>
        <p:spPr>
          <a:xfrm>
            <a:off x="3447974" y="5193792"/>
            <a:ext cx="8057921" cy="822960"/>
          </a:xfrm>
          <a:prstGeom prst="rect">
            <a:avLst/>
          </a:prstGeom>
          <a:noFill/>
          <a:ln/>
        </p:spPr>
        <p:txBody>
          <a:bodyPr wrap="square" lIns="0" tIns="0" rIns="0" bIns="0" rtlCol="0" anchor="t"/>
          <a:lstStyle/>
          <a:p>
            <a:pPr indent="0" marL="0">
              <a:buNone/>
            </a:pPr>
            <a:r>
              <a:rPr lang="en-US" sz="1900" dirty="0">
                <a:solidFill>
                  <a:srgbClr val="15201A"/>
                </a:solidFill>
                <a:latin typeface="Schibsted Grotesk" pitchFamily="34" charset="0"/>
                <a:ea typeface="Schibsted Grotesk" pitchFamily="34" charset="-122"/>
                <a:cs typeface="Schibsted Grotesk" pitchFamily="34" charset="-120"/>
              </a:rPr>
              <a:t>An 11-week pilot, January to March 2027: $6,900, with $4,900 from the USC and the rest from councils and a sponsor.</a:t>
            </a:r>
            <a:endParaRPr lang="en-US" sz="19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p:nvPr>
            <p:ph idx="107" type="title" hasCustomPrompt="1"/>
          </p:nvPr>
        </p:nvSpPr>
        <p:spPr>
          <a:xfrm>
            <a:off x="685800" y="502920"/>
            <a:ext cx="10241280" cy="1188720"/>
          </a:xfrm>
          <a:prstGeom prst="rect">
            <a:avLst/>
          </a:prstGeom>
          <a:noFill/>
          <a:ln/>
        </p:spPr>
        <p:txBody>
          <a:bodyPr wrap="square" lIns="0" tIns="0" rIns="0" bIns="0" rtlCol="0" anchor="t"/>
          <a:lstStyle/>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Food Support is under-engaged</a:t>
            </a:r>
            <a:endParaRPr lang="en-US" sz="3400" dirty="0"/>
          </a:p>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relative to the need it serves</a:t>
            </a:r>
            <a:endParaRPr lang="en-US" sz="3400" dirty="0"/>
          </a:p>
        </p:txBody>
      </p:sp>
      <p:sp>
        <p:nvSpPr>
          <p:cNvPr id="3" name="Text 1"/>
          <p:cNvSpPr txBox="1"/>
          <p:nvPr/>
        </p:nvSpPr>
        <p:spPr>
          <a:xfrm>
            <a:off x="685800" y="1874520"/>
            <a:ext cx="6216472" cy="292608"/>
          </a:xfrm>
          <a:prstGeom prst="rect">
            <a:avLst/>
          </a:prstGeom>
          <a:noFill/>
          <a:ln/>
        </p:spPr>
        <p:txBody>
          <a:bodyPr wrap="square" lIns="0" tIns="0" rIns="0" bIns="0" rtlCol="0" anchor="t"/>
          <a:lstStyle/>
          <a:p>
            <a:pPr indent="0" marL="0">
              <a:buNone/>
            </a:pPr>
            <a:r>
              <a:rPr lang="en-US" sz="1500" dirty="0">
                <a:solidFill>
                  <a:srgbClr val="68716A"/>
                </a:solidFill>
                <a:latin typeface="Schibsted Grotesk" pitchFamily="34" charset="0"/>
                <a:ea typeface="Schibsted Grotesk" pitchFamily="34" charset="-122"/>
                <a:cs typeface="Schibsted Grotesk" pitchFamily="34" charset="-120"/>
              </a:rPr>
              <a:t>Hampers handed out by USC Food Support</a:t>
            </a:r>
            <a:endParaRPr lang="en-US" sz="1500" dirty="0"/>
          </a:p>
        </p:txBody>
      </p:sp>
      <p:sp>
        <p:nvSpPr>
          <p:cNvPr id="4" name="Shape 2"/>
          <p:cNvSpPr/>
          <p:nvPr/>
        </p:nvSpPr>
        <p:spPr>
          <a:xfrm>
            <a:off x="685800" y="5212080"/>
            <a:ext cx="6216472" cy="0"/>
          </a:xfrm>
          <a:prstGeom prst="line">
            <a:avLst/>
          </a:prstGeom>
          <a:noFill/>
          <a:ln w="15875">
            <a:solidFill>
              <a:srgbClr val="15201A"/>
            </a:solidFill>
            <a:prstDash val="solid"/>
          </a:ln>
        </p:spPr>
      </p:sp>
      <p:sp>
        <p:nvSpPr>
          <p:cNvPr id="5" name="Shape 3"/>
          <p:cNvSpPr/>
          <p:nvPr/>
        </p:nvSpPr>
        <p:spPr>
          <a:xfrm>
            <a:off x="1234440" y="4183380"/>
            <a:ext cx="1737360" cy="1028700"/>
          </a:xfrm>
          <a:prstGeom prst="rect">
            <a:avLst/>
          </a:prstGeom>
          <a:solidFill>
            <a:srgbClr val="BDC3BA"/>
          </a:solidFill>
          <a:ln w="12700">
            <a:solidFill>
              <a:srgbClr val="BDC3BA"/>
            </a:solidFill>
            <a:prstDash val="solid"/>
          </a:ln>
        </p:spPr>
      </p:sp>
      <p:sp>
        <p:nvSpPr>
          <p:cNvPr id="6" name="Text 4"/>
          <p:cNvSpPr txBox="1"/>
          <p:nvPr/>
        </p:nvSpPr>
        <p:spPr>
          <a:xfrm>
            <a:off x="777240" y="3451860"/>
            <a:ext cx="2651760" cy="658368"/>
          </a:xfrm>
          <a:prstGeom prst="rect">
            <a:avLst/>
          </a:prstGeom>
          <a:noFill/>
          <a:ln/>
        </p:spPr>
        <p:txBody>
          <a:bodyPr wrap="square" lIns="0" tIns="0" rIns="0" bIns="0" rtlCol="0" anchor="b"/>
          <a:lstStyle/>
          <a:p>
            <a:pPr algn="ctr" indent="0" marL="0">
              <a:buNone/>
            </a:pPr>
            <a:r>
              <a:rPr lang="en-US" sz="4400" b="1" dirty="0">
                <a:solidFill>
                  <a:srgbClr val="15201A"/>
                </a:solidFill>
                <a:latin typeface="Schibsted Grotesk" pitchFamily="34" charset="0"/>
                <a:ea typeface="Schibsted Grotesk" pitchFamily="34" charset="-122"/>
                <a:cs typeface="Schibsted Grotesk" pitchFamily="34" charset="-120"/>
              </a:rPr>
              <a:t>750</a:t>
            </a:r>
            <a:endParaRPr lang="en-US" sz="4400" dirty="0"/>
          </a:p>
        </p:txBody>
      </p:sp>
      <p:sp>
        <p:nvSpPr>
          <p:cNvPr id="7" name="Text 5"/>
          <p:cNvSpPr txBox="1"/>
          <p:nvPr/>
        </p:nvSpPr>
        <p:spPr>
          <a:xfrm>
            <a:off x="502920" y="5321808"/>
            <a:ext cx="3200400" cy="292608"/>
          </a:xfrm>
          <a:prstGeom prst="rect">
            <a:avLst/>
          </a:prstGeom>
          <a:noFill/>
          <a:ln/>
        </p:spPr>
        <p:txBody>
          <a:bodyPr wrap="square" lIns="0" tIns="0" rIns="0" bIns="0" rtlCol="0" anchor="t"/>
          <a:lstStyle/>
          <a:p>
            <a:pPr algn="ctr" indent="0" marL="0">
              <a:buNone/>
            </a:pPr>
            <a:r>
              <a:rPr lang="en-US" sz="1500" b="1" dirty="0">
                <a:solidFill>
                  <a:srgbClr val="15201A"/>
                </a:solidFill>
                <a:latin typeface="Schibsted Grotesk" pitchFamily="34" charset="0"/>
                <a:ea typeface="Schibsted Grotesk" pitchFamily="34" charset="-122"/>
                <a:cs typeface="Schibsted Grotesk" pitchFamily="34" charset="-120"/>
              </a:rPr>
              <a:t>2022–23</a:t>
            </a:r>
            <a:endParaRPr lang="en-US" sz="1500" dirty="0"/>
          </a:p>
        </p:txBody>
      </p:sp>
      <p:sp>
        <p:nvSpPr>
          <p:cNvPr id="8" name="Text 6"/>
          <p:cNvSpPr txBox="1"/>
          <p:nvPr/>
        </p:nvSpPr>
        <p:spPr>
          <a:xfrm>
            <a:off x="502920" y="5614416"/>
            <a:ext cx="3200400" cy="274320"/>
          </a:xfrm>
          <a:prstGeom prst="rect">
            <a:avLst/>
          </a:prstGeom>
          <a:noFill/>
          <a:ln/>
        </p:spPr>
        <p:txBody>
          <a:bodyPr wrap="square" lIns="0" tIns="0" rIns="0" bIns="0" rtlCol="0" anchor="t"/>
          <a:lstStyle/>
          <a:p>
            <a:pPr algn="ctr" indent="0" marL="0">
              <a:buNone/>
            </a:pPr>
            <a:r>
              <a:rPr lang="en-US" sz="1400" dirty="0">
                <a:solidFill>
                  <a:srgbClr val="68716A"/>
                </a:solidFill>
                <a:latin typeface="Schibsted Grotesk" pitchFamily="34" charset="0"/>
                <a:ea typeface="Schibsted Grotesk" pitchFamily="34" charset="-122"/>
                <a:cs typeface="Schibsted Grotesk" pitchFamily="34" charset="-120"/>
              </a:rPr>
              <a:t>Full year</a:t>
            </a:r>
            <a:endParaRPr lang="en-US" sz="1400" dirty="0"/>
          </a:p>
        </p:txBody>
      </p:sp>
      <p:sp>
        <p:nvSpPr>
          <p:cNvPr id="9" name="Shape 7"/>
          <p:cNvSpPr/>
          <p:nvPr/>
        </p:nvSpPr>
        <p:spPr>
          <a:xfrm>
            <a:off x="3977640" y="2880360"/>
            <a:ext cx="1737360" cy="2331720"/>
          </a:xfrm>
          <a:prstGeom prst="rect">
            <a:avLst/>
          </a:prstGeom>
          <a:solidFill>
            <a:srgbClr val="1D5E40"/>
          </a:solidFill>
          <a:ln w="12700">
            <a:solidFill>
              <a:srgbClr val="1D5E40"/>
            </a:solidFill>
            <a:prstDash val="solid"/>
          </a:ln>
        </p:spPr>
      </p:sp>
      <p:sp>
        <p:nvSpPr>
          <p:cNvPr id="10" name="Text 8"/>
          <p:cNvSpPr txBox="1"/>
          <p:nvPr/>
        </p:nvSpPr>
        <p:spPr>
          <a:xfrm>
            <a:off x="3520440" y="2148840"/>
            <a:ext cx="2651760" cy="658368"/>
          </a:xfrm>
          <a:prstGeom prst="rect">
            <a:avLst/>
          </a:prstGeom>
          <a:noFill/>
          <a:ln/>
        </p:spPr>
        <p:txBody>
          <a:bodyPr wrap="square" lIns="0" tIns="0" rIns="0" bIns="0" rtlCol="0" anchor="b"/>
          <a:lstStyle/>
          <a:p>
            <a:pPr algn="ctr" indent="0" marL="0">
              <a:buNone/>
            </a:pPr>
            <a:r>
              <a:rPr lang="en-US" sz="4400" b="1" dirty="0">
                <a:solidFill>
                  <a:srgbClr val="15201A"/>
                </a:solidFill>
                <a:latin typeface="Schibsted Grotesk" pitchFamily="34" charset="0"/>
                <a:ea typeface="Schibsted Grotesk" pitchFamily="34" charset="-122"/>
                <a:cs typeface="Schibsted Grotesk" pitchFamily="34" charset="-120"/>
              </a:rPr>
              <a:t>1,700+</a:t>
            </a:r>
            <a:endParaRPr lang="en-US" sz="4400" dirty="0"/>
          </a:p>
        </p:txBody>
      </p:sp>
      <p:sp>
        <p:nvSpPr>
          <p:cNvPr id="11" name="Text 9"/>
          <p:cNvSpPr txBox="1"/>
          <p:nvPr/>
        </p:nvSpPr>
        <p:spPr>
          <a:xfrm>
            <a:off x="3246120" y="5321808"/>
            <a:ext cx="3200400" cy="292608"/>
          </a:xfrm>
          <a:prstGeom prst="rect">
            <a:avLst/>
          </a:prstGeom>
          <a:noFill/>
          <a:ln/>
        </p:spPr>
        <p:txBody>
          <a:bodyPr wrap="square" lIns="0" tIns="0" rIns="0" bIns="0" rtlCol="0" anchor="t"/>
          <a:lstStyle/>
          <a:p>
            <a:pPr algn="ctr" indent="0" marL="0">
              <a:buNone/>
            </a:pPr>
            <a:r>
              <a:rPr lang="en-US" sz="1500" b="1" dirty="0">
                <a:solidFill>
                  <a:srgbClr val="15201A"/>
                </a:solidFill>
                <a:latin typeface="Schibsted Grotesk" pitchFamily="34" charset="0"/>
                <a:ea typeface="Schibsted Grotesk" pitchFamily="34" charset="-122"/>
                <a:cs typeface="Schibsted Grotesk" pitchFamily="34" charset="-120"/>
              </a:rPr>
              <a:t>Sept 2023 – mid-March 2024</a:t>
            </a:r>
            <a:endParaRPr lang="en-US" sz="1500" dirty="0"/>
          </a:p>
        </p:txBody>
      </p:sp>
      <p:sp>
        <p:nvSpPr>
          <p:cNvPr id="12" name="Text 10"/>
          <p:cNvSpPr txBox="1"/>
          <p:nvPr/>
        </p:nvSpPr>
        <p:spPr>
          <a:xfrm>
            <a:off x="3246120" y="5614416"/>
            <a:ext cx="3200400" cy="274320"/>
          </a:xfrm>
          <a:prstGeom prst="rect">
            <a:avLst/>
          </a:prstGeom>
          <a:noFill/>
          <a:ln/>
        </p:spPr>
        <p:txBody>
          <a:bodyPr wrap="square" lIns="0" tIns="0" rIns="0" bIns="0" rtlCol="0" anchor="t"/>
          <a:lstStyle/>
          <a:p>
            <a:pPr algn="ctr" indent="0" marL="0">
              <a:buNone/>
            </a:pPr>
            <a:r>
              <a:rPr lang="en-US" sz="1400" dirty="0">
                <a:solidFill>
                  <a:srgbClr val="68716A"/>
                </a:solidFill>
                <a:latin typeface="Schibsted Grotesk" pitchFamily="34" charset="0"/>
                <a:ea typeface="Schibsted Grotesk" pitchFamily="34" charset="-122"/>
                <a:cs typeface="Schibsted Grotesk" pitchFamily="34" charset="-120"/>
              </a:rPr>
              <a:t>6.5 months</a:t>
            </a:r>
            <a:endParaRPr lang="en-US" sz="1400" dirty="0"/>
          </a:p>
        </p:txBody>
      </p:sp>
      <p:sp>
        <p:nvSpPr>
          <p:cNvPr id="13" name="Text 11"/>
          <p:cNvSpPr txBox="1"/>
          <p:nvPr/>
        </p:nvSpPr>
        <p:spPr>
          <a:xfrm>
            <a:off x="8051597" y="1828800"/>
            <a:ext cx="3454298" cy="640080"/>
          </a:xfrm>
          <a:prstGeom prst="rect">
            <a:avLst/>
          </a:prstGeom>
          <a:noFill/>
          <a:ln/>
        </p:spPr>
        <p:txBody>
          <a:bodyPr wrap="square" lIns="0" tIns="0" rIns="0" bIns="0" rtlCol="0" anchor="t"/>
          <a:lstStyle/>
          <a:p>
            <a:pPr indent="0" marL="0">
              <a:buNone/>
            </a:pPr>
            <a:r>
              <a:rPr lang="en-US" sz="4000" b="1" dirty="0">
                <a:solidFill>
                  <a:srgbClr val="1D5E40"/>
                </a:solidFill>
                <a:latin typeface="Schibsted Grotesk" pitchFamily="34" charset="0"/>
                <a:ea typeface="Schibsted Grotesk" pitchFamily="34" charset="-122"/>
                <a:cs typeface="Schibsted Grotesk" pitchFamily="34" charset="-120"/>
              </a:rPr>
              <a:t>40%</a:t>
            </a:r>
            <a:endParaRPr lang="en-US" sz="4000" dirty="0"/>
          </a:p>
        </p:txBody>
      </p:sp>
      <p:sp>
        <p:nvSpPr>
          <p:cNvPr id="14" name="Text 12"/>
          <p:cNvSpPr txBox="1"/>
          <p:nvPr/>
        </p:nvSpPr>
        <p:spPr>
          <a:xfrm>
            <a:off x="8051597" y="2487168"/>
            <a:ext cx="3454298" cy="548640"/>
          </a:xfrm>
          <a:prstGeom prst="rect">
            <a:avLst/>
          </a:prstGeom>
          <a:noFill/>
          <a:ln/>
        </p:spPr>
        <p:txBody>
          <a:bodyPr wrap="square" lIns="0" tIns="0" rIns="0" bIns="0" rtlCol="0" anchor="t"/>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of Canadian students skipped meals because of cost in 2024</a:t>
            </a:r>
            <a:endParaRPr lang="en-US" sz="1600" dirty="0"/>
          </a:p>
        </p:txBody>
      </p:sp>
      <p:sp>
        <p:nvSpPr>
          <p:cNvPr id="15" name="Shape 13"/>
          <p:cNvSpPr/>
          <p:nvPr/>
        </p:nvSpPr>
        <p:spPr>
          <a:xfrm>
            <a:off x="8051597" y="2990088"/>
            <a:ext cx="3454298" cy="0"/>
          </a:xfrm>
          <a:prstGeom prst="line">
            <a:avLst/>
          </a:prstGeom>
          <a:noFill/>
          <a:ln w="9525">
            <a:solidFill>
              <a:srgbClr val="D9D4C7"/>
            </a:solidFill>
            <a:prstDash val="solid"/>
          </a:ln>
        </p:spPr>
      </p:sp>
      <p:sp>
        <p:nvSpPr>
          <p:cNvPr id="16" name="Text 14"/>
          <p:cNvSpPr txBox="1"/>
          <p:nvPr/>
        </p:nvSpPr>
        <p:spPr>
          <a:xfrm>
            <a:off x="8051597" y="3154680"/>
            <a:ext cx="3454298" cy="640080"/>
          </a:xfrm>
          <a:prstGeom prst="rect">
            <a:avLst/>
          </a:prstGeom>
          <a:noFill/>
          <a:ln/>
        </p:spPr>
        <p:txBody>
          <a:bodyPr wrap="square" lIns="0" tIns="0" rIns="0" bIns="0" rtlCol="0" anchor="t"/>
          <a:lstStyle/>
          <a:p>
            <a:pPr indent="0" marL="0">
              <a:buNone/>
            </a:pPr>
            <a:r>
              <a:rPr lang="en-US" sz="4000" b="1" dirty="0">
                <a:solidFill>
                  <a:srgbClr val="1D5E40"/>
                </a:solidFill>
                <a:latin typeface="Schibsted Grotesk" pitchFamily="34" charset="0"/>
                <a:ea typeface="Schibsted Grotesk" pitchFamily="34" charset="-122"/>
                <a:cs typeface="Schibsted Grotesk" pitchFamily="34" charset="-120"/>
              </a:rPr>
              <a:t>1 in 5</a:t>
            </a:r>
            <a:endParaRPr lang="en-US" sz="4000" dirty="0"/>
          </a:p>
        </p:txBody>
      </p:sp>
      <p:sp>
        <p:nvSpPr>
          <p:cNvPr id="17" name="Text 15"/>
          <p:cNvSpPr txBox="1"/>
          <p:nvPr/>
        </p:nvSpPr>
        <p:spPr>
          <a:xfrm>
            <a:off x="8051597" y="3813048"/>
            <a:ext cx="3454298" cy="548640"/>
          </a:xfrm>
          <a:prstGeom prst="rect">
            <a:avLst/>
          </a:prstGeom>
          <a:noFill/>
          <a:ln/>
        </p:spPr>
        <p:txBody>
          <a:bodyPr wrap="square" lIns="0" tIns="0" rIns="0" bIns="0" rtlCol="0" anchor="t"/>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TMU students used their food bank; 48.5% were food insecure</a:t>
            </a:r>
            <a:endParaRPr lang="en-US" sz="1600" dirty="0"/>
          </a:p>
        </p:txBody>
      </p:sp>
      <p:sp>
        <p:nvSpPr>
          <p:cNvPr id="18" name="Shape 16"/>
          <p:cNvSpPr/>
          <p:nvPr/>
        </p:nvSpPr>
        <p:spPr>
          <a:xfrm>
            <a:off x="8051597" y="4315968"/>
            <a:ext cx="3454298" cy="0"/>
          </a:xfrm>
          <a:prstGeom prst="line">
            <a:avLst/>
          </a:prstGeom>
          <a:noFill/>
          <a:ln w="9525">
            <a:solidFill>
              <a:srgbClr val="D9D4C7"/>
            </a:solidFill>
            <a:prstDash val="solid"/>
          </a:ln>
        </p:spPr>
      </p:sp>
      <p:sp>
        <p:nvSpPr>
          <p:cNvPr id="19" name="Text 17"/>
          <p:cNvSpPr txBox="1"/>
          <p:nvPr/>
        </p:nvSpPr>
        <p:spPr>
          <a:xfrm>
            <a:off x="8051597" y="4480560"/>
            <a:ext cx="3454298" cy="640080"/>
          </a:xfrm>
          <a:prstGeom prst="rect">
            <a:avLst/>
          </a:prstGeom>
          <a:noFill/>
          <a:ln/>
        </p:spPr>
        <p:txBody>
          <a:bodyPr wrap="square" lIns="0" tIns="0" rIns="0" bIns="0" rtlCol="0" anchor="t"/>
          <a:lstStyle/>
          <a:p>
            <a:pPr indent="0" marL="0">
              <a:buNone/>
            </a:pPr>
            <a:r>
              <a:rPr lang="en-US" sz="4000" b="1" dirty="0">
                <a:solidFill>
                  <a:srgbClr val="1D5E40"/>
                </a:solidFill>
                <a:latin typeface="Schibsted Grotesk" pitchFamily="34" charset="0"/>
                <a:ea typeface="Schibsted Grotesk" pitchFamily="34" charset="-122"/>
                <a:cs typeface="Schibsted Grotesk" pitchFamily="34" charset="-120"/>
              </a:rPr>
              <a:t>Priority</a:t>
            </a:r>
            <a:endParaRPr lang="en-US" sz="4000" dirty="0"/>
          </a:p>
        </p:txBody>
      </p:sp>
      <p:sp>
        <p:nvSpPr>
          <p:cNvPr id="20" name="Text 18"/>
          <p:cNvSpPr txBox="1"/>
          <p:nvPr/>
        </p:nvSpPr>
        <p:spPr>
          <a:xfrm>
            <a:off x="8051597" y="5138928"/>
            <a:ext cx="3454298" cy="548640"/>
          </a:xfrm>
          <a:prstGeom prst="rect">
            <a:avLst/>
          </a:prstGeom>
          <a:noFill/>
          <a:ln/>
        </p:spPr>
        <p:txBody>
          <a:bodyPr wrap="square" lIns="0" tIns="0" rIns="0" bIns="0" rtlCol="0" anchor="t"/>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in the USC’s 2025–26 Roadmap: awareness of Food Support</a:t>
            </a:r>
            <a:endParaRPr lang="en-US" sz="1600" dirty="0"/>
          </a:p>
        </p:txBody>
      </p:sp>
      <p:sp>
        <p:nvSpPr>
          <p:cNvPr id="21" name="Text 19"/>
          <p:cNvSpPr txBox="1"/>
          <p:nvPr/>
        </p:nvSpPr>
        <p:spPr>
          <a:xfrm>
            <a:off x="685800" y="5925312"/>
            <a:ext cx="10820095" cy="292608"/>
          </a:xfrm>
          <a:prstGeom prst="rect">
            <a:avLst/>
          </a:prstGeom>
          <a:noFill/>
          <a:ln/>
        </p:spPr>
        <p:txBody>
          <a:bodyPr wrap="square" lIns="0" tIns="0" rIns="0" bIns="0" rtlCol="0" anchor="b"/>
          <a:lstStyle/>
          <a:p>
            <a:pPr indent="0" marL="0">
              <a:buNone/>
            </a:pPr>
            <a:r>
              <a:rPr lang="en-US" sz="1100" dirty="0">
                <a:solidFill>
                  <a:srgbClr val="68716A"/>
                </a:solidFill>
                <a:latin typeface="Schibsted Grotesk" pitchFamily="34" charset="0"/>
                <a:ea typeface="Schibsted Grotesk" pitchFamily="34" charset="-122"/>
                <a:cs typeface="Schibsted Grotesk" pitchFamily="34" charset="-120"/>
              </a:rPr>
              <a:t>Sources: Global News, Mar 15, 2024; CASA, Walking the Tightrope, Mar 2025; The Eyeopener, Oct 27, 2026; Aspire 2026 case.</a:t>
            </a:r>
            <a:endParaRPr lang="en-US" sz="11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p:nvPr>
            <p:ph idx="107" type="title" hasCustomPrompt="1"/>
          </p:nvPr>
        </p:nvSpPr>
        <p:spPr>
          <a:xfrm>
            <a:off x="685800" y="502920"/>
            <a:ext cx="10241280" cy="1188720"/>
          </a:xfrm>
          <a:prstGeom prst="rect">
            <a:avLst/>
          </a:prstGeom>
          <a:noFill/>
          <a:ln/>
        </p:spPr>
        <p:txBody>
          <a:bodyPr wrap="square" lIns="0" tIns="0" rIns="0" bIns="0" rtlCol="0" anchor="t"/>
          <a:lstStyle/>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Four root causes keep students</a:t>
            </a:r>
            <a:endParaRPr lang="en-US" sz="3400" dirty="0"/>
          </a:p>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away from Food Support</a:t>
            </a:r>
            <a:endParaRPr lang="en-US" sz="3400" dirty="0"/>
          </a:p>
        </p:txBody>
      </p:sp>
      <p:sp>
        <p:nvSpPr>
          <p:cNvPr id="3" name="Shape 1"/>
          <p:cNvSpPr/>
          <p:nvPr/>
        </p:nvSpPr>
        <p:spPr>
          <a:xfrm>
            <a:off x="685800" y="1874520"/>
            <a:ext cx="5295748" cy="1783080"/>
          </a:xfrm>
          <a:prstGeom prst="rect">
            <a:avLst/>
          </a:prstGeom>
          <a:solidFill>
            <a:srgbClr val="FFFFFF"/>
          </a:solidFill>
          <a:ln w="9525">
            <a:solidFill>
              <a:srgbClr val="D9D4C7"/>
            </a:solidFill>
            <a:prstDash val="solid"/>
          </a:ln>
        </p:spPr>
      </p:sp>
      <p:sp>
        <p:nvSpPr>
          <p:cNvPr id="4" name="Shape 2"/>
          <p:cNvSpPr/>
          <p:nvPr/>
        </p:nvSpPr>
        <p:spPr>
          <a:xfrm>
            <a:off x="960120" y="2148840"/>
            <a:ext cx="411480" cy="45720"/>
          </a:xfrm>
          <a:prstGeom prst="rect">
            <a:avLst/>
          </a:prstGeom>
          <a:solidFill>
            <a:srgbClr val="A97A2F"/>
          </a:solidFill>
          <a:ln w="12700">
            <a:solidFill>
              <a:srgbClr val="A97A2F"/>
            </a:solidFill>
            <a:prstDash val="solid"/>
          </a:ln>
        </p:spPr>
      </p:sp>
      <p:sp>
        <p:nvSpPr>
          <p:cNvPr id="5" name="Text 3"/>
          <p:cNvSpPr txBox="1"/>
          <p:nvPr/>
        </p:nvSpPr>
        <p:spPr>
          <a:xfrm>
            <a:off x="960120" y="2295144"/>
            <a:ext cx="4747108" cy="411480"/>
          </a:xfrm>
          <a:prstGeom prst="rect">
            <a:avLst/>
          </a:prstGeom>
          <a:noFill/>
          <a:ln/>
        </p:spPr>
        <p:txBody>
          <a:bodyPr wrap="square" lIns="0" tIns="0" rIns="0" bIns="0" rtlCol="0" anchor="t"/>
          <a:lstStyle/>
          <a:p>
            <a:pPr indent="0" marL="0">
              <a:buNone/>
            </a:pPr>
            <a:r>
              <a:rPr lang="en-US" sz="2400" b="1" dirty="0">
                <a:solidFill>
                  <a:srgbClr val="15201A"/>
                </a:solidFill>
                <a:latin typeface="Schibsted Grotesk" pitchFamily="34" charset="0"/>
                <a:ea typeface="Schibsted Grotesk" pitchFamily="34" charset="-122"/>
                <a:cs typeface="Schibsted Grotesk" pitchFamily="34" charset="-120"/>
              </a:rPr>
              <a:t>Awareness</a:t>
            </a:r>
            <a:endParaRPr lang="en-US" sz="2400" dirty="0"/>
          </a:p>
        </p:txBody>
      </p:sp>
      <p:sp>
        <p:nvSpPr>
          <p:cNvPr id="6" name="Text 4"/>
          <p:cNvSpPr txBox="1"/>
          <p:nvPr/>
        </p:nvSpPr>
        <p:spPr>
          <a:xfrm>
            <a:off x="960120" y="2788920"/>
            <a:ext cx="4747108" cy="7772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38433C"/>
                </a:solidFill>
                <a:latin typeface="Schibsted Grotesk" pitchFamily="34" charset="0"/>
                <a:ea typeface="Schibsted Grotesk" pitchFamily="34" charset="-122"/>
                <a:cs typeface="Schibsted Grotesk" pitchFamily="34" charset="-120"/>
              </a:rPr>
              <a:t>First heard of at O-Week, amid overload</a:t>
            </a:r>
            <a:endParaRPr lang="en-US" sz="1600" dirty="0"/>
          </a:p>
          <a:p>
            <a:pPr marL="203200" indent="-203200">
              <a:spcAft>
                <a:spcPts val="600"/>
              </a:spcAft>
              <a:buSzPct val="100000"/>
              <a:buChar char="•"/>
            </a:pPr>
            <a:r>
              <a:rPr lang="en-US" sz="1600" dirty="0">
                <a:solidFill>
                  <a:srgbClr val="38433C"/>
                </a:solidFill>
                <a:latin typeface="Schibsted Grotesk" pitchFamily="34" charset="0"/>
                <a:ea typeface="Schibsted Grotesk" pitchFamily="34" charset="-122"/>
                <a:cs typeface="Schibsted Grotesk" pitchFamily="34" charset="-120"/>
              </a:rPr>
              <a:t>Its page says requests reopen Sept 2025</a:t>
            </a:r>
            <a:endParaRPr lang="en-US" sz="1600" dirty="0"/>
          </a:p>
        </p:txBody>
      </p:sp>
      <p:sp>
        <p:nvSpPr>
          <p:cNvPr id="7" name="Shape 5"/>
          <p:cNvSpPr/>
          <p:nvPr/>
        </p:nvSpPr>
        <p:spPr>
          <a:xfrm>
            <a:off x="6210148" y="1874520"/>
            <a:ext cx="5295748" cy="1783080"/>
          </a:xfrm>
          <a:prstGeom prst="rect">
            <a:avLst/>
          </a:prstGeom>
          <a:solidFill>
            <a:srgbClr val="FFFFFF"/>
          </a:solidFill>
          <a:ln w="9525">
            <a:solidFill>
              <a:srgbClr val="D9D4C7"/>
            </a:solidFill>
            <a:prstDash val="solid"/>
          </a:ln>
        </p:spPr>
      </p:sp>
      <p:sp>
        <p:nvSpPr>
          <p:cNvPr id="8" name="Shape 6"/>
          <p:cNvSpPr/>
          <p:nvPr/>
        </p:nvSpPr>
        <p:spPr>
          <a:xfrm>
            <a:off x="6484468" y="2148840"/>
            <a:ext cx="411480" cy="45720"/>
          </a:xfrm>
          <a:prstGeom prst="rect">
            <a:avLst/>
          </a:prstGeom>
          <a:solidFill>
            <a:srgbClr val="A97A2F"/>
          </a:solidFill>
          <a:ln w="12700">
            <a:solidFill>
              <a:srgbClr val="A97A2F"/>
            </a:solidFill>
            <a:prstDash val="solid"/>
          </a:ln>
        </p:spPr>
      </p:sp>
      <p:sp>
        <p:nvSpPr>
          <p:cNvPr id="9" name="Text 7"/>
          <p:cNvSpPr txBox="1"/>
          <p:nvPr/>
        </p:nvSpPr>
        <p:spPr>
          <a:xfrm>
            <a:off x="6484468" y="2295144"/>
            <a:ext cx="4747108" cy="411480"/>
          </a:xfrm>
          <a:prstGeom prst="rect">
            <a:avLst/>
          </a:prstGeom>
          <a:noFill/>
          <a:ln/>
        </p:spPr>
        <p:txBody>
          <a:bodyPr wrap="square" lIns="0" tIns="0" rIns="0" bIns="0" rtlCol="0" anchor="t"/>
          <a:lstStyle/>
          <a:p>
            <a:pPr indent="0" marL="0">
              <a:buNone/>
            </a:pPr>
            <a:r>
              <a:rPr lang="en-US" sz="2400" b="1" dirty="0">
                <a:solidFill>
                  <a:srgbClr val="15201A"/>
                </a:solidFill>
                <a:latin typeface="Schibsted Grotesk" pitchFamily="34" charset="0"/>
                <a:ea typeface="Schibsted Grotesk" pitchFamily="34" charset="-122"/>
                <a:cs typeface="Schibsted Grotesk" pitchFamily="34" charset="-120"/>
              </a:rPr>
              <a:t>Access</a:t>
            </a:r>
            <a:endParaRPr lang="en-US" sz="2400" dirty="0"/>
          </a:p>
        </p:txBody>
      </p:sp>
      <p:sp>
        <p:nvSpPr>
          <p:cNvPr id="10" name="Text 8"/>
          <p:cNvSpPr txBox="1"/>
          <p:nvPr/>
        </p:nvSpPr>
        <p:spPr>
          <a:xfrm>
            <a:off x="6484468" y="2788920"/>
            <a:ext cx="4747108" cy="7772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38433C"/>
                </a:solidFill>
                <a:latin typeface="Schibsted Grotesk" pitchFamily="34" charset="0"/>
                <a:ea typeface="Schibsted Grotesk" pitchFamily="34" charset="-122"/>
                <a:cs typeface="Schibsted Grotesk" pitchFamily="34" charset="-120"/>
              </a:rPr>
              <a:t>One basement room, 24 hours a week</a:t>
            </a:r>
            <a:endParaRPr lang="en-US" sz="1600" dirty="0"/>
          </a:p>
          <a:p>
            <a:pPr marL="203200" indent="-203200">
              <a:spcAft>
                <a:spcPts val="600"/>
              </a:spcAft>
              <a:buSzPct val="100000"/>
              <a:buChar char="•"/>
            </a:pPr>
            <a:r>
              <a:rPr lang="en-US" sz="1600" dirty="0">
                <a:solidFill>
                  <a:srgbClr val="38433C"/>
                </a:solidFill>
                <a:latin typeface="Schibsted Grotesk" pitchFamily="34" charset="0"/>
                <a:ea typeface="Schibsted Grotesk" pitchFamily="34" charset="-122"/>
                <a:cs typeface="Schibsted Grotesk" pitchFamily="34" charset="-120"/>
              </a:rPr>
              <a:t>Hampers take 48+ hours, via a locker</a:t>
            </a:r>
            <a:endParaRPr lang="en-US" sz="1600" dirty="0"/>
          </a:p>
        </p:txBody>
      </p:sp>
      <p:sp>
        <p:nvSpPr>
          <p:cNvPr id="11" name="Shape 9"/>
          <p:cNvSpPr/>
          <p:nvPr/>
        </p:nvSpPr>
        <p:spPr>
          <a:xfrm>
            <a:off x="685800" y="3840480"/>
            <a:ext cx="5295748" cy="1783080"/>
          </a:xfrm>
          <a:prstGeom prst="rect">
            <a:avLst/>
          </a:prstGeom>
          <a:solidFill>
            <a:srgbClr val="FFFFFF"/>
          </a:solidFill>
          <a:ln w="9525">
            <a:solidFill>
              <a:srgbClr val="D9D4C7"/>
            </a:solidFill>
            <a:prstDash val="solid"/>
          </a:ln>
        </p:spPr>
      </p:sp>
      <p:sp>
        <p:nvSpPr>
          <p:cNvPr id="12" name="Shape 10"/>
          <p:cNvSpPr/>
          <p:nvPr/>
        </p:nvSpPr>
        <p:spPr>
          <a:xfrm>
            <a:off x="960120" y="4114800"/>
            <a:ext cx="411480" cy="45720"/>
          </a:xfrm>
          <a:prstGeom prst="rect">
            <a:avLst/>
          </a:prstGeom>
          <a:solidFill>
            <a:srgbClr val="A97A2F"/>
          </a:solidFill>
          <a:ln w="12700">
            <a:solidFill>
              <a:srgbClr val="A97A2F"/>
            </a:solidFill>
            <a:prstDash val="solid"/>
          </a:ln>
        </p:spPr>
      </p:sp>
      <p:sp>
        <p:nvSpPr>
          <p:cNvPr id="13" name="Text 11"/>
          <p:cNvSpPr txBox="1"/>
          <p:nvPr/>
        </p:nvSpPr>
        <p:spPr>
          <a:xfrm>
            <a:off x="960120" y="4261104"/>
            <a:ext cx="4747108" cy="411480"/>
          </a:xfrm>
          <a:prstGeom prst="rect">
            <a:avLst/>
          </a:prstGeom>
          <a:noFill/>
          <a:ln/>
        </p:spPr>
        <p:txBody>
          <a:bodyPr wrap="square" lIns="0" tIns="0" rIns="0" bIns="0" rtlCol="0" anchor="t"/>
          <a:lstStyle/>
          <a:p>
            <a:pPr indent="0" marL="0">
              <a:buNone/>
            </a:pPr>
            <a:r>
              <a:rPr lang="en-US" sz="2400" b="1" dirty="0">
                <a:solidFill>
                  <a:srgbClr val="15201A"/>
                </a:solidFill>
                <a:latin typeface="Schibsted Grotesk" pitchFamily="34" charset="0"/>
                <a:ea typeface="Schibsted Grotesk" pitchFamily="34" charset="-122"/>
                <a:cs typeface="Schibsted Grotesk" pitchFamily="34" charset="-120"/>
              </a:rPr>
              <a:t>Relevance</a:t>
            </a:r>
            <a:endParaRPr lang="en-US" sz="2400" dirty="0"/>
          </a:p>
        </p:txBody>
      </p:sp>
      <p:sp>
        <p:nvSpPr>
          <p:cNvPr id="14" name="Text 12"/>
          <p:cNvSpPr txBox="1"/>
          <p:nvPr/>
        </p:nvSpPr>
        <p:spPr>
          <a:xfrm>
            <a:off x="960120" y="4754880"/>
            <a:ext cx="4747108" cy="7772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38433C"/>
                </a:solidFill>
                <a:latin typeface="Schibsted Grotesk" pitchFamily="34" charset="0"/>
                <a:ea typeface="Schibsted Grotesk" pitchFamily="34" charset="-122"/>
                <a:cs typeface="Schibsted Grotesk" pitchFamily="34" charset="-120"/>
              </a:rPr>
              <a:t>Built for a week of groceries, not a lunch</a:t>
            </a:r>
            <a:endParaRPr lang="en-US" sz="1600" dirty="0"/>
          </a:p>
          <a:p>
            <a:pPr marL="203200" indent="-203200">
              <a:spcAft>
                <a:spcPts val="600"/>
              </a:spcAft>
              <a:buSzPct val="100000"/>
              <a:buChar char="•"/>
            </a:pPr>
            <a:r>
              <a:rPr lang="en-US" sz="1600" dirty="0">
                <a:solidFill>
                  <a:srgbClr val="38433C"/>
                </a:solidFill>
                <a:latin typeface="Schibsted Grotesk" pitchFamily="34" charset="0"/>
                <a:ea typeface="Schibsted Grotesk" pitchFamily="34" charset="-122"/>
                <a:cs typeface="Schibsted Grotesk" pitchFamily="34" charset="-120"/>
              </a:rPr>
              <a:t>Special requests often go unmet</a:t>
            </a:r>
            <a:endParaRPr lang="en-US" sz="1600" dirty="0"/>
          </a:p>
        </p:txBody>
      </p:sp>
      <p:sp>
        <p:nvSpPr>
          <p:cNvPr id="15" name="Shape 13"/>
          <p:cNvSpPr/>
          <p:nvPr/>
        </p:nvSpPr>
        <p:spPr>
          <a:xfrm>
            <a:off x="6210148" y="3840480"/>
            <a:ext cx="5295748" cy="1783080"/>
          </a:xfrm>
          <a:prstGeom prst="rect">
            <a:avLst/>
          </a:prstGeom>
          <a:solidFill>
            <a:srgbClr val="FFFFFF"/>
          </a:solidFill>
          <a:ln w="9525">
            <a:solidFill>
              <a:srgbClr val="D9D4C7"/>
            </a:solidFill>
            <a:prstDash val="solid"/>
          </a:ln>
        </p:spPr>
      </p:sp>
      <p:sp>
        <p:nvSpPr>
          <p:cNvPr id="16" name="Shape 14"/>
          <p:cNvSpPr/>
          <p:nvPr/>
        </p:nvSpPr>
        <p:spPr>
          <a:xfrm>
            <a:off x="6484468" y="4114800"/>
            <a:ext cx="411480" cy="45720"/>
          </a:xfrm>
          <a:prstGeom prst="rect">
            <a:avLst/>
          </a:prstGeom>
          <a:solidFill>
            <a:srgbClr val="A97A2F"/>
          </a:solidFill>
          <a:ln w="12700">
            <a:solidFill>
              <a:srgbClr val="A97A2F"/>
            </a:solidFill>
            <a:prstDash val="solid"/>
          </a:ln>
        </p:spPr>
      </p:sp>
      <p:sp>
        <p:nvSpPr>
          <p:cNvPr id="17" name="Text 15"/>
          <p:cNvSpPr txBox="1"/>
          <p:nvPr/>
        </p:nvSpPr>
        <p:spPr>
          <a:xfrm>
            <a:off x="6484468" y="4261104"/>
            <a:ext cx="4747108" cy="411480"/>
          </a:xfrm>
          <a:prstGeom prst="rect">
            <a:avLst/>
          </a:prstGeom>
          <a:noFill/>
          <a:ln/>
        </p:spPr>
        <p:txBody>
          <a:bodyPr wrap="square" lIns="0" tIns="0" rIns="0" bIns="0" rtlCol="0" anchor="t"/>
          <a:lstStyle/>
          <a:p>
            <a:pPr indent="0" marL="0">
              <a:buNone/>
            </a:pPr>
            <a:r>
              <a:rPr lang="en-US" sz="2400" b="1" dirty="0">
                <a:solidFill>
                  <a:srgbClr val="15201A"/>
                </a:solidFill>
                <a:latin typeface="Schibsted Grotesk" pitchFamily="34" charset="0"/>
                <a:ea typeface="Schibsted Grotesk" pitchFamily="34" charset="-122"/>
                <a:cs typeface="Schibsted Grotesk" pitchFamily="34" charset="-120"/>
              </a:rPr>
              <a:t>Perception</a:t>
            </a:r>
            <a:endParaRPr lang="en-US" sz="2400" dirty="0"/>
          </a:p>
        </p:txBody>
      </p:sp>
      <p:sp>
        <p:nvSpPr>
          <p:cNvPr id="18" name="Text 16"/>
          <p:cNvSpPr txBox="1"/>
          <p:nvPr/>
        </p:nvSpPr>
        <p:spPr>
          <a:xfrm>
            <a:off x="6484468" y="4754880"/>
            <a:ext cx="4747108" cy="7772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38433C"/>
                </a:solidFill>
                <a:latin typeface="Schibsted Grotesk" pitchFamily="34" charset="0"/>
                <a:ea typeface="Schibsted Grotesk" pitchFamily="34" charset="-122"/>
                <a:cs typeface="Schibsted Grotesk" pitchFamily="34" charset="-120"/>
              </a:rPr>
              <a:t>TMU: 48.5% food insecure, 20% used it</a:t>
            </a:r>
            <a:endParaRPr lang="en-US" sz="1600" dirty="0"/>
          </a:p>
          <a:p>
            <a:pPr marL="203200" indent="-203200">
              <a:spcAft>
                <a:spcPts val="600"/>
              </a:spcAft>
              <a:buSzPct val="100000"/>
              <a:buChar char="•"/>
            </a:pPr>
            <a:r>
              <a:rPr lang="en-US" sz="1600" dirty="0">
                <a:solidFill>
                  <a:srgbClr val="38433C"/>
                </a:solidFill>
                <a:latin typeface="Schibsted Grotesk" pitchFamily="34" charset="0"/>
                <a:ea typeface="Schibsted Grotesk" pitchFamily="34" charset="-122"/>
                <a:cs typeface="Schibsted Grotesk" pitchFamily="34" charset="-120"/>
              </a:rPr>
              <a:t>A food bank feels like a last resort</a:t>
            </a:r>
            <a:endParaRPr lang="en-US" sz="1600" dirty="0"/>
          </a:p>
        </p:txBody>
      </p:sp>
      <p:sp>
        <p:nvSpPr>
          <p:cNvPr id="19" name="Text 17"/>
          <p:cNvSpPr txBox="1"/>
          <p:nvPr/>
        </p:nvSpPr>
        <p:spPr>
          <a:xfrm>
            <a:off x="685800" y="5925312"/>
            <a:ext cx="10820095" cy="292608"/>
          </a:xfrm>
          <a:prstGeom prst="rect">
            <a:avLst/>
          </a:prstGeom>
          <a:noFill/>
          <a:ln/>
        </p:spPr>
        <p:txBody>
          <a:bodyPr wrap="square" lIns="0" tIns="0" rIns="0" bIns="0" rtlCol="0" anchor="b"/>
          <a:lstStyle/>
          <a:p>
            <a:pPr indent="0" marL="0">
              <a:buNone/>
            </a:pPr>
            <a:r>
              <a:rPr lang="en-US" sz="1100" dirty="0">
                <a:solidFill>
                  <a:srgbClr val="68716A"/>
                </a:solidFill>
                <a:latin typeface="Schibsted Grotesk" pitchFamily="34" charset="0"/>
                <a:ea typeface="Schibsted Grotesk" pitchFamily="34" charset="-122"/>
                <a:cs typeface="Schibsted Grotesk" pitchFamily="34" charset="-120"/>
              </a:rPr>
              <a:t>Sources: Aspire 2026 case (Consideration 1); USC Food Support page, checked Oct 31, 2026; The Eyeopener, Oct 27, 2026.</a:t>
            </a:r>
            <a:endParaRPr lang="en-US" sz="11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p:nvPr>
            <p:ph idx="107" type="title" hasCustomPrompt="1"/>
          </p:nvPr>
        </p:nvSpPr>
        <p:spPr>
          <a:xfrm>
            <a:off x="685800" y="502920"/>
            <a:ext cx="10241280" cy="1188720"/>
          </a:xfrm>
          <a:prstGeom prst="rect">
            <a:avLst/>
          </a:prstGeom>
          <a:noFill/>
          <a:ln/>
        </p:spPr>
        <p:txBody>
          <a:bodyPr wrap="square" lIns="0" tIns="0" rIns="0" bIns="0" rtlCol="0" anchor="t"/>
          <a:lstStyle/>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The USC closed walk-ins in 2023</a:t>
            </a:r>
            <a:endParaRPr lang="en-US" sz="3400" dirty="0"/>
          </a:p>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because they were hard to organize</a:t>
            </a:r>
            <a:endParaRPr lang="en-US" sz="3400" dirty="0"/>
          </a:p>
        </p:txBody>
      </p:sp>
      <p:sp>
        <p:nvSpPr>
          <p:cNvPr id="3" name="Shape 1"/>
          <p:cNvSpPr/>
          <p:nvPr/>
        </p:nvSpPr>
        <p:spPr>
          <a:xfrm>
            <a:off x="685800" y="1874520"/>
            <a:ext cx="5295748" cy="3520440"/>
          </a:xfrm>
          <a:prstGeom prst="rect">
            <a:avLst/>
          </a:prstGeom>
          <a:solidFill>
            <a:srgbClr val="EEEADF"/>
          </a:solidFill>
          <a:ln w="12700">
            <a:solidFill>
              <a:srgbClr val="EEEADF"/>
            </a:solidFill>
            <a:prstDash val="solid"/>
          </a:ln>
        </p:spPr>
      </p:sp>
      <p:sp>
        <p:nvSpPr>
          <p:cNvPr id="4" name="Text 2"/>
          <p:cNvSpPr txBox="1"/>
          <p:nvPr/>
        </p:nvSpPr>
        <p:spPr>
          <a:xfrm>
            <a:off x="960120" y="1920240"/>
            <a:ext cx="1097280" cy="1005840"/>
          </a:xfrm>
          <a:prstGeom prst="rect">
            <a:avLst/>
          </a:prstGeom>
          <a:noFill/>
          <a:ln/>
        </p:spPr>
        <p:txBody>
          <a:bodyPr wrap="square" lIns="0" tIns="0" rIns="0" bIns="0" rtlCol="0" anchor="t"/>
          <a:lstStyle/>
          <a:p>
            <a:pPr indent="0" marL="0">
              <a:buNone/>
            </a:pPr>
            <a:r>
              <a:rPr lang="en-US" sz="11000" dirty="0">
                <a:solidFill>
                  <a:srgbClr val="A97A2F"/>
                </a:solidFill>
                <a:latin typeface="Source Serif 4" pitchFamily="34" charset="0"/>
                <a:ea typeface="Source Serif 4" pitchFamily="34" charset="-122"/>
                <a:cs typeface="Source Serif 4" pitchFamily="34" charset="-120"/>
              </a:rPr>
              <a:t>“</a:t>
            </a:r>
            <a:endParaRPr lang="en-US" sz="11000" dirty="0"/>
          </a:p>
        </p:txBody>
      </p:sp>
      <p:sp>
        <p:nvSpPr>
          <p:cNvPr id="5" name="Text 3"/>
          <p:cNvSpPr txBox="1"/>
          <p:nvPr/>
        </p:nvSpPr>
        <p:spPr>
          <a:xfrm>
            <a:off x="1005840" y="2788920"/>
            <a:ext cx="4655668" cy="1828800"/>
          </a:xfrm>
          <a:prstGeom prst="rect">
            <a:avLst/>
          </a:prstGeom>
          <a:noFill/>
          <a:ln/>
        </p:spPr>
        <p:txBody>
          <a:bodyPr wrap="square" lIns="0" tIns="0" rIns="0" bIns="0" rtlCol="0" anchor="t"/>
          <a:lstStyle/>
          <a:p>
            <a:pPr indent="0" marL="0">
              <a:buNone/>
            </a:pPr>
            <a:r>
              <a:rPr lang="en-US" sz="2800" i="1" dirty="0">
                <a:solidFill>
                  <a:srgbClr val="15201A"/>
                </a:solidFill>
                <a:latin typeface="Source Serif 4" pitchFamily="34" charset="0"/>
                <a:ea typeface="Source Serif 4" pitchFamily="34" charset="-122"/>
                <a:cs typeface="Source Serif 4" pitchFamily="34" charset="-120"/>
              </a:rPr>
              <a:t>Walk-ins made it </a:t>
            </a:r>
            <a:pPr indent="0" marL="0">
              <a:buNone/>
            </a:pPr>
            <a:r>
              <a:rPr lang="en-US" sz="2800" i="1" dirty="0">
                <a:solidFill>
                  <a:srgbClr val="1D5E40"/>
                </a:solidFill>
                <a:latin typeface="Source Serif 4" pitchFamily="34" charset="0"/>
                <a:ea typeface="Source Serif 4" pitchFamily="34" charset="-122"/>
                <a:cs typeface="Source Serif 4" pitchFamily="34" charset="-120"/>
              </a:rPr>
              <a:t>incredibly difficult</a:t>
            </a:r>
            <a:pPr indent="0" marL="0">
              <a:buNone/>
            </a:pPr>
            <a:r>
              <a:rPr lang="en-US" sz="2800" i="1" dirty="0">
                <a:solidFill>
                  <a:srgbClr val="15201A"/>
                </a:solidFill>
                <a:latin typeface="Source Serif 4" pitchFamily="34" charset="0"/>
                <a:ea typeface="Source Serif 4" pitchFamily="34" charset="-122"/>
                <a:cs typeface="Source Serif 4" pitchFamily="34" charset="-120"/>
              </a:rPr>
              <a:t> to get food out in an organized way.</a:t>
            </a:r>
            <a:endParaRPr lang="en-US" sz="2800" dirty="0"/>
          </a:p>
        </p:txBody>
      </p:sp>
      <p:sp>
        <p:nvSpPr>
          <p:cNvPr id="6" name="Text 4"/>
          <p:cNvSpPr txBox="1"/>
          <p:nvPr/>
        </p:nvSpPr>
        <p:spPr>
          <a:xfrm>
            <a:off x="1005840" y="4846320"/>
            <a:ext cx="4747108" cy="320040"/>
          </a:xfrm>
          <a:prstGeom prst="rect">
            <a:avLst/>
          </a:prstGeom>
          <a:noFill/>
          <a:ln/>
        </p:spPr>
        <p:txBody>
          <a:bodyPr wrap="square" lIns="0" tIns="0" rIns="0" bIns="0" rtlCol="0" anchor="t"/>
          <a:lstStyle/>
          <a:p>
            <a:pPr indent="0" marL="0">
              <a:buNone/>
            </a:pPr>
            <a:r>
              <a:rPr lang="en-US" sz="1400" dirty="0">
                <a:solidFill>
                  <a:srgbClr val="68716A"/>
                </a:solidFill>
                <a:latin typeface="Schibsted Grotesk" pitchFamily="34" charset="0"/>
                <a:ea typeface="Schibsted Grotesk" pitchFamily="34" charset="-122"/>
                <a:cs typeface="Schibsted Grotesk" pitchFamily="34" charset="-120"/>
              </a:rPr>
              <a:t>The USC, quoted in The Gazette, October 4, 2024</a:t>
            </a:r>
            <a:endParaRPr lang="en-US" sz="1400" dirty="0"/>
          </a:p>
        </p:txBody>
      </p:sp>
      <p:sp>
        <p:nvSpPr>
          <p:cNvPr id="7" name="Text 5"/>
          <p:cNvSpPr txBox="1"/>
          <p:nvPr/>
        </p:nvSpPr>
        <p:spPr>
          <a:xfrm>
            <a:off x="6393028" y="1874520"/>
            <a:ext cx="5112868" cy="685800"/>
          </a:xfrm>
          <a:prstGeom prst="rect">
            <a:avLst/>
          </a:prstGeom>
          <a:noFill/>
          <a:ln/>
        </p:spPr>
        <p:txBody>
          <a:bodyPr wrap="square" lIns="0" tIns="0" rIns="0" bIns="0" rtlCol="0" anchor="t"/>
          <a:lstStyle/>
          <a:p>
            <a:pPr indent="0" marL="0">
              <a:buNone/>
            </a:pPr>
            <a:r>
              <a:rPr lang="en-US" sz="1900" b="1" dirty="0">
                <a:solidFill>
                  <a:srgbClr val="15201A"/>
                </a:solidFill>
                <a:latin typeface="Schibsted Grotesk" pitchFamily="34" charset="0"/>
                <a:ea typeface="Schibsted Grotesk" pitchFamily="34" charset="-122"/>
                <a:cs typeface="Schibsted Grotesk" pitchFamily="34" charset="-120"/>
              </a:rPr>
              <a:t>FoodLink brings walk-up access back with the controls walk-ins lacked:</a:t>
            </a:r>
            <a:endParaRPr lang="en-US" sz="1900" dirty="0"/>
          </a:p>
        </p:txBody>
      </p:sp>
      <p:sp>
        <p:nvSpPr>
          <p:cNvPr id="8" name="Shape 6"/>
          <p:cNvSpPr/>
          <p:nvPr/>
        </p:nvSpPr>
        <p:spPr>
          <a:xfrm>
            <a:off x="6393028" y="2624328"/>
            <a:ext cx="5112868" cy="0"/>
          </a:xfrm>
          <a:prstGeom prst="line">
            <a:avLst/>
          </a:prstGeom>
          <a:noFill/>
          <a:ln w="9525">
            <a:solidFill>
              <a:srgbClr val="D9D4C7"/>
            </a:solidFill>
            <a:prstDash val="solid"/>
          </a:ln>
        </p:spPr>
      </p:sp>
      <p:sp>
        <p:nvSpPr>
          <p:cNvPr id="9" name="Text 7"/>
          <p:cNvSpPr txBox="1"/>
          <p:nvPr/>
        </p:nvSpPr>
        <p:spPr>
          <a:xfrm>
            <a:off x="6393028" y="2743200"/>
            <a:ext cx="1965960" cy="502920"/>
          </a:xfrm>
          <a:prstGeom prst="rect">
            <a:avLst/>
          </a:prstGeom>
          <a:noFill/>
          <a:ln/>
        </p:spPr>
        <p:txBody>
          <a:bodyPr wrap="square" lIns="0" tIns="0" rIns="0" bIns="0" rtlCol="0" anchor="t"/>
          <a:lstStyle/>
          <a:p>
            <a:pPr indent="0" marL="0">
              <a:buNone/>
            </a:pPr>
            <a:r>
              <a:rPr lang="en-US" sz="1700" b="1" dirty="0">
                <a:solidFill>
                  <a:srgbClr val="1D5E40"/>
                </a:solidFill>
                <a:latin typeface="Schibsted Grotesk" pitchFamily="34" charset="0"/>
                <a:ea typeface="Schibsted Grotesk" pitchFamily="34" charset="-122"/>
                <a:cs typeface="Schibsted Grotesk" pitchFamily="34" charset="-120"/>
              </a:rPr>
              <a:t>Counted restocks</a:t>
            </a:r>
            <a:endParaRPr lang="en-US" sz="1700" dirty="0"/>
          </a:p>
        </p:txBody>
      </p:sp>
      <p:sp>
        <p:nvSpPr>
          <p:cNvPr id="10" name="Text 8"/>
          <p:cNvSpPr txBox="1"/>
          <p:nvPr/>
        </p:nvSpPr>
        <p:spPr>
          <a:xfrm>
            <a:off x="8450428" y="2743200"/>
            <a:ext cx="3055468" cy="548640"/>
          </a:xfrm>
          <a:prstGeom prst="rect">
            <a:avLst/>
          </a:prstGeom>
          <a:noFill/>
          <a:ln/>
        </p:spPr>
        <p:txBody>
          <a:bodyPr wrap="square" lIns="0" tIns="0" rIns="0" bIns="0" rtlCol="0" anchor="t"/>
          <a:lstStyle/>
          <a:p>
            <a:pPr indent="0" marL="0">
              <a:buNone/>
            </a:pPr>
            <a:r>
              <a:rPr lang="en-US" sz="1700" dirty="0">
                <a:solidFill>
                  <a:srgbClr val="38433C"/>
                </a:solidFill>
                <a:latin typeface="Schibsted Grotesk" pitchFamily="34" charset="0"/>
                <a:ea typeface="Schibsted Grotesk" pitchFamily="34" charset="-122"/>
                <a:cs typeface="Schibsted Grotesk" pitchFamily="34" charset="-120"/>
              </a:rPr>
              <a:t>Each check-in is logged.</a:t>
            </a:r>
            <a:endParaRPr lang="en-US" sz="1700" dirty="0"/>
          </a:p>
        </p:txBody>
      </p:sp>
      <p:sp>
        <p:nvSpPr>
          <p:cNvPr id="11" name="Shape 9"/>
          <p:cNvSpPr/>
          <p:nvPr/>
        </p:nvSpPr>
        <p:spPr>
          <a:xfrm>
            <a:off x="6393028" y="3291840"/>
            <a:ext cx="5112868" cy="0"/>
          </a:xfrm>
          <a:prstGeom prst="line">
            <a:avLst/>
          </a:prstGeom>
          <a:noFill/>
          <a:ln w="9525">
            <a:solidFill>
              <a:srgbClr val="D9D4C7"/>
            </a:solidFill>
            <a:prstDash val="solid"/>
          </a:ln>
        </p:spPr>
      </p:sp>
      <p:sp>
        <p:nvSpPr>
          <p:cNvPr id="12" name="Text 10"/>
          <p:cNvSpPr txBox="1"/>
          <p:nvPr/>
        </p:nvSpPr>
        <p:spPr>
          <a:xfrm>
            <a:off x="6393028" y="3410712"/>
            <a:ext cx="1965960" cy="502920"/>
          </a:xfrm>
          <a:prstGeom prst="rect">
            <a:avLst/>
          </a:prstGeom>
          <a:noFill/>
          <a:ln/>
        </p:spPr>
        <p:txBody>
          <a:bodyPr wrap="square" lIns="0" tIns="0" rIns="0" bIns="0" rtlCol="0" anchor="t"/>
          <a:lstStyle/>
          <a:p>
            <a:pPr indent="0" marL="0">
              <a:buNone/>
            </a:pPr>
            <a:r>
              <a:rPr lang="en-US" sz="1700" b="1" dirty="0">
                <a:solidFill>
                  <a:srgbClr val="1D5E40"/>
                </a:solidFill>
                <a:latin typeface="Schibsted Grotesk" pitchFamily="34" charset="0"/>
                <a:ea typeface="Schibsted Grotesk" pitchFamily="34" charset="-122"/>
                <a:cs typeface="Schibsted Grotesk" pitchFamily="34" charset="-120"/>
              </a:rPr>
              <a:t>Live stock</a:t>
            </a:r>
            <a:endParaRPr lang="en-US" sz="1700" dirty="0"/>
          </a:p>
        </p:txBody>
      </p:sp>
      <p:sp>
        <p:nvSpPr>
          <p:cNvPr id="13" name="Text 11"/>
          <p:cNvSpPr txBox="1"/>
          <p:nvPr/>
        </p:nvSpPr>
        <p:spPr>
          <a:xfrm>
            <a:off x="8450428" y="3410712"/>
            <a:ext cx="3055468" cy="548640"/>
          </a:xfrm>
          <a:prstGeom prst="rect">
            <a:avLst/>
          </a:prstGeom>
          <a:noFill/>
          <a:ln/>
        </p:spPr>
        <p:txBody>
          <a:bodyPr wrap="square" lIns="0" tIns="0" rIns="0" bIns="0" rtlCol="0" anchor="t"/>
          <a:lstStyle/>
          <a:p>
            <a:pPr indent="0" marL="0">
              <a:buNone/>
            </a:pPr>
            <a:r>
              <a:rPr lang="en-US" sz="1700" dirty="0">
                <a:solidFill>
                  <a:srgbClr val="38433C"/>
                </a:solidFill>
                <a:latin typeface="Schibsted Grotesk" pitchFamily="34" charset="0"/>
                <a:ea typeface="Schibsted Grotesk" pitchFamily="34" charset="-122"/>
                <a:cs typeface="Schibsted Grotesk" pitchFamily="34" charset="-120"/>
              </a:rPr>
              <a:t>Seen before walking over.</a:t>
            </a:r>
            <a:endParaRPr lang="en-US" sz="1700" dirty="0"/>
          </a:p>
        </p:txBody>
      </p:sp>
      <p:sp>
        <p:nvSpPr>
          <p:cNvPr id="14" name="Shape 12"/>
          <p:cNvSpPr/>
          <p:nvPr/>
        </p:nvSpPr>
        <p:spPr>
          <a:xfrm>
            <a:off x="6393028" y="3959352"/>
            <a:ext cx="5112868" cy="0"/>
          </a:xfrm>
          <a:prstGeom prst="line">
            <a:avLst/>
          </a:prstGeom>
          <a:noFill/>
          <a:ln w="9525">
            <a:solidFill>
              <a:srgbClr val="D9D4C7"/>
            </a:solidFill>
            <a:prstDash val="solid"/>
          </a:ln>
        </p:spPr>
      </p:sp>
      <p:sp>
        <p:nvSpPr>
          <p:cNvPr id="15" name="Text 13"/>
          <p:cNvSpPr txBox="1"/>
          <p:nvPr/>
        </p:nvSpPr>
        <p:spPr>
          <a:xfrm>
            <a:off x="6393028" y="4078224"/>
            <a:ext cx="1965960" cy="502920"/>
          </a:xfrm>
          <a:prstGeom prst="rect">
            <a:avLst/>
          </a:prstGeom>
          <a:noFill/>
          <a:ln/>
        </p:spPr>
        <p:txBody>
          <a:bodyPr wrap="square" lIns="0" tIns="0" rIns="0" bIns="0" rtlCol="0" anchor="t"/>
          <a:lstStyle/>
          <a:p>
            <a:pPr indent="0" marL="0">
              <a:buNone/>
            </a:pPr>
            <a:r>
              <a:rPr lang="en-US" sz="1700" b="1" dirty="0">
                <a:solidFill>
                  <a:srgbClr val="1D5E40"/>
                </a:solidFill>
                <a:latin typeface="Schibsted Grotesk" pitchFamily="34" charset="0"/>
                <a:ea typeface="Schibsted Grotesk" pitchFamily="34" charset="-122"/>
                <a:cs typeface="Schibsted Grotesk" pitchFamily="34" charset="-120"/>
              </a:rPr>
              <a:t>One-tap reports</a:t>
            </a:r>
            <a:endParaRPr lang="en-US" sz="1700" dirty="0"/>
          </a:p>
        </p:txBody>
      </p:sp>
      <p:sp>
        <p:nvSpPr>
          <p:cNvPr id="16" name="Text 14"/>
          <p:cNvSpPr txBox="1"/>
          <p:nvPr/>
        </p:nvSpPr>
        <p:spPr>
          <a:xfrm>
            <a:off x="8450428" y="4078224"/>
            <a:ext cx="3055468" cy="548640"/>
          </a:xfrm>
          <a:prstGeom prst="rect">
            <a:avLst/>
          </a:prstGeom>
          <a:noFill/>
          <a:ln/>
        </p:spPr>
        <p:txBody>
          <a:bodyPr wrap="square" lIns="0" tIns="0" rIns="0" bIns="0" rtlCol="0" anchor="t"/>
          <a:lstStyle/>
          <a:p>
            <a:pPr indent="0" marL="0">
              <a:buNone/>
            </a:pPr>
            <a:r>
              <a:rPr lang="en-US" sz="1700" dirty="0">
                <a:solidFill>
                  <a:srgbClr val="38433C"/>
                </a:solidFill>
                <a:latin typeface="Schibsted Grotesk" pitchFamily="34" charset="0"/>
                <a:ea typeface="Schibsted Grotesk" pitchFamily="34" charset="-122"/>
                <a:cs typeface="Schibsted Grotesk" pitchFamily="34" charset="-120"/>
              </a:rPr>
              <a:t>Empty shelf alerts a volunteer.</a:t>
            </a:r>
            <a:endParaRPr lang="en-US" sz="1700" dirty="0"/>
          </a:p>
        </p:txBody>
      </p:sp>
      <p:sp>
        <p:nvSpPr>
          <p:cNvPr id="17" name="Shape 15"/>
          <p:cNvSpPr/>
          <p:nvPr/>
        </p:nvSpPr>
        <p:spPr>
          <a:xfrm>
            <a:off x="6393028" y="4626864"/>
            <a:ext cx="5112868" cy="0"/>
          </a:xfrm>
          <a:prstGeom prst="line">
            <a:avLst/>
          </a:prstGeom>
          <a:noFill/>
          <a:ln w="9525">
            <a:solidFill>
              <a:srgbClr val="D9D4C7"/>
            </a:solidFill>
            <a:prstDash val="solid"/>
          </a:ln>
        </p:spPr>
      </p:sp>
      <p:sp>
        <p:nvSpPr>
          <p:cNvPr id="18" name="Text 16"/>
          <p:cNvSpPr txBox="1"/>
          <p:nvPr/>
        </p:nvSpPr>
        <p:spPr>
          <a:xfrm>
            <a:off x="6393028" y="4745736"/>
            <a:ext cx="1965960" cy="502920"/>
          </a:xfrm>
          <a:prstGeom prst="rect">
            <a:avLst/>
          </a:prstGeom>
          <a:noFill/>
          <a:ln/>
        </p:spPr>
        <p:txBody>
          <a:bodyPr wrap="square" lIns="0" tIns="0" rIns="0" bIns="0" rtlCol="0" anchor="t"/>
          <a:lstStyle/>
          <a:p>
            <a:pPr indent="0" marL="0">
              <a:buNone/>
            </a:pPr>
            <a:r>
              <a:rPr lang="en-US" sz="1700" b="1" dirty="0">
                <a:solidFill>
                  <a:srgbClr val="1D5E40"/>
                </a:solidFill>
                <a:latin typeface="Schibsted Grotesk" pitchFamily="34" charset="0"/>
                <a:ea typeface="Schibsted Grotesk" pitchFamily="34" charset="-122"/>
                <a:cs typeface="Schibsted Grotesk" pitchFamily="34" charset="-120"/>
              </a:rPr>
              <a:t>Safety checklist</a:t>
            </a:r>
            <a:endParaRPr lang="en-US" sz="1700" dirty="0"/>
          </a:p>
        </p:txBody>
      </p:sp>
      <p:sp>
        <p:nvSpPr>
          <p:cNvPr id="19" name="Text 17"/>
          <p:cNvSpPr txBox="1"/>
          <p:nvPr/>
        </p:nvSpPr>
        <p:spPr>
          <a:xfrm>
            <a:off x="8450428" y="4745736"/>
            <a:ext cx="3055468" cy="548640"/>
          </a:xfrm>
          <a:prstGeom prst="rect">
            <a:avLst/>
          </a:prstGeom>
          <a:noFill/>
          <a:ln/>
        </p:spPr>
        <p:txBody>
          <a:bodyPr wrap="square" lIns="0" tIns="0" rIns="0" bIns="0" rtlCol="0" anchor="t"/>
          <a:lstStyle/>
          <a:p>
            <a:pPr indent="0" marL="0">
              <a:buNone/>
            </a:pPr>
            <a:r>
              <a:rPr lang="en-US" sz="1700" dirty="0">
                <a:solidFill>
                  <a:srgbClr val="38433C"/>
                </a:solidFill>
                <a:latin typeface="Schibsted Grotesk" pitchFamily="34" charset="0"/>
                <a:ea typeface="Schibsted Grotesk" pitchFamily="34" charset="-122"/>
                <a:cs typeface="Schibsted Grotesk" pitchFamily="34" charset="-120"/>
              </a:rPr>
              <a:t>Sealed, in date, no fridge.</a:t>
            </a:r>
            <a:endParaRPr lang="en-US" sz="17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p:nvPr>
            <p:ph idx="107" type="title" hasCustomPrompt="1"/>
          </p:nvPr>
        </p:nvSpPr>
        <p:spPr>
          <a:xfrm>
            <a:off x="685800" y="502920"/>
            <a:ext cx="10241280" cy="1188720"/>
          </a:xfrm>
          <a:prstGeom prst="rect">
            <a:avLst/>
          </a:prstGeom>
          <a:noFill/>
          <a:ln/>
        </p:spPr>
        <p:txBody>
          <a:bodyPr wrap="square" lIns="0" tIns="0" rIns="0" bIns="0" rtlCol="0" anchor="t"/>
          <a:lstStyle/>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FoodLink brings Food Support to</a:t>
            </a:r>
            <a:endParaRPr lang="en-US" sz="3400" dirty="0"/>
          </a:p>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students in three ways</a:t>
            </a:r>
            <a:endParaRPr lang="en-US" sz="3400" dirty="0"/>
          </a:p>
        </p:txBody>
      </p:sp>
      <p:sp>
        <p:nvSpPr>
          <p:cNvPr id="3" name="Shape 1"/>
          <p:cNvSpPr/>
          <p:nvPr/>
        </p:nvSpPr>
        <p:spPr>
          <a:xfrm>
            <a:off x="685800" y="1874520"/>
            <a:ext cx="3454298" cy="2103120"/>
          </a:xfrm>
          <a:prstGeom prst="rect">
            <a:avLst/>
          </a:prstGeom>
          <a:solidFill>
            <a:srgbClr val="FFFFFF"/>
          </a:solidFill>
          <a:ln w="9525">
            <a:solidFill>
              <a:srgbClr val="D9D4C7"/>
            </a:solidFill>
            <a:prstDash val="solid"/>
          </a:ln>
        </p:spPr>
      </p:sp>
      <p:sp>
        <p:nvSpPr>
          <p:cNvPr id="4" name="Shape 2"/>
          <p:cNvSpPr/>
          <p:nvPr/>
        </p:nvSpPr>
        <p:spPr>
          <a:xfrm>
            <a:off x="960120" y="2148840"/>
            <a:ext cx="411480" cy="45720"/>
          </a:xfrm>
          <a:prstGeom prst="rect">
            <a:avLst/>
          </a:prstGeom>
          <a:solidFill>
            <a:srgbClr val="A97A2F"/>
          </a:solidFill>
          <a:ln w="12700">
            <a:solidFill>
              <a:srgbClr val="A97A2F"/>
            </a:solidFill>
            <a:prstDash val="solid"/>
          </a:ln>
        </p:spPr>
      </p:sp>
      <p:sp>
        <p:nvSpPr>
          <p:cNvPr id="5" name="Text 3"/>
          <p:cNvSpPr txBox="1"/>
          <p:nvPr/>
        </p:nvSpPr>
        <p:spPr>
          <a:xfrm>
            <a:off x="960120" y="2313432"/>
            <a:ext cx="2905658" cy="457200"/>
          </a:xfrm>
          <a:prstGeom prst="rect">
            <a:avLst/>
          </a:prstGeom>
          <a:noFill/>
          <a:ln/>
        </p:spPr>
        <p:txBody>
          <a:bodyPr wrap="square" lIns="0" tIns="0" rIns="0" bIns="0" rtlCol="0" anchor="t"/>
          <a:lstStyle/>
          <a:p>
            <a:pPr indent="0" marL="0">
              <a:buNone/>
            </a:pPr>
            <a:r>
              <a:rPr lang="en-US" sz="2800" b="1" dirty="0">
                <a:solidFill>
                  <a:srgbClr val="15201A"/>
                </a:solidFill>
                <a:latin typeface="Schibsted Grotesk" pitchFamily="34" charset="0"/>
                <a:ea typeface="Schibsted Grotesk" pitchFamily="34" charset="-122"/>
                <a:cs typeface="Schibsted Grotesk" pitchFamily="34" charset="-120"/>
              </a:rPr>
              <a:t>Find it</a:t>
            </a:r>
            <a:endParaRPr lang="en-US" sz="2800" dirty="0"/>
          </a:p>
        </p:txBody>
      </p:sp>
      <p:sp>
        <p:nvSpPr>
          <p:cNvPr id="6" name="Text 4"/>
          <p:cNvSpPr txBox="1"/>
          <p:nvPr/>
        </p:nvSpPr>
        <p:spPr>
          <a:xfrm>
            <a:off x="960120" y="2898648"/>
            <a:ext cx="2905658" cy="914400"/>
          </a:xfrm>
          <a:prstGeom prst="rect">
            <a:avLst/>
          </a:prstGeom>
          <a:noFill/>
          <a:ln/>
        </p:spPr>
        <p:txBody>
          <a:bodyPr wrap="square" lIns="0" tIns="0" rIns="0" bIns="0" rtlCol="0" anchor="t"/>
          <a:lstStyle/>
          <a:p>
            <a:pPr indent="0" marL="0">
              <a:buNone/>
            </a:pPr>
            <a:r>
              <a:rPr lang="en-US" sz="1700" dirty="0">
                <a:solidFill>
                  <a:srgbClr val="38433C"/>
                </a:solidFill>
                <a:latin typeface="Schibsted Grotesk" pitchFamily="34" charset="0"/>
                <a:ea typeface="Schibsted Grotesk" pitchFamily="34" charset="-122"/>
                <a:cs typeface="Schibsted Grotesk" pitchFamily="34" charset="-120"/>
              </a:rPr>
              <a:t>A tab in USC Now with live stock, live drops and every food option.</a:t>
            </a:r>
            <a:endParaRPr lang="en-US" sz="1700" dirty="0"/>
          </a:p>
        </p:txBody>
      </p:sp>
      <p:sp>
        <p:nvSpPr>
          <p:cNvPr id="7" name="Shape 5"/>
          <p:cNvSpPr/>
          <p:nvPr/>
        </p:nvSpPr>
        <p:spPr>
          <a:xfrm>
            <a:off x="2412949" y="3977640"/>
            <a:ext cx="0" cy="457200"/>
          </a:xfrm>
          <a:prstGeom prst="line">
            <a:avLst/>
          </a:prstGeom>
          <a:noFill/>
          <a:ln w="15875">
            <a:solidFill>
              <a:srgbClr val="68716A"/>
            </a:solidFill>
            <a:prstDash val="solid"/>
            <a:tailEnd type="triangle"/>
          </a:ln>
        </p:spPr>
      </p:sp>
      <p:sp>
        <p:nvSpPr>
          <p:cNvPr id="8" name="Shape 6"/>
          <p:cNvSpPr/>
          <p:nvPr/>
        </p:nvSpPr>
        <p:spPr>
          <a:xfrm>
            <a:off x="4368698" y="1874520"/>
            <a:ext cx="3454298" cy="2103120"/>
          </a:xfrm>
          <a:prstGeom prst="rect">
            <a:avLst/>
          </a:prstGeom>
          <a:solidFill>
            <a:srgbClr val="FFFFFF"/>
          </a:solidFill>
          <a:ln w="9525">
            <a:solidFill>
              <a:srgbClr val="D9D4C7"/>
            </a:solidFill>
            <a:prstDash val="solid"/>
          </a:ln>
        </p:spPr>
      </p:sp>
      <p:sp>
        <p:nvSpPr>
          <p:cNvPr id="9" name="Shape 7"/>
          <p:cNvSpPr/>
          <p:nvPr/>
        </p:nvSpPr>
        <p:spPr>
          <a:xfrm>
            <a:off x="4643018" y="2148840"/>
            <a:ext cx="411480" cy="45720"/>
          </a:xfrm>
          <a:prstGeom prst="rect">
            <a:avLst/>
          </a:prstGeom>
          <a:solidFill>
            <a:srgbClr val="A97A2F"/>
          </a:solidFill>
          <a:ln w="12700">
            <a:solidFill>
              <a:srgbClr val="A97A2F"/>
            </a:solidFill>
            <a:prstDash val="solid"/>
          </a:ln>
        </p:spPr>
      </p:sp>
      <p:sp>
        <p:nvSpPr>
          <p:cNvPr id="10" name="Text 8"/>
          <p:cNvSpPr txBox="1"/>
          <p:nvPr/>
        </p:nvSpPr>
        <p:spPr>
          <a:xfrm>
            <a:off x="4643018" y="2313432"/>
            <a:ext cx="2905658" cy="457200"/>
          </a:xfrm>
          <a:prstGeom prst="rect">
            <a:avLst/>
          </a:prstGeom>
          <a:noFill/>
          <a:ln/>
        </p:spPr>
        <p:txBody>
          <a:bodyPr wrap="square" lIns="0" tIns="0" rIns="0" bIns="0" rtlCol="0" anchor="t"/>
          <a:lstStyle/>
          <a:p>
            <a:pPr indent="0" marL="0">
              <a:buNone/>
            </a:pPr>
            <a:r>
              <a:rPr lang="en-US" sz="2800" b="1" dirty="0">
                <a:solidFill>
                  <a:srgbClr val="15201A"/>
                </a:solidFill>
                <a:latin typeface="Schibsted Grotesk" pitchFamily="34" charset="0"/>
                <a:ea typeface="Schibsted Grotesk" pitchFamily="34" charset="-122"/>
                <a:cs typeface="Schibsted Grotesk" pitchFamily="34" charset="-120"/>
              </a:rPr>
              <a:t>Bring it</a:t>
            </a:r>
            <a:endParaRPr lang="en-US" sz="2800" dirty="0"/>
          </a:p>
        </p:txBody>
      </p:sp>
      <p:sp>
        <p:nvSpPr>
          <p:cNvPr id="11" name="Text 9"/>
          <p:cNvSpPr txBox="1"/>
          <p:nvPr/>
        </p:nvSpPr>
        <p:spPr>
          <a:xfrm>
            <a:off x="4643018" y="2898648"/>
            <a:ext cx="2905658" cy="914400"/>
          </a:xfrm>
          <a:prstGeom prst="rect">
            <a:avLst/>
          </a:prstGeom>
          <a:noFill/>
          <a:ln/>
        </p:spPr>
        <p:txBody>
          <a:bodyPr wrap="square" lIns="0" tIns="0" rIns="0" bIns="0" rtlCol="0" anchor="t"/>
          <a:lstStyle/>
          <a:p>
            <a:pPr indent="0" marL="0">
              <a:buNone/>
            </a:pPr>
            <a:r>
              <a:rPr lang="en-US" sz="1700" dirty="0">
                <a:solidFill>
                  <a:srgbClr val="38433C"/>
                </a:solidFill>
                <a:latin typeface="Schibsted Grotesk" pitchFamily="34" charset="0"/>
                <a:ea typeface="Schibsted Grotesk" pitchFamily="34" charset="-122"/>
                <a:cs typeface="Schibsted Grotesk" pitchFamily="34" charset="-120"/>
              </a:rPr>
              <a:t>Walk-up shelves in faculty and affiliate buildings, run with their councils.</a:t>
            </a:r>
            <a:endParaRPr lang="en-US" sz="1700" dirty="0"/>
          </a:p>
        </p:txBody>
      </p:sp>
      <p:sp>
        <p:nvSpPr>
          <p:cNvPr id="12" name="Shape 10"/>
          <p:cNvSpPr/>
          <p:nvPr/>
        </p:nvSpPr>
        <p:spPr>
          <a:xfrm>
            <a:off x="6095848" y="3977640"/>
            <a:ext cx="0" cy="457200"/>
          </a:xfrm>
          <a:prstGeom prst="line">
            <a:avLst/>
          </a:prstGeom>
          <a:noFill/>
          <a:ln w="15875">
            <a:solidFill>
              <a:srgbClr val="68716A"/>
            </a:solidFill>
            <a:prstDash val="solid"/>
            <a:tailEnd type="triangle"/>
          </a:ln>
        </p:spPr>
      </p:sp>
      <p:sp>
        <p:nvSpPr>
          <p:cNvPr id="13" name="Shape 11"/>
          <p:cNvSpPr/>
          <p:nvPr/>
        </p:nvSpPr>
        <p:spPr>
          <a:xfrm>
            <a:off x="8051597" y="1874520"/>
            <a:ext cx="3454298" cy="2103120"/>
          </a:xfrm>
          <a:prstGeom prst="rect">
            <a:avLst/>
          </a:prstGeom>
          <a:solidFill>
            <a:srgbClr val="FFFFFF"/>
          </a:solidFill>
          <a:ln w="9525">
            <a:solidFill>
              <a:srgbClr val="D9D4C7"/>
            </a:solidFill>
            <a:prstDash val="solid"/>
          </a:ln>
        </p:spPr>
      </p:sp>
      <p:sp>
        <p:nvSpPr>
          <p:cNvPr id="14" name="Shape 12"/>
          <p:cNvSpPr/>
          <p:nvPr/>
        </p:nvSpPr>
        <p:spPr>
          <a:xfrm>
            <a:off x="8325917" y="2148840"/>
            <a:ext cx="411480" cy="45720"/>
          </a:xfrm>
          <a:prstGeom prst="rect">
            <a:avLst/>
          </a:prstGeom>
          <a:solidFill>
            <a:srgbClr val="A97A2F"/>
          </a:solidFill>
          <a:ln w="12700">
            <a:solidFill>
              <a:srgbClr val="A97A2F"/>
            </a:solidFill>
            <a:prstDash val="solid"/>
          </a:ln>
        </p:spPr>
      </p:sp>
      <p:sp>
        <p:nvSpPr>
          <p:cNvPr id="15" name="Text 13"/>
          <p:cNvSpPr txBox="1"/>
          <p:nvPr/>
        </p:nvSpPr>
        <p:spPr>
          <a:xfrm>
            <a:off x="8325917" y="2313432"/>
            <a:ext cx="2905658" cy="457200"/>
          </a:xfrm>
          <a:prstGeom prst="rect">
            <a:avLst/>
          </a:prstGeom>
          <a:noFill/>
          <a:ln/>
        </p:spPr>
        <p:txBody>
          <a:bodyPr wrap="square" lIns="0" tIns="0" rIns="0" bIns="0" rtlCol="0" anchor="t"/>
          <a:lstStyle/>
          <a:p>
            <a:pPr indent="0" marL="0">
              <a:buNone/>
            </a:pPr>
            <a:r>
              <a:rPr lang="en-US" sz="2800" b="1" dirty="0">
                <a:solidFill>
                  <a:srgbClr val="15201A"/>
                </a:solidFill>
                <a:latin typeface="Schibsted Grotesk" pitchFamily="34" charset="0"/>
                <a:ea typeface="Schibsted Grotesk" pitchFamily="34" charset="-122"/>
                <a:cs typeface="Schibsted Grotesk" pitchFamily="34" charset="-120"/>
              </a:rPr>
              <a:t>Fuel it</a:t>
            </a:r>
            <a:endParaRPr lang="en-US" sz="2800" dirty="0"/>
          </a:p>
        </p:txBody>
      </p:sp>
      <p:sp>
        <p:nvSpPr>
          <p:cNvPr id="16" name="Text 14"/>
          <p:cNvSpPr txBox="1"/>
          <p:nvPr/>
        </p:nvSpPr>
        <p:spPr>
          <a:xfrm>
            <a:off x="8325917" y="2898648"/>
            <a:ext cx="2905658" cy="914400"/>
          </a:xfrm>
          <a:prstGeom prst="rect">
            <a:avLst/>
          </a:prstGeom>
          <a:noFill/>
          <a:ln/>
        </p:spPr>
        <p:txBody>
          <a:bodyPr wrap="square" lIns="0" tIns="0" rIns="0" bIns="0" rtlCol="0" anchor="t"/>
          <a:lstStyle/>
          <a:p>
            <a:pPr indent="0" marL="0">
              <a:buNone/>
            </a:pPr>
            <a:r>
              <a:rPr lang="en-US" sz="1700" dirty="0">
                <a:solidFill>
                  <a:srgbClr val="38433C"/>
                </a:solidFill>
                <a:latin typeface="Schibsted Grotesk" pitchFamily="34" charset="0"/>
                <a:ea typeface="Schibsted Grotesk" pitchFamily="34" charset="-122"/>
                <a:cs typeface="Schibsted Grotesk" pitchFamily="34" charset="-120"/>
              </a:rPr>
              <a:t>Surplus from The Spoke, The Wave and catering, plus sponsored stock.</a:t>
            </a:r>
            <a:endParaRPr lang="en-US" sz="1700" dirty="0"/>
          </a:p>
        </p:txBody>
      </p:sp>
      <p:sp>
        <p:nvSpPr>
          <p:cNvPr id="17" name="Shape 15"/>
          <p:cNvSpPr/>
          <p:nvPr/>
        </p:nvSpPr>
        <p:spPr>
          <a:xfrm>
            <a:off x="9778746" y="3977640"/>
            <a:ext cx="0" cy="457200"/>
          </a:xfrm>
          <a:prstGeom prst="line">
            <a:avLst/>
          </a:prstGeom>
          <a:noFill/>
          <a:ln w="15875">
            <a:solidFill>
              <a:srgbClr val="68716A"/>
            </a:solidFill>
            <a:prstDash val="solid"/>
            <a:tailEnd type="triangle"/>
          </a:ln>
        </p:spPr>
      </p:sp>
      <p:sp>
        <p:nvSpPr>
          <p:cNvPr id="18" name="Shape 16"/>
          <p:cNvSpPr/>
          <p:nvPr/>
        </p:nvSpPr>
        <p:spPr>
          <a:xfrm>
            <a:off x="685800" y="4434840"/>
            <a:ext cx="10820095" cy="1371600"/>
          </a:xfrm>
          <a:prstGeom prst="rect">
            <a:avLst/>
          </a:prstGeom>
          <a:solidFill>
            <a:srgbClr val="113425"/>
          </a:solidFill>
          <a:ln w="12700">
            <a:solidFill>
              <a:srgbClr val="113425"/>
            </a:solidFill>
            <a:prstDash val="solid"/>
          </a:ln>
        </p:spPr>
      </p:sp>
      <p:sp>
        <p:nvSpPr>
          <p:cNvPr id="19" name="Text 17"/>
          <p:cNvSpPr txBox="1"/>
          <p:nvPr/>
        </p:nvSpPr>
        <p:spPr>
          <a:xfrm>
            <a:off x="1005840" y="4654296"/>
            <a:ext cx="5486400" cy="457200"/>
          </a:xfrm>
          <a:prstGeom prst="rect">
            <a:avLst/>
          </a:prstGeom>
          <a:noFill/>
          <a:ln/>
        </p:spPr>
        <p:txBody>
          <a:bodyPr wrap="square" lIns="0" tIns="0" rIns="0" bIns="0" rtlCol="0" anchor="t"/>
          <a:lstStyle/>
          <a:p>
            <a:pPr indent="0" marL="0">
              <a:buNone/>
            </a:pPr>
            <a:r>
              <a:rPr lang="en-US" sz="2800" b="1" dirty="0">
                <a:solidFill>
                  <a:srgbClr val="F7F5EF"/>
                </a:solidFill>
                <a:latin typeface="Schibsted Grotesk" pitchFamily="34" charset="0"/>
                <a:ea typeface="Schibsted Grotesk" pitchFamily="34" charset="-122"/>
                <a:cs typeface="Schibsted Grotesk" pitchFamily="34" charset="-120"/>
              </a:rPr>
              <a:t>USC dashboard</a:t>
            </a:r>
            <a:endParaRPr lang="en-US" sz="2800" dirty="0"/>
          </a:p>
        </p:txBody>
      </p:sp>
      <p:sp>
        <p:nvSpPr>
          <p:cNvPr id="20" name="Text 18"/>
          <p:cNvSpPr txBox="1"/>
          <p:nvPr/>
        </p:nvSpPr>
        <p:spPr>
          <a:xfrm>
            <a:off x="1005840" y="5202936"/>
            <a:ext cx="10180015" cy="457200"/>
          </a:xfrm>
          <a:prstGeom prst="rect">
            <a:avLst/>
          </a:prstGeom>
          <a:noFill/>
          <a:ln/>
        </p:spPr>
        <p:txBody>
          <a:bodyPr wrap="square" lIns="0" tIns="0" rIns="0" bIns="0" rtlCol="0" anchor="t"/>
          <a:lstStyle/>
          <a:p>
            <a:pPr indent="0" marL="0">
              <a:buNone/>
            </a:pPr>
            <a:r>
              <a:rPr lang="en-US" sz="1800" dirty="0">
                <a:solidFill>
                  <a:srgbClr val="CBD9CE"/>
                </a:solidFill>
                <a:latin typeface="Schibsted Grotesk" pitchFamily="34" charset="0"/>
                <a:ea typeface="Schibsted Grotesk" pitchFamily="34" charset="-122"/>
                <a:cs typeface="Schibsted Grotesk" pitchFamily="34" charset="-120"/>
              </a:rPr>
              <a:t>Items taken, waste, restock time, surplus rescued, partners and volunteers. Published weekly.</a:t>
            </a:r>
            <a:endParaRPr lang="en-US" sz="18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p:nvPr>
            <p:ph idx="107" type="title" hasCustomPrompt="1"/>
          </p:nvPr>
        </p:nvSpPr>
        <p:spPr>
          <a:xfrm>
            <a:off x="685800" y="502920"/>
            <a:ext cx="10241280" cy="1188720"/>
          </a:xfrm>
          <a:prstGeom prst="rect">
            <a:avLst/>
          </a:prstGeom>
          <a:noFill/>
          <a:ln/>
        </p:spPr>
        <p:txBody>
          <a:bodyPr wrap="square" lIns="0" tIns="0" rIns="0" bIns="0" rtlCol="0" anchor="t"/>
          <a:lstStyle/>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Live demo: a report, a restock and</a:t>
            </a:r>
            <a:endParaRPr lang="en-US" sz="3400" dirty="0"/>
          </a:p>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a surplus drop, in real time</a:t>
            </a:r>
            <a:endParaRPr lang="en-US" sz="3400" dirty="0"/>
          </a:p>
        </p:txBody>
      </p:sp>
      <p:pic>
        <p:nvPicPr>
          <p:cNvPr id="3" name="Image 0" descr="FoodLink live demo: a student's phone beside the volunteer, partner and USC views, with the five demo steps along the bottom.">    </p:cNvPr>
          <p:cNvPicPr>
            <a:picLocks noChangeAspect="1"/>
          </p:cNvPicPr>
          <p:nvPr/>
        </p:nvPicPr>
        <p:blipFill>
          <a:blip r:embed="rId1"/>
          <a:stretch>
            <a:fillRect/>
          </a:stretch>
        </p:blipFill>
        <p:spPr>
          <a:xfrm>
            <a:off x="438912" y="1783080"/>
            <a:ext cx="6627952" cy="3917925"/>
          </a:xfrm>
          <a:prstGeom prst="rect">
            <a:avLst/>
          </a:prstGeom>
        </p:spPr>
      </p:pic>
      <p:sp>
        <p:nvSpPr>
          <p:cNvPr id="4" name="Text 1"/>
          <p:cNvSpPr txBox="1"/>
          <p:nvPr/>
        </p:nvSpPr>
        <p:spPr>
          <a:xfrm>
            <a:off x="7542352" y="1819656"/>
            <a:ext cx="411480" cy="502920"/>
          </a:xfrm>
          <a:prstGeom prst="rect">
            <a:avLst/>
          </a:prstGeom>
          <a:noFill/>
          <a:ln/>
        </p:spPr>
        <p:txBody>
          <a:bodyPr wrap="square" lIns="0" tIns="0" rIns="0" bIns="0" rtlCol="0" anchor="t"/>
          <a:lstStyle/>
          <a:p>
            <a:pPr indent="0" marL="0">
              <a:buNone/>
            </a:pPr>
            <a:r>
              <a:rPr lang="en-US" sz="2800" b="1" dirty="0">
                <a:solidFill>
                  <a:srgbClr val="A97A2F"/>
                </a:solidFill>
                <a:latin typeface="Schibsted Grotesk" pitchFamily="34" charset="0"/>
                <a:ea typeface="Schibsted Grotesk" pitchFamily="34" charset="-122"/>
                <a:cs typeface="Schibsted Grotesk" pitchFamily="34" charset="-120"/>
              </a:rPr>
              <a:t>1</a:t>
            </a:r>
            <a:endParaRPr lang="en-US" sz="2800" dirty="0"/>
          </a:p>
        </p:txBody>
      </p:sp>
      <p:sp>
        <p:nvSpPr>
          <p:cNvPr id="5" name="Text 2"/>
          <p:cNvSpPr txBox="1"/>
          <p:nvPr/>
        </p:nvSpPr>
        <p:spPr>
          <a:xfrm>
            <a:off x="8045272" y="1874520"/>
            <a:ext cx="3460623" cy="566928"/>
          </a:xfrm>
          <a:prstGeom prst="rect">
            <a:avLst/>
          </a:prstGeom>
          <a:noFill/>
          <a:ln/>
        </p:spPr>
        <p:txBody>
          <a:bodyPr wrap="square" lIns="0" tIns="0" rIns="0" bIns="0" rtlCol="0" anchor="t"/>
          <a:lstStyle/>
          <a:p>
            <a:pPr indent="0" marL="0">
              <a:buNone/>
            </a:pPr>
            <a:r>
              <a:rPr lang="en-US" sz="1800" dirty="0">
                <a:solidFill>
                  <a:srgbClr val="15201A"/>
                </a:solidFill>
                <a:latin typeface="Schibsted Grotesk" pitchFamily="34" charset="0"/>
                <a:ea typeface="Schibsted Grotesk" pitchFamily="34" charset="-122"/>
                <a:cs typeface="Schibsted Grotesk" pitchFamily="34" charset="-120"/>
              </a:rPr>
              <a:t>Student reports an empty shelf</a:t>
            </a:r>
            <a:endParaRPr lang="en-US" sz="1800" dirty="0"/>
          </a:p>
        </p:txBody>
      </p:sp>
      <p:sp>
        <p:nvSpPr>
          <p:cNvPr id="6" name="Text 3"/>
          <p:cNvSpPr txBox="1"/>
          <p:nvPr/>
        </p:nvSpPr>
        <p:spPr>
          <a:xfrm>
            <a:off x="7542352" y="2551176"/>
            <a:ext cx="411480" cy="502920"/>
          </a:xfrm>
          <a:prstGeom prst="rect">
            <a:avLst/>
          </a:prstGeom>
          <a:noFill/>
          <a:ln/>
        </p:spPr>
        <p:txBody>
          <a:bodyPr wrap="square" lIns="0" tIns="0" rIns="0" bIns="0" rtlCol="0" anchor="t"/>
          <a:lstStyle/>
          <a:p>
            <a:pPr indent="0" marL="0">
              <a:buNone/>
            </a:pPr>
            <a:r>
              <a:rPr lang="en-US" sz="2800" b="1" dirty="0">
                <a:solidFill>
                  <a:srgbClr val="A97A2F"/>
                </a:solidFill>
                <a:latin typeface="Schibsted Grotesk" pitchFamily="34" charset="0"/>
                <a:ea typeface="Schibsted Grotesk" pitchFamily="34" charset="-122"/>
                <a:cs typeface="Schibsted Grotesk" pitchFamily="34" charset="-120"/>
              </a:rPr>
              <a:t>2</a:t>
            </a:r>
            <a:endParaRPr lang="en-US" sz="2800" dirty="0"/>
          </a:p>
        </p:txBody>
      </p:sp>
      <p:sp>
        <p:nvSpPr>
          <p:cNvPr id="7" name="Text 4"/>
          <p:cNvSpPr txBox="1"/>
          <p:nvPr/>
        </p:nvSpPr>
        <p:spPr>
          <a:xfrm>
            <a:off x="8045272" y="2606040"/>
            <a:ext cx="3460623" cy="566928"/>
          </a:xfrm>
          <a:prstGeom prst="rect">
            <a:avLst/>
          </a:prstGeom>
          <a:noFill/>
          <a:ln/>
        </p:spPr>
        <p:txBody>
          <a:bodyPr wrap="square" lIns="0" tIns="0" rIns="0" bIns="0" rtlCol="0" anchor="t"/>
          <a:lstStyle/>
          <a:p>
            <a:pPr indent="0" marL="0">
              <a:buNone/>
            </a:pPr>
            <a:r>
              <a:rPr lang="en-US" sz="1800" dirty="0">
                <a:solidFill>
                  <a:srgbClr val="15201A"/>
                </a:solidFill>
                <a:latin typeface="Schibsted Grotesk" pitchFamily="34" charset="0"/>
                <a:ea typeface="Schibsted Grotesk" pitchFamily="34" charset="-122"/>
                <a:cs typeface="Schibsted Grotesk" pitchFamily="34" charset="-120"/>
              </a:rPr>
              <a:t>Volunteer restocks it</a:t>
            </a:r>
            <a:endParaRPr lang="en-US" sz="1800" dirty="0"/>
          </a:p>
        </p:txBody>
      </p:sp>
      <p:sp>
        <p:nvSpPr>
          <p:cNvPr id="8" name="Text 5"/>
          <p:cNvSpPr txBox="1"/>
          <p:nvPr/>
        </p:nvSpPr>
        <p:spPr>
          <a:xfrm>
            <a:off x="7542352" y="3282696"/>
            <a:ext cx="411480" cy="502920"/>
          </a:xfrm>
          <a:prstGeom prst="rect">
            <a:avLst/>
          </a:prstGeom>
          <a:noFill/>
          <a:ln/>
        </p:spPr>
        <p:txBody>
          <a:bodyPr wrap="square" lIns="0" tIns="0" rIns="0" bIns="0" rtlCol="0" anchor="t"/>
          <a:lstStyle/>
          <a:p>
            <a:pPr indent="0" marL="0">
              <a:buNone/>
            </a:pPr>
            <a:r>
              <a:rPr lang="en-US" sz="2800" b="1" dirty="0">
                <a:solidFill>
                  <a:srgbClr val="A97A2F"/>
                </a:solidFill>
                <a:latin typeface="Schibsted Grotesk" pitchFamily="34" charset="0"/>
                <a:ea typeface="Schibsted Grotesk" pitchFamily="34" charset="-122"/>
                <a:cs typeface="Schibsted Grotesk" pitchFamily="34" charset="-120"/>
              </a:rPr>
              <a:t>3</a:t>
            </a:r>
            <a:endParaRPr lang="en-US" sz="2800" dirty="0"/>
          </a:p>
        </p:txBody>
      </p:sp>
      <p:sp>
        <p:nvSpPr>
          <p:cNvPr id="9" name="Text 6"/>
          <p:cNvSpPr txBox="1"/>
          <p:nvPr/>
        </p:nvSpPr>
        <p:spPr>
          <a:xfrm>
            <a:off x="8045272" y="3337560"/>
            <a:ext cx="3460623" cy="566928"/>
          </a:xfrm>
          <a:prstGeom prst="rect">
            <a:avLst/>
          </a:prstGeom>
          <a:noFill/>
          <a:ln/>
        </p:spPr>
        <p:txBody>
          <a:bodyPr wrap="square" lIns="0" tIns="0" rIns="0" bIns="0" rtlCol="0" anchor="t"/>
          <a:lstStyle/>
          <a:p>
            <a:pPr indent="0" marL="0">
              <a:buNone/>
            </a:pPr>
            <a:r>
              <a:rPr lang="en-US" sz="1800" dirty="0">
                <a:solidFill>
                  <a:srgbClr val="15201A"/>
                </a:solidFill>
                <a:latin typeface="Schibsted Grotesk" pitchFamily="34" charset="0"/>
                <a:ea typeface="Schibsted Grotesk" pitchFamily="34" charset="-122"/>
                <a:cs typeface="Schibsted Grotesk" pitchFamily="34" charset="-120"/>
              </a:rPr>
              <a:t>Café posts sealed surplus</a:t>
            </a:r>
            <a:endParaRPr lang="en-US" sz="1800" dirty="0"/>
          </a:p>
        </p:txBody>
      </p:sp>
      <p:sp>
        <p:nvSpPr>
          <p:cNvPr id="10" name="Text 7"/>
          <p:cNvSpPr txBox="1"/>
          <p:nvPr/>
        </p:nvSpPr>
        <p:spPr>
          <a:xfrm>
            <a:off x="7542352" y="4014216"/>
            <a:ext cx="411480" cy="502920"/>
          </a:xfrm>
          <a:prstGeom prst="rect">
            <a:avLst/>
          </a:prstGeom>
          <a:noFill/>
          <a:ln/>
        </p:spPr>
        <p:txBody>
          <a:bodyPr wrap="square" lIns="0" tIns="0" rIns="0" bIns="0" rtlCol="0" anchor="t"/>
          <a:lstStyle/>
          <a:p>
            <a:pPr indent="0" marL="0">
              <a:buNone/>
            </a:pPr>
            <a:r>
              <a:rPr lang="en-US" sz="2800" b="1" dirty="0">
                <a:solidFill>
                  <a:srgbClr val="A97A2F"/>
                </a:solidFill>
                <a:latin typeface="Schibsted Grotesk" pitchFamily="34" charset="0"/>
                <a:ea typeface="Schibsted Grotesk" pitchFamily="34" charset="-122"/>
                <a:cs typeface="Schibsted Grotesk" pitchFamily="34" charset="-120"/>
              </a:rPr>
              <a:t>4</a:t>
            </a:r>
            <a:endParaRPr lang="en-US" sz="2800" dirty="0"/>
          </a:p>
        </p:txBody>
      </p:sp>
      <p:sp>
        <p:nvSpPr>
          <p:cNvPr id="11" name="Text 8"/>
          <p:cNvSpPr txBox="1"/>
          <p:nvPr/>
        </p:nvSpPr>
        <p:spPr>
          <a:xfrm>
            <a:off x="8045272" y="4069080"/>
            <a:ext cx="3460623" cy="566928"/>
          </a:xfrm>
          <a:prstGeom prst="rect">
            <a:avLst/>
          </a:prstGeom>
          <a:noFill/>
          <a:ln/>
        </p:spPr>
        <p:txBody>
          <a:bodyPr wrap="square" lIns="0" tIns="0" rIns="0" bIns="0" rtlCol="0" anchor="t"/>
          <a:lstStyle/>
          <a:p>
            <a:pPr indent="0" marL="0">
              <a:buNone/>
            </a:pPr>
            <a:r>
              <a:rPr lang="en-US" sz="1800" dirty="0">
                <a:solidFill>
                  <a:srgbClr val="15201A"/>
                </a:solidFill>
                <a:latin typeface="Schibsted Grotesk" pitchFamily="34" charset="0"/>
                <a:ea typeface="Schibsted Grotesk" pitchFamily="34" charset="-122"/>
                <a:cs typeface="Schibsted Grotesk" pitchFamily="34" charset="-120"/>
              </a:rPr>
              <a:t>Student reserves with a code</a:t>
            </a:r>
            <a:endParaRPr lang="en-US" sz="1800" dirty="0"/>
          </a:p>
        </p:txBody>
      </p:sp>
      <p:sp>
        <p:nvSpPr>
          <p:cNvPr id="12" name="Text 9"/>
          <p:cNvSpPr txBox="1"/>
          <p:nvPr/>
        </p:nvSpPr>
        <p:spPr>
          <a:xfrm>
            <a:off x="7542352" y="4745736"/>
            <a:ext cx="411480" cy="502920"/>
          </a:xfrm>
          <a:prstGeom prst="rect">
            <a:avLst/>
          </a:prstGeom>
          <a:noFill/>
          <a:ln/>
        </p:spPr>
        <p:txBody>
          <a:bodyPr wrap="square" lIns="0" tIns="0" rIns="0" bIns="0" rtlCol="0" anchor="t"/>
          <a:lstStyle/>
          <a:p>
            <a:pPr indent="0" marL="0">
              <a:buNone/>
            </a:pPr>
            <a:r>
              <a:rPr lang="en-US" sz="2800" b="1" dirty="0">
                <a:solidFill>
                  <a:srgbClr val="A97A2F"/>
                </a:solidFill>
                <a:latin typeface="Schibsted Grotesk" pitchFamily="34" charset="0"/>
                <a:ea typeface="Schibsted Grotesk" pitchFamily="34" charset="-122"/>
                <a:cs typeface="Schibsted Grotesk" pitchFamily="34" charset="-120"/>
              </a:rPr>
              <a:t>5</a:t>
            </a:r>
            <a:endParaRPr lang="en-US" sz="2800" dirty="0"/>
          </a:p>
        </p:txBody>
      </p:sp>
      <p:sp>
        <p:nvSpPr>
          <p:cNvPr id="13" name="Text 10"/>
          <p:cNvSpPr txBox="1"/>
          <p:nvPr/>
        </p:nvSpPr>
        <p:spPr>
          <a:xfrm>
            <a:off x="8045272" y="4800600"/>
            <a:ext cx="3460623" cy="566928"/>
          </a:xfrm>
          <a:prstGeom prst="rect">
            <a:avLst/>
          </a:prstGeom>
          <a:noFill/>
          <a:ln/>
        </p:spPr>
        <p:txBody>
          <a:bodyPr wrap="square" lIns="0" tIns="0" rIns="0" bIns="0" rtlCol="0" anchor="t"/>
          <a:lstStyle/>
          <a:p>
            <a:pPr indent="0" marL="0">
              <a:buNone/>
            </a:pPr>
            <a:r>
              <a:rPr lang="en-US" sz="1800" dirty="0">
                <a:solidFill>
                  <a:srgbClr val="15201A"/>
                </a:solidFill>
                <a:latin typeface="Schibsted Grotesk" pitchFamily="34" charset="0"/>
                <a:ea typeface="Schibsted Grotesk" pitchFamily="34" charset="-122"/>
                <a:cs typeface="Schibsted Grotesk" pitchFamily="34" charset="-120"/>
              </a:rPr>
              <a:t>USC dashboard updates</a:t>
            </a:r>
            <a:endParaRPr lang="en-US" sz="1800" dirty="0"/>
          </a:p>
        </p:txBody>
      </p:sp>
      <p:sp>
        <p:nvSpPr>
          <p:cNvPr id="14" name="Text 11"/>
          <p:cNvSpPr txBox="1"/>
          <p:nvPr/>
        </p:nvSpPr>
        <p:spPr>
          <a:xfrm>
            <a:off x="7542352" y="5486400"/>
            <a:ext cx="3963543" cy="438912"/>
          </a:xfrm>
          <a:prstGeom prst="rect">
            <a:avLst/>
          </a:prstGeom>
          <a:noFill/>
          <a:ln/>
        </p:spPr>
        <p:txBody>
          <a:bodyPr wrap="square" lIns="0" tIns="0" rIns="0" bIns="0" rtlCol="0" anchor="t"/>
          <a:lstStyle/>
          <a:p>
            <a:pPr indent="0" marL="0">
              <a:buNone/>
            </a:pPr>
            <a:r>
              <a:rPr lang="en-US" sz="1200" dirty="0">
                <a:solidFill>
                  <a:srgbClr val="68716A"/>
                </a:solidFill>
                <a:latin typeface="Schibsted Grotesk" pitchFamily="34" charset="0"/>
                <a:ea typeface="Schibsted Grotesk" pitchFamily="34" charset="-122"/>
                <a:cs typeface="Schibsted Grotesk" pitchFamily="34" charset="-120"/>
              </a:rPr>
              <a:t>The app’s live demo page after step 4. Dashboard history is simulated.</a:t>
            </a:r>
            <a:endParaRPr lang="en-US" sz="12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p:nvPr>
            <p:ph idx="107" type="title" hasCustomPrompt="1"/>
          </p:nvPr>
        </p:nvSpPr>
        <p:spPr>
          <a:xfrm>
            <a:off x="685800" y="502920"/>
            <a:ext cx="10241280" cy="1188720"/>
          </a:xfrm>
          <a:prstGeom prst="rect">
            <a:avLst/>
          </a:prstGeom>
          <a:noFill/>
          <a:ln/>
        </p:spPr>
        <p:txBody>
          <a:bodyPr wrap="square" lIns="0" tIns="0" rIns="0" bIns="0" rtlCol="0" anchor="t"/>
          <a:lstStyle/>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Where campus food is walk-up,</a:t>
            </a:r>
            <a:endParaRPr lang="en-US" sz="3400" dirty="0"/>
          </a:p>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students use it</a:t>
            </a:r>
            <a:endParaRPr lang="en-US" sz="3400" dirty="0"/>
          </a:p>
        </p:txBody>
      </p:sp>
      <p:sp>
        <p:nvSpPr>
          <p:cNvPr id="3" name="Shape 1"/>
          <p:cNvSpPr/>
          <p:nvPr/>
        </p:nvSpPr>
        <p:spPr>
          <a:xfrm>
            <a:off x="685800" y="1874520"/>
            <a:ext cx="3454298" cy="0"/>
          </a:xfrm>
          <a:prstGeom prst="line">
            <a:avLst/>
          </a:prstGeom>
          <a:noFill/>
          <a:ln w="15875">
            <a:solidFill>
              <a:srgbClr val="15201A"/>
            </a:solidFill>
            <a:prstDash val="solid"/>
          </a:ln>
        </p:spPr>
      </p:sp>
      <p:sp>
        <p:nvSpPr>
          <p:cNvPr id="4" name="Text 2"/>
          <p:cNvSpPr txBox="1"/>
          <p:nvPr/>
        </p:nvSpPr>
        <p:spPr>
          <a:xfrm>
            <a:off x="685800" y="2011680"/>
            <a:ext cx="3454298" cy="868680"/>
          </a:xfrm>
          <a:prstGeom prst="rect">
            <a:avLst/>
          </a:prstGeom>
          <a:noFill/>
          <a:ln/>
        </p:spPr>
        <p:txBody>
          <a:bodyPr wrap="square" lIns="0" tIns="0" rIns="0" bIns="0" rtlCol="0" anchor="t"/>
          <a:lstStyle/>
          <a:p>
            <a:pPr indent="0" marL="0">
              <a:buNone/>
            </a:pPr>
            <a:r>
              <a:rPr lang="en-US" sz="5600" b="1" dirty="0">
                <a:solidFill>
                  <a:srgbClr val="1D5E40"/>
                </a:solidFill>
                <a:latin typeface="Schibsted Grotesk" pitchFamily="34" charset="0"/>
                <a:ea typeface="Schibsted Grotesk" pitchFamily="34" charset="-122"/>
                <a:cs typeface="Schibsted Grotesk" pitchFamily="34" charset="-120"/>
              </a:rPr>
              <a:t>5,263</a:t>
            </a:r>
            <a:endParaRPr lang="en-US" sz="5600" dirty="0"/>
          </a:p>
        </p:txBody>
      </p:sp>
      <p:sp>
        <p:nvSpPr>
          <p:cNvPr id="5" name="Text 3"/>
          <p:cNvSpPr txBox="1"/>
          <p:nvPr/>
        </p:nvSpPr>
        <p:spPr>
          <a:xfrm>
            <a:off x="685800" y="2953512"/>
            <a:ext cx="3362858" cy="1234440"/>
          </a:xfrm>
          <a:prstGeom prst="rect">
            <a:avLst/>
          </a:prstGeom>
          <a:noFill/>
          <a:ln/>
        </p:spPr>
        <p:txBody>
          <a:bodyPr wrap="square" lIns="0" tIns="0" rIns="0" bIns="0" rtlCol="0" anchor="t"/>
          <a:lstStyle/>
          <a:p>
            <a:pPr indent="0" marL="0">
              <a:buNone/>
            </a:pPr>
            <a:r>
              <a:rPr lang="en-US" sz="1700" dirty="0">
                <a:solidFill>
                  <a:srgbClr val="38433C"/>
                </a:solidFill>
                <a:latin typeface="Schibsted Grotesk" pitchFamily="34" charset="0"/>
                <a:ea typeface="Schibsted Grotesk" pitchFamily="34" charset="-122"/>
                <a:cs typeface="Schibsted Grotesk" pitchFamily="34" charset="-120"/>
              </a:rPr>
              <a:t>door openings in one school year at anonymous, unstaffed pantries at Virginia Commonwealth University. Vandalism was rare.</a:t>
            </a:r>
            <a:endParaRPr lang="en-US" sz="1700" dirty="0"/>
          </a:p>
        </p:txBody>
      </p:sp>
      <p:sp>
        <p:nvSpPr>
          <p:cNvPr id="6" name="Text 4"/>
          <p:cNvSpPr txBox="1"/>
          <p:nvPr/>
        </p:nvSpPr>
        <p:spPr>
          <a:xfrm>
            <a:off x="685800" y="4251960"/>
            <a:ext cx="3362858" cy="292608"/>
          </a:xfrm>
          <a:prstGeom prst="rect">
            <a:avLst/>
          </a:prstGeom>
          <a:noFill/>
          <a:ln/>
        </p:spPr>
        <p:txBody>
          <a:bodyPr wrap="square" lIns="0" tIns="0" rIns="0" bIns="0" rtlCol="0" anchor="t"/>
          <a:lstStyle/>
          <a:p>
            <a:pPr indent="0" marL="0">
              <a:buNone/>
            </a:pPr>
            <a:r>
              <a:rPr lang="en-US" sz="1150" dirty="0">
                <a:solidFill>
                  <a:srgbClr val="68716A"/>
                </a:solidFill>
                <a:latin typeface="Schibsted Grotesk" pitchFamily="34" charset="0"/>
                <a:ea typeface="Schibsted Grotesk" pitchFamily="34" charset="-122"/>
                <a:cs typeface="Schibsted Grotesk" pitchFamily="34" charset="-120"/>
              </a:rPr>
              <a:t>Jones et al., JAFSCD, 2024 (corrected 2025)</a:t>
            </a:r>
            <a:endParaRPr lang="en-US" sz="1150" dirty="0"/>
          </a:p>
        </p:txBody>
      </p:sp>
      <p:sp>
        <p:nvSpPr>
          <p:cNvPr id="7" name="Shape 5"/>
          <p:cNvSpPr/>
          <p:nvPr/>
        </p:nvSpPr>
        <p:spPr>
          <a:xfrm>
            <a:off x="4368698" y="1874520"/>
            <a:ext cx="3454298" cy="0"/>
          </a:xfrm>
          <a:prstGeom prst="line">
            <a:avLst/>
          </a:prstGeom>
          <a:noFill/>
          <a:ln w="15875">
            <a:solidFill>
              <a:srgbClr val="15201A"/>
            </a:solidFill>
            <a:prstDash val="solid"/>
          </a:ln>
        </p:spPr>
      </p:sp>
      <p:sp>
        <p:nvSpPr>
          <p:cNvPr id="8" name="Text 6"/>
          <p:cNvSpPr txBox="1"/>
          <p:nvPr/>
        </p:nvSpPr>
        <p:spPr>
          <a:xfrm>
            <a:off x="4368698" y="2011680"/>
            <a:ext cx="3454298" cy="868680"/>
          </a:xfrm>
          <a:prstGeom prst="rect">
            <a:avLst/>
          </a:prstGeom>
          <a:noFill/>
          <a:ln/>
        </p:spPr>
        <p:txBody>
          <a:bodyPr wrap="square" lIns="0" tIns="0" rIns="0" bIns="0" rtlCol="0" anchor="t"/>
          <a:lstStyle/>
          <a:p>
            <a:pPr indent="0" marL="0">
              <a:buNone/>
            </a:pPr>
            <a:r>
              <a:rPr lang="en-US" sz="5600" b="1" dirty="0">
                <a:solidFill>
                  <a:srgbClr val="1D5E40"/>
                </a:solidFill>
                <a:latin typeface="Schibsted Grotesk" pitchFamily="34" charset="0"/>
                <a:ea typeface="Schibsted Grotesk" pitchFamily="34" charset="-122"/>
                <a:cs typeface="Schibsted Grotesk" pitchFamily="34" charset="-120"/>
              </a:rPr>
              <a:t>Hours</a:t>
            </a:r>
            <a:endParaRPr lang="en-US" sz="5600" dirty="0"/>
          </a:p>
        </p:txBody>
      </p:sp>
      <p:sp>
        <p:nvSpPr>
          <p:cNvPr id="9" name="Text 7"/>
          <p:cNvSpPr txBox="1"/>
          <p:nvPr/>
        </p:nvSpPr>
        <p:spPr>
          <a:xfrm>
            <a:off x="4368698" y="2953512"/>
            <a:ext cx="3362858" cy="1234440"/>
          </a:xfrm>
          <a:prstGeom prst="rect">
            <a:avLst/>
          </a:prstGeom>
          <a:noFill/>
          <a:ln/>
        </p:spPr>
        <p:txBody>
          <a:bodyPr wrap="square" lIns="0" tIns="0" rIns="0" bIns="0" rtlCol="0" anchor="t"/>
          <a:lstStyle/>
          <a:p>
            <a:pPr indent="0" marL="0">
              <a:buNone/>
            </a:pPr>
            <a:r>
              <a:rPr lang="en-US" sz="1700" dirty="0">
                <a:solidFill>
                  <a:srgbClr val="38433C"/>
                </a:solidFill>
                <a:latin typeface="Schibsted Grotesk" pitchFamily="34" charset="0"/>
                <a:ea typeface="Schibsted Grotesk" pitchFamily="34" charset="-122"/>
                <a:cs typeface="Schibsted Grotesk" pitchFamily="34" charset="-120"/>
              </a:rPr>
              <a:t>for a week’s stock to run out at the University of Alberta’s walk-up pantry. Its food bank had a six-week waitlist.</a:t>
            </a:r>
            <a:endParaRPr lang="en-US" sz="1700" dirty="0"/>
          </a:p>
        </p:txBody>
      </p:sp>
      <p:sp>
        <p:nvSpPr>
          <p:cNvPr id="10" name="Text 8"/>
          <p:cNvSpPr txBox="1"/>
          <p:nvPr/>
        </p:nvSpPr>
        <p:spPr>
          <a:xfrm>
            <a:off x="4368698" y="4251960"/>
            <a:ext cx="3362858" cy="292608"/>
          </a:xfrm>
          <a:prstGeom prst="rect">
            <a:avLst/>
          </a:prstGeom>
          <a:noFill/>
          <a:ln/>
        </p:spPr>
        <p:txBody>
          <a:bodyPr wrap="square" lIns="0" tIns="0" rIns="0" bIns="0" rtlCol="0" anchor="t"/>
          <a:lstStyle/>
          <a:p>
            <a:pPr indent="0" marL="0">
              <a:buNone/>
            </a:pPr>
            <a:r>
              <a:rPr lang="en-US" sz="1150" dirty="0">
                <a:solidFill>
                  <a:srgbClr val="68716A"/>
                </a:solidFill>
                <a:latin typeface="Schibsted Grotesk" pitchFamily="34" charset="0"/>
                <a:ea typeface="Schibsted Grotesk" pitchFamily="34" charset="-122"/>
                <a:cs typeface="Schibsted Grotesk" pitchFamily="34" charset="-120"/>
              </a:rPr>
              <a:t>The Gateway, May 3, 2024</a:t>
            </a:r>
            <a:endParaRPr lang="en-US" sz="1150" dirty="0"/>
          </a:p>
        </p:txBody>
      </p:sp>
      <p:sp>
        <p:nvSpPr>
          <p:cNvPr id="11" name="Shape 9"/>
          <p:cNvSpPr/>
          <p:nvPr/>
        </p:nvSpPr>
        <p:spPr>
          <a:xfrm>
            <a:off x="8051597" y="1874520"/>
            <a:ext cx="3454298" cy="0"/>
          </a:xfrm>
          <a:prstGeom prst="line">
            <a:avLst/>
          </a:prstGeom>
          <a:noFill/>
          <a:ln w="15875">
            <a:solidFill>
              <a:srgbClr val="15201A"/>
            </a:solidFill>
            <a:prstDash val="solid"/>
          </a:ln>
        </p:spPr>
      </p:sp>
      <p:sp>
        <p:nvSpPr>
          <p:cNvPr id="12" name="Text 10"/>
          <p:cNvSpPr txBox="1"/>
          <p:nvPr/>
        </p:nvSpPr>
        <p:spPr>
          <a:xfrm>
            <a:off x="8051597" y="2011680"/>
            <a:ext cx="3454298" cy="868680"/>
          </a:xfrm>
          <a:prstGeom prst="rect">
            <a:avLst/>
          </a:prstGeom>
          <a:noFill/>
          <a:ln/>
        </p:spPr>
        <p:txBody>
          <a:bodyPr wrap="square" lIns="0" tIns="0" rIns="0" bIns="0" rtlCol="0" anchor="t"/>
          <a:lstStyle/>
          <a:p>
            <a:pPr indent="0" marL="0">
              <a:buNone/>
            </a:pPr>
            <a:r>
              <a:rPr lang="en-US" sz="5600" b="1" dirty="0">
                <a:solidFill>
                  <a:srgbClr val="1D5E40"/>
                </a:solidFill>
                <a:latin typeface="Schibsted Grotesk" pitchFamily="34" charset="0"/>
                <a:ea typeface="Schibsted Grotesk" pitchFamily="34" charset="-122"/>
                <a:cs typeface="Schibsted Grotesk" pitchFamily="34" charset="-120"/>
              </a:rPr>
              <a:t>200</a:t>
            </a:r>
            <a:endParaRPr lang="en-US" sz="5600" dirty="0"/>
          </a:p>
        </p:txBody>
      </p:sp>
      <p:sp>
        <p:nvSpPr>
          <p:cNvPr id="13" name="Text 11"/>
          <p:cNvSpPr txBox="1"/>
          <p:nvPr/>
        </p:nvSpPr>
        <p:spPr>
          <a:xfrm>
            <a:off x="8051597" y="2953512"/>
            <a:ext cx="3362858" cy="1234440"/>
          </a:xfrm>
          <a:prstGeom prst="rect">
            <a:avLst/>
          </a:prstGeom>
          <a:noFill/>
          <a:ln/>
        </p:spPr>
        <p:txBody>
          <a:bodyPr wrap="square" lIns="0" tIns="0" rIns="0" bIns="0" rtlCol="0" anchor="t"/>
          <a:lstStyle/>
          <a:p>
            <a:pPr indent="0" marL="0">
              <a:buNone/>
            </a:pPr>
            <a:r>
              <a:rPr lang="en-US" sz="1700" dirty="0">
                <a:solidFill>
                  <a:srgbClr val="38433C"/>
                </a:solidFill>
                <a:latin typeface="Schibsted Grotesk" pitchFamily="34" charset="0"/>
                <a:ea typeface="Schibsted Grotesk" pitchFamily="34" charset="-122"/>
                <a:cs typeface="Schibsted Grotesk" pitchFamily="34" charset="-120"/>
              </a:rPr>
              <a:t>students a week, at peak, came to Laurier’s free weekly food distribution in 2023–24.</a:t>
            </a:r>
            <a:endParaRPr lang="en-US" sz="1700" dirty="0"/>
          </a:p>
        </p:txBody>
      </p:sp>
      <p:sp>
        <p:nvSpPr>
          <p:cNvPr id="14" name="Text 12"/>
          <p:cNvSpPr txBox="1"/>
          <p:nvPr/>
        </p:nvSpPr>
        <p:spPr>
          <a:xfrm>
            <a:off x="8051597" y="4251960"/>
            <a:ext cx="3362858" cy="292608"/>
          </a:xfrm>
          <a:prstGeom prst="rect">
            <a:avLst/>
          </a:prstGeom>
          <a:noFill/>
          <a:ln/>
        </p:spPr>
        <p:txBody>
          <a:bodyPr wrap="square" lIns="0" tIns="0" rIns="0" bIns="0" rtlCol="0" anchor="t"/>
          <a:lstStyle/>
          <a:p>
            <a:pPr indent="0" marL="0">
              <a:buNone/>
            </a:pPr>
            <a:r>
              <a:rPr lang="en-US" sz="1150" dirty="0">
                <a:solidFill>
                  <a:srgbClr val="68716A"/>
                </a:solidFill>
                <a:latin typeface="Schibsted Grotesk" pitchFamily="34" charset="0"/>
                <a:ea typeface="Schibsted Grotesk" pitchFamily="34" charset="-122"/>
                <a:cs typeface="Schibsted Grotesk" pitchFamily="34" charset="-120"/>
              </a:rPr>
              <a:t>LSPIRG, Year in Review 2023–2024</a:t>
            </a:r>
            <a:endParaRPr lang="en-US" sz="1150" dirty="0"/>
          </a:p>
        </p:txBody>
      </p:sp>
      <p:sp>
        <p:nvSpPr>
          <p:cNvPr id="15" name="Shape 13"/>
          <p:cNvSpPr/>
          <p:nvPr/>
        </p:nvSpPr>
        <p:spPr>
          <a:xfrm>
            <a:off x="685800" y="4800600"/>
            <a:ext cx="10820095" cy="914400"/>
          </a:xfrm>
          <a:prstGeom prst="rect">
            <a:avLst/>
          </a:prstGeom>
          <a:solidFill>
            <a:srgbClr val="E1EAE1"/>
          </a:solidFill>
          <a:ln w="12700">
            <a:solidFill>
              <a:srgbClr val="E1EAE1"/>
            </a:solidFill>
            <a:prstDash val="solid"/>
          </a:ln>
        </p:spPr>
      </p:sp>
      <p:sp>
        <p:nvSpPr>
          <p:cNvPr id="16" name="Text 14"/>
          <p:cNvSpPr txBox="1"/>
          <p:nvPr/>
        </p:nvSpPr>
        <p:spPr>
          <a:xfrm>
            <a:off x="960120" y="4800600"/>
            <a:ext cx="10271455" cy="914400"/>
          </a:xfrm>
          <a:prstGeom prst="rect">
            <a:avLst/>
          </a:prstGeom>
          <a:noFill/>
          <a:ln/>
        </p:spPr>
        <p:txBody>
          <a:bodyPr wrap="square" lIns="0" tIns="0" rIns="0" bIns="0" rtlCol="0" anchor="ctr"/>
          <a:lstStyle/>
          <a:p>
            <a:pPr indent="0" marL="0">
              <a:buNone/>
            </a:pPr>
            <a:r>
              <a:rPr lang="en-US" sz="1700" b="1" dirty="0">
                <a:solidFill>
                  <a:srgbClr val="15201A"/>
                </a:solidFill>
                <a:latin typeface="Schibsted Grotesk" pitchFamily="34" charset="0"/>
                <a:ea typeface="Schibsted Grotesk" pitchFamily="34" charset="-122"/>
                <a:cs typeface="Schibsted Grotesk" pitchFamily="34" charset="-120"/>
              </a:rPr>
              <a:t>What we take from it: </a:t>
            </a:r>
            <a:pPr indent="0" marL="0">
              <a:buNone/>
            </a:pPr>
            <a:r>
              <a:rPr lang="en-US" sz="1700" dirty="0">
                <a:solidFill>
                  <a:srgbClr val="15201A"/>
                </a:solidFill>
                <a:latin typeface="Schibsted Grotesk" pitchFamily="34" charset="0"/>
                <a:ea typeface="Schibsted Grotesk" pitchFamily="34" charset="-122"/>
                <a:cs typeface="Schibsted Grotesk" pitchFamily="34" charset="-120"/>
              </a:rPr>
              <a:t>put shelves where students already go, line up supply before launch, and measure Western’s own use from day one. We have no Western usage data yet; the pilot produces it.</a:t>
            </a:r>
            <a:endParaRPr lang="en-US" sz="17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7"/>
          <p:cNvSpPr/>
          <p:nvPr>
            <p:ph idx="107" type="title" hasCustomPrompt="1"/>
          </p:nvPr>
        </p:nvSpPr>
        <p:spPr>
          <a:xfrm>
            <a:off x="685800" y="502920"/>
            <a:ext cx="10241280" cy="1188720"/>
          </a:xfrm>
          <a:prstGeom prst="rect">
            <a:avLst/>
          </a:prstGeom>
          <a:noFill/>
          <a:ln/>
        </p:spPr>
        <p:txBody>
          <a:bodyPr wrap="square" lIns="0" tIns="0" rIns="0" bIns="0" rtlCol="0" anchor="t"/>
          <a:lstStyle/>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Students find FoodLink through people</a:t>
            </a:r>
            <a:endParaRPr lang="en-US" sz="3400" dirty="0"/>
          </a:p>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and places they already trust</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1828800"/>
          <a:ext cx="10820095" cy="914400"/>
        </p:xfrm>
        <a:graphic>
          <a:graphicData uri="http://schemas.openxmlformats.org/drawingml/2006/table">
            <a:tbl>
              <a:tblPr/>
              <a:tblGrid>
                <a:gridCol w="3154680"/>
                <a:gridCol w="2514600"/>
                <a:gridCol w="5150815"/>
              </a:tblGrid>
              <a:tr h="402336">
                <a:tc>
                  <a:txBody>
                    <a:bodyPr/>
                    <a:lstStyle/>
                    <a:p>
                      <a:pPr indent="0" marL="0">
                        <a:buNone/>
                      </a:pPr>
                      <a:r>
                        <a:rPr lang="en-US" sz="1500" b="1" dirty="0">
                          <a:solidFill>
                            <a:srgbClr val="15201A"/>
                          </a:solidFill>
                          <a:latin typeface="Schibsted Grotesk" pitchFamily="34" charset="0"/>
                          <a:ea typeface="Schibsted Grotesk" pitchFamily="34" charset="-122"/>
                          <a:cs typeface="Schibsted Grotesk" pitchFamily="34" charset="-120"/>
                        </a:rPr>
                        <a:t>Community</a:t>
                      </a:r>
                      <a:endParaRPr lang="en-US" sz="15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15875" cap="flat" cmpd="sng" algn="ctr">
                      <a:solidFill>
                        <a:srgbClr val="15201A"/>
                      </a:solidFill>
                      <a:prstDash val="solid"/>
                      <a:round/>
                      <a:headEnd type="none" w="med" len="med"/>
                      <a:tailEnd type="none" w="med" len="med"/>
                    </a:lnB>
                    <a:solidFill>
                      <a:srgbClr val="F7F5EF"/>
                    </a:solidFill>
                  </a:tcPr>
                </a:tc>
                <a:tc>
                  <a:txBody>
                    <a:bodyPr/>
                    <a:lstStyle/>
                    <a:p>
                      <a:pPr indent="0" marL="0">
                        <a:buNone/>
                      </a:pPr>
                      <a:r>
                        <a:rPr lang="en-US" sz="1500" b="1" dirty="0">
                          <a:solidFill>
                            <a:srgbClr val="15201A"/>
                          </a:solidFill>
                          <a:latin typeface="Schibsted Grotesk" pitchFamily="34" charset="0"/>
                          <a:ea typeface="Schibsted Grotesk" pitchFamily="34" charset="-122"/>
                          <a:cs typeface="Schibsted Grotesk" pitchFamily="34" charset="-120"/>
                        </a:rPr>
                        <a:t>Messenger</a:t>
                      </a:r>
                      <a:endParaRPr lang="en-US" sz="15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15875" cap="flat" cmpd="sng" algn="ctr">
                      <a:solidFill>
                        <a:srgbClr val="15201A"/>
                      </a:solidFill>
                      <a:prstDash val="solid"/>
                      <a:round/>
                      <a:headEnd type="none" w="med" len="med"/>
                      <a:tailEnd type="none" w="med" len="med"/>
                    </a:lnB>
                    <a:solidFill>
                      <a:srgbClr val="F7F5EF"/>
                    </a:solidFill>
                  </a:tcPr>
                </a:tc>
                <a:tc>
                  <a:txBody>
                    <a:bodyPr/>
                    <a:lstStyle/>
                    <a:p>
                      <a:pPr indent="0" marL="0">
                        <a:buNone/>
                      </a:pPr>
                      <a:r>
                        <a:rPr lang="en-US" sz="1500" b="1" dirty="0">
                          <a:solidFill>
                            <a:srgbClr val="15201A"/>
                          </a:solidFill>
                          <a:latin typeface="Schibsted Grotesk" pitchFamily="34" charset="0"/>
                          <a:ea typeface="Schibsted Grotesk" pitchFamily="34" charset="-122"/>
                          <a:cs typeface="Schibsted Grotesk" pitchFamily="34" charset="-120"/>
                        </a:rPr>
                        <a:t>What they do</a:t>
                      </a:r>
                      <a:endParaRPr lang="en-US" sz="15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15875" cap="flat" cmpd="sng" algn="ctr">
                      <a:solidFill>
                        <a:srgbClr val="15201A"/>
                      </a:solidFill>
                      <a:prstDash val="solid"/>
                      <a:round/>
                      <a:headEnd type="none" w="med" len="med"/>
                      <a:tailEnd type="none" w="med" len="med"/>
                    </a:lnB>
                    <a:solidFill>
                      <a:srgbClr val="F7F5EF"/>
                    </a:solidFill>
                  </a:tcPr>
                </a:tc>
              </a:tr>
              <a:tr h="512064">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Faculty and affiliate councils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Council reps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Host a shelf in their building and keep it stocked</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512064">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Residences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Sophs and dons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Show FoodLink at floor meetings; QR codes on floor boards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512064">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Clubs (240+, reaching 17,000)</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Club executives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Post event leftovers as drops; adopt a shelf</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512064">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Online</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USC Now, Hype Team</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Push live drops during exam weeks and late nights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512064">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First-years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Sophs at O-Week 2027</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One FoodLink minute in every soph group</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bl>
          </a:graphicData>
        </a:graphic>
      </p:graphicFrame>
      <p:sp>
        <p:nvSpPr>
          <p:cNvPr id="4" name="Shape 1"/>
          <p:cNvSpPr/>
          <p:nvPr/>
        </p:nvSpPr>
        <p:spPr>
          <a:xfrm>
            <a:off x="685800" y="5074920"/>
            <a:ext cx="10820095" cy="685800"/>
          </a:xfrm>
          <a:prstGeom prst="rect">
            <a:avLst/>
          </a:prstGeom>
          <a:solidFill>
            <a:srgbClr val="E1EAE1"/>
          </a:solidFill>
          <a:ln w="12700">
            <a:solidFill>
              <a:srgbClr val="E1EAE1"/>
            </a:solidFill>
            <a:prstDash val="solid"/>
          </a:ln>
        </p:spPr>
      </p:sp>
      <p:sp>
        <p:nvSpPr>
          <p:cNvPr id="5" name="Text 2"/>
          <p:cNvSpPr txBox="1"/>
          <p:nvPr/>
        </p:nvSpPr>
        <p:spPr>
          <a:xfrm>
            <a:off x="960120" y="5074920"/>
            <a:ext cx="10271455" cy="685800"/>
          </a:xfrm>
          <a:prstGeom prst="rect">
            <a:avLst/>
          </a:prstGeom>
          <a:noFill/>
          <a:ln/>
        </p:spPr>
        <p:txBody>
          <a:bodyPr wrap="square" lIns="0" tIns="0" rIns="0" bIns="0" rtlCol="0" anchor="ctr"/>
          <a:lstStyle/>
          <a:p>
            <a:pPr indent="0" marL="0">
              <a:buNone/>
            </a:pPr>
            <a:r>
              <a:rPr lang="en-US" sz="1700" b="1" dirty="0">
                <a:solidFill>
                  <a:srgbClr val="15201A"/>
                </a:solidFill>
                <a:latin typeface="Schibsted Grotesk" pitchFamily="34" charset="0"/>
                <a:ea typeface="Schibsted Grotesk" pitchFamily="34" charset="-122"/>
                <a:cs typeface="Schibsted Grotesk" pitchFamily="34" charset="-120"/>
              </a:rPr>
              <a:t>Moments that matter: </a:t>
            </a:r>
            <a:pPr indent="0" marL="0">
              <a:buNone/>
            </a:pPr>
            <a:r>
              <a:rPr lang="en-US" sz="1700" dirty="0">
                <a:solidFill>
                  <a:srgbClr val="15201A"/>
                </a:solidFill>
                <a:latin typeface="Schibsted Grotesk" pitchFamily="34" charset="0"/>
                <a:ea typeface="Schibsted Grotesk" pitchFamily="34" charset="-122"/>
                <a:cs typeface="Schibsted Grotesk" pitchFamily="34" charset="-120"/>
              </a:rPr>
              <a:t>exam weeks, late nights and weekends, when the UCC room is closed. That is when FoodLink speaks up.</a:t>
            </a:r>
            <a:endParaRPr lang="en-US" sz="17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7"/>
          <p:cNvSpPr/>
          <p:nvPr>
            <p:ph idx="107" type="title" hasCustomPrompt="1"/>
          </p:nvPr>
        </p:nvSpPr>
        <p:spPr>
          <a:xfrm>
            <a:off x="685800" y="502920"/>
            <a:ext cx="10241280" cy="1188720"/>
          </a:xfrm>
          <a:prstGeom prst="rect">
            <a:avLst/>
          </a:prstGeom>
          <a:noFill/>
          <a:ln/>
        </p:spPr>
        <p:txBody>
          <a:bodyPr wrap="square" lIns="0" tIns="0" rIns="0" bIns="0" rtlCol="0" anchor="t"/>
          <a:lstStyle/>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USC businesses already reach students</a:t>
            </a:r>
            <a:endParaRPr lang="en-US" sz="3400" dirty="0"/>
          </a:p>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every day; FoodLink puts them to work</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1828800"/>
          <a:ext cx="10820095" cy="914400"/>
        </p:xfrm>
        <a:graphic>
          <a:graphicData uri="http://schemas.openxmlformats.org/drawingml/2006/table">
            <a:tbl>
              <a:tblPr/>
              <a:tblGrid>
                <a:gridCol w="3246120"/>
                <a:gridCol w="5562295"/>
                <a:gridCol w="2011680"/>
              </a:tblGrid>
              <a:tr h="402336">
                <a:tc>
                  <a:txBody>
                    <a:bodyPr/>
                    <a:lstStyle/>
                    <a:p>
                      <a:pPr indent="0" marL="0">
                        <a:buNone/>
                      </a:pPr>
                      <a:r>
                        <a:rPr lang="en-US" sz="1500" b="1" dirty="0">
                          <a:solidFill>
                            <a:srgbClr val="15201A"/>
                          </a:solidFill>
                          <a:latin typeface="Schibsted Grotesk" pitchFamily="34" charset="0"/>
                          <a:ea typeface="Schibsted Grotesk" pitchFamily="34" charset="-122"/>
                          <a:cs typeface="Schibsted Grotesk" pitchFamily="34" charset="-120"/>
                        </a:rPr>
                        <a:t>USC unit</a:t>
                      </a:r>
                      <a:endParaRPr lang="en-US" sz="15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15875" cap="flat" cmpd="sng" algn="ctr">
                      <a:solidFill>
                        <a:srgbClr val="15201A"/>
                      </a:solidFill>
                      <a:prstDash val="solid"/>
                      <a:round/>
                      <a:headEnd type="none" w="med" len="med"/>
                      <a:tailEnd type="none" w="med" len="med"/>
                    </a:lnB>
                    <a:solidFill>
                      <a:srgbClr val="F7F5EF"/>
                    </a:solidFill>
                  </a:tcPr>
                </a:tc>
                <a:tc>
                  <a:txBody>
                    <a:bodyPr/>
                    <a:lstStyle/>
                    <a:p>
                      <a:pPr indent="0" marL="0">
                        <a:buNone/>
                      </a:pPr>
                      <a:r>
                        <a:rPr lang="en-US" sz="1500" b="1" dirty="0">
                          <a:solidFill>
                            <a:srgbClr val="15201A"/>
                          </a:solidFill>
                          <a:latin typeface="Schibsted Grotesk" pitchFamily="34" charset="0"/>
                          <a:ea typeface="Schibsted Grotesk" pitchFamily="34" charset="-122"/>
                          <a:cs typeface="Schibsted Grotesk" pitchFamily="34" charset="-120"/>
                        </a:rPr>
                        <a:t>What it contributes</a:t>
                      </a:r>
                      <a:endParaRPr lang="en-US" sz="15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15875" cap="flat" cmpd="sng" algn="ctr">
                      <a:solidFill>
                        <a:srgbClr val="15201A"/>
                      </a:solidFill>
                      <a:prstDash val="solid"/>
                      <a:round/>
                      <a:headEnd type="none" w="med" len="med"/>
                      <a:tailEnd type="none" w="med" len="med"/>
                    </a:lnB>
                    <a:solidFill>
                      <a:srgbClr val="F7F5EF"/>
                    </a:solidFill>
                  </a:tcPr>
                </a:tc>
                <a:tc>
                  <a:txBody>
                    <a:bodyPr/>
                    <a:lstStyle/>
                    <a:p>
                      <a:pPr indent="0" marL="0">
                        <a:buNone/>
                      </a:pPr>
                      <a:r>
                        <a:rPr lang="en-US" sz="1500" b="1" dirty="0">
                          <a:solidFill>
                            <a:srgbClr val="15201A"/>
                          </a:solidFill>
                          <a:latin typeface="Schibsted Grotesk" pitchFamily="34" charset="0"/>
                          <a:ea typeface="Schibsted Grotesk" pitchFamily="34" charset="-122"/>
                          <a:cs typeface="Schibsted Grotesk" pitchFamily="34" charset="-120"/>
                        </a:rPr>
                        <a:t>Cost to the USC</a:t>
                      </a:r>
                      <a:endParaRPr lang="en-US" sz="15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15875" cap="flat" cmpd="sng" algn="ctr">
                      <a:solidFill>
                        <a:srgbClr val="15201A"/>
                      </a:solidFill>
                      <a:prstDash val="solid"/>
                      <a:round/>
                      <a:headEnd type="none" w="med" len="med"/>
                      <a:tailEnd type="none" w="med" len="med"/>
                    </a:lnB>
                    <a:solidFill>
                      <a:srgbClr val="F7F5EF"/>
                    </a:solidFill>
                  </a:tcPr>
                </a:tc>
              </a:tr>
              <a:tr h="603504">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The Spoke ($4.3M revenue)</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Sealed surplus as drops; QR on tables; the largest student employer spreads the word</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Packaging only</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475488">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The Wave and catering ($1.9M)</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Event and catering leftovers posted as drops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None</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475488">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UCC tenants: grocery, pharmacy</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Sponsor shelf stock and hygiene items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Adds sponsor revenue</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475488">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Purple Store</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A FoodLink tote, so carrying food looks like shopping</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Sponsor-funded</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475488">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O-Week, PurpleFest, Productions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Launch moments that reach every first-year</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Existing budgets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475488">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Free the Dot</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Period products on every FoodLink shelf</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Existing program</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bl>
          </a:graphicData>
        </a:graphic>
      </p:graphicFrame>
      <p:sp>
        <p:nvSpPr>
          <p:cNvPr id="4" name="Text 1"/>
          <p:cNvSpPr txBox="1"/>
          <p:nvPr/>
        </p:nvSpPr>
        <p:spPr>
          <a:xfrm>
            <a:off x="685800" y="5925312"/>
            <a:ext cx="10820095" cy="292608"/>
          </a:xfrm>
          <a:prstGeom prst="rect">
            <a:avLst/>
          </a:prstGeom>
          <a:noFill/>
          <a:ln/>
        </p:spPr>
        <p:txBody>
          <a:bodyPr wrap="square" lIns="0" tIns="0" rIns="0" bIns="0" rtlCol="0" anchor="b"/>
          <a:lstStyle/>
          <a:p>
            <a:pPr indent="0" marL="0">
              <a:buNone/>
            </a:pPr>
            <a:r>
              <a:rPr lang="en-US" sz="1100" dirty="0">
                <a:solidFill>
                  <a:srgbClr val="68716A"/>
                </a:solidFill>
                <a:latin typeface="Schibsted Grotesk" pitchFamily="34" charset="0"/>
                <a:ea typeface="Schibsted Grotesk" pitchFamily="34" charset="-122"/>
                <a:cs typeface="Schibsted Grotesk" pitchFamily="34" charset="-120"/>
              </a:rPr>
              <a:t>Revenue: USC 2026–27 budget (Aspire 2026 case, Exhibit 4). Each contribution is a proposal to agree with that unit.</a:t>
            </a:r>
            <a:endParaRPr lang="en-US" sz="11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7"/>
          <p:cNvSpPr/>
          <p:nvPr>
            <p:ph idx="107" type="title" hasCustomPrompt="1"/>
          </p:nvPr>
        </p:nvSpPr>
        <p:spPr>
          <a:xfrm>
            <a:off x="685800" y="502920"/>
            <a:ext cx="10241280" cy="1188720"/>
          </a:xfrm>
          <a:prstGeom prst="rect">
            <a:avLst/>
          </a:prstGeom>
          <a:noFill/>
          <a:ln/>
        </p:spPr>
        <p:txBody>
          <a:bodyPr wrap="square" lIns="0" tIns="0" rIns="0" bIns="0" rtlCol="0" anchor="t"/>
          <a:lstStyle/>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FoodLink adds engagement instead of</a:t>
            </a:r>
            <a:endParaRPr lang="en-US" sz="3400" dirty="0"/>
          </a:p>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moving it between USC services</a:t>
            </a:r>
            <a:endParaRPr lang="en-US" sz="3400" dirty="0"/>
          </a:p>
        </p:txBody>
      </p:sp>
      <p:sp>
        <p:nvSpPr>
          <p:cNvPr id="3" name="Shape 1"/>
          <p:cNvSpPr/>
          <p:nvPr/>
        </p:nvSpPr>
        <p:spPr>
          <a:xfrm>
            <a:off x="685800" y="1783080"/>
            <a:ext cx="10820095" cy="0"/>
          </a:xfrm>
          <a:prstGeom prst="line">
            <a:avLst/>
          </a:prstGeom>
          <a:noFill/>
          <a:ln w="15875">
            <a:solidFill>
              <a:srgbClr val="15201A"/>
            </a:solidFill>
            <a:prstDash val="solid"/>
          </a:ln>
        </p:spPr>
      </p:sp>
      <p:sp>
        <p:nvSpPr>
          <p:cNvPr id="4" name="Text 2"/>
          <p:cNvSpPr txBox="1"/>
          <p:nvPr/>
        </p:nvSpPr>
        <p:spPr>
          <a:xfrm>
            <a:off x="685800" y="2011680"/>
            <a:ext cx="3454298" cy="457200"/>
          </a:xfrm>
          <a:prstGeom prst="rect">
            <a:avLst/>
          </a:prstGeom>
          <a:noFill/>
          <a:ln/>
        </p:spPr>
        <p:txBody>
          <a:bodyPr wrap="square" lIns="0" tIns="0" rIns="0" bIns="0" rtlCol="0" anchor="t"/>
          <a:lstStyle/>
          <a:p>
            <a:pPr indent="0" marL="0">
              <a:buNone/>
            </a:pPr>
            <a:r>
              <a:rPr lang="en-US" sz="2000" b="1" dirty="0">
                <a:solidFill>
                  <a:srgbClr val="1D5E40"/>
                </a:solidFill>
                <a:latin typeface="Schibsted Grotesk" pitchFamily="34" charset="0"/>
                <a:ea typeface="Schibsted Grotesk" pitchFamily="34" charset="-122"/>
                <a:cs typeface="Schibsted Grotesk" pitchFamily="34" charset="-120"/>
              </a:rPr>
              <a:t>Complements hampers</a:t>
            </a:r>
            <a:endParaRPr lang="en-US" sz="2000" dirty="0"/>
          </a:p>
        </p:txBody>
      </p:sp>
      <p:sp>
        <p:nvSpPr>
          <p:cNvPr id="5" name="Text 3"/>
          <p:cNvSpPr txBox="1"/>
          <p:nvPr/>
        </p:nvSpPr>
        <p:spPr>
          <a:xfrm>
            <a:off x="4368698" y="2039112"/>
            <a:ext cx="7137197" cy="822960"/>
          </a:xfrm>
          <a:prstGeom prst="rect">
            <a:avLst/>
          </a:prstGeom>
          <a:noFill/>
          <a:ln/>
        </p:spPr>
        <p:txBody>
          <a:bodyPr wrap="square" lIns="0" tIns="0" rIns="0" bIns="0" rtlCol="0" anchor="t"/>
          <a:lstStyle/>
          <a:p>
            <a:pPr indent="0" marL="0">
              <a:buNone/>
            </a:pPr>
            <a:r>
              <a:rPr lang="en-US" sz="1800" dirty="0">
                <a:solidFill>
                  <a:srgbClr val="15201A"/>
                </a:solidFill>
                <a:latin typeface="Schibsted Grotesk" pitchFamily="34" charset="0"/>
                <a:ea typeface="Schibsted Grotesk" pitchFamily="34" charset="-122"/>
                <a:cs typeface="Schibsted Grotesk" pitchFamily="34" charset="-120"/>
              </a:rPr>
              <a:t>Shelves cover today; hampers cover the week. The app links to both, and we track hamper requests so they don’t fall.</a:t>
            </a:r>
            <a:endParaRPr lang="en-US" sz="1800" dirty="0"/>
          </a:p>
        </p:txBody>
      </p:sp>
      <p:sp>
        <p:nvSpPr>
          <p:cNvPr id="6" name="Shape 4"/>
          <p:cNvSpPr/>
          <p:nvPr/>
        </p:nvSpPr>
        <p:spPr>
          <a:xfrm>
            <a:off x="685800" y="2770632"/>
            <a:ext cx="10820095" cy="0"/>
          </a:xfrm>
          <a:prstGeom prst="line">
            <a:avLst/>
          </a:prstGeom>
          <a:noFill/>
          <a:ln w="9525">
            <a:solidFill>
              <a:srgbClr val="D9D4C7"/>
            </a:solidFill>
            <a:prstDash val="solid"/>
          </a:ln>
        </p:spPr>
      </p:sp>
      <p:sp>
        <p:nvSpPr>
          <p:cNvPr id="7" name="Text 5"/>
          <p:cNvSpPr txBox="1"/>
          <p:nvPr/>
        </p:nvSpPr>
        <p:spPr>
          <a:xfrm>
            <a:off x="685800" y="2999232"/>
            <a:ext cx="3454298" cy="457200"/>
          </a:xfrm>
          <a:prstGeom prst="rect">
            <a:avLst/>
          </a:prstGeom>
          <a:noFill/>
          <a:ln/>
        </p:spPr>
        <p:txBody>
          <a:bodyPr wrap="square" lIns="0" tIns="0" rIns="0" bIns="0" rtlCol="0" anchor="t"/>
          <a:lstStyle/>
          <a:p>
            <a:pPr indent="0" marL="0">
              <a:buNone/>
            </a:pPr>
            <a:r>
              <a:rPr lang="en-US" sz="2000" b="1" dirty="0">
                <a:solidFill>
                  <a:srgbClr val="1D5E40"/>
                </a:solidFill>
                <a:latin typeface="Schibsted Grotesk" pitchFamily="34" charset="0"/>
                <a:ea typeface="Schibsted Grotesk" pitchFamily="34" charset="-122"/>
                <a:cs typeface="Schibsted Grotesk" pitchFamily="34" charset="-120"/>
              </a:rPr>
              <a:t>One front door</a:t>
            </a:r>
            <a:endParaRPr lang="en-US" sz="2000" dirty="0"/>
          </a:p>
        </p:txBody>
      </p:sp>
      <p:sp>
        <p:nvSpPr>
          <p:cNvPr id="8" name="Text 6"/>
          <p:cNvSpPr txBox="1"/>
          <p:nvPr/>
        </p:nvSpPr>
        <p:spPr>
          <a:xfrm>
            <a:off x="4368698" y="3026664"/>
            <a:ext cx="7137197" cy="822960"/>
          </a:xfrm>
          <a:prstGeom prst="rect">
            <a:avLst/>
          </a:prstGeom>
          <a:noFill/>
          <a:ln/>
        </p:spPr>
        <p:txBody>
          <a:bodyPr wrap="square" lIns="0" tIns="0" rIns="0" bIns="0" rtlCol="0" anchor="t"/>
          <a:lstStyle/>
          <a:p>
            <a:pPr indent="0" marL="0">
              <a:buNone/>
            </a:pPr>
            <a:r>
              <a:rPr lang="en-US" sz="1800" dirty="0">
                <a:solidFill>
                  <a:srgbClr val="15201A"/>
                </a:solidFill>
                <a:latin typeface="Schibsted Grotesk" pitchFamily="34" charset="0"/>
                <a:ea typeface="Schibsted Grotesk" pitchFamily="34" charset="-122"/>
                <a:cs typeface="Schibsted Grotesk" pitchFamily="34" charset="-120"/>
              </a:rPr>
              <a:t>A tab in USC Now, not another app. It lists USC, Western and city options so students pick the right one.</a:t>
            </a:r>
            <a:endParaRPr lang="en-US" sz="1800" dirty="0"/>
          </a:p>
        </p:txBody>
      </p:sp>
      <p:sp>
        <p:nvSpPr>
          <p:cNvPr id="9" name="Shape 7"/>
          <p:cNvSpPr/>
          <p:nvPr/>
        </p:nvSpPr>
        <p:spPr>
          <a:xfrm>
            <a:off x="685800" y="3758184"/>
            <a:ext cx="10820095" cy="0"/>
          </a:xfrm>
          <a:prstGeom prst="line">
            <a:avLst/>
          </a:prstGeom>
          <a:noFill/>
          <a:ln w="9525">
            <a:solidFill>
              <a:srgbClr val="D9D4C7"/>
            </a:solidFill>
            <a:prstDash val="solid"/>
          </a:ln>
        </p:spPr>
      </p:sp>
      <p:sp>
        <p:nvSpPr>
          <p:cNvPr id="10" name="Text 8"/>
          <p:cNvSpPr txBox="1"/>
          <p:nvPr/>
        </p:nvSpPr>
        <p:spPr>
          <a:xfrm>
            <a:off x="685800" y="3986784"/>
            <a:ext cx="3454298" cy="457200"/>
          </a:xfrm>
          <a:prstGeom prst="rect">
            <a:avLst/>
          </a:prstGeom>
          <a:noFill/>
          <a:ln/>
        </p:spPr>
        <p:txBody>
          <a:bodyPr wrap="square" lIns="0" tIns="0" rIns="0" bIns="0" rtlCol="0" anchor="t"/>
          <a:lstStyle/>
          <a:p>
            <a:pPr indent="0" marL="0">
              <a:buNone/>
            </a:pPr>
            <a:r>
              <a:rPr lang="en-US" sz="2000" b="1" dirty="0">
                <a:solidFill>
                  <a:srgbClr val="1D5E40"/>
                </a:solidFill>
                <a:latin typeface="Schibsted Grotesk" pitchFamily="34" charset="0"/>
                <a:ea typeface="Schibsted Grotesk" pitchFamily="34" charset="-122"/>
                <a:cs typeface="Schibsted Grotesk" pitchFamily="34" charset="-120"/>
              </a:rPr>
              <a:t>Lifts other services</a:t>
            </a:r>
            <a:endParaRPr lang="en-US" sz="2000" dirty="0"/>
          </a:p>
        </p:txBody>
      </p:sp>
      <p:sp>
        <p:nvSpPr>
          <p:cNvPr id="11" name="Text 9"/>
          <p:cNvSpPr txBox="1"/>
          <p:nvPr/>
        </p:nvSpPr>
        <p:spPr>
          <a:xfrm>
            <a:off x="4368698" y="4014216"/>
            <a:ext cx="7137197" cy="822960"/>
          </a:xfrm>
          <a:prstGeom prst="rect">
            <a:avLst/>
          </a:prstGeom>
          <a:noFill/>
          <a:ln/>
        </p:spPr>
        <p:txBody>
          <a:bodyPr wrap="square" lIns="0" tIns="0" rIns="0" bIns="0" rtlCol="0" anchor="t"/>
          <a:lstStyle/>
          <a:p>
            <a:pPr indent="0" marL="0">
              <a:buNone/>
            </a:pPr>
            <a:r>
              <a:rPr lang="en-US" sz="1800" dirty="0">
                <a:solidFill>
                  <a:srgbClr val="15201A"/>
                </a:solidFill>
                <a:latin typeface="Schibsted Grotesk" pitchFamily="34" charset="0"/>
                <a:ea typeface="Schibsted Grotesk" pitchFamily="34" charset="-122"/>
                <a:cs typeface="Schibsted Grotesk" pitchFamily="34" charset="-120"/>
              </a:rPr>
              <a:t>Every shelf and the app point to the Peer Support Centre and Free the Dot.</a:t>
            </a:r>
            <a:endParaRPr lang="en-US" sz="1800" dirty="0"/>
          </a:p>
        </p:txBody>
      </p:sp>
      <p:sp>
        <p:nvSpPr>
          <p:cNvPr id="12" name="Shape 10"/>
          <p:cNvSpPr/>
          <p:nvPr/>
        </p:nvSpPr>
        <p:spPr>
          <a:xfrm>
            <a:off x="685800" y="4745736"/>
            <a:ext cx="10820095" cy="0"/>
          </a:xfrm>
          <a:prstGeom prst="line">
            <a:avLst/>
          </a:prstGeom>
          <a:noFill/>
          <a:ln w="9525">
            <a:solidFill>
              <a:srgbClr val="D9D4C7"/>
            </a:solidFill>
            <a:prstDash val="solid"/>
          </a:ln>
        </p:spPr>
      </p:sp>
      <p:sp>
        <p:nvSpPr>
          <p:cNvPr id="13" name="Text 11"/>
          <p:cNvSpPr txBox="1"/>
          <p:nvPr/>
        </p:nvSpPr>
        <p:spPr>
          <a:xfrm>
            <a:off x="685800" y="4974336"/>
            <a:ext cx="3454298" cy="457200"/>
          </a:xfrm>
          <a:prstGeom prst="rect">
            <a:avLst/>
          </a:prstGeom>
          <a:noFill/>
          <a:ln/>
        </p:spPr>
        <p:txBody>
          <a:bodyPr wrap="square" lIns="0" tIns="0" rIns="0" bIns="0" rtlCol="0" anchor="t"/>
          <a:lstStyle/>
          <a:p>
            <a:pPr indent="0" marL="0">
              <a:buNone/>
            </a:pPr>
            <a:r>
              <a:rPr lang="en-US" sz="2000" b="1" dirty="0">
                <a:solidFill>
                  <a:srgbClr val="1D5E40"/>
                </a:solidFill>
                <a:latin typeface="Schibsted Grotesk" pitchFamily="34" charset="0"/>
                <a:ea typeface="Schibsted Grotesk" pitchFamily="34" charset="-122"/>
                <a:cs typeface="Schibsted Grotesk" pitchFamily="34" charset="-120"/>
              </a:rPr>
              <a:t>Builds participation</a:t>
            </a:r>
            <a:endParaRPr lang="en-US" sz="2000" dirty="0"/>
          </a:p>
        </p:txBody>
      </p:sp>
      <p:sp>
        <p:nvSpPr>
          <p:cNvPr id="14" name="Text 12"/>
          <p:cNvSpPr txBox="1"/>
          <p:nvPr/>
        </p:nvSpPr>
        <p:spPr>
          <a:xfrm>
            <a:off x="4368698" y="5001768"/>
            <a:ext cx="7137197" cy="822960"/>
          </a:xfrm>
          <a:prstGeom prst="rect">
            <a:avLst/>
          </a:prstGeom>
          <a:noFill/>
          <a:ln/>
        </p:spPr>
        <p:txBody>
          <a:bodyPr wrap="square" lIns="0" tIns="0" rIns="0" bIns="0" rtlCol="0" anchor="t"/>
          <a:lstStyle/>
          <a:p>
            <a:pPr indent="0" marL="0">
              <a:buNone/>
            </a:pPr>
            <a:r>
              <a:rPr lang="en-US" sz="1800" dirty="0">
                <a:solidFill>
                  <a:srgbClr val="15201A"/>
                </a:solidFill>
                <a:latin typeface="Schibsted Grotesk" pitchFamily="34" charset="0"/>
                <a:ea typeface="Schibsted Grotesk" pitchFamily="34" charset="-122"/>
                <a:cs typeface="Schibsted Grotesk" pitchFamily="34" charset="-120"/>
              </a:rPr>
              <a:t>Volunteers come from clubs and councils. With 16 of 51 Council seats vacant, they are the USC’s next candidates.</a:t>
            </a:r>
            <a:endParaRPr lang="en-US" sz="1800" dirty="0"/>
          </a:p>
        </p:txBody>
      </p:sp>
      <p:sp>
        <p:nvSpPr>
          <p:cNvPr id="15" name="Text 13"/>
          <p:cNvSpPr txBox="1"/>
          <p:nvPr/>
        </p:nvSpPr>
        <p:spPr>
          <a:xfrm>
            <a:off x="685800" y="5925312"/>
            <a:ext cx="10820095" cy="292608"/>
          </a:xfrm>
          <a:prstGeom prst="rect">
            <a:avLst/>
          </a:prstGeom>
          <a:noFill/>
          <a:ln/>
        </p:spPr>
        <p:txBody>
          <a:bodyPr wrap="square" lIns="0" tIns="0" rIns="0" bIns="0" rtlCol="0" anchor="b"/>
          <a:lstStyle/>
          <a:p>
            <a:pPr indent="0" marL="0">
              <a:buNone/>
            </a:pPr>
            <a:r>
              <a:rPr lang="en-US" sz="1100" dirty="0">
                <a:solidFill>
                  <a:srgbClr val="68716A"/>
                </a:solidFill>
                <a:latin typeface="Schibsted Grotesk" pitchFamily="34" charset="0"/>
                <a:ea typeface="Schibsted Grotesk" pitchFamily="34" charset="-122"/>
                <a:cs typeface="Schibsted Grotesk" pitchFamily="34" charset="-120"/>
              </a:rPr>
              <a:t>Council data: Aspire 2026 case (16 of 51 faculty and affiliate seats vacant in October 2026; 24.6% election turnout in February 2026).</a:t>
            </a:r>
            <a:endParaRPr lang="en-US" sz="11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7"/>
          <p:cNvSpPr/>
          <p:nvPr>
            <p:ph idx="107" type="title" hasCustomPrompt="1"/>
          </p:nvPr>
        </p:nvSpPr>
        <p:spPr>
          <a:xfrm>
            <a:off x="685800" y="502920"/>
            <a:ext cx="10241280" cy="1188720"/>
          </a:xfrm>
          <a:prstGeom prst="rect">
            <a:avLst/>
          </a:prstGeom>
          <a:noFill/>
          <a:ln/>
        </p:spPr>
        <p:txBody>
          <a:bodyPr wrap="square" lIns="0" tIns="0" rIns="0" bIns="0" rtlCol="0" anchor="t"/>
          <a:lstStyle/>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The 11-week pilot costs $6,900: under</a:t>
            </a:r>
            <a:endParaRPr lang="en-US" sz="3400" dirty="0"/>
          </a:p>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20 cents per undergraduate</a:t>
            </a:r>
            <a:endParaRPr lang="en-US" sz="3400" dirty="0"/>
          </a:p>
        </p:txBody>
      </p:sp>
      <p:sp>
        <p:nvSpPr>
          <p:cNvPr id="3" name="Text 1"/>
          <p:cNvSpPr txBox="1"/>
          <p:nvPr/>
        </p:nvSpPr>
        <p:spPr>
          <a:xfrm>
            <a:off x="685800" y="1874520"/>
            <a:ext cx="3657600" cy="292608"/>
          </a:xfrm>
          <a:prstGeom prst="rect">
            <a:avLst/>
          </a:prstGeom>
          <a:noFill/>
          <a:ln/>
        </p:spPr>
        <p:txBody>
          <a:bodyPr wrap="square" lIns="0" tIns="0" rIns="0" bIns="0" rtlCol="0" anchor="t"/>
          <a:lstStyle/>
          <a:p>
            <a:pPr indent="0" marL="0">
              <a:buNone/>
            </a:pPr>
            <a:r>
              <a:rPr lang="en-US" sz="1500" dirty="0">
                <a:solidFill>
                  <a:srgbClr val="68716A"/>
                </a:solidFill>
                <a:latin typeface="Schibsted Grotesk" pitchFamily="34" charset="0"/>
                <a:ea typeface="Schibsted Grotesk" pitchFamily="34" charset="-122"/>
                <a:cs typeface="Schibsted Grotesk" pitchFamily="34" charset="-120"/>
              </a:rPr>
              <a:t>Pilot costs</a:t>
            </a:r>
            <a:endParaRPr lang="en-US" sz="1500" dirty="0"/>
          </a:p>
        </p:txBody>
      </p:sp>
      <p:sp>
        <p:nvSpPr>
          <p:cNvPr id="4" name="Text 2"/>
          <p:cNvSpPr txBox="1"/>
          <p:nvPr/>
        </p:nvSpPr>
        <p:spPr>
          <a:xfrm>
            <a:off x="685800" y="2258568"/>
            <a:ext cx="2331720" cy="329184"/>
          </a:xfrm>
          <a:prstGeom prst="rect">
            <a:avLst/>
          </a:prstGeom>
          <a:noFill/>
          <a:ln/>
        </p:spPr>
        <p:txBody>
          <a:bodyPr wrap="square" lIns="0" tIns="0" rIns="0" bIns="0" rtlCol="0" anchor="ct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Coordinator (part-time)</a:t>
            </a:r>
            <a:endParaRPr lang="en-US" sz="1600" dirty="0"/>
          </a:p>
        </p:txBody>
      </p:sp>
      <p:sp>
        <p:nvSpPr>
          <p:cNvPr id="5" name="Shape 3"/>
          <p:cNvSpPr/>
          <p:nvPr/>
        </p:nvSpPr>
        <p:spPr>
          <a:xfrm>
            <a:off x="3108960" y="2340864"/>
            <a:ext cx="2011680" cy="173736"/>
          </a:xfrm>
          <a:prstGeom prst="rect">
            <a:avLst/>
          </a:prstGeom>
          <a:solidFill>
            <a:srgbClr val="1D5E40"/>
          </a:solidFill>
          <a:ln w="12700">
            <a:solidFill>
              <a:srgbClr val="1D5E40"/>
            </a:solidFill>
            <a:prstDash val="solid"/>
          </a:ln>
        </p:spPr>
      </p:sp>
      <p:sp>
        <p:nvSpPr>
          <p:cNvPr id="6" name="Text 4"/>
          <p:cNvSpPr txBox="1"/>
          <p:nvPr/>
        </p:nvSpPr>
        <p:spPr>
          <a:xfrm>
            <a:off x="5166360" y="2258568"/>
            <a:ext cx="868680" cy="329184"/>
          </a:xfrm>
          <a:prstGeom prst="rect">
            <a:avLst/>
          </a:prstGeom>
          <a:noFill/>
          <a:ln/>
        </p:spPr>
        <p:txBody>
          <a:bodyPr wrap="square" lIns="0" tIns="0" rIns="0" bIns="0" rtlCol="0" anchor="ctr"/>
          <a:lstStyle/>
          <a:p>
            <a:pPr algn="r" indent="0" marL="0">
              <a:buNone/>
            </a:pPr>
            <a:r>
              <a:rPr lang="en-US" sz="1600" b="1" dirty="0">
                <a:solidFill>
                  <a:srgbClr val="15201A"/>
                </a:solidFill>
                <a:latin typeface="Schibsted Grotesk" pitchFamily="34" charset="0"/>
                <a:ea typeface="Schibsted Grotesk" pitchFamily="34" charset="-122"/>
                <a:cs typeface="Schibsted Grotesk" pitchFamily="34" charset="-120"/>
              </a:rPr>
              <a:t>$3,000</a:t>
            </a:r>
            <a:endParaRPr lang="en-US" sz="1600" dirty="0"/>
          </a:p>
        </p:txBody>
      </p:sp>
      <p:sp>
        <p:nvSpPr>
          <p:cNvPr id="7" name="Text 5"/>
          <p:cNvSpPr txBox="1"/>
          <p:nvPr/>
        </p:nvSpPr>
        <p:spPr>
          <a:xfrm>
            <a:off x="685800" y="2624328"/>
            <a:ext cx="2331720" cy="329184"/>
          </a:xfrm>
          <a:prstGeom prst="rect">
            <a:avLst/>
          </a:prstGeom>
          <a:noFill/>
          <a:ln/>
        </p:spPr>
        <p:txBody>
          <a:bodyPr wrap="square" lIns="0" tIns="0" rIns="0" bIns="0" rtlCol="0" anchor="ctr"/>
          <a:lstStyle/>
          <a:p>
            <a:pPr indent="0" marL="0">
              <a:buNone/>
            </a:pPr>
            <a:r>
              <a:rPr lang="en-US" sz="1600" dirty="0">
                <a:solidFill>
                  <a:srgbClr val="15201A"/>
                </a:solidFill>
                <a:latin typeface="Schibsted Grotesk" pitchFamily="34" charset="0"/>
                <a:ea typeface="Schibsted Grotesk" pitchFamily="34" charset="-122"/>
                <a:cs typeface="Schibsted Grotesk" pitchFamily="34" charset="-120"/>
              </a:rPr>
              <a:t>Shelving and signs</a:t>
            </a:r>
            <a:endParaRPr lang="en-US" sz="1600" dirty="0"/>
          </a:p>
        </p:txBody>
      </p:sp>
      <p:sp>
        <p:nvSpPr>
          <p:cNvPr id="8" name="Shape 6"/>
          <p:cNvSpPr/>
          <p:nvPr/>
        </p:nvSpPr>
        <p:spPr>
          <a:xfrm>
            <a:off x="3108960" y="2706624"/>
            <a:ext cx="737616" cy="173736"/>
          </a:xfrm>
          <a:prstGeom prst="rect">
            <a:avLst/>
          </a:prstGeom>
          <a:solidFill>
            <a:srgbClr val="BDC3BA"/>
          </a:solidFill>
          <a:ln w="12700">
            <a:solidFill>
              <a:srgbClr val="BDC3BA"/>
            </a:solidFill>
            <a:prstDash val="solid"/>
          </a:ln>
        </p:spPr>
      </p:sp>
      <p:sp>
        <p:nvSpPr>
          <p:cNvPr id="9" name="Text 7"/>
          <p:cNvSpPr txBox="1"/>
          <p:nvPr/>
        </p:nvSpPr>
        <p:spPr>
          <a:xfrm>
            <a:off x="5166360" y="2624328"/>
            <a:ext cx="868680" cy="329184"/>
          </a:xfrm>
          <a:prstGeom prst="rect">
            <a:avLst/>
          </a:prstGeom>
          <a:noFill/>
          <a:ln/>
        </p:spPr>
        <p:txBody>
          <a:bodyPr wrap="square" lIns="0" tIns="0" rIns="0" bIns="0" rtlCol="0" anchor="ctr"/>
          <a:lstStyle/>
          <a:p>
            <a:pPr algn="r" indent="0" marL="0">
              <a:buNone/>
            </a:pPr>
            <a:r>
              <a:rPr lang="en-US" sz="1600" b="1" dirty="0">
                <a:solidFill>
                  <a:srgbClr val="15201A"/>
                </a:solidFill>
                <a:latin typeface="Schibsted Grotesk" pitchFamily="34" charset="0"/>
                <a:ea typeface="Schibsted Grotesk" pitchFamily="34" charset="-122"/>
                <a:cs typeface="Schibsted Grotesk" pitchFamily="34" charset="-120"/>
              </a:rPr>
              <a:t>$1,100</a:t>
            </a:r>
            <a:endParaRPr lang="en-US" sz="1600" dirty="0"/>
          </a:p>
        </p:txBody>
      </p:sp>
      <p:sp>
        <p:nvSpPr>
          <p:cNvPr id="10" name="Text 8"/>
          <p:cNvSpPr txBox="1"/>
          <p:nvPr/>
        </p:nvSpPr>
        <p:spPr>
          <a:xfrm>
            <a:off x="685800" y="2990088"/>
            <a:ext cx="2331720" cy="329184"/>
          </a:xfrm>
          <a:prstGeom prst="rect">
            <a:avLst/>
          </a:prstGeom>
          <a:noFill/>
          <a:ln/>
        </p:spPr>
        <p:txBody>
          <a:bodyPr wrap="square" lIns="0" tIns="0" rIns="0" bIns="0" rtlCol="0" anchor="ctr"/>
          <a:lstStyle/>
          <a:p>
            <a:pPr indent="0" marL="0">
              <a:buNone/>
            </a:pPr>
            <a:r>
              <a:rPr lang="en-US" sz="1600" dirty="0">
                <a:solidFill>
                  <a:srgbClr val="15201A"/>
                </a:solidFill>
                <a:latin typeface="Schibsted Grotesk" pitchFamily="34" charset="0"/>
                <a:ea typeface="Schibsted Grotesk" pitchFamily="34" charset="-122"/>
                <a:cs typeface="Schibsted Grotesk" pitchFamily="34" charset="-120"/>
              </a:rPr>
              <a:t>Food stock</a:t>
            </a:r>
            <a:endParaRPr lang="en-US" sz="1600" dirty="0"/>
          </a:p>
        </p:txBody>
      </p:sp>
      <p:sp>
        <p:nvSpPr>
          <p:cNvPr id="11" name="Shape 9"/>
          <p:cNvSpPr/>
          <p:nvPr/>
        </p:nvSpPr>
        <p:spPr>
          <a:xfrm>
            <a:off x="3108960" y="3072384"/>
            <a:ext cx="704088" cy="173736"/>
          </a:xfrm>
          <a:prstGeom prst="rect">
            <a:avLst/>
          </a:prstGeom>
          <a:solidFill>
            <a:srgbClr val="BDC3BA"/>
          </a:solidFill>
          <a:ln w="12700">
            <a:solidFill>
              <a:srgbClr val="BDC3BA"/>
            </a:solidFill>
            <a:prstDash val="solid"/>
          </a:ln>
        </p:spPr>
      </p:sp>
      <p:sp>
        <p:nvSpPr>
          <p:cNvPr id="12" name="Text 10"/>
          <p:cNvSpPr txBox="1"/>
          <p:nvPr/>
        </p:nvSpPr>
        <p:spPr>
          <a:xfrm>
            <a:off x="5166360" y="2990088"/>
            <a:ext cx="868680" cy="329184"/>
          </a:xfrm>
          <a:prstGeom prst="rect">
            <a:avLst/>
          </a:prstGeom>
          <a:noFill/>
          <a:ln/>
        </p:spPr>
        <p:txBody>
          <a:bodyPr wrap="square" lIns="0" tIns="0" rIns="0" bIns="0" rtlCol="0" anchor="ctr"/>
          <a:lstStyle/>
          <a:p>
            <a:pPr algn="r" indent="0" marL="0">
              <a:buNone/>
            </a:pPr>
            <a:r>
              <a:rPr lang="en-US" sz="1600" b="1" dirty="0">
                <a:solidFill>
                  <a:srgbClr val="15201A"/>
                </a:solidFill>
                <a:latin typeface="Schibsted Grotesk" pitchFamily="34" charset="0"/>
                <a:ea typeface="Schibsted Grotesk" pitchFamily="34" charset="-122"/>
                <a:cs typeface="Schibsted Grotesk" pitchFamily="34" charset="-120"/>
              </a:rPr>
              <a:t>$1,050</a:t>
            </a:r>
            <a:endParaRPr lang="en-US" sz="1600" dirty="0"/>
          </a:p>
        </p:txBody>
      </p:sp>
      <p:sp>
        <p:nvSpPr>
          <p:cNvPr id="13" name="Text 11"/>
          <p:cNvSpPr txBox="1"/>
          <p:nvPr/>
        </p:nvSpPr>
        <p:spPr>
          <a:xfrm>
            <a:off x="685800" y="3355848"/>
            <a:ext cx="2331720" cy="329184"/>
          </a:xfrm>
          <a:prstGeom prst="rect">
            <a:avLst/>
          </a:prstGeom>
          <a:noFill/>
          <a:ln/>
        </p:spPr>
        <p:txBody>
          <a:bodyPr wrap="square" lIns="0" tIns="0" rIns="0" bIns="0" rtlCol="0" anchor="ctr"/>
          <a:lstStyle/>
          <a:p>
            <a:pPr indent="0" marL="0">
              <a:buNone/>
            </a:pPr>
            <a:r>
              <a:rPr lang="en-US" sz="1600" dirty="0">
                <a:solidFill>
                  <a:srgbClr val="15201A"/>
                </a:solidFill>
                <a:latin typeface="Schibsted Grotesk" pitchFamily="34" charset="0"/>
                <a:ea typeface="Schibsted Grotesk" pitchFamily="34" charset="-122"/>
                <a:cs typeface="Schibsted Grotesk" pitchFamily="34" charset="-120"/>
              </a:rPr>
              <a:t>Contingency</a:t>
            </a:r>
            <a:endParaRPr lang="en-US" sz="1600" dirty="0"/>
          </a:p>
        </p:txBody>
      </p:sp>
      <p:sp>
        <p:nvSpPr>
          <p:cNvPr id="14" name="Shape 12"/>
          <p:cNvSpPr/>
          <p:nvPr/>
        </p:nvSpPr>
        <p:spPr>
          <a:xfrm>
            <a:off x="3108960" y="3438144"/>
            <a:ext cx="402336" cy="173736"/>
          </a:xfrm>
          <a:prstGeom prst="rect">
            <a:avLst/>
          </a:prstGeom>
          <a:solidFill>
            <a:srgbClr val="BDC3BA"/>
          </a:solidFill>
          <a:ln w="12700">
            <a:solidFill>
              <a:srgbClr val="BDC3BA"/>
            </a:solidFill>
            <a:prstDash val="solid"/>
          </a:ln>
        </p:spPr>
      </p:sp>
      <p:sp>
        <p:nvSpPr>
          <p:cNvPr id="15" name="Text 13"/>
          <p:cNvSpPr txBox="1"/>
          <p:nvPr/>
        </p:nvSpPr>
        <p:spPr>
          <a:xfrm>
            <a:off x="5166360" y="3355848"/>
            <a:ext cx="868680" cy="329184"/>
          </a:xfrm>
          <a:prstGeom prst="rect">
            <a:avLst/>
          </a:prstGeom>
          <a:noFill/>
          <a:ln/>
        </p:spPr>
        <p:txBody>
          <a:bodyPr wrap="square" lIns="0" tIns="0" rIns="0" bIns="0" rtlCol="0" anchor="ctr"/>
          <a:lstStyle/>
          <a:p>
            <a:pPr algn="r" indent="0" marL="0">
              <a:buNone/>
            </a:pPr>
            <a:r>
              <a:rPr lang="en-US" sz="1600" b="1" dirty="0">
                <a:solidFill>
                  <a:srgbClr val="15201A"/>
                </a:solidFill>
                <a:latin typeface="Schibsted Grotesk" pitchFamily="34" charset="0"/>
                <a:ea typeface="Schibsted Grotesk" pitchFamily="34" charset="-122"/>
                <a:cs typeface="Schibsted Grotesk" pitchFamily="34" charset="-120"/>
              </a:rPr>
              <a:t>$600</a:t>
            </a:r>
            <a:endParaRPr lang="en-US" sz="1600" dirty="0"/>
          </a:p>
        </p:txBody>
      </p:sp>
      <p:sp>
        <p:nvSpPr>
          <p:cNvPr id="16" name="Text 14"/>
          <p:cNvSpPr txBox="1"/>
          <p:nvPr/>
        </p:nvSpPr>
        <p:spPr>
          <a:xfrm>
            <a:off x="685800" y="3721608"/>
            <a:ext cx="2331720" cy="329184"/>
          </a:xfrm>
          <a:prstGeom prst="rect">
            <a:avLst/>
          </a:prstGeom>
          <a:noFill/>
          <a:ln/>
        </p:spPr>
        <p:txBody>
          <a:bodyPr wrap="square" lIns="0" tIns="0" rIns="0" bIns="0" rtlCol="0" anchor="ctr"/>
          <a:lstStyle/>
          <a:p>
            <a:pPr indent="0" marL="0">
              <a:buNone/>
            </a:pPr>
            <a:r>
              <a:rPr lang="en-US" sz="1600" dirty="0">
                <a:solidFill>
                  <a:srgbClr val="15201A"/>
                </a:solidFill>
                <a:latin typeface="Schibsted Grotesk" pitchFamily="34" charset="0"/>
                <a:ea typeface="Schibsted Grotesk" pitchFamily="34" charset="-122"/>
                <a:cs typeface="Schibsted Grotesk" pitchFamily="34" charset="-120"/>
              </a:rPr>
              <a:t>Promotion</a:t>
            </a:r>
            <a:endParaRPr lang="en-US" sz="1600" dirty="0"/>
          </a:p>
        </p:txBody>
      </p:sp>
      <p:sp>
        <p:nvSpPr>
          <p:cNvPr id="17" name="Shape 15"/>
          <p:cNvSpPr/>
          <p:nvPr/>
        </p:nvSpPr>
        <p:spPr>
          <a:xfrm>
            <a:off x="3108960" y="3803904"/>
            <a:ext cx="335280" cy="173736"/>
          </a:xfrm>
          <a:prstGeom prst="rect">
            <a:avLst/>
          </a:prstGeom>
          <a:solidFill>
            <a:srgbClr val="BDC3BA"/>
          </a:solidFill>
          <a:ln w="12700">
            <a:solidFill>
              <a:srgbClr val="BDC3BA"/>
            </a:solidFill>
            <a:prstDash val="solid"/>
          </a:ln>
        </p:spPr>
      </p:sp>
      <p:sp>
        <p:nvSpPr>
          <p:cNvPr id="18" name="Text 16"/>
          <p:cNvSpPr txBox="1"/>
          <p:nvPr/>
        </p:nvSpPr>
        <p:spPr>
          <a:xfrm>
            <a:off x="5166360" y="3721608"/>
            <a:ext cx="868680" cy="329184"/>
          </a:xfrm>
          <a:prstGeom prst="rect">
            <a:avLst/>
          </a:prstGeom>
          <a:noFill/>
          <a:ln/>
        </p:spPr>
        <p:txBody>
          <a:bodyPr wrap="square" lIns="0" tIns="0" rIns="0" bIns="0" rtlCol="0" anchor="ctr"/>
          <a:lstStyle/>
          <a:p>
            <a:pPr algn="r" indent="0" marL="0">
              <a:buNone/>
            </a:pPr>
            <a:r>
              <a:rPr lang="en-US" sz="1600" b="1" dirty="0">
                <a:solidFill>
                  <a:srgbClr val="15201A"/>
                </a:solidFill>
                <a:latin typeface="Schibsted Grotesk" pitchFamily="34" charset="0"/>
                <a:ea typeface="Schibsted Grotesk" pitchFamily="34" charset="-122"/>
                <a:cs typeface="Schibsted Grotesk" pitchFamily="34" charset="-120"/>
              </a:rPr>
              <a:t>$500</a:t>
            </a:r>
            <a:endParaRPr lang="en-US" sz="1600" dirty="0"/>
          </a:p>
        </p:txBody>
      </p:sp>
      <p:sp>
        <p:nvSpPr>
          <p:cNvPr id="19" name="Text 17"/>
          <p:cNvSpPr txBox="1"/>
          <p:nvPr/>
        </p:nvSpPr>
        <p:spPr>
          <a:xfrm>
            <a:off x="685800" y="4087368"/>
            <a:ext cx="2331720" cy="329184"/>
          </a:xfrm>
          <a:prstGeom prst="rect">
            <a:avLst/>
          </a:prstGeom>
          <a:noFill/>
          <a:ln/>
        </p:spPr>
        <p:txBody>
          <a:bodyPr wrap="square" lIns="0" tIns="0" rIns="0" bIns="0" rtlCol="0" anchor="ctr"/>
          <a:lstStyle/>
          <a:p>
            <a:pPr indent="0" marL="0">
              <a:buNone/>
            </a:pPr>
            <a:r>
              <a:rPr lang="en-US" sz="1600" dirty="0">
                <a:solidFill>
                  <a:srgbClr val="15201A"/>
                </a:solidFill>
                <a:latin typeface="Schibsted Grotesk" pitchFamily="34" charset="0"/>
                <a:ea typeface="Schibsted Grotesk" pitchFamily="34" charset="-122"/>
                <a:cs typeface="Schibsted Grotesk" pitchFamily="34" charset="-120"/>
              </a:rPr>
              <a:t>Hygiene items</a:t>
            </a:r>
            <a:endParaRPr lang="en-US" sz="1600" dirty="0"/>
          </a:p>
        </p:txBody>
      </p:sp>
      <p:sp>
        <p:nvSpPr>
          <p:cNvPr id="20" name="Shape 18"/>
          <p:cNvSpPr/>
          <p:nvPr/>
        </p:nvSpPr>
        <p:spPr>
          <a:xfrm>
            <a:off x="3108960" y="4169664"/>
            <a:ext cx="268224" cy="173736"/>
          </a:xfrm>
          <a:prstGeom prst="rect">
            <a:avLst/>
          </a:prstGeom>
          <a:solidFill>
            <a:srgbClr val="BDC3BA"/>
          </a:solidFill>
          <a:ln w="12700">
            <a:solidFill>
              <a:srgbClr val="BDC3BA"/>
            </a:solidFill>
            <a:prstDash val="solid"/>
          </a:ln>
        </p:spPr>
      </p:sp>
      <p:sp>
        <p:nvSpPr>
          <p:cNvPr id="21" name="Text 19"/>
          <p:cNvSpPr txBox="1"/>
          <p:nvPr/>
        </p:nvSpPr>
        <p:spPr>
          <a:xfrm>
            <a:off x="5166360" y="4087368"/>
            <a:ext cx="868680" cy="329184"/>
          </a:xfrm>
          <a:prstGeom prst="rect">
            <a:avLst/>
          </a:prstGeom>
          <a:noFill/>
          <a:ln/>
        </p:spPr>
        <p:txBody>
          <a:bodyPr wrap="square" lIns="0" tIns="0" rIns="0" bIns="0" rtlCol="0" anchor="ctr"/>
          <a:lstStyle/>
          <a:p>
            <a:pPr algn="r" indent="0" marL="0">
              <a:buNone/>
            </a:pPr>
            <a:r>
              <a:rPr lang="en-US" sz="1600" b="1" dirty="0">
                <a:solidFill>
                  <a:srgbClr val="15201A"/>
                </a:solidFill>
                <a:latin typeface="Schibsted Grotesk" pitchFamily="34" charset="0"/>
                <a:ea typeface="Schibsted Grotesk" pitchFamily="34" charset="-122"/>
                <a:cs typeface="Schibsted Grotesk" pitchFamily="34" charset="-120"/>
              </a:rPr>
              <a:t>$400</a:t>
            </a:r>
            <a:endParaRPr lang="en-US" sz="1600" dirty="0"/>
          </a:p>
        </p:txBody>
      </p:sp>
      <p:sp>
        <p:nvSpPr>
          <p:cNvPr id="22" name="Text 20"/>
          <p:cNvSpPr txBox="1"/>
          <p:nvPr/>
        </p:nvSpPr>
        <p:spPr>
          <a:xfrm>
            <a:off x="685800" y="4453128"/>
            <a:ext cx="2331720" cy="329184"/>
          </a:xfrm>
          <a:prstGeom prst="rect">
            <a:avLst/>
          </a:prstGeom>
          <a:noFill/>
          <a:ln/>
        </p:spPr>
        <p:txBody>
          <a:bodyPr wrap="square" lIns="0" tIns="0" rIns="0" bIns="0" rtlCol="0" anchor="ctr"/>
          <a:lstStyle/>
          <a:p>
            <a:pPr indent="0" marL="0">
              <a:buNone/>
            </a:pPr>
            <a:r>
              <a:rPr lang="en-US" sz="1600" dirty="0">
                <a:solidFill>
                  <a:srgbClr val="15201A"/>
                </a:solidFill>
                <a:latin typeface="Schibsted Grotesk" pitchFamily="34" charset="0"/>
                <a:ea typeface="Schibsted Grotesk" pitchFamily="34" charset="-122"/>
                <a:cs typeface="Schibsted Grotesk" pitchFamily="34" charset="-120"/>
              </a:rPr>
              <a:t>Volunteer training</a:t>
            </a:r>
            <a:endParaRPr lang="en-US" sz="1600" dirty="0"/>
          </a:p>
        </p:txBody>
      </p:sp>
      <p:sp>
        <p:nvSpPr>
          <p:cNvPr id="23" name="Shape 21"/>
          <p:cNvSpPr/>
          <p:nvPr/>
        </p:nvSpPr>
        <p:spPr>
          <a:xfrm>
            <a:off x="3108960" y="4535424"/>
            <a:ext cx="134112" cy="173736"/>
          </a:xfrm>
          <a:prstGeom prst="rect">
            <a:avLst/>
          </a:prstGeom>
          <a:solidFill>
            <a:srgbClr val="BDC3BA"/>
          </a:solidFill>
          <a:ln w="12700">
            <a:solidFill>
              <a:srgbClr val="BDC3BA"/>
            </a:solidFill>
            <a:prstDash val="solid"/>
          </a:ln>
        </p:spPr>
      </p:sp>
      <p:sp>
        <p:nvSpPr>
          <p:cNvPr id="24" name="Text 22"/>
          <p:cNvSpPr txBox="1"/>
          <p:nvPr/>
        </p:nvSpPr>
        <p:spPr>
          <a:xfrm>
            <a:off x="5166360" y="4453128"/>
            <a:ext cx="868680" cy="329184"/>
          </a:xfrm>
          <a:prstGeom prst="rect">
            <a:avLst/>
          </a:prstGeom>
          <a:noFill/>
          <a:ln/>
        </p:spPr>
        <p:txBody>
          <a:bodyPr wrap="square" lIns="0" tIns="0" rIns="0" bIns="0" rtlCol="0" anchor="ctr"/>
          <a:lstStyle/>
          <a:p>
            <a:pPr algn="r" indent="0" marL="0">
              <a:buNone/>
            </a:pPr>
            <a:r>
              <a:rPr lang="en-US" sz="1600" b="1" dirty="0">
                <a:solidFill>
                  <a:srgbClr val="15201A"/>
                </a:solidFill>
                <a:latin typeface="Schibsted Grotesk" pitchFamily="34" charset="0"/>
                <a:ea typeface="Schibsted Grotesk" pitchFamily="34" charset="-122"/>
                <a:cs typeface="Schibsted Grotesk" pitchFamily="34" charset="-120"/>
              </a:rPr>
              <a:t>$200</a:t>
            </a:r>
            <a:endParaRPr lang="en-US" sz="1600" dirty="0"/>
          </a:p>
        </p:txBody>
      </p:sp>
      <p:sp>
        <p:nvSpPr>
          <p:cNvPr id="25" name="Text 23"/>
          <p:cNvSpPr txBox="1"/>
          <p:nvPr/>
        </p:nvSpPr>
        <p:spPr>
          <a:xfrm>
            <a:off x="685800" y="4818888"/>
            <a:ext cx="2331720" cy="329184"/>
          </a:xfrm>
          <a:prstGeom prst="rect">
            <a:avLst/>
          </a:prstGeom>
          <a:noFill/>
          <a:ln/>
        </p:spPr>
        <p:txBody>
          <a:bodyPr wrap="square" lIns="0" tIns="0" rIns="0" bIns="0" rtlCol="0" anchor="ctr"/>
          <a:lstStyle/>
          <a:p>
            <a:pPr indent="0" marL="0">
              <a:buNone/>
            </a:pPr>
            <a:r>
              <a:rPr lang="en-US" sz="1600" dirty="0">
                <a:solidFill>
                  <a:srgbClr val="15201A"/>
                </a:solidFill>
                <a:latin typeface="Schibsted Grotesk" pitchFamily="34" charset="0"/>
                <a:ea typeface="Schibsted Grotesk" pitchFamily="34" charset="-122"/>
                <a:cs typeface="Schibsted Grotesk" pitchFamily="34" charset="-120"/>
              </a:rPr>
              <a:t>Hosting</a:t>
            </a:r>
            <a:endParaRPr lang="en-US" sz="1600" dirty="0"/>
          </a:p>
        </p:txBody>
      </p:sp>
      <p:sp>
        <p:nvSpPr>
          <p:cNvPr id="26" name="Shape 24"/>
          <p:cNvSpPr/>
          <p:nvPr/>
        </p:nvSpPr>
        <p:spPr>
          <a:xfrm>
            <a:off x="3108960" y="4901184"/>
            <a:ext cx="45720" cy="173736"/>
          </a:xfrm>
          <a:prstGeom prst="rect">
            <a:avLst/>
          </a:prstGeom>
          <a:solidFill>
            <a:srgbClr val="BDC3BA"/>
          </a:solidFill>
          <a:ln w="12700">
            <a:solidFill>
              <a:srgbClr val="BDC3BA"/>
            </a:solidFill>
            <a:prstDash val="solid"/>
          </a:ln>
        </p:spPr>
      </p:sp>
      <p:sp>
        <p:nvSpPr>
          <p:cNvPr id="27" name="Text 25"/>
          <p:cNvSpPr txBox="1"/>
          <p:nvPr/>
        </p:nvSpPr>
        <p:spPr>
          <a:xfrm>
            <a:off x="5166360" y="4818888"/>
            <a:ext cx="868680" cy="329184"/>
          </a:xfrm>
          <a:prstGeom prst="rect">
            <a:avLst/>
          </a:prstGeom>
          <a:noFill/>
          <a:ln/>
        </p:spPr>
        <p:txBody>
          <a:bodyPr wrap="square" lIns="0" tIns="0" rIns="0" bIns="0" rtlCol="0" anchor="ctr"/>
          <a:lstStyle/>
          <a:p>
            <a:pPr algn="r" indent="0" marL="0">
              <a:buNone/>
            </a:pPr>
            <a:r>
              <a:rPr lang="en-US" sz="1600" b="1" dirty="0">
                <a:solidFill>
                  <a:srgbClr val="15201A"/>
                </a:solidFill>
                <a:latin typeface="Schibsted Grotesk" pitchFamily="34" charset="0"/>
                <a:ea typeface="Schibsted Grotesk" pitchFamily="34" charset="-122"/>
                <a:cs typeface="Schibsted Grotesk" pitchFamily="34" charset="-120"/>
              </a:rPr>
              <a:t>$50</a:t>
            </a:r>
            <a:endParaRPr lang="en-US" sz="1600" dirty="0"/>
          </a:p>
        </p:txBody>
      </p:sp>
      <p:sp>
        <p:nvSpPr>
          <p:cNvPr id="28" name="Shape 26"/>
          <p:cNvSpPr/>
          <p:nvPr/>
        </p:nvSpPr>
        <p:spPr>
          <a:xfrm>
            <a:off x="685800" y="5257800"/>
            <a:ext cx="5349240" cy="0"/>
          </a:xfrm>
          <a:prstGeom prst="line">
            <a:avLst/>
          </a:prstGeom>
          <a:noFill/>
          <a:ln w="15875">
            <a:solidFill>
              <a:srgbClr val="15201A"/>
            </a:solidFill>
            <a:prstDash val="solid"/>
          </a:ln>
        </p:spPr>
      </p:sp>
      <p:sp>
        <p:nvSpPr>
          <p:cNvPr id="29" name="Text 27"/>
          <p:cNvSpPr txBox="1"/>
          <p:nvPr/>
        </p:nvSpPr>
        <p:spPr>
          <a:xfrm>
            <a:off x="685800" y="5330952"/>
            <a:ext cx="1828800" cy="438912"/>
          </a:xfrm>
          <a:prstGeom prst="rect">
            <a:avLst/>
          </a:prstGeom>
          <a:noFill/>
          <a:ln/>
        </p:spPr>
        <p:txBody>
          <a:bodyPr wrap="square" lIns="0" tIns="0" rIns="0" bIns="0" rtlCol="0" anchor="ctr"/>
          <a:lstStyle/>
          <a:p>
            <a:pPr indent="0" marL="0">
              <a:buNone/>
            </a:pPr>
            <a:r>
              <a:rPr lang="en-US" sz="1800" b="1" dirty="0">
                <a:solidFill>
                  <a:srgbClr val="15201A"/>
                </a:solidFill>
                <a:latin typeface="Schibsted Grotesk" pitchFamily="34" charset="0"/>
                <a:ea typeface="Schibsted Grotesk" pitchFamily="34" charset="-122"/>
                <a:cs typeface="Schibsted Grotesk" pitchFamily="34" charset="-120"/>
              </a:rPr>
              <a:t>Total</a:t>
            </a:r>
            <a:endParaRPr lang="en-US" sz="1800" dirty="0"/>
          </a:p>
        </p:txBody>
      </p:sp>
      <p:sp>
        <p:nvSpPr>
          <p:cNvPr id="30" name="Text 28"/>
          <p:cNvSpPr txBox="1"/>
          <p:nvPr/>
        </p:nvSpPr>
        <p:spPr>
          <a:xfrm>
            <a:off x="4023360" y="5294376"/>
            <a:ext cx="2011680" cy="512064"/>
          </a:xfrm>
          <a:prstGeom prst="rect">
            <a:avLst/>
          </a:prstGeom>
          <a:noFill/>
          <a:ln/>
        </p:spPr>
        <p:txBody>
          <a:bodyPr wrap="square" lIns="0" tIns="0" rIns="0" bIns="0" rtlCol="0" anchor="ctr"/>
          <a:lstStyle/>
          <a:p>
            <a:pPr algn="r" indent="0" marL="0">
              <a:buNone/>
            </a:pPr>
            <a:r>
              <a:rPr lang="en-US" sz="2800" b="1" dirty="0">
                <a:solidFill>
                  <a:srgbClr val="15201A"/>
                </a:solidFill>
                <a:latin typeface="Schibsted Grotesk" pitchFamily="34" charset="0"/>
                <a:ea typeface="Schibsted Grotesk" pitchFamily="34" charset="-122"/>
                <a:cs typeface="Schibsted Grotesk" pitchFamily="34" charset="-120"/>
              </a:rPr>
              <a:t>$6,900</a:t>
            </a:r>
            <a:endParaRPr lang="en-US" sz="2800" dirty="0"/>
          </a:p>
        </p:txBody>
      </p:sp>
      <p:sp>
        <p:nvSpPr>
          <p:cNvPr id="31" name="Shape 29"/>
          <p:cNvSpPr/>
          <p:nvPr/>
        </p:nvSpPr>
        <p:spPr>
          <a:xfrm>
            <a:off x="6438748" y="1874520"/>
            <a:ext cx="5067148" cy="3840480"/>
          </a:xfrm>
          <a:prstGeom prst="rect">
            <a:avLst/>
          </a:prstGeom>
          <a:solidFill>
            <a:srgbClr val="FFFFFF"/>
          </a:solidFill>
          <a:ln w="9525">
            <a:solidFill>
              <a:srgbClr val="D9D4C7"/>
            </a:solidFill>
            <a:prstDash val="solid"/>
          </a:ln>
        </p:spPr>
      </p:sp>
      <p:sp>
        <p:nvSpPr>
          <p:cNvPr id="32" name="Text 30"/>
          <p:cNvSpPr txBox="1"/>
          <p:nvPr/>
        </p:nvSpPr>
        <p:spPr>
          <a:xfrm>
            <a:off x="6713068" y="2148840"/>
            <a:ext cx="4518508" cy="365760"/>
          </a:xfrm>
          <a:prstGeom prst="rect">
            <a:avLst/>
          </a:prstGeom>
          <a:noFill/>
          <a:ln/>
        </p:spPr>
        <p:txBody>
          <a:bodyPr wrap="square" lIns="0" tIns="0" rIns="0" bIns="0" rtlCol="0" anchor="t"/>
          <a:lstStyle/>
          <a:p>
            <a:pPr indent="0" marL="0">
              <a:buNone/>
            </a:pPr>
            <a:r>
              <a:rPr lang="en-US" sz="1900" b="1" dirty="0">
                <a:solidFill>
                  <a:srgbClr val="15201A"/>
                </a:solidFill>
                <a:latin typeface="Schibsted Grotesk" pitchFamily="34" charset="0"/>
                <a:ea typeface="Schibsted Grotesk" pitchFamily="34" charset="-122"/>
                <a:cs typeface="Schibsted Grotesk" pitchFamily="34" charset="-120"/>
              </a:rPr>
              <a:t>Who pays for it</a:t>
            </a:r>
            <a:endParaRPr lang="en-US" sz="1900" dirty="0"/>
          </a:p>
        </p:txBody>
      </p:sp>
      <p:sp>
        <p:nvSpPr>
          <p:cNvPr id="33" name="Shape 31"/>
          <p:cNvSpPr/>
          <p:nvPr/>
        </p:nvSpPr>
        <p:spPr>
          <a:xfrm>
            <a:off x="6713068" y="2606040"/>
            <a:ext cx="4518508" cy="0"/>
          </a:xfrm>
          <a:prstGeom prst="line">
            <a:avLst/>
          </a:prstGeom>
          <a:noFill/>
          <a:ln w="9525">
            <a:solidFill>
              <a:srgbClr val="D9D4C7"/>
            </a:solidFill>
            <a:prstDash val="solid"/>
          </a:ln>
        </p:spPr>
      </p:sp>
      <p:sp>
        <p:nvSpPr>
          <p:cNvPr id="34" name="Text 32"/>
          <p:cNvSpPr txBox="1"/>
          <p:nvPr/>
        </p:nvSpPr>
        <p:spPr>
          <a:xfrm>
            <a:off x="6713068" y="2715768"/>
            <a:ext cx="4518508" cy="274320"/>
          </a:xfrm>
          <a:prstGeom prst="rect">
            <a:avLst/>
          </a:prstGeom>
          <a:noFill/>
          <a:ln/>
        </p:spPr>
        <p:txBody>
          <a:bodyPr wrap="square" lIns="0" tIns="0" rIns="0" bIns="0" rtlCol="0" anchor="t"/>
          <a:lstStyle/>
          <a:p>
            <a:pPr indent="0" marL="0">
              <a:buNone/>
            </a:pPr>
            <a:r>
              <a:rPr lang="en-US" sz="1600" b="1" dirty="0">
                <a:solidFill>
                  <a:srgbClr val="1D5E40"/>
                </a:solidFill>
                <a:latin typeface="Schibsted Grotesk" pitchFamily="34" charset="0"/>
                <a:ea typeface="Schibsted Grotesk" pitchFamily="34" charset="-122"/>
                <a:cs typeface="Schibsted Grotesk" pitchFamily="34" charset="-120"/>
              </a:rPr>
              <a:t>Student Life budget: $4,900</a:t>
            </a:r>
            <a:endParaRPr lang="en-US" sz="1600" dirty="0"/>
          </a:p>
        </p:txBody>
      </p:sp>
      <p:sp>
        <p:nvSpPr>
          <p:cNvPr id="35" name="Text 33"/>
          <p:cNvSpPr txBox="1"/>
          <p:nvPr/>
        </p:nvSpPr>
        <p:spPr>
          <a:xfrm>
            <a:off x="6713068" y="3008376"/>
            <a:ext cx="4518508" cy="310896"/>
          </a:xfrm>
          <a:prstGeom prst="rect">
            <a:avLst/>
          </a:prstGeom>
          <a:noFill/>
          <a:ln/>
        </p:spPr>
        <p:txBody>
          <a:bodyPr wrap="square" lIns="0" tIns="0" rIns="0" bIns="0" rtlCol="0" anchor="t"/>
          <a:lstStyle/>
          <a:p>
            <a:pPr indent="0" marL="0">
              <a:buNone/>
            </a:pPr>
            <a:r>
              <a:rPr lang="en-US" sz="1600" dirty="0">
                <a:solidFill>
                  <a:srgbClr val="15201A"/>
                </a:solidFill>
                <a:latin typeface="Schibsted Grotesk" pitchFamily="34" charset="0"/>
                <a:ea typeface="Schibsted Grotesk" pitchFamily="34" charset="-122"/>
                <a:cs typeface="Schibsted Grotesk" pitchFamily="34" charset="-120"/>
              </a:rPr>
              <a:t>The Student Life fee funds all USC programs.</a:t>
            </a:r>
            <a:endParaRPr lang="en-US" sz="1600" dirty="0"/>
          </a:p>
        </p:txBody>
      </p:sp>
      <p:sp>
        <p:nvSpPr>
          <p:cNvPr id="36" name="Shape 34"/>
          <p:cNvSpPr/>
          <p:nvPr/>
        </p:nvSpPr>
        <p:spPr>
          <a:xfrm>
            <a:off x="6713068" y="3337560"/>
            <a:ext cx="4518508" cy="0"/>
          </a:xfrm>
          <a:prstGeom prst="line">
            <a:avLst/>
          </a:prstGeom>
          <a:noFill/>
          <a:ln w="9525">
            <a:solidFill>
              <a:srgbClr val="D9D4C7"/>
            </a:solidFill>
            <a:prstDash val="solid"/>
          </a:ln>
        </p:spPr>
      </p:sp>
      <p:sp>
        <p:nvSpPr>
          <p:cNvPr id="37" name="Text 35"/>
          <p:cNvSpPr txBox="1"/>
          <p:nvPr/>
        </p:nvSpPr>
        <p:spPr>
          <a:xfrm>
            <a:off x="6713068" y="3447288"/>
            <a:ext cx="4518508" cy="274320"/>
          </a:xfrm>
          <a:prstGeom prst="rect">
            <a:avLst/>
          </a:prstGeom>
          <a:noFill/>
          <a:ln/>
        </p:spPr>
        <p:txBody>
          <a:bodyPr wrap="square" lIns="0" tIns="0" rIns="0" bIns="0" rtlCol="0" anchor="t"/>
          <a:lstStyle/>
          <a:p>
            <a:pPr indent="0" marL="0">
              <a:buNone/>
            </a:pPr>
            <a:r>
              <a:rPr lang="en-US" sz="1600" b="1" dirty="0">
                <a:solidFill>
                  <a:srgbClr val="1D5E40"/>
                </a:solidFill>
                <a:latin typeface="Schibsted Grotesk" pitchFamily="34" charset="0"/>
                <a:ea typeface="Schibsted Grotesk" pitchFamily="34" charset="-122"/>
                <a:cs typeface="Schibsted Grotesk" pitchFamily="34" charset="-120"/>
              </a:rPr>
              <a:t>Host councils: $1,000</a:t>
            </a:r>
            <a:endParaRPr lang="en-US" sz="1600" dirty="0"/>
          </a:p>
        </p:txBody>
      </p:sp>
      <p:sp>
        <p:nvSpPr>
          <p:cNvPr id="38" name="Text 36"/>
          <p:cNvSpPr txBox="1"/>
          <p:nvPr/>
        </p:nvSpPr>
        <p:spPr>
          <a:xfrm>
            <a:off x="6713068" y="3739896"/>
            <a:ext cx="4518508" cy="310896"/>
          </a:xfrm>
          <a:prstGeom prst="rect">
            <a:avLst/>
          </a:prstGeom>
          <a:noFill/>
          <a:ln/>
        </p:spPr>
        <p:txBody>
          <a:bodyPr wrap="square" lIns="0" tIns="0" rIns="0" bIns="0" rtlCol="0" anchor="t"/>
          <a:lstStyle/>
          <a:p>
            <a:pPr indent="0" marL="0">
              <a:buNone/>
            </a:pPr>
            <a:r>
              <a:rPr lang="en-US" sz="1600" dirty="0">
                <a:solidFill>
                  <a:srgbClr val="15201A"/>
                </a:solidFill>
                <a:latin typeface="Schibsted Grotesk" pitchFamily="34" charset="0"/>
                <a:ea typeface="Schibsted Grotesk" pitchFamily="34" charset="-122"/>
                <a:cs typeface="Schibsted Grotesk" pitchFamily="34" charset="-120"/>
              </a:rPr>
              <a:t>$500 each, from their council grant.</a:t>
            </a:r>
            <a:endParaRPr lang="en-US" sz="1600" dirty="0"/>
          </a:p>
        </p:txBody>
      </p:sp>
      <p:sp>
        <p:nvSpPr>
          <p:cNvPr id="39" name="Shape 37"/>
          <p:cNvSpPr/>
          <p:nvPr/>
        </p:nvSpPr>
        <p:spPr>
          <a:xfrm>
            <a:off x="6713068" y="4069080"/>
            <a:ext cx="4518508" cy="0"/>
          </a:xfrm>
          <a:prstGeom prst="line">
            <a:avLst/>
          </a:prstGeom>
          <a:noFill/>
          <a:ln w="9525">
            <a:solidFill>
              <a:srgbClr val="D9D4C7"/>
            </a:solidFill>
            <a:prstDash val="solid"/>
          </a:ln>
        </p:spPr>
      </p:sp>
      <p:sp>
        <p:nvSpPr>
          <p:cNvPr id="40" name="Text 38"/>
          <p:cNvSpPr txBox="1"/>
          <p:nvPr/>
        </p:nvSpPr>
        <p:spPr>
          <a:xfrm>
            <a:off x="6713068" y="4178808"/>
            <a:ext cx="4518508" cy="274320"/>
          </a:xfrm>
          <a:prstGeom prst="rect">
            <a:avLst/>
          </a:prstGeom>
          <a:noFill/>
          <a:ln/>
        </p:spPr>
        <p:txBody>
          <a:bodyPr wrap="square" lIns="0" tIns="0" rIns="0" bIns="0" rtlCol="0" anchor="t"/>
          <a:lstStyle/>
          <a:p>
            <a:pPr indent="0" marL="0">
              <a:buNone/>
            </a:pPr>
            <a:r>
              <a:rPr lang="en-US" sz="1600" b="1" dirty="0">
                <a:solidFill>
                  <a:srgbClr val="1D5E40"/>
                </a:solidFill>
                <a:latin typeface="Schibsted Grotesk" pitchFamily="34" charset="0"/>
                <a:ea typeface="Schibsted Grotesk" pitchFamily="34" charset="-122"/>
                <a:cs typeface="Schibsted Grotesk" pitchFamily="34" charset="-120"/>
              </a:rPr>
              <a:t>UCC tenant sponsor: $1,000</a:t>
            </a:r>
            <a:endParaRPr lang="en-US" sz="1600" dirty="0"/>
          </a:p>
        </p:txBody>
      </p:sp>
      <p:sp>
        <p:nvSpPr>
          <p:cNvPr id="41" name="Text 39"/>
          <p:cNvSpPr txBox="1"/>
          <p:nvPr/>
        </p:nvSpPr>
        <p:spPr>
          <a:xfrm>
            <a:off x="6713068" y="4471416"/>
            <a:ext cx="4518508" cy="310896"/>
          </a:xfrm>
          <a:prstGeom prst="rect">
            <a:avLst/>
          </a:prstGeom>
          <a:noFill/>
          <a:ln/>
        </p:spPr>
        <p:txBody>
          <a:bodyPr wrap="square" lIns="0" tIns="0" rIns="0" bIns="0" rtlCol="0" anchor="t"/>
          <a:lstStyle/>
          <a:p>
            <a:pPr indent="0" marL="0">
              <a:buNone/>
            </a:pPr>
            <a:r>
              <a:rPr lang="en-US" sz="1600" dirty="0">
                <a:solidFill>
                  <a:srgbClr val="15201A"/>
                </a:solidFill>
                <a:latin typeface="Schibsted Grotesk" pitchFamily="34" charset="0"/>
                <a:ea typeface="Schibsted Grotesk" pitchFamily="34" charset="-122"/>
                <a:cs typeface="Schibsted Grotesk" pitchFamily="34" charset="-120"/>
              </a:rPr>
              <a:t>Shelf stock and hygiene items, to be agreed.</a:t>
            </a:r>
            <a:endParaRPr lang="en-US" sz="1600" dirty="0"/>
          </a:p>
        </p:txBody>
      </p:sp>
      <p:sp>
        <p:nvSpPr>
          <p:cNvPr id="42" name="Shape 40"/>
          <p:cNvSpPr/>
          <p:nvPr/>
        </p:nvSpPr>
        <p:spPr>
          <a:xfrm>
            <a:off x="6713068" y="4800600"/>
            <a:ext cx="4518508" cy="0"/>
          </a:xfrm>
          <a:prstGeom prst="line">
            <a:avLst/>
          </a:prstGeom>
          <a:noFill/>
          <a:ln w="9525">
            <a:solidFill>
              <a:srgbClr val="D9D4C7"/>
            </a:solidFill>
            <a:prstDash val="solid"/>
          </a:ln>
        </p:spPr>
      </p:sp>
      <p:sp>
        <p:nvSpPr>
          <p:cNvPr id="43" name="Text 41"/>
          <p:cNvSpPr txBox="1"/>
          <p:nvPr/>
        </p:nvSpPr>
        <p:spPr>
          <a:xfrm>
            <a:off x="6713068" y="4910328"/>
            <a:ext cx="4518508" cy="274320"/>
          </a:xfrm>
          <a:prstGeom prst="rect">
            <a:avLst/>
          </a:prstGeom>
          <a:noFill/>
          <a:ln/>
        </p:spPr>
        <p:txBody>
          <a:bodyPr wrap="square" lIns="0" tIns="0" rIns="0" bIns="0" rtlCol="0" anchor="t"/>
          <a:lstStyle/>
          <a:p>
            <a:pPr indent="0" marL="0">
              <a:buNone/>
            </a:pPr>
            <a:r>
              <a:rPr lang="en-US" sz="1600" b="1" dirty="0">
                <a:solidFill>
                  <a:srgbClr val="1D5E40"/>
                </a:solidFill>
                <a:latin typeface="Schibsted Grotesk" pitchFamily="34" charset="0"/>
                <a:ea typeface="Schibsted Grotesk" pitchFamily="34" charset="-122"/>
                <a:cs typeface="Schibsted Grotesk" pitchFamily="34" charset="-120"/>
              </a:rPr>
              <a:t>In kind</a:t>
            </a:r>
            <a:endParaRPr lang="en-US" sz="1600" dirty="0"/>
          </a:p>
        </p:txBody>
      </p:sp>
      <p:sp>
        <p:nvSpPr>
          <p:cNvPr id="44" name="Text 42"/>
          <p:cNvSpPr txBox="1"/>
          <p:nvPr/>
        </p:nvSpPr>
        <p:spPr>
          <a:xfrm>
            <a:off x="6713068" y="5202936"/>
            <a:ext cx="4518508" cy="310896"/>
          </a:xfrm>
          <a:prstGeom prst="rect">
            <a:avLst/>
          </a:prstGeom>
          <a:noFill/>
          <a:ln/>
        </p:spPr>
        <p:txBody>
          <a:bodyPr wrap="square" lIns="0" tIns="0" rIns="0" bIns="0" rtlCol="0" anchor="t"/>
          <a:lstStyle/>
          <a:p>
            <a:pPr indent="0" marL="0">
              <a:buNone/>
            </a:pPr>
            <a:r>
              <a:rPr lang="en-US" sz="1600" dirty="0">
                <a:solidFill>
                  <a:srgbClr val="15201A"/>
                </a:solidFill>
                <a:latin typeface="Schibsted Grotesk" pitchFamily="34" charset="0"/>
                <a:ea typeface="Schibsted Grotesk" pitchFamily="34" charset="-122"/>
                <a:cs typeface="Schibsted Grotesk" pitchFamily="34" charset="-120"/>
              </a:rPr>
              <a:t>Surplus food from The Spoke and The Wave.</a:t>
            </a:r>
            <a:endParaRPr lang="en-US" sz="1600" dirty="0"/>
          </a:p>
        </p:txBody>
      </p:sp>
      <p:sp>
        <p:nvSpPr>
          <p:cNvPr id="45" name="Text 43"/>
          <p:cNvSpPr txBox="1"/>
          <p:nvPr/>
        </p:nvSpPr>
        <p:spPr>
          <a:xfrm>
            <a:off x="685800" y="5925312"/>
            <a:ext cx="10820095" cy="292608"/>
          </a:xfrm>
          <a:prstGeom prst="rect">
            <a:avLst/>
          </a:prstGeom>
          <a:noFill/>
          <a:ln/>
        </p:spPr>
        <p:txBody>
          <a:bodyPr wrap="square" lIns="0" tIns="0" rIns="0" bIns="0" rtlCol="0" anchor="b"/>
          <a:lstStyle/>
          <a:p>
            <a:pPr indent="0" marL="0">
              <a:buNone/>
            </a:pPr>
            <a:r>
              <a:rPr lang="en-US" sz="1100" dirty="0">
                <a:solidFill>
                  <a:srgbClr val="68716A"/>
                </a:solidFill>
                <a:latin typeface="Schibsted Grotesk" pitchFamily="34" charset="0"/>
                <a:ea typeface="Schibsted Grotesk" pitchFamily="34" charset="-122"/>
                <a:cs typeface="Schibsted Grotesk" pitchFamily="34" charset="-120"/>
              </a:rPr>
              <a:t>Case Exhibits 1–2. Coordinator: about a third of the $9,000 role the USC funds for Public Arts and for EnviroUSC. Other amounts are our estimates.</a:t>
            </a:r>
            <a:endParaRPr lang="en-US" sz="11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7"/>
          <p:cNvSpPr/>
          <p:nvPr>
            <p:ph idx="107" type="title" hasCustomPrompt="1"/>
          </p:nvPr>
        </p:nvSpPr>
        <p:spPr>
          <a:xfrm>
            <a:off x="685800" y="502920"/>
            <a:ext cx="10241280" cy="1188720"/>
          </a:xfrm>
          <a:prstGeom prst="rect">
            <a:avLst/>
          </a:prstGeom>
          <a:noFill/>
          <a:ln/>
        </p:spPr>
        <p:txBody>
          <a:bodyPr wrap="square" lIns="0" tIns="0" rIns="0" bIns="0" rtlCol="0" anchor="t"/>
          <a:lstStyle/>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We will measure engagement, not just</a:t>
            </a:r>
            <a:endParaRPr lang="en-US" sz="3400" dirty="0"/>
          </a:p>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food handed out</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1828800"/>
          <a:ext cx="10820095" cy="914400"/>
        </p:xfrm>
        <a:graphic>
          <a:graphicData uri="http://schemas.openxmlformats.org/drawingml/2006/table">
            <a:tbl>
              <a:tblPr/>
              <a:tblGrid>
                <a:gridCol w="2240280"/>
                <a:gridCol w="5333695"/>
                <a:gridCol w="3246120"/>
              </a:tblGrid>
              <a:tr h="457200">
                <a:tc>
                  <a:txBody>
                    <a:bodyPr/>
                    <a:lstStyle/>
                    <a:p>
                      <a:pPr indent="0" marL="0">
                        <a:buNone/>
                      </a:pPr>
                      <a:r>
                        <a:rPr lang="en-US" sz="1500" b="1" dirty="0">
                          <a:solidFill>
                            <a:srgbClr val="15201A"/>
                          </a:solidFill>
                          <a:latin typeface="Schibsted Grotesk" pitchFamily="34" charset="0"/>
                          <a:ea typeface="Schibsted Grotesk" pitchFamily="34" charset="-122"/>
                          <a:cs typeface="Schibsted Grotesk" pitchFamily="34" charset="-120"/>
                        </a:rPr>
                        <a:t>Goal</a:t>
                      </a:r>
                      <a:endParaRPr lang="en-US" sz="15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15875" cap="flat" cmpd="sng" algn="ctr">
                      <a:solidFill>
                        <a:srgbClr val="15201A"/>
                      </a:solidFill>
                      <a:prstDash val="solid"/>
                      <a:round/>
                      <a:headEnd type="none" w="med" len="med"/>
                      <a:tailEnd type="none" w="med" len="med"/>
                    </a:lnB>
                    <a:solidFill>
                      <a:srgbClr val="F7F5EF"/>
                    </a:solidFill>
                  </a:tcPr>
                </a:tc>
                <a:tc>
                  <a:txBody>
                    <a:bodyPr/>
                    <a:lstStyle/>
                    <a:p>
                      <a:pPr indent="0" marL="0">
                        <a:buNone/>
                      </a:pPr>
                      <a:r>
                        <a:rPr lang="en-US" sz="1500" b="1" dirty="0">
                          <a:solidFill>
                            <a:srgbClr val="15201A"/>
                          </a:solidFill>
                          <a:latin typeface="Schibsted Grotesk" pitchFamily="34" charset="0"/>
                          <a:ea typeface="Schibsted Grotesk" pitchFamily="34" charset="-122"/>
                          <a:cs typeface="Schibsted Grotesk" pitchFamily="34" charset="-120"/>
                        </a:rPr>
                        <a:t>Metric</a:t>
                      </a:r>
                      <a:endParaRPr lang="en-US" sz="15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15875" cap="flat" cmpd="sng" algn="ctr">
                      <a:solidFill>
                        <a:srgbClr val="15201A"/>
                      </a:solidFill>
                      <a:prstDash val="solid"/>
                      <a:round/>
                      <a:headEnd type="none" w="med" len="med"/>
                      <a:tailEnd type="none" w="med" len="med"/>
                    </a:lnB>
                    <a:solidFill>
                      <a:srgbClr val="F7F5EF"/>
                    </a:solidFill>
                  </a:tcPr>
                </a:tc>
                <a:tc>
                  <a:txBody>
                    <a:bodyPr/>
                    <a:lstStyle/>
                    <a:p>
                      <a:pPr indent="0" marL="0">
                        <a:buNone/>
                      </a:pPr>
                      <a:r>
                        <a:rPr lang="en-US" sz="1500" b="1" dirty="0">
                          <a:solidFill>
                            <a:srgbClr val="15201A"/>
                          </a:solidFill>
                          <a:latin typeface="Schibsted Grotesk" pitchFamily="34" charset="0"/>
                          <a:ea typeface="Schibsted Grotesk" pitchFamily="34" charset="-122"/>
                          <a:cs typeface="Schibsted Grotesk" pitchFamily="34" charset="-120"/>
                        </a:rPr>
                        <a:t>Pilot target</a:t>
                      </a:r>
                      <a:endParaRPr lang="en-US" sz="15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15875" cap="flat" cmpd="sng" algn="ctr">
                      <a:solidFill>
                        <a:srgbClr val="15201A"/>
                      </a:solidFill>
                      <a:prstDash val="solid"/>
                      <a:round/>
                      <a:headEnd type="none" w="med" len="med"/>
                      <a:tailEnd type="none" w="med" len="med"/>
                    </a:lnB>
                    <a:solidFill>
                      <a:srgbClr val="F7F5EF"/>
                    </a:solidFill>
                  </a:tcPr>
                </a:tc>
              </a:tr>
              <a:tr h="457200">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Awareness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Know how to get food support (USC Now poll)</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+15 points over January</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457200">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Reach</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Items taken from shelves; surplus portions rescued</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1,000 items; 150 portions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457200">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Embedding</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Councils, clubs and USC units taking part</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2 councils, 10 clubs, 3 units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457200">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Participation</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Volunteers recruited; feedback sent through USC Now</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30 volunteers; 100 responses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457200">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No shifting</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Hamper requests compared with last winter</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Not lower</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457200">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Safety</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Waste; time to restock; incidents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Under 5%; under 2 h; zero</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bl>
          </a:graphicData>
        </a:graphic>
      </p:graphicFrame>
      <p:sp>
        <p:nvSpPr>
          <p:cNvPr id="4" name="Text 1"/>
          <p:cNvSpPr txBox="1"/>
          <p:nvPr/>
        </p:nvSpPr>
        <p:spPr>
          <a:xfrm>
            <a:off x="685800" y="5166360"/>
            <a:ext cx="10820095" cy="457200"/>
          </a:xfrm>
          <a:prstGeom prst="rect">
            <a:avLst/>
          </a:prstGeom>
          <a:noFill/>
          <a:ln/>
        </p:spPr>
        <p:txBody>
          <a:bodyPr wrap="square" lIns="0" tIns="0" rIns="0" bIns="0" rtlCol="0" anchor="t"/>
          <a:lstStyle/>
          <a:p>
            <a:pPr indent="0" marL="0">
              <a:buNone/>
            </a:pPr>
            <a:r>
              <a:rPr lang="en-US" sz="1800" b="1" dirty="0">
                <a:solidFill>
                  <a:srgbClr val="15201A"/>
                </a:solidFill>
                <a:latin typeface="Schibsted Grotesk" pitchFamily="34" charset="0"/>
                <a:ea typeface="Schibsted Grotesk" pitchFamily="34" charset="-122"/>
                <a:cs typeface="Schibsted Grotesk" pitchFamily="34" charset="-120"/>
              </a:rPr>
              <a:t>Decision rule: </a:t>
            </a:r>
            <a:pPr indent="0" marL="0">
              <a:buNone/>
            </a:pPr>
            <a:r>
              <a:rPr lang="en-US" sz="1800" dirty="0">
                <a:solidFill>
                  <a:srgbClr val="38433C"/>
                </a:solidFill>
                <a:latin typeface="Schibsted Grotesk" pitchFamily="34" charset="0"/>
                <a:ea typeface="Schibsted Grotesk" pitchFamily="34" charset="-122"/>
                <a:cs typeface="Schibsted Grotesk" pitchFamily="34" charset="-120"/>
              </a:rPr>
              <a:t>at week 11, expand if five of the six goals are met. Safety must be one of the five.</a:t>
            </a:r>
            <a:endParaRPr lang="en-US" sz="18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7"/>
          <p:cNvSpPr/>
          <p:nvPr>
            <p:ph idx="107" type="title" hasCustomPrompt="1"/>
          </p:nvPr>
        </p:nvSpPr>
        <p:spPr>
          <a:xfrm>
            <a:off x="685800" y="502920"/>
            <a:ext cx="10241280" cy="1188720"/>
          </a:xfrm>
          <a:prstGeom prst="rect">
            <a:avLst/>
          </a:prstGeom>
          <a:noFill/>
          <a:ln/>
        </p:spPr>
        <p:txBody>
          <a:bodyPr wrap="square" lIns="0" tIns="0" rIns="0" bIns="0" rtlCol="0" anchor="t"/>
          <a:lstStyle/>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Approve in November, pilot in winter,</a:t>
            </a:r>
            <a:endParaRPr lang="en-US" sz="3400" dirty="0"/>
          </a:p>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launch at scale in O-Week 2027</a:t>
            </a:r>
            <a:endParaRPr lang="en-US" sz="3400" dirty="0"/>
          </a:p>
        </p:txBody>
      </p:sp>
      <p:sp>
        <p:nvSpPr>
          <p:cNvPr id="3" name="Text 1"/>
          <p:cNvSpPr txBox="1"/>
          <p:nvPr/>
        </p:nvSpPr>
        <p:spPr>
          <a:xfrm>
            <a:off x="5380863" y="1828800"/>
            <a:ext cx="835816" cy="274320"/>
          </a:xfrm>
          <a:prstGeom prst="rect">
            <a:avLst/>
          </a:prstGeom>
          <a:noFill/>
          <a:ln/>
        </p:spPr>
        <p:txBody>
          <a:bodyPr wrap="square" lIns="0" tIns="0" rIns="0" bIns="0" rtlCol="0" anchor="t"/>
          <a:lstStyle/>
          <a:p>
            <a:pPr algn="ctr" indent="0" marL="0">
              <a:buNone/>
            </a:pPr>
            <a:r>
              <a:rPr lang="en-US" sz="1300" b="1" dirty="0">
                <a:solidFill>
                  <a:srgbClr val="68716A"/>
                </a:solidFill>
                <a:latin typeface="Schibsted Grotesk" pitchFamily="34" charset="0"/>
                <a:ea typeface="Schibsted Grotesk" pitchFamily="34" charset="-122"/>
                <a:cs typeface="Schibsted Grotesk" pitchFamily="34" charset="-120"/>
              </a:rPr>
              <a:t>Nov</a:t>
            </a:r>
            <a:endParaRPr lang="en-US" sz="1300" dirty="0"/>
          </a:p>
        </p:txBody>
      </p:sp>
      <p:sp>
        <p:nvSpPr>
          <p:cNvPr id="4" name="Text 2"/>
          <p:cNvSpPr txBox="1"/>
          <p:nvPr/>
        </p:nvSpPr>
        <p:spPr>
          <a:xfrm>
            <a:off x="6262399" y="1828800"/>
            <a:ext cx="835816" cy="274320"/>
          </a:xfrm>
          <a:prstGeom prst="rect">
            <a:avLst/>
          </a:prstGeom>
          <a:noFill/>
          <a:ln/>
        </p:spPr>
        <p:txBody>
          <a:bodyPr wrap="square" lIns="0" tIns="0" rIns="0" bIns="0" rtlCol="0" anchor="t"/>
          <a:lstStyle/>
          <a:p>
            <a:pPr algn="ctr" indent="0" marL="0">
              <a:buNone/>
            </a:pPr>
            <a:r>
              <a:rPr lang="en-US" sz="1300" b="1" dirty="0">
                <a:solidFill>
                  <a:srgbClr val="68716A"/>
                </a:solidFill>
                <a:latin typeface="Schibsted Grotesk" pitchFamily="34" charset="0"/>
                <a:ea typeface="Schibsted Grotesk" pitchFamily="34" charset="-122"/>
                <a:cs typeface="Schibsted Grotesk" pitchFamily="34" charset="-120"/>
              </a:rPr>
              <a:t>Dec</a:t>
            </a:r>
            <a:endParaRPr lang="en-US" sz="1300" dirty="0"/>
          </a:p>
        </p:txBody>
      </p:sp>
      <p:sp>
        <p:nvSpPr>
          <p:cNvPr id="5" name="Text 3"/>
          <p:cNvSpPr txBox="1"/>
          <p:nvPr/>
        </p:nvSpPr>
        <p:spPr>
          <a:xfrm>
            <a:off x="7143935" y="1828800"/>
            <a:ext cx="835816" cy="274320"/>
          </a:xfrm>
          <a:prstGeom prst="rect">
            <a:avLst/>
          </a:prstGeom>
          <a:noFill/>
          <a:ln/>
        </p:spPr>
        <p:txBody>
          <a:bodyPr wrap="square" lIns="0" tIns="0" rIns="0" bIns="0" rtlCol="0" anchor="t"/>
          <a:lstStyle/>
          <a:p>
            <a:pPr algn="ctr" indent="0" marL="0">
              <a:buNone/>
            </a:pPr>
            <a:r>
              <a:rPr lang="en-US" sz="1300" b="1" dirty="0">
                <a:solidFill>
                  <a:srgbClr val="68716A"/>
                </a:solidFill>
                <a:latin typeface="Schibsted Grotesk" pitchFamily="34" charset="0"/>
                <a:ea typeface="Schibsted Grotesk" pitchFamily="34" charset="-122"/>
                <a:cs typeface="Schibsted Grotesk" pitchFamily="34" charset="-120"/>
              </a:rPr>
              <a:t>Jan</a:t>
            </a:r>
            <a:endParaRPr lang="en-US" sz="1300" dirty="0"/>
          </a:p>
        </p:txBody>
      </p:sp>
      <p:sp>
        <p:nvSpPr>
          <p:cNvPr id="6" name="Text 4"/>
          <p:cNvSpPr txBox="1"/>
          <p:nvPr/>
        </p:nvSpPr>
        <p:spPr>
          <a:xfrm>
            <a:off x="8025471" y="1828800"/>
            <a:ext cx="835816" cy="274320"/>
          </a:xfrm>
          <a:prstGeom prst="rect">
            <a:avLst/>
          </a:prstGeom>
          <a:noFill/>
          <a:ln/>
        </p:spPr>
        <p:txBody>
          <a:bodyPr wrap="square" lIns="0" tIns="0" rIns="0" bIns="0" rtlCol="0" anchor="t"/>
          <a:lstStyle/>
          <a:p>
            <a:pPr algn="ctr" indent="0" marL="0">
              <a:buNone/>
            </a:pPr>
            <a:r>
              <a:rPr lang="en-US" sz="1300" b="1" dirty="0">
                <a:solidFill>
                  <a:srgbClr val="68716A"/>
                </a:solidFill>
                <a:latin typeface="Schibsted Grotesk" pitchFamily="34" charset="0"/>
                <a:ea typeface="Schibsted Grotesk" pitchFamily="34" charset="-122"/>
                <a:cs typeface="Schibsted Grotesk" pitchFamily="34" charset="-120"/>
              </a:rPr>
              <a:t>Feb</a:t>
            </a:r>
            <a:endParaRPr lang="en-US" sz="1300" dirty="0"/>
          </a:p>
        </p:txBody>
      </p:sp>
      <p:sp>
        <p:nvSpPr>
          <p:cNvPr id="7" name="Text 5"/>
          <p:cNvSpPr txBox="1"/>
          <p:nvPr/>
        </p:nvSpPr>
        <p:spPr>
          <a:xfrm>
            <a:off x="8907007" y="1828800"/>
            <a:ext cx="835816" cy="274320"/>
          </a:xfrm>
          <a:prstGeom prst="rect">
            <a:avLst/>
          </a:prstGeom>
          <a:noFill/>
          <a:ln/>
        </p:spPr>
        <p:txBody>
          <a:bodyPr wrap="square" lIns="0" tIns="0" rIns="0" bIns="0" rtlCol="0" anchor="t"/>
          <a:lstStyle/>
          <a:p>
            <a:pPr algn="ctr" indent="0" marL="0">
              <a:buNone/>
            </a:pPr>
            <a:r>
              <a:rPr lang="en-US" sz="1300" b="1" dirty="0">
                <a:solidFill>
                  <a:srgbClr val="68716A"/>
                </a:solidFill>
                <a:latin typeface="Schibsted Grotesk" pitchFamily="34" charset="0"/>
                <a:ea typeface="Schibsted Grotesk" pitchFamily="34" charset="-122"/>
                <a:cs typeface="Schibsted Grotesk" pitchFamily="34" charset="-120"/>
              </a:rPr>
              <a:t>Mar</a:t>
            </a:r>
            <a:endParaRPr lang="en-US" sz="1300" dirty="0"/>
          </a:p>
        </p:txBody>
      </p:sp>
      <p:sp>
        <p:nvSpPr>
          <p:cNvPr id="8" name="Text 6"/>
          <p:cNvSpPr txBox="1"/>
          <p:nvPr/>
        </p:nvSpPr>
        <p:spPr>
          <a:xfrm>
            <a:off x="9788543" y="1828800"/>
            <a:ext cx="835816" cy="274320"/>
          </a:xfrm>
          <a:prstGeom prst="rect">
            <a:avLst/>
          </a:prstGeom>
          <a:noFill/>
          <a:ln/>
        </p:spPr>
        <p:txBody>
          <a:bodyPr wrap="square" lIns="0" tIns="0" rIns="0" bIns="0" rtlCol="0" anchor="t"/>
          <a:lstStyle/>
          <a:p>
            <a:pPr algn="ctr" indent="0" marL="0">
              <a:buNone/>
            </a:pPr>
            <a:r>
              <a:rPr lang="en-US" sz="1300" b="1" dirty="0">
                <a:solidFill>
                  <a:srgbClr val="68716A"/>
                </a:solidFill>
                <a:latin typeface="Schibsted Grotesk" pitchFamily="34" charset="0"/>
                <a:ea typeface="Schibsted Grotesk" pitchFamily="34" charset="-122"/>
                <a:cs typeface="Schibsted Grotesk" pitchFamily="34" charset="-120"/>
              </a:rPr>
              <a:t>Apr</a:t>
            </a:r>
            <a:endParaRPr lang="en-US" sz="1300" dirty="0"/>
          </a:p>
        </p:txBody>
      </p:sp>
      <p:sp>
        <p:nvSpPr>
          <p:cNvPr id="9" name="Text 7"/>
          <p:cNvSpPr txBox="1"/>
          <p:nvPr/>
        </p:nvSpPr>
        <p:spPr>
          <a:xfrm>
            <a:off x="10670079" y="1828800"/>
            <a:ext cx="835816" cy="274320"/>
          </a:xfrm>
          <a:prstGeom prst="rect">
            <a:avLst/>
          </a:prstGeom>
          <a:noFill/>
          <a:ln/>
        </p:spPr>
        <p:txBody>
          <a:bodyPr wrap="square" lIns="0" tIns="0" rIns="0" bIns="0" rtlCol="0" anchor="t"/>
          <a:lstStyle/>
          <a:p>
            <a:pPr algn="ctr" indent="0" marL="0">
              <a:buNone/>
            </a:pPr>
            <a:r>
              <a:rPr lang="en-US" sz="1300" b="1" dirty="0">
                <a:solidFill>
                  <a:srgbClr val="68716A"/>
                </a:solidFill>
                <a:latin typeface="Schibsted Grotesk" pitchFamily="34" charset="0"/>
                <a:ea typeface="Schibsted Grotesk" pitchFamily="34" charset="-122"/>
                <a:cs typeface="Schibsted Grotesk" pitchFamily="34" charset="-120"/>
              </a:rPr>
              <a:t>Sep 2027</a:t>
            </a:r>
            <a:endParaRPr lang="en-US" sz="1300" dirty="0"/>
          </a:p>
        </p:txBody>
      </p:sp>
      <p:sp>
        <p:nvSpPr>
          <p:cNvPr id="10" name="Shape 8"/>
          <p:cNvSpPr/>
          <p:nvPr/>
        </p:nvSpPr>
        <p:spPr>
          <a:xfrm>
            <a:off x="685800" y="2203704"/>
            <a:ext cx="10820095" cy="0"/>
          </a:xfrm>
          <a:prstGeom prst="line">
            <a:avLst/>
          </a:prstGeom>
          <a:noFill/>
          <a:ln w="15875">
            <a:solidFill>
              <a:srgbClr val="15201A"/>
            </a:solidFill>
            <a:prstDash val="solid"/>
          </a:ln>
        </p:spPr>
      </p:sp>
      <p:sp>
        <p:nvSpPr>
          <p:cNvPr id="11" name="Text 9"/>
          <p:cNvSpPr txBox="1"/>
          <p:nvPr/>
        </p:nvSpPr>
        <p:spPr>
          <a:xfrm>
            <a:off x="685800" y="2258568"/>
            <a:ext cx="1280160" cy="457200"/>
          </a:xfrm>
          <a:prstGeom prst="rect">
            <a:avLst/>
          </a:prstGeom>
          <a:noFill/>
          <a:ln/>
        </p:spPr>
        <p:txBody>
          <a:bodyPr wrap="square" lIns="0" tIns="0" rIns="0" bIns="0" rtlCol="0" anchor="ctr"/>
          <a:lstStyle/>
          <a:p>
            <a:pPr indent="0" marL="0">
              <a:buNone/>
            </a:pPr>
            <a:r>
              <a:rPr lang="en-US" sz="1900" b="1" dirty="0">
                <a:solidFill>
                  <a:srgbClr val="15201A"/>
                </a:solidFill>
                <a:latin typeface="Schibsted Grotesk" pitchFamily="34" charset="0"/>
                <a:ea typeface="Schibsted Grotesk" pitchFamily="34" charset="-122"/>
                <a:cs typeface="Schibsted Grotesk" pitchFamily="34" charset="-120"/>
              </a:rPr>
              <a:t>Set up</a:t>
            </a:r>
            <a:endParaRPr lang="en-US" sz="1900" dirty="0"/>
          </a:p>
        </p:txBody>
      </p:sp>
      <p:sp>
        <p:nvSpPr>
          <p:cNvPr id="12" name="Text 10"/>
          <p:cNvSpPr txBox="1"/>
          <p:nvPr/>
        </p:nvSpPr>
        <p:spPr>
          <a:xfrm>
            <a:off x="2011680" y="2258568"/>
            <a:ext cx="3277743" cy="457200"/>
          </a:xfrm>
          <a:prstGeom prst="rect">
            <a:avLst/>
          </a:prstGeom>
          <a:noFill/>
          <a:ln/>
        </p:spPr>
        <p:txBody>
          <a:bodyPr wrap="square" lIns="0" tIns="0" rIns="0" bIns="0" rtlCol="0" anchor="ctr"/>
          <a:lstStyle/>
          <a:p>
            <a:pPr indent="0" marL="0">
              <a:buNone/>
            </a:pPr>
            <a:r>
              <a:rPr lang="en-US" sz="1500" dirty="0">
                <a:solidFill>
                  <a:srgbClr val="38433C"/>
                </a:solidFill>
                <a:latin typeface="Schibsted Grotesk" pitchFamily="34" charset="0"/>
                <a:ea typeface="Schibsted Grotesk" pitchFamily="34" charset="-122"/>
                <a:cs typeface="Schibsted Grotesk" pitchFamily="34" charset="-120"/>
              </a:rPr>
              <a:t>Approval, partners, USC Now tab</a:t>
            </a:r>
            <a:endParaRPr lang="en-US" sz="1500" dirty="0"/>
          </a:p>
        </p:txBody>
      </p:sp>
      <p:sp>
        <p:nvSpPr>
          <p:cNvPr id="13" name="Shape 11"/>
          <p:cNvSpPr/>
          <p:nvPr/>
        </p:nvSpPr>
        <p:spPr>
          <a:xfrm>
            <a:off x="5380863" y="2377440"/>
            <a:ext cx="835816" cy="219456"/>
          </a:xfrm>
          <a:prstGeom prst="rect">
            <a:avLst/>
          </a:prstGeom>
          <a:solidFill>
            <a:srgbClr val="BDC3BA"/>
          </a:solidFill>
          <a:ln w="12700">
            <a:solidFill>
              <a:srgbClr val="BDC3BA"/>
            </a:solidFill>
            <a:prstDash val="solid"/>
          </a:ln>
        </p:spPr>
      </p:sp>
      <p:sp>
        <p:nvSpPr>
          <p:cNvPr id="14" name="Shape 12"/>
          <p:cNvSpPr/>
          <p:nvPr/>
        </p:nvSpPr>
        <p:spPr>
          <a:xfrm>
            <a:off x="685800" y="2734056"/>
            <a:ext cx="10820095" cy="0"/>
          </a:xfrm>
          <a:prstGeom prst="line">
            <a:avLst/>
          </a:prstGeom>
          <a:noFill/>
          <a:ln w="9525">
            <a:solidFill>
              <a:srgbClr val="D9D4C7"/>
            </a:solidFill>
            <a:prstDash val="solid"/>
          </a:ln>
        </p:spPr>
      </p:sp>
      <p:sp>
        <p:nvSpPr>
          <p:cNvPr id="15" name="Text 13"/>
          <p:cNvSpPr txBox="1"/>
          <p:nvPr/>
        </p:nvSpPr>
        <p:spPr>
          <a:xfrm>
            <a:off x="685800" y="2788920"/>
            <a:ext cx="1280160" cy="457200"/>
          </a:xfrm>
          <a:prstGeom prst="rect">
            <a:avLst/>
          </a:prstGeom>
          <a:noFill/>
          <a:ln/>
        </p:spPr>
        <p:txBody>
          <a:bodyPr wrap="square" lIns="0" tIns="0" rIns="0" bIns="0" rtlCol="0" anchor="ctr"/>
          <a:lstStyle/>
          <a:p>
            <a:pPr indent="0" marL="0">
              <a:buNone/>
            </a:pPr>
            <a:r>
              <a:rPr lang="en-US" sz="1900" b="1" dirty="0">
                <a:solidFill>
                  <a:srgbClr val="15201A"/>
                </a:solidFill>
                <a:latin typeface="Schibsted Grotesk" pitchFamily="34" charset="0"/>
                <a:ea typeface="Schibsted Grotesk" pitchFamily="34" charset="-122"/>
                <a:cs typeface="Schibsted Grotesk" pitchFamily="34" charset="-120"/>
              </a:rPr>
              <a:t>Quick win</a:t>
            </a:r>
            <a:endParaRPr lang="en-US" sz="1900" dirty="0"/>
          </a:p>
        </p:txBody>
      </p:sp>
      <p:sp>
        <p:nvSpPr>
          <p:cNvPr id="16" name="Text 14"/>
          <p:cNvSpPr txBox="1"/>
          <p:nvPr/>
        </p:nvSpPr>
        <p:spPr>
          <a:xfrm>
            <a:off x="2011680" y="2788920"/>
            <a:ext cx="3277743" cy="457200"/>
          </a:xfrm>
          <a:prstGeom prst="rect">
            <a:avLst/>
          </a:prstGeom>
          <a:noFill/>
          <a:ln/>
        </p:spPr>
        <p:txBody>
          <a:bodyPr wrap="square" lIns="0" tIns="0" rIns="0" bIns="0" rtlCol="0" anchor="ctr"/>
          <a:lstStyle/>
          <a:p>
            <a:pPr indent="0" marL="0">
              <a:buNone/>
            </a:pPr>
            <a:r>
              <a:rPr lang="en-US" sz="1500" dirty="0">
                <a:solidFill>
                  <a:srgbClr val="38433C"/>
                </a:solidFill>
                <a:latin typeface="Schibsted Grotesk" pitchFamily="34" charset="0"/>
                <a:ea typeface="Schibsted Grotesk" pitchFamily="34" charset="-122"/>
                <a:cs typeface="Schibsted Grotesk" pitchFamily="34" charset="-120"/>
              </a:rPr>
              <a:t>Exam-season drops; baseline poll</a:t>
            </a:r>
            <a:endParaRPr lang="en-US" sz="1500" dirty="0"/>
          </a:p>
        </p:txBody>
      </p:sp>
      <p:sp>
        <p:nvSpPr>
          <p:cNvPr id="17" name="Shape 15"/>
          <p:cNvSpPr/>
          <p:nvPr/>
        </p:nvSpPr>
        <p:spPr>
          <a:xfrm>
            <a:off x="6262399" y="2907792"/>
            <a:ext cx="835816" cy="219456"/>
          </a:xfrm>
          <a:prstGeom prst="rect">
            <a:avLst/>
          </a:prstGeom>
          <a:solidFill>
            <a:srgbClr val="2E5F7A"/>
          </a:solidFill>
          <a:ln w="12700">
            <a:solidFill>
              <a:srgbClr val="2E5F7A"/>
            </a:solidFill>
            <a:prstDash val="solid"/>
          </a:ln>
        </p:spPr>
      </p:sp>
      <p:sp>
        <p:nvSpPr>
          <p:cNvPr id="18" name="Shape 16"/>
          <p:cNvSpPr/>
          <p:nvPr/>
        </p:nvSpPr>
        <p:spPr>
          <a:xfrm>
            <a:off x="685800" y="3264408"/>
            <a:ext cx="10820095" cy="0"/>
          </a:xfrm>
          <a:prstGeom prst="line">
            <a:avLst/>
          </a:prstGeom>
          <a:noFill/>
          <a:ln w="9525">
            <a:solidFill>
              <a:srgbClr val="D9D4C7"/>
            </a:solidFill>
            <a:prstDash val="solid"/>
          </a:ln>
        </p:spPr>
      </p:sp>
      <p:sp>
        <p:nvSpPr>
          <p:cNvPr id="19" name="Text 17"/>
          <p:cNvSpPr txBox="1"/>
          <p:nvPr/>
        </p:nvSpPr>
        <p:spPr>
          <a:xfrm>
            <a:off x="685800" y="3319272"/>
            <a:ext cx="1280160" cy="457200"/>
          </a:xfrm>
          <a:prstGeom prst="rect">
            <a:avLst/>
          </a:prstGeom>
          <a:noFill/>
          <a:ln/>
        </p:spPr>
        <p:txBody>
          <a:bodyPr wrap="square" lIns="0" tIns="0" rIns="0" bIns="0" rtlCol="0" anchor="ctr"/>
          <a:lstStyle/>
          <a:p>
            <a:pPr indent="0" marL="0">
              <a:buNone/>
            </a:pPr>
            <a:r>
              <a:rPr lang="en-US" sz="1900" b="1" dirty="0">
                <a:solidFill>
                  <a:srgbClr val="15201A"/>
                </a:solidFill>
                <a:latin typeface="Schibsted Grotesk" pitchFamily="34" charset="0"/>
                <a:ea typeface="Schibsted Grotesk" pitchFamily="34" charset="-122"/>
                <a:cs typeface="Schibsted Grotesk" pitchFamily="34" charset="-120"/>
              </a:rPr>
              <a:t>Pilot</a:t>
            </a:r>
            <a:endParaRPr lang="en-US" sz="1900" dirty="0"/>
          </a:p>
        </p:txBody>
      </p:sp>
      <p:sp>
        <p:nvSpPr>
          <p:cNvPr id="20" name="Text 18"/>
          <p:cNvSpPr txBox="1"/>
          <p:nvPr/>
        </p:nvSpPr>
        <p:spPr>
          <a:xfrm>
            <a:off x="2011680" y="3319272"/>
            <a:ext cx="3277743" cy="457200"/>
          </a:xfrm>
          <a:prstGeom prst="rect">
            <a:avLst/>
          </a:prstGeom>
          <a:noFill/>
          <a:ln/>
        </p:spPr>
        <p:txBody>
          <a:bodyPr wrap="square" lIns="0" tIns="0" rIns="0" bIns="0" rtlCol="0" anchor="ctr"/>
          <a:lstStyle/>
          <a:p>
            <a:pPr indent="0" marL="0">
              <a:buNone/>
            </a:pPr>
            <a:r>
              <a:rPr lang="en-US" sz="1500" dirty="0">
                <a:solidFill>
                  <a:srgbClr val="38433C"/>
                </a:solidFill>
                <a:latin typeface="Schibsted Grotesk" pitchFamily="34" charset="0"/>
                <a:ea typeface="Schibsted Grotesk" pitchFamily="34" charset="-122"/>
                <a:cs typeface="Schibsted Grotesk" pitchFamily="34" charset="-120"/>
              </a:rPr>
              <a:t>Two shelves and weekly dashboard</a:t>
            </a:r>
            <a:endParaRPr lang="en-US" sz="1500" dirty="0"/>
          </a:p>
        </p:txBody>
      </p:sp>
      <p:sp>
        <p:nvSpPr>
          <p:cNvPr id="21" name="Shape 19"/>
          <p:cNvSpPr/>
          <p:nvPr/>
        </p:nvSpPr>
        <p:spPr>
          <a:xfrm>
            <a:off x="7143935" y="3438144"/>
            <a:ext cx="2598888" cy="219456"/>
          </a:xfrm>
          <a:prstGeom prst="rect">
            <a:avLst/>
          </a:prstGeom>
          <a:solidFill>
            <a:srgbClr val="1D5E40"/>
          </a:solidFill>
          <a:ln w="12700">
            <a:solidFill>
              <a:srgbClr val="1D5E40"/>
            </a:solidFill>
            <a:prstDash val="solid"/>
          </a:ln>
        </p:spPr>
      </p:sp>
      <p:sp>
        <p:nvSpPr>
          <p:cNvPr id="22" name="Shape 20"/>
          <p:cNvSpPr/>
          <p:nvPr/>
        </p:nvSpPr>
        <p:spPr>
          <a:xfrm>
            <a:off x="685800" y="3794760"/>
            <a:ext cx="10820095" cy="0"/>
          </a:xfrm>
          <a:prstGeom prst="line">
            <a:avLst/>
          </a:prstGeom>
          <a:noFill/>
          <a:ln w="9525">
            <a:solidFill>
              <a:srgbClr val="D9D4C7"/>
            </a:solidFill>
            <a:prstDash val="solid"/>
          </a:ln>
        </p:spPr>
      </p:sp>
      <p:sp>
        <p:nvSpPr>
          <p:cNvPr id="23" name="Text 21"/>
          <p:cNvSpPr txBox="1"/>
          <p:nvPr/>
        </p:nvSpPr>
        <p:spPr>
          <a:xfrm>
            <a:off x="685800" y="3849624"/>
            <a:ext cx="1280160" cy="457200"/>
          </a:xfrm>
          <a:prstGeom prst="rect">
            <a:avLst/>
          </a:prstGeom>
          <a:noFill/>
          <a:ln/>
        </p:spPr>
        <p:txBody>
          <a:bodyPr wrap="square" lIns="0" tIns="0" rIns="0" bIns="0" rtlCol="0" anchor="ctr"/>
          <a:lstStyle/>
          <a:p>
            <a:pPr indent="0" marL="0">
              <a:buNone/>
            </a:pPr>
            <a:r>
              <a:rPr lang="en-US" sz="1900" b="1" dirty="0">
                <a:solidFill>
                  <a:srgbClr val="15201A"/>
                </a:solidFill>
                <a:latin typeface="Schibsted Grotesk" pitchFamily="34" charset="0"/>
                <a:ea typeface="Schibsted Grotesk" pitchFamily="34" charset="-122"/>
                <a:cs typeface="Schibsted Grotesk" pitchFamily="34" charset="-120"/>
              </a:rPr>
              <a:t>Decide</a:t>
            </a:r>
            <a:endParaRPr lang="en-US" sz="1900" dirty="0"/>
          </a:p>
        </p:txBody>
      </p:sp>
      <p:sp>
        <p:nvSpPr>
          <p:cNvPr id="24" name="Text 22"/>
          <p:cNvSpPr txBox="1"/>
          <p:nvPr/>
        </p:nvSpPr>
        <p:spPr>
          <a:xfrm>
            <a:off x="2011680" y="3849624"/>
            <a:ext cx="3277743" cy="457200"/>
          </a:xfrm>
          <a:prstGeom prst="rect">
            <a:avLst/>
          </a:prstGeom>
          <a:noFill/>
          <a:ln/>
        </p:spPr>
        <p:txBody>
          <a:bodyPr wrap="square" lIns="0" tIns="0" rIns="0" bIns="0" rtlCol="0" anchor="ctr"/>
          <a:lstStyle/>
          <a:p>
            <a:pPr indent="0" marL="0">
              <a:buNone/>
            </a:pPr>
            <a:r>
              <a:rPr lang="en-US" sz="1500" dirty="0">
                <a:solidFill>
                  <a:srgbClr val="38433C"/>
                </a:solidFill>
                <a:latin typeface="Schibsted Grotesk" pitchFamily="34" charset="0"/>
                <a:ea typeface="Schibsted Grotesk" pitchFamily="34" charset="-122"/>
                <a:cs typeface="Schibsted Grotesk" pitchFamily="34" charset="-120"/>
              </a:rPr>
              <a:t>Review, report, handover</a:t>
            </a:r>
            <a:endParaRPr lang="en-US" sz="1500" dirty="0"/>
          </a:p>
        </p:txBody>
      </p:sp>
      <p:sp>
        <p:nvSpPr>
          <p:cNvPr id="25" name="Shape 23"/>
          <p:cNvSpPr/>
          <p:nvPr/>
        </p:nvSpPr>
        <p:spPr>
          <a:xfrm>
            <a:off x="9788543" y="3968496"/>
            <a:ext cx="835816" cy="219456"/>
          </a:xfrm>
          <a:prstGeom prst="rect">
            <a:avLst/>
          </a:prstGeom>
          <a:solidFill>
            <a:srgbClr val="A97A2F"/>
          </a:solidFill>
          <a:ln w="12700">
            <a:solidFill>
              <a:srgbClr val="A97A2F"/>
            </a:solidFill>
            <a:prstDash val="solid"/>
          </a:ln>
        </p:spPr>
      </p:sp>
      <p:sp>
        <p:nvSpPr>
          <p:cNvPr id="26" name="Shape 24"/>
          <p:cNvSpPr/>
          <p:nvPr/>
        </p:nvSpPr>
        <p:spPr>
          <a:xfrm>
            <a:off x="685800" y="4325112"/>
            <a:ext cx="10820095" cy="0"/>
          </a:xfrm>
          <a:prstGeom prst="line">
            <a:avLst/>
          </a:prstGeom>
          <a:noFill/>
          <a:ln w="9525">
            <a:solidFill>
              <a:srgbClr val="D9D4C7"/>
            </a:solidFill>
            <a:prstDash val="solid"/>
          </a:ln>
        </p:spPr>
      </p:sp>
      <p:sp>
        <p:nvSpPr>
          <p:cNvPr id="27" name="Text 25"/>
          <p:cNvSpPr txBox="1"/>
          <p:nvPr/>
        </p:nvSpPr>
        <p:spPr>
          <a:xfrm>
            <a:off x="685800" y="4379976"/>
            <a:ext cx="1280160" cy="457200"/>
          </a:xfrm>
          <a:prstGeom prst="rect">
            <a:avLst/>
          </a:prstGeom>
          <a:noFill/>
          <a:ln/>
        </p:spPr>
        <p:txBody>
          <a:bodyPr wrap="square" lIns="0" tIns="0" rIns="0" bIns="0" rtlCol="0" anchor="ctr"/>
          <a:lstStyle/>
          <a:p>
            <a:pPr indent="0" marL="0">
              <a:buNone/>
            </a:pPr>
            <a:r>
              <a:rPr lang="en-US" sz="1900" b="1" dirty="0">
                <a:solidFill>
                  <a:srgbClr val="15201A"/>
                </a:solidFill>
                <a:latin typeface="Schibsted Grotesk" pitchFamily="34" charset="0"/>
                <a:ea typeface="Schibsted Grotesk" pitchFamily="34" charset="-122"/>
                <a:cs typeface="Schibsted Grotesk" pitchFamily="34" charset="-120"/>
              </a:rPr>
              <a:t>Scale</a:t>
            </a:r>
            <a:endParaRPr lang="en-US" sz="1900" dirty="0"/>
          </a:p>
        </p:txBody>
      </p:sp>
      <p:sp>
        <p:nvSpPr>
          <p:cNvPr id="28" name="Text 26"/>
          <p:cNvSpPr txBox="1"/>
          <p:nvPr/>
        </p:nvSpPr>
        <p:spPr>
          <a:xfrm>
            <a:off x="2011680" y="4379976"/>
            <a:ext cx="3277743" cy="457200"/>
          </a:xfrm>
          <a:prstGeom prst="rect">
            <a:avLst/>
          </a:prstGeom>
          <a:noFill/>
          <a:ln/>
        </p:spPr>
        <p:txBody>
          <a:bodyPr wrap="square" lIns="0" tIns="0" rIns="0" bIns="0" rtlCol="0" anchor="ctr"/>
          <a:lstStyle/>
          <a:p>
            <a:pPr indent="0" marL="0">
              <a:buNone/>
            </a:pPr>
            <a:r>
              <a:rPr lang="en-US" sz="1500" dirty="0">
                <a:solidFill>
                  <a:srgbClr val="38433C"/>
                </a:solidFill>
                <a:latin typeface="Schibsted Grotesk" pitchFamily="34" charset="0"/>
                <a:ea typeface="Schibsted Grotesk" pitchFamily="34" charset="-122"/>
                <a:cs typeface="Schibsted Grotesk" pitchFamily="34" charset="-120"/>
              </a:rPr>
              <a:t>Every first-year at O-Week</a:t>
            </a:r>
            <a:endParaRPr lang="en-US" sz="1500" dirty="0"/>
          </a:p>
        </p:txBody>
      </p:sp>
      <p:sp>
        <p:nvSpPr>
          <p:cNvPr id="29" name="Shape 27"/>
          <p:cNvSpPr/>
          <p:nvPr/>
        </p:nvSpPr>
        <p:spPr>
          <a:xfrm>
            <a:off x="10670079" y="4498848"/>
            <a:ext cx="835816" cy="219456"/>
          </a:xfrm>
          <a:prstGeom prst="rect">
            <a:avLst/>
          </a:prstGeom>
          <a:solidFill>
            <a:srgbClr val="1D5E40"/>
          </a:solidFill>
          <a:ln w="12700">
            <a:solidFill>
              <a:srgbClr val="1D5E40"/>
            </a:solidFill>
            <a:prstDash val="solid"/>
          </a:ln>
        </p:spPr>
      </p:sp>
      <p:sp>
        <p:nvSpPr>
          <p:cNvPr id="30" name="Shape 28"/>
          <p:cNvSpPr/>
          <p:nvPr/>
        </p:nvSpPr>
        <p:spPr>
          <a:xfrm>
            <a:off x="685800" y="4855464"/>
            <a:ext cx="10820095" cy="0"/>
          </a:xfrm>
          <a:prstGeom prst="line">
            <a:avLst/>
          </a:prstGeom>
          <a:noFill/>
          <a:ln w="9525">
            <a:solidFill>
              <a:srgbClr val="D9D4C7"/>
            </a:solidFill>
            <a:prstDash val="solid"/>
          </a:ln>
        </p:spPr>
      </p:sp>
      <p:sp>
        <p:nvSpPr>
          <p:cNvPr id="31" name="Shape 29"/>
          <p:cNvSpPr/>
          <p:nvPr/>
        </p:nvSpPr>
        <p:spPr>
          <a:xfrm>
            <a:off x="685800" y="5120640"/>
            <a:ext cx="10820095" cy="685800"/>
          </a:xfrm>
          <a:prstGeom prst="rect">
            <a:avLst/>
          </a:prstGeom>
          <a:solidFill>
            <a:srgbClr val="E1EAE1"/>
          </a:solidFill>
          <a:ln w="12700">
            <a:solidFill>
              <a:srgbClr val="E1EAE1"/>
            </a:solidFill>
            <a:prstDash val="solid"/>
          </a:ln>
        </p:spPr>
      </p:sp>
      <p:sp>
        <p:nvSpPr>
          <p:cNvPr id="32" name="Text 30"/>
          <p:cNvSpPr txBox="1"/>
          <p:nvPr/>
        </p:nvSpPr>
        <p:spPr>
          <a:xfrm>
            <a:off x="960120" y="5120640"/>
            <a:ext cx="10271455" cy="685800"/>
          </a:xfrm>
          <a:prstGeom prst="rect">
            <a:avLst/>
          </a:prstGeom>
          <a:noFill/>
          <a:ln/>
        </p:spPr>
        <p:txBody>
          <a:bodyPr wrap="square" lIns="0" tIns="0" rIns="0" bIns="0" rtlCol="0" anchor="ct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Next 30 days: </a:t>
            </a:r>
            <a:pPr indent="0" marL="0">
              <a:buNone/>
            </a:pPr>
            <a:r>
              <a:rPr lang="en-US" sz="1600" dirty="0">
                <a:solidFill>
                  <a:srgbClr val="15201A"/>
                </a:solidFill>
                <a:latin typeface="Schibsted Grotesk" pitchFamily="34" charset="0"/>
                <a:ea typeface="Schibsted Grotesk" pitchFamily="34" charset="-122"/>
                <a:cs typeface="Schibsted Grotesk" pitchFamily="34" charset="-120"/>
              </a:rPr>
              <a:t>name an owner  ·  confirm two host councils  ·  agree surplus rules with The Spoke and The Wave  ·  add the FoodLink tab to USC Now</a:t>
            </a:r>
            <a:endParaRPr lang="en-US" sz="16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7"/>
          <p:cNvSpPr/>
          <p:nvPr>
            <p:ph idx="107" type="title" hasCustomPrompt="1"/>
          </p:nvPr>
        </p:nvSpPr>
        <p:spPr>
          <a:xfrm>
            <a:off x="685800" y="502920"/>
            <a:ext cx="10241280" cy="1188720"/>
          </a:xfrm>
          <a:prstGeom prst="rect">
            <a:avLst/>
          </a:prstGeom>
          <a:noFill/>
          <a:ln/>
        </p:spPr>
        <p:txBody>
          <a:bodyPr wrap="square" lIns="0" tIns="0" rIns="0" bIns="0" rtlCol="0" anchor="t"/>
          <a:lstStyle/>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Each of the main risks has a control</a:t>
            </a:r>
            <a:endParaRPr lang="en-US" sz="3400" dirty="0"/>
          </a:p>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built into the plan</a:t>
            </a:r>
            <a:endParaRPr lang="en-US" sz="3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1828800"/>
          <a:ext cx="10820095" cy="914400"/>
        </p:xfrm>
        <a:graphic>
          <a:graphicData uri="http://schemas.openxmlformats.org/drawingml/2006/table">
            <a:tbl>
              <a:tblPr/>
              <a:tblGrid>
                <a:gridCol w="3108960"/>
                <a:gridCol w="7711135"/>
              </a:tblGrid>
              <a:tr h="402336">
                <a:tc>
                  <a:txBody>
                    <a:bodyPr/>
                    <a:lstStyle/>
                    <a:p>
                      <a:pPr indent="0" marL="0">
                        <a:buNone/>
                      </a:pPr>
                      <a:r>
                        <a:rPr lang="en-US" sz="1500" b="1" dirty="0">
                          <a:solidFill>
                            <a:srgbClr val="15201A"/>
                          </a:solidFill>
                          <a:latin typeface="Schibsted Grotesk" pitchFamily="34" charset="0"/>
                          <a:ea typeface="Schibsted Grotesk" pitchFamily="34" charset="-122"/>
                          <a:cs typeface="Schibsted Grotesk" pitchFamily="34" charset="-120"/>
                        </a:rPr>
                        <a:t>Risk</a:t>
                      </a:r>
                      <a:endParaRPr lang="en-US" sz="15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15875" cap="flat" cmpd="sng" algn="ctr">
                      <a:solidFill>
                        <a:srgbClr val="15201A"/>
                      </a:solidFill>
                      <a:prstDash val="solid"/>
                      <a:round/>
                      <a:headEnd type="none" w="med" len="med"/>
                      <a:tailEnd type="none" w="med" len="med"/>
                    </a:lnB>
                    <a:solidFill>
                      <a:srgbClr val="F7F5EF"/>
                    </a:solidFill>
                  </a:tcPr>
                </a:tc>
                <a:tc>
                  <a:txBody>
                    <a:bodyPr/>
                    <a:lstStyle/>
                    <a:p>
                      <a:pPr indent="0" marL="0">
                        <a:buNone/>
                      </a:pPr>
                      <a:r>
                        <a:rPr lang="en-US" sz="1500" b="1" dirty="0">
                          <a:solidFill>
                            <a:srgbClr val="15201A"/>
                          </a:solidFill>
                          <a:latin typeface="Schibsted Grotesk" pitchFamily="34" charset="0"/>
                          <a:ea typeface="Schibsted Grotesk" pitchFamily="34" charset="-122"/>
                          <a:cs typeface="Schibsted Grotesk" pitchFamily="34" charset="-120"/>
                        </a:rPr>
                        <a:t>Control</a:t>
                      </a:r>
                      <a:endParaRPr lang="en-US" sz="15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15875" cap="flat" cmpd="sng" algn="ctr">
                      <a:solidFill>
                        <a:srgbClr val="15201A"/>
                      </a:solidFill>
                      <a:prstDash val="solid"/>
                      <a:round/>
                      <a:headEnd type="none" w="med" len="med"/>
                      <a:tailEnd type="none" w="med" len="med"/>
                    </a:lnB>
                    <a:solidFill>
                      <a:srgbClr val="F7F5EF"/>
                    </a:solidFill>
                  </a:tcPr>
                </a:tc>
              </a:tr>
              <a:tr h="603504">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Turnover every year</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Councils own their shelves, the coordinator role carries over, and the app keeps every count and the playbook.</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493776">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Shifting, not growing</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Shelves link to hampers; hamper requests are tracked weekly and must not fall.</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493776">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Food safety</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Sealed, shelf-stable items on shelves; perishables only as drops, picked up within two hours.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493776">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Stigma</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No names or accounts; shelves sit in busy, neutral spots; the tote looks like shopping.</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457200">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No host building</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Start at the UCC; Weldon needs Western Libraries’ approval.</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457200">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One person empties a shelf</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A posted guide, two restocks a day, and live counts that show rushes.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bl>
          </a:graphicData>
        </a:graphic>
      </p:graphicFrame>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6"/>
          <p:cNvSpPr/>
          <p:nvPr>
            <p:ph idx="106" type="title" hasCustomPrompt="1"/>
          </p:nvPr>
        </p:nvSpPr>
        <p:spPr>
          <a:xfrm>
            <a:off x="685800" y="502920"/>
            <a:ext cx="10241280" cy="1188720"/>
          </a:xfrm>
          <a:prstGeom prst="rect">
            <a:avLst/>
          </a:prstGeom>
          <a:noFill/>
          <a:ln/>
        </p:spPr>
        <p:txBody>
          <a:bodyPr wrap="square" lIns="0" tIns="0" rIns="0" bIns="0" rtlCol="0" anchor="t"/>
          <a:lstStyle/>
          <a:p>
            <a:pPr algn="l" indent="0" marL="0">
              <a:lnSpc>
                <a:spcPct val="95000"/>
              </a:lnSpc>
              <a:buNone/>
            </a:pPr>
            <a:r>
              <a:rPr lang="en-US" sz="3400" b="1" dirty="0">
                <a:solidFill>
                  <a:srgbClr val="F7F5EF"/>
                </a:solidFill>
                <a:latin typeface="Schibsted Grotesk" pitchFamily="34" charset="0"/>
                <a:ea typeface="Schibsted Grotesk" pitchFamily="34" charset="-122"/>
                <a:cs typeface="Schibsted Grotesk" pitchFamily="34" charset="-120"/>
              </a:rPr>
              <a:t>Our ask: approve the FoodLink pilot</a:t>
            </a:r>
            <a:endParaRPr lang="en-US" sz="3400" dirty="0"/>
          </a:p>
        </p:txBody>
      </p:sp>
      <p:sp>
        <p:nvSpPr>
          <p:cNvPr id="3" name="Shape 1"/>
          <p:cNvSpPr/>
          <p:nvPr/>
        </p:nvSpPr>
        <p:spPr>
          <a:xfrm>
            <a:off x="685800" y="1783080"/>
            <a:ext cx="3454298" cy="0"/>
          </a:xfrm>
          <a:prstGeom prst="line">
            <a:avLst/>
          </a:prstGeom>
          <a:noFill/>
          <a:ln w="9525">
            <a:solidFill>
              <a:srgbClr val="2F5444"/>
            </a:solidFill>
            <a:prstDash val="solid"/>
          </a:ln>
        </p:spPr>
      </p:sp>
      <p:sp>
        <p:nvSpPr>
          <p:cNvPr id="4" name="Text 2"/>
          <p:cNvSpPr txBox="1"/>
          <p:nvPr/>
        </p:nvSpPr>
        <p:spPr>
          <a:xfrm>
            <a:off x="685800" y="1920240"/>
            <a:ext cx="3454298" cy="1005840"/>
          </a:xfrm>
          <a:prstGeom prst="rect">
            <a:avLst/>
          </a:prstGeom>
          <a:noFill/>
          <a:ln/>
        </p:spPr>
        <p:txBody>
          <a:bodyPr wrap="square" lIns="0" tIns="0" rIns="0" bIns="0" rtlCol="0" anchor="t"/>
          <a:lstStyle/>
          <a:p>
            <a:pPr indent="0" marL="0">
              <a:buNone/>
            </a:pPr>
            <a:r>
              <a:rPr lang="en-US" sz="6400" b="1" dirty="0">
                <a:solidFill>
                  <a:srgbClr val="D9B26E"/>
                </a:solidFill>
                <a:latin typeface="Schibsted Grotesk" pitchFamily="34" charset="0"/>
                <a:ea typeface="Schibsted Grotesk" pitchFamily="34" charset="-122"/>
                <a:cs typeface="Schibsted Grotesk" pitchFamily="34" charset="-120"/>
              </a:rPr>
              <a:t>$4,900</a:t>
            </a:r>
            <a:endParaRPr lang="en-US" sz="6400" dirty="0"/>
          </a:p>
        </p:txBody>
      </p:sp>
      <p:sp>
        <p:nvSpPr>
          <p:cNvPr id="5" name="Text 3"/>
          <p:cNvSpPr txBox="1"/>
          <p:nvPr/>
        </p:nvSpPr>
        <p:spPr>
          <a:xfrm>
            <a:off x="685800" y="2999232"/>
            <a:ext cx="3271418" cy="640080"/>
          </a:xfrm>
          <a:prstGeom prst="rect">
            <a:avLst/>
          </a:prstGeom>
          <a:noFill/>
          <a:ln/>
        </p:spPr>
        <p:txBody>
          <a:bodyPr wrap="square" lIns="0" tIns="0" rIns="0" bIns="0" rtlCol="0" anchor="t"/>
          <a:lstStyle/>
          <a:p>
            <a:pPr indent="0" marL="0">
              <a:buNone/>
            </a:pPr>
            <a:r>
              <a:rPr lang="en-US" sz="1800" dirty="0">
                <a:solidFill>
                  <a:srgbClr val="CBD9CE"/>
                </a:solidFill>
                <a:latin typeface="Schibsted Grotesk" pitchFamily="34" charset="0"/>
                <a:ea typeface="Schibsted Grotesk" pitchFamily="34" charset="-122"/>
                <a:cs typeface="Schibsted Grotesk" pitchFamily="34" charset="-120"/>
              </a:rPr>
              <a:t>from the USC Student Life budget</a:t>
            </a:r>
            <a:endParaRPr lang="en-US" sz="1800" dirty="0"/>
          </a:p>
        </p:txBody>
      </p:sp>
      <p:sp>
        <p:nvSpPr>
          <p:cNvPr id="6" name="Shape 4"/>
          <p:cNvSpPr/>
          <p:nvPr/>
        </p:nvSpPr>
        <p:spPr>
          <a:xfrm>
            <a:off x="4368698" y="1783080"/>
            <a:ext cx="3454298" cy="0"/>
          </a:xfrm>
          <a:prstGeom prst="line">
            <a:avLst/>
          </a:prstGeom>
          <a:noFill/>
          <a:ln w="9525">
            <a:solidFill>
              <a:srgbClr val="2F5444"/>
            </a:solidFill>
            <a:prstDash val="solid"/>
          </a:ln>
        </p:spPr>
      </p:sp>
      <p:sp>
        <p:nvSpPr>
          <p:cNvPr id="7" name="Text 5"/>
          <p:cNvSpPr txBox="1"/>
          <p:nvPr/>
        </p:nvSpPr>
        <p:spPr>
          <a:xfrm>
            <a:off x="4368698" y="1920240"/>
            <a:ext cx="3454298" cy="1005840"/>
          </a:xfrm>
          <a:prstGeom prst="rect">
            <a:avLst/>
          </a:prstGeom>
          <a:noFill/>
          <a:ln/>
        </p:spPr>
        <p:txBody>
          <a:bodyPr wrap="square" lIns="0" tIns="0" rIns="0" bIns="0" rtlCol="0" anchor="t"/>
          <a:lstStyle/>
          <a:p>
            <a:pPr indent="0" marL="0">
              <a:buNone/>
            </a:pPr>
            <a:r>
              <a:rPr lang="en-US" sz="6400" b="1" dirty="0">
                <a:solidFill>
                  <a:srgbClr val="D9B26E"/>
                </a:solidFill>
                <a:latin typeface="Schibsted Grotesk" pitchFamily="34" charset="0"/>
                <a:ea typeface="Schibsted Grotesk" pitchFamily="34" charset="-122"/>
                <a:cs typeface="Schibsted Grotesk" pitchFamily="34" charset="-120"/>
              </a:rPr>
              <a:t>2</a:t>
            </a:r>
            <a:endParaRPr lang="en-US" sz="6400" dirty="0"/>
          </a:p>
        </p:txBody>
      </p:sp>
      <p:sp>
        <p:nvSpPr>
          <p:cNvPr id="8" name="Text 6"/>
          <p:cNvSpPr txBox="1"/>
          <p:nvPr/>
        </p:nvSpPr>
        <p:spPr>
          <a:xfrm>
            <a:off x="4368698" y="2999232"/>
            <a:ext cx="3271418" cy="640080"/>
          </a:xfrm>
          <a:prstGeom prst="rect">
            <a:avLst/>
          </a:prstGeom>
          <a:noFill/>
          <a:ln/>
        </p:spPr>
        <p:txBody>
          <a:bodyPr wrap="square" lIns="0" tIns="0" rIns="0" bIns="0" rtlCol="0" anchor="t"/>
          <a:lstStyle/>
          <a:p>
            <a:pPr indent="0" marL="0">
              <a:buNone/>
            </a:pPr>
            <a:r>
              <a:rPr lang="en-US" sz="1800" dirty="0">
                <a:solidFill>
                  <a:srgbClr val="CBD9CE"/>
                </a:solidFill>
                <a:latin typeface="Schibsted Grotesk" pitchFamily="34" charset="0"/>
                <a:ea typeface="Schibsted Grotesk" pitchFamily="34" charset="-122"/>
                <a:cs typeface="Schibsted Grotesk" pitchFamily="34" charset="-120"/>
              </a:rPr>
              <a:t>host councils for the first shelves</a:t>
            </a:r>
            <a:endParaRPr lang="en-US" sz="1800" dirty="0"/>
          </a:p>
        </p:txBody>
      </p:sp>
      <p:sp>
        <p:nvSpPr>
          <p:cNvPr id="9" name="Shape 7"/>
          <p:cNvSpPr/>
          <p:nvPr/>
        </p:nvSpPr>
        <p:spPr>
          <a:xfrm>
            <a:off x="8051597" y="1783080"/>
            <a:ext cx="3454298" cy="0"/>
          </a:xfrm>
          <a:prstGeom prst="line">
            <a:avLst/>
          </a:prstGeom>
          <a:noFill/>
          <a:ln w="9525">
            <a:solidFill>
              <a:srgbClr val="2F5444"/>
            </a:solidFill>
            <a:prstDash val="solid"/>
          </a:ln>
        </p:spPr>
      </p:sp>
      <p:sp>
        <p:nvSpPr>
          <p:cNvPr id="10" name="Text 8"/>
          <p:cNvSpPr txBox="1"/>
          <p:nvPr/>
        </p:nvSpPr>
        <p:spPr>
          <a:xfrm>
            <a:off x="8051597" y="1920240"/>
            <a:ext cx="3454298" cy="1005840"/>
          </a:xfrm>
          <a:prstGeom prst="rect">
            <a:avLst/>
          </a:prstGeom>
          <a:noFill/>
          <a:ln/>
        </p:spPr>
        <p:txBody>
          <a:bodyPr wrap="square" lIns="0" tIns="0" rIns="0" bIns="0" rtlCol="0" anchor="t"/>
          <a:lstStyle/>
          <a:p>
            <a:pPr indent="0" marL="0">
              <a:buNone/>
            </a:pPr>
            <a:r>
              <a:rPr lang="en-US" sz="6400" b="1" dirty="0">
                <a:solidFill>
                  <a:srgbClr val="D9B26E"/>
                </a:solidFill>
                <a:latin typeface="Schibsted Grotesk" pitchFamily="34" charset="0"/>
                <a:ea typeface="Schibsted Grotesk" pitchFamily="34" charset="-122"/>
                <a:cs typeface="Schibsted Grotesk" pitchFamily="34" charset="-120"/>
              </a:rPr>
              <a:t>11</a:t>
            </a:r>
            <a:endParaRPr lang="en-US" sz="6400" dirty="0"/>
          </a:p>
        </p:txBody>
      </p:sp>
      <p:sp>
        <p:nvSpPr>
          <p:cNvPr id="11" name="Text 9"/>
          <p:cNvSpPr txBox="1"/>
          <p:nvPr/>
        </p:nvSpPr>
        <p:spPr>
          <a:xfrm>
            <a:off x="8051597" y="2999232"/>
            <a:ext cx="3271418" cy="640080"/>
          </a:xfrm>
          <a:prstGeom prst="rect">
            <a:avLst/>
          </a:prstGeom>
          <a:noFill/>
          <a:ln/>
        </p:spPr>
        <p:txBody>
          <a:bodyPr wrap="square" lIns="0" tIns="0" rIns="0" bIns="0" rtlCol="0" anchor="t"/>
          <a:lstStyle/>
          <a:p>
            <a:pPr indent="0" marL="0">
              <a:buNone/>
            </a:pPr>
            <a:r>
              <a:rPr lang="en-US" sz="1800" dirty="0">
                <a:solidFill>
                  <a:srgbClr val="CBD9CE"/>
                </a:solidFill>
                <a:latin typeface="Schibsted Grotesk" pitchFamily="34" charset="0"/>
                <a:ea typeface="Schibsted Grotesk" pitchFamily="34" charset="-122"/>
                <a:cs typeface="Schibsted Grotesk" pitchFamily="34" charset="-120"/>
              </a:rPr>
              <a:t>weeks, January to March 2027</a:t>
            </a:r>
            <a:endParaRPr lang="en-US" sz="1800" dirty="0"/>
          </a:p>
        </p:txBody>
      </p:sp>
      <p:sp>
        <p:nvSpPr>
          <p:cNvPr id="12" name="Text 10"/>
          <p:cNvSpPr txBox="1"/>
          <p:nvPr/>
        </p:nvSpPr>
        <p:spPr>
          <a:xfrm>
            <a:off x="685800" y="3931920"/>
            <a:ext cx="10820095" cy="868680"/>
          </a:xfrm>
          <a:prstGeom prst="rect">
            <a:avLst/>
          </a:prstGeom>
          <a:noFill/>
          <a:ln/>
        </p:spPr>
        <p:txBody>
          <a:bodyPr wrap="square" lIns="0" tIns="0" rIns="0" bIns="0" rtlCol="0" anchor="t"/>
          <a:lstStyle/>
          <a:p>
            <a:pPr indent="0" marL="0">
              <a:buNone/>
            </a:pPr>
            <a:r>
              <a:rPr lang="en-US" sz="2000" dirty="0">
                <a:solidFill>
                  <a:srgbClr val="F7F5EF"/>
                </a:solidFill>
                <a:latin typeface="Schibsted Grotesk" pitchFamily="34" charset="0"/>
                <a:ea typeface="Schibsted Grotesk" pitchFamily="34" charset="-122"/>
                <a:cs typeface="Schibsted Grotesk" pitchFamily="34" charset="-120"/>
              </a:rPr>
              <a:t>FoodLink keeps everything Food Support does today and brings it to where students already are. The app is already built.</a:t>
            </a:r>
            <a:endParaRPr lang="en-US" sz="2000" dirty="0"/>
          </a:p>
        </p:txBody>
      </p:sp>
      <p:sp>
        <p:nvSpPr>
          <p:cNvPr id="13" name="Shape 11"/>
          <p:cNvSpPr/>
          <p:nvPr/>
        </p:nvSpPr>
        <p:spPr>
          <a:xfrm>
            <a:off x="685800" y="5029200"/>
            <a:ext cx="10820095" cy="0"/>
          </a:xfrm>
          <a:prstGeom prst="line">
            <a:avLst/>
          </a:prstGeom>
          <a:noFill/>
          <a:ln w="9525">
            <a:solidFill>
              <a:srgbClr val="2F5444"/>
            </a:solidFill>
            <a:prstDash val="solid"/>
          </a:ln>
        </p:spPr>
      </p:sp>
      <p:sp>
        <p:nvSpPr>
          <p:cNvPr id="14" name="Text 12"/>
          <p:cNvSpPr txBox="1"/>
          <p:nvPr/>
        </p:nvSpPr>
        <p:spPr>
          <a:xfrm>
            <a:off x="685800" y="5175504"/>
            <a:ext cx="8229600" cy="457200"/>
          </a:xfrm>
          <a:prstGeom prst="rect">
            <a:avLst/>
          </a:prstGeom>
          <a:noFill/>
          <a:ln/>
        </p:spPr>
        <p:txBody>
          <a:bodyPr wrap="square" lIns="0" tIns="0" rIns="0" bIns="0" rtlCol="0" anchor="t"/>
          <a:lstStyle/>
          <a:p>
            <a:pPr indent="0" marL="0">
              <a:buNone/>
            </a:pPr>
            <a:r>
              <a:rPr lang="en-US" sz="2600" b="1" dirty="0">
                <a:solidFill>
                  <a:srgbClr val="F7F5EF"/>
                </a:solidFill>
                <a:latin typeface="Schibsted Grotesk" pitchFamily="34" charset="0"/>
                <a:ea typeface="Schibsted Grotesk" pitchFamily="34" charset="-122"/>
                <a:cs typeface="Schibsted Grotesk" pitchFamily="34" charset="-120"/>
              </a:rPr>
              <a:t>Thank you. We’re happy to take questions.</a:t>
            </a:r>
            <a:endParaRPr lang="en-US" sz="2600" dirty="0"/>
          </a:p>
        </p:txBody>
      </p:sp>
      <p:sp>
        <p:nvSpPr>
          <p:cNvPr id="15" name="Text 13"/>
          <p:cNvSpPr txBox="1"/>
          <p:nvPr/>
        </p:nvSpPr>
        <p:spPr>
          <a:xfrm>
            <a:off x="685800" y="5687568"/>
            <a:ext cx="10820095" cy="329184"/>
          </a:xfrm>
          <a:prstGeom prst="rect">
            <a:avLst/>
          </a:prstGeom>
          <a:noFill/>
          <a:ln/>
        </p:spPr>
        <p:txBody>
          <a:bodyPr wrap="square" lIns="0" tIns="0" rIns="0" bIns="0" rtlCol="0" anchor="t"/>
          <a:lstStyle/>
          <a:p>
            <a:pPr indent="0" marL="0">
              <a:buNone/>
            </a:pPr>
            <a:r>
              <a:rPr lang="en-US" sz="1500" dirty="0">
                <a:solidFill>
                  <a:srgbClr val="93AE9C"/>
                </a:solidFill>
                <a:latin typeface="Schibsted Grotesk" pitchFamily="34" charset="0"/>
                <a:ea typeface="Schibsted Grotesk" pitchFamily="34" charset="-122"/>
                <a:cs typeface="Schibsted Grotesk" pitchFamily="34" charset="-120"/>
              </a:rPr>
              <a:t>Xinge Xu (Zinger)   ·   Nuo Zhang   ·   Zohra Khawaja   ·   Ahana Gehlot</a:t>
            </a:r>
            <a:endParaRPr lang="en-US" sz="15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93AE9C"/>
                </a:solidFill>
                <a:latin typeface="Schibsted Grotesk"/>
                <a:ea typeface="Schibsted Grotesk"/>
                <a:cs typeface="Schibsted Grotesk"/>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4"/>
          <p:cNvSpPr/>
          <p:nvPr>
            <p:ph idx="104" type="title" hasCustomPrompt="1"/>
          </p:nvPr>
        </p:nvSpPr>
        <p:spPr>
          <a:xfrm>
            <a:off x="685800" y="502920"/>
            <a:ext cx="10241280" cy="1188720"/>
          </a:xfrm>
          <a:prstGeom prst="rect">
            <a:avLst/>
          </a:prstGeom>
          <a:noFill/>
          <a:ln/>
        </p:spPr>
        <p:txBody>
          <a:bodyPr wrap="square" lIns="0" tIns="0" rIns="0" bIns="0" rtlCol="0" anchor="t"/>
          <a:lstStyle/>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A1. SWOT analysis</a:t>
            </a:r>
            <a:endParaRPr lang="en-US" sz="3400" dirty="0"/>
          </a:p>
        </p:txBody>
      </p:sp>
      <p:sp>
        <p:nvSpPr>
          <p:cNvPr id="3" name="Shape 1"/>
          <p:cNvSpPr/>
          <p:nvPr/>
        </p:nvSpPr>
        <p:spPr>
          <a:xfrm>
            <a:off x="685800" y="1463040"/>
            <a:ext cx="5295748" cy="2057400"/>
          </a:xfrm>
          <a:prstGeom prst="rect">
            <a:avLst/>
          </a:prstGeom>
          <a:solidFill>
            <a:srgbClr val="FFFFFF"/>
          </a:solidFill>
          <a:ln w="9525">
            <a:solidFill>
              <a:srgbClr val="D9D4C7"/>
            </a:solidFill>
            <a:prstDash val="solid"/>
          </a:ln>
        </p:spPr>
      </p:sp>
      <p:sp>
        <p:nvSpPr>
          <p:cNvPr id="4" name="Text 2"/>
          <p:cNvSpPr txBox="1"/>
          <p:nvPr/>
        </p:nvSpPr>
        <p:spPr>
          <a:xfrm>
            <a:off x="960120" y="1664208"/>
            <a:ext cx="4747108" cy="411480"/>
          </a:xfrm>
          <a:prstGeom prst="rect">
            <a:avLst/>
          </a:prstGeom>
          <a:noFill/>
          <a:ln/>
        </p:spPr>
        <p:txBody>
          <a:bodyPr wrap="square" lIns="0" tIns="0" rIns="0" bIns="0" rtlCol="0" anchor="t"/>
          <a:lstStyle/>
          <a:p>
            <a:pPr indent="0" marL="0">
              <a:buNone/>
            </a:pPr>
            <a:r>
              <a:rPr lang="en-US" sz="2400" b="1" dirty="0">
                <a:solidFill>
                  <a:srgbClr val="1D5E40"/>
                </a:solidFill>
                <a:latin typeface="Schibsted Grotesk" pitchFamily="34" charset="0"/>
                <a:ea typeface="Schibsted Grotesk" pitchFamily="34" charset="-122"/>
                <a:cs typeface="Schibsted Grotesk" pitchFamily="34" charset="-120"/>
              </a:rPr>
              <a:t>Strengths</a:t>
            </a:r>
            <a:endParaRPr lang="en-US" sz="2400" dirty="0"/>
          </a:p>
        </p:txBody>
      </p:sp>
      <p:sp>
        <p:nvSpPr>
          <p:cNvPr id="5" name="Text 3"/>
          <p:cNvSpPr txBox="1"/>
          <p:nvPr/>
        </p:nvSpPr>
        <p:spPr>
          <a:xfrm>
            <a:off x="960120" y="2194560"/>
            <a:ext cx="4747108" cy="1234440"/>
          </a:xfrm>
          <a:prstGeom prst="rect">
            <a:avLst/>
          </a:prstGeom>
          <a:noFill/>
          <a:ln/>
        </p:spPr>
        <p:txBody>
          <a:bodyPr wrap="square" lIns="0" tIns="0" rIns="0" bIns="0" rtlCol="0" anchor="t"/>
          <a:lstStyle/>
          <a:p>
            <a:pPr marL="203200" indent="-203200">
              <a:spcAft>
                <a:spcPts val="200"/>
              </a:spcAft>
              <a:buSzPct val="100000"/>
              <a:buChar char="•"/>
            </a:pPr>
            <a:r>
              <a:rPr lang="en-US" sz="1700" dirty="0">
                <a:solidFill>
                  <a:srgbClr val="15201A"/>
                </a:solidFill>
                <a:latin typeface="Schibsted Grotesk" pitchFamily="34" charset="0"/>
                <a:ea typeface="Schibsted Grotesk" pitchFamily="34" charset="-122"/>
                <a:cs typeface="Schibsted Grotesk" pitchFamily="34" charset="-120"/>
              </a:rPr>
              <a:t>Built and working today</a:t>
            </a:r>
            <a:endParaRPr lang="en-US" sz="1700" dirty="0"/>
          </a:p>
          <a:p>
            <a:pPr marL="203200" indent="-203200">
              <a:spcAft>
                <a:spcPts val="200"/>
              </a:spcAft>
              <a:buSzPct val="100000"/>
              <a:buChar char="•"/>
            </a:pPr>
            <a:r>
              <a:rPr lang="en-US" sz="1700" dirty="0">
                <a:solidFill>
                  <a:srgbClr val="15201A"/>
                </a:solidFill>
                <a:latin typeface="Schibsted Grotesk" pitchFamily="34" charset="0"/>
                <a:ea typeface="Schibsted Grotesk" pitchFamily="34" charset="-122"/>
                <a:cs typeface="Schibsted Grotesk" pitchFamily="34" charset="-120"/>
              </a:rPr>
              <a:t>Anonymous, walk-up access</a:t>
            </a:r>
            <a:endParaRPr lang="en-US" sz="1700" dirty="0"/>
          </a:p>
          <a:p>
            <a:pPr marL="203200" indent="-203200">
              <a:spcAft>
                <a:spcPts val="200"/>
              </a:spcAft>
              <a:buSzPct val="100000"/>
              <a:buChar char="•"/>
            </a:pPr>
            <a:r>
              <a:rPr lang="en-US" sz="1700" dirty="0">
                <a:solidFill>
                  <a:srgbClr val="15201A"/>
                </a:solidFill>
                <a:latin typeface="Schibsted Grotesk" pitchFamily="34" charset="0"/>
                <a:ea typeface="Schibsted Grotesk" pitchFamily="34" charset="-122"/>
                <a:cs typeface="Schibsted Grotesk" pitchFamily="34" charset="-120"/>
              </a:rPr>
              <a:t>Runs on USC assets already paid for</a:t>
            </a:r>
            <a:endParaRPr lang="en-US" sz="1700" dirty="0"/>
          </a:p>
          <a:p>
            <a:pPr marL="203200" indent="-203200">
              <a:spcAft>
                <a:spcPts val="200"/>
              </a:spcAft>
              <a:buSzPct val="100000"/>
              <a:buChar char="•"/>
            </a:pPr>
            <a:r>
              <a:rPr lang="en-US" sz="1700" dirty="0">
                <a:solidFill>
                  <a:srgbClr val="15201A"/>
                </a:solidFill>
                <a:latin typeface="Schibsted Grotesk" pitchFamily="34" charset="0"/>
                <a:ea typeface="Schibsted Grotesk" pitchFamily="34" charset="-122"/>
                <a:cs typeface="Schibsted Grotesk" pitchFamily="34" charset="-120"/>
              </a:rPr>
              <a:t>Measures itself at every check-in</a:t>
            </a:r>
            <a:endParaRPr lang="en-US" sz="1700" dirty="0"/>
          </a:p>
        </p:txBody>
      </p:sp>
      <p:sp>
        <p:nvSpPr>
          <p:cNvPr id="6" name="Shape 4"/>
          <p:cNvSpPr/>
          <p:nvPr/>
        </p:nvSpPr>
        <p:spPr>
          <a:xfrm>
            <a:off x="6210148" y="1463040"/>
            <a:ext cx="5295748" cy="2057400"/>
          </a:xfrm>
          <a:prstGeom prst="rect">
            <a:avLst/>
          </a:prstGeom>
          <a:solidFill>
            <a:srgbClr val="EEEADF"/>
          </a:solidFill>
          <a:ln w="9525">
            <a:solidFill>
              <a:srgbClr val="D9D4C7"/>
            </a:solidFill>
            <a:prstDash val="solid"/>
          </a:ln>
        </p:spPr>
      </p:sp>
      <p:sp>
        <p:nvSpPr>
          <p:cNvPr id="7" name="Text 5"/>
          <p:cNvSpPr txBox="1"/>
          <p:nvPr/>
        </p:nvSpPr>
        <p:spPr>
          <a:xfrm>
            <a:off x="6484468" y="1664208"/>
            <a:ext cx="4747108" cy="411480"/>
          </a:xfrm>
          <a:prstGeom prst="rect">
            <a:avLst/>
          </a:prstGeom>
          <a:noFill/>
          <a:ln/>
        </p:spPr>
        <p:txBody>
          <a:bodyPr wrap="square" lIns="0" tIns="0" rIns="0" bIns="0" rtlCol="0" anchor="t"/>
          <a:lstStyle/>
          <a:p>
            <a:pPr indent="0" marL="0">
              <a:buNone/>
            </a:pPr>
            <a:r>
              <a:rPr lang="en-US" sz="2400" b="1" dirty="0">
                <a:solidFill>
                  <a:srgbClr val="1D5E40"/>
                </a:solidFill>
                <a:latin typeface="Schibsted Grotesk" pitchFamily="34" charset="0"/>
                <a:ea typeface="Schibsted Grotesk" pitchFamily="34" charset="-122"/>
                <a:cs typeface="Schibsted Grotesk" pitchFamily="34" charset="-120"/>
              </a:rPr>
              <a:t>Weaknesses</a:t>
            </a:r>
            <a:endParaRPr lang="en-US" sz="2400" dirty="0"/>
          </a:p>
        </p:txBody>
      </p:sp>
      <p:sp>
        <p:nvSpPr>
          <p:cNvPr id="8" name="Text 6"/>
          <p:cNvSpPr txBox="1"/>
          <p:nvPr/>
        </p:nvSpPr>
        <p:spPr>
          <a:xfrm>
            <a:off x="6484468" y="2194560"/>
            <a:ext cx="4747108" cy="1234440"/>
          </a:xfrm>
          <a:prstGeom prst="rect">
            <a:avLst/>
          </a:prstGeom>
          <a:noFill/>
          <a:ln/>
        </p:spPr>
        <p:txBody>
          <a:bodyPr wrap="square" lIns="0" tIns="0" rIns="0" bIns="0" rtlCol="0" anchor="t"/>
          <a:lstStyle/>
          <a:p>
            <a:pPr marL="203200" indent="-203200">
              <a:spcAft>
                <a:spcPts val="200"/>
              </a:spcAft>
              <a:buSzPct val="100000"/>
              <a:buChar char="•"/>
            </a:pPr>
            <a:r>
              <a:rPr lang="en-US" sz="1700" dirty="0">
                <a:solidFill>
                  <a:srgbClr val="15201A"/>
                </a:solidFill>
                <a:latin typeface="Schibsted Grotesk" pitchFamily="34" charset="0"/>
                <a:ea typeface="Schibsted Grotesk" pitchFamily="34" charset="-122"/>
                <a:cs typeface="Schibsted Grotesk" pitchFamily="34" charset="-120"/>
              </a:rPr>
              <a:t>Shelf-stable food only on shelves</a:t>
            </a:r>
            <a:endParaRPr lang="en-US" sz="1700" dirty="0"/>
          </a:p>
          <a:p>
            <a:pPr marL="203200" indent="-203200">
              <a:spcAft>
                <a:spcPts val="200"/>
              </a:spcAft>
              <a:buSzPct val="100000"/>
              <a:buChar char="•"/>
            </a:pPr>
            <a:r>
              <a:rPr lang="en-US" sz="1700" dirty="0">
                <a:solidFill>
                  <a:srgbClr val="15201A"/>
                </a:solidFill>
                <a:latin typeface="Schibsted Grotesk" pitchFamily="34" charset="0"/>
                <a:ea typeface="Schibsted Grotesk" pitchFamily="34" charset="-122"/>
                <a:cs typeface="Schibsted Grotesk" pitchFamily="34" charset="-120"/>
              </a:rPr>
              <a:t>Depends on volunteers</a:t>
            </a:r>
            <a:endParaRPr lang="en-US" sz="1700" dirty="0"/>
          </a:p>
          <a:p>
            <a:pPr marL="203200" indent="-203200">
              <a:spcAft>
                <a:spcPts val="200"/>
              </a:spcAft>
              <a:buSzPct val="100000"/>
              <a:buChar char="•"/>
            </a:pPr>
            <a:r>
              <a:rPr lang="en-US" sz="1700" dirty="0">
                <a:solidFill>
                  <a:srgbClr val="15201A"/>
                </a:solidFill>
                <a:latin typeface="Schibsted Grotesk" pitchFamily="34" charset="0"/>
                <a:ea typeface="Schibsted Grotesk" pitchFamily="34" charset="-122"/>
                <a:cs typeface="Schibsted Grotesk" pitchFamily="34" charset="-120"/>
              </a:rPr>
              <a:t>No per-person limit</a:t>
            </a:r>
            <a:endParaRPr lang="en-US" sz="1700" dirty="0"/>
          </a:p>
          <a:p>
            <a:pPr marL="203200" indent="-203200">
              <a:spcAft>
                <a:spcPts val="200"/>
              </a:spcAft>
              <a:buSzPct val="100000"/>
              <a:buChar char="•"/>
            </a:pPr>
            <a:r>
              <a:rPr lang="en-US" sz="1700" dirty="0">
                <a:solidFill>
                  <a:srgbClr val="15201A"/>
                </a:solidFill>
                <a:latin typeface="Schibsted Grotesk" pitchFamily="34" charset="0"/>
                <a:ea typeface="Schibsted Grotesk" pitchFamily="34" charset="-122"/>
                <a:cs typeface="Schibsted Grotesk" pitchFamily="34" charset="-120"/>
              </a:rPr>
              <a:t>No Western usage data yet</a:t>
            </a:r>
            <a:endParaRPr lang="en-US" sz="1700" dirty="0"/>
          </a:p>
        </p:txBody>
      </p:sp>
      <p:sp>
        <p:nvSpPr>
          <p:cNvPr id="9" name="Shape 7"/>
          <p:cNvSpPr/>
          <p:nvPr/>
        </p:nvSpPr>
        <p:spPr>
          <a:xfrm>
            <a:off x="685800" y="3721608"/>
            <a:ext cx="5295748" cy="2057400"/>
          </a:xfrm>
          <a:prstGeom prst="rect">
            <a:avLst/>
          </a:prstGeom>
          <a:solidFill>
            <a:srgbClr val="FFFFFF"/>
          </a:solidFill>
          <a:ln w="9525">
            <a:solidFill>
              <a:srgbClr val="D9D4C7"/>
            </a:solidFill>
            <a:prstDash val="solid"/>
          </a:ln>
        </p:spPr>
      </p:sp>
      <p:sp>
        <p:nvSpPr>
          <p:cNvPr id="10" name="Text 8"/>
          <p:cNvSpPr txBox="1"/>
          <p:nvPr/>
        </p:nvSpPr>
        <p:spPr>
          <a:xfrm>
            <a:off x="960120" y="3922776"/>
            <a:ext cx="4747108" cy="411480"/>
          </a:xfrm>
          <a:prstGeom prst="rect">
            <a:avLst/>
          </a:prstGeom>
          <a:noFill/>
          <a:ln/>
        </p:spPr>
        <p:txBody>
          <a:bodyPr wrap="square" lIns="0" tIns="0" rIns="0" bIns="0" rtlCol="0" anchor="t"/>
          <a:lstStyle/>
          <a:p>
            <a:pPr indent="0" marL="0">
              <a:buNone/>
            </a:pPr>
            <a:r>
              <a:rPr lang="en-US" sz="2400" b="1" dirty="0">
                <a:solidFill>
                  <a:srgbClr val="1D5E40"/>
                </a:solidFill>
                <a:latin typeface="Schibsted Grotesk" pitchFamily="34" charset="0"/>
                <a:ea typeface="Schibsted Grotesk" pitchFamily="34" charset="-122"/>
                <a:cs typeface="Schibsted Grotesk" pitchFamily="34" charset="-120"/>
              </a:rPr>
              <a:t>Opportunities</a:t>
            </a:r>
            <a:endParaRPr lang="en-US" sz="2400" dirty="0"/>
          </a:p>
        </p:txBody>
      </p:sp>
      <p:sp>
        <p:nvSpPr>
          <p:cNvPr id="11" name="Text 9"/>
          <p:cNvSpPr txBox="1"/>
          <p:nvPr/>
        </p:nvSpPr>
        <p:spPr>
          <a:xfrm>
            <a:off x="960120" y="4453128"/>
            <a:ext cx="4747108" cy="1234440"/>
          </a:xfrm>
          <a:prstGeom prst="rect">
            <a:avLst/>
          </a:prstGeom>
          <a:noFill/>
          <a:ln/>
        </p:spPr>
        <p:txBody>
          <a:bodyPr wrap="square" lIns="0" tIns="0" rIns="0" bIns="0" rtlCol="0" anchor="t"/>
          <a:lstStyle/>
          <a:p>
            <a:pPr marL="203200" indent="-203200">
              <a:spcAft>
                <a:spcPts val="200"/>
              </a:spcAft>
              <a:buSzPct val="100000"/>
              <a:buChar char="•"/>
            </a:pPr>
            <a:r>
              <a:rPr lang="en-US" sz="1700" dirty="0">
                <a:solidFill>
                  <a:srgbClr val="15201A"/>
                </a:solidFill>
                <a:latin typeface="Schibsted Grotesk" pitchFamily="34" charset="0"/>
                <a:ea typeface="Schibsted Grotesk" pitchFamily="34" charset="-122"/>
                <a:cs typeface="Schibsted Grotesk" pitchFamily="34" charset="-120"/>
              </a:rPr>
              <a:t>USC Now overhaul already planned</a:t>
            </a:r>
            <a:endParaRPr lang="en-US" sz="1700" dirty="0"/>
          </a:p>
          <a:p>
            <a:pPr marL="203200" indent="-203200">
              <a:spcAft>
                <a:spcPts val="200"/>
              </a:spcAft>
              <a:buSzPct val="100000"/>
              <a:buChar char="•"/>
            </a:pPr>
            <a:r>
              <a:rPr lang="en-US" sz="1700" dirty="0">
                <a:solidFill>
                  <a:srgbClr val="15201A"/>
                </a:solidFill>
                <a:latin typeface="Schibsted Grotesk" pitchFamily="34" charset="0"/>
                <a:ea typeface="Schibsted Grotesk" pitchFamily="34" charset="-122"/>
                <a:cs typeface="Schibsted Grotesk" pitchFamily="34" charset="-120"/>
              </a:rPr>
              <a:t>O-Week 2027 reaches every first-year</a:t>
            </a:r>
            <a:endParaRPr lang="en-US" sz="1700" dirty="0"/>
          </a:p>
          <a:p>
            <a:pPr marL="203200" indent="-203200">
              <a:spcAft>
                <a:spcPts val="200"/>
              </a:spcAft>
              <a:buSzPct val="100000"/>
              <a:buChar char="•"/>
            </a:pPr>
            <a:r>
              <a:rPr lang="en-US" sz="1700" dirty="0">
                <a:solidFill>
                  <a:srgbClr val="15201A"/>
                </a:solidFill>
                <a:latin typeface="Schibsted Grotesk" pitchFamily="34" charset="0"/>
                <a:ea typeface="Schibsted Grotesk" pitchFamily="34" charset="-122"/>
                <a:cs typeface="Schibsted Grotesk" pitchFamily="34" charset="-120"/>
              </a:rPr>
              <a:t>Surplus from USC hospitality</a:t>
            </a:r>
            <a:endParaRPr lang="en-US" sz="1700" dirty="0"/>
          </a:p>
          <a:p>
            <a:pPr marL="203200" indent="-203200">
              <a:spcAft>
                <a:spcPts val="200"/>
              </a:spcAft>
              <a:buSzPct val="100000"/>
              <a:buChar char="•"/>
            </a:pPr>
            <a:r>
              <a:rPr lang="en-US" sz="1700" dirty="0">
                <a:solidFill>
                  <a:srgbClr val="15201A"/>
                </a:solidFill>
                <a:latin typeface="Schibsted Grotesk" pitchFamily="34" charset="0"/>
                <a:ea typeface="Schibsted Grotesk" pitchFamily="34" charset="-122"/>
                <a:cs typeface="Schibsted Grotesk" pitchFamily="34" charset="-120"/>
              </a:rPr>
              <a:t>Same model for CoatCycle or Peer Support</a:t>
            </a:r>
            <a:endParaRPr lang="en-US" sz="1700" dirty="0"/>
          </a:p>
        </p:txBody>
      </p:sp>
      <p:sp>
        <p:nvSpPr>
          <p:cNvPr id="12" name="Shape 10"/>
          <p:cNvSpPr/>
          <p:nvPr/>
        </p:nvSpPr>
        <p:spPr>
          <a:xfrm>
            <a:off x="6210148" y="3721608"/>
            <a:ext cx="5295748" cy="2057400"/>
          </a:xfrm>
          <a:prstGeom prst="rect">
            <a:avLst/>
          </a:prstGeom>
          <a:solidFill>
            <a:srgbClr val="EEEADF"/>
          </a:solidFill>
          <a:ln w="9525">
            <a:solidFill>
              <a:srgbClr val="D9D4C7"/>
            </a:solidFill>
            <a:prstDash val="solid"/>
          </a:ln>
        </p:spPr>
      </p:sp>
      <p:sp>
        <p:nvSpPr>
          <p:cNvPr id="13" name="Text 11"/>
          <p:cNvSpPr txBox="1"/>
          <p:nvPr/>
        </p:nvSpPr>
        <p:spPr>
          <a:xfrm>
            <a:off x="6484468" y="3922776"/>
            <a:ext cx="4747108" cy="411480"/>
          </a:xfrm>
          <a:prstGeom prst="rect">
            <a:avLst/>
          </a:prstGeom>
          <a:noFill/>
          <a:ln/>
        </p:spPr>
        <p:txBody>
          <a:bodyPr wrap="square" lIns="0" tIns="0" rIns="0" bIns="0" rtlCol="0" anchor="t"/>
          <a:lstStyle/>
          <a:p>
            <a:pPr indent="0" marL="0">
              <a:buNone/>
            </a:pPr>
            <a:r>
              <a:rPr lang="en-US" sz="2400" b="1" dirty="0">
                <a:solidFill>
                  <a:srgbClr val="1D5E40"/>
                </a:solidFill>
                <a:latin typeface="Schibsted Grotesk" pitchFamily="34" charset="0"/>
                <a:ea typeface="Schibsted Grotesk" pitchFamily="34" charset="-122"/>
                <a:cs typeface="Schibsted Grotesk" pitchFamily="34" charset="-120"/>
              </a:rPr>
              <a:t>Threats</a:t>
            </a:r>
            <a:endParaRPr lang="en-US" sz="2400" dirty="0"/>
          </a:p>
        </p:txBody>
      </p:sp>
      <p:sp>
        <p:nvSpPr>
          <p:cNvPr id="14" name="Text 12"/>
          <p:cNvSpPr txBox="1"/>
          <p:nvPr/>
        </p:nvSpPr>
        <p:spPr>
          <a:xfrm>
            <a:off x="6484468" y="4453128"/>
            <a:ext cx="4747108" cy="1234440"/>
          </a:xfrm>
          <a:prstGeom prst="rect">
            <a:avLst/>
          </a:prstGeom>
          <a:noFill/>
          <a:ln/>
        </p:spPr>
        <p:txBody>
          <a:bodyPr wrap="square" lIns="0" tIns="0" rIns="0" bIns="0" rtlCol="0" anchor="t"/>
          <a:lstStyle/>
          <a:p>
            <a:pPr marL="203200" indent="-203200">
              <a:spcAft>
                <a:spcPts val="200"/>
              </a:spcAft>
              <a:buSzPct val="100000"/>
              <a:buChar char="•"/>
            </a:pPr>
            <a:r>
              <a:rPr lang="en-US" sz="1700" dirty="0">
                <a:solidFill>
                  <a:srgbClr val="15201A"/>
                </a:solidFill>
                <a:latin typeface="Schibsted Grotesk" pitchFamily="34" charset="0"/>
                <a:ea typeface="Schibsted Grotesk" pitchFamily="34" charset="-122"/>
                <a:cs typeface="Schibsted Grotesk" pitchFamily="34" charset="-120"/>
              </a:rPr>
              <a:t>A food-safety incident</a:t>
            </a:r>
            <a:endParaRPr lang="en-US" sz="1700" dirty="0"/>
          </a:p>
          <a:p>
            <a:pPr marL="203200" indent="-203200">
              <a:spcAft>
                <a:spcPts val="200"/>
              </a:spcAft>
              <a:buSzPct val="100000"/>
              <a:buChar char="•"/>
            </a:pPr>
            <a:r>
              <a:rPr lang="en-US" sz="1700" dirty="0">
                <a:solidFill>
                  <a:srgbClr val="15201A"/>
                </a:solidFill>
                <a:latin typeface="Schibsted Grotesk" pitchFamily="34" charset="0"/>
                <a:ea typeface="Schibsted Grotesk" pitchFamily="34" charset="-122"/>
                <a:cs typeface="Schibsted Grotesk" pitchFamily="34" charset="-120"/>
              </a:rPr>
              <a:t>Turnover every year</a:t>
            </a:r>
            <a:endParaRPr lang="en-US" sz="1700" dirty="0"/>
          </a:p>
          <a:p>
            <a:pPr marL="203200" indent="-203200">
              <a:spcAft>
                <a:spcPts val="200"/>
              </a:spcAft>
              <a:buSzPct val="100000"/>
              <a:buChar char="•"/>
            </a:pPr>
            <a:r>
              <a:rPr lang="en-US" sz="1700" dirty="0">
                <a:solidFill>
                  <a:srgbClr val="15201A"/>
                </a:solidFill>
                <a:latin typeface="Schibsted Grotesk" pitchFamily="34" charset="0"/>
                <a:ea typeface="Schibsted Grotesk" pitchFamily="34" charset="-122"/>
                <a:cs typeface="Schibsted Grotesk" pitchFamily="34" charset="-120"/>
              </a:rPr>
              <a:t>Stigma if shelves are badly placed</a:t>
            </a:r>
            <a:endParaRPr lang="en-US" sz="1700" dirty="0"/>
          </a:p>
          <a:p>
            <a:pPr marL="203200" indent="-203200">
              <a:spcAft>
                <a:spcPts val="200"/>
              </a:spcAft>
              <a:buSzPct val="100000"/>
              <a:buChar char="•"/>
            </a:pPr>
            <a:r>
              <a:rPr lang="en-US" sz="1700" dirty="0">
                <a:solidFill>
                  <a:srgbClr val="15201A"/>
                </a:solidFill>
                <a:latin typeface="Schibsted Grotesk" pitchFamily="34" charset="0"/>
                <a:ea typeface="Schibsted Grotesk" pitchFamily="34" charset="-122"/>
                <a:cs typeface="Schibsted Grotesk" pitchFamily="34" charset="-120"/>
              </a:rPr>
              <a:t>A host building says no</a:t>
            </a:r>
            <a:endParaRPr lang="en-US" sz="17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4"/>
          <p:cNvSpPr/>
          <p:nvPr>
            <p:ph idx="104" type="title" hasCustomPrompt="1"/>
          </p:nvPr>
        </p:nvSpPr>
        <p:spPr>
          <a:xfrm>
            <a:off x="685800" y="502920"/>
            <a:ext cx="10241280" cy="1188720"/>
          </a:xfrm>
          <a:prstGeom prst="rect">
            <a:avLst/>
          </a:prstGeom>
          <a:noFill/>
          <a:ln/>
        </p:spPr>
        <p:txBody>
          <a:bodyPr wrap="square" lIns="0" tIns="0" rIns="0" bIns="0" rtlCol="0" anchor="t"/>
          <a:lstStyle/>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A2. How access to Food Support</a:t>
            </a:r>
            <a:endParaRPr lang="en-US" sz="3400" dirty="0"/>
          </a:p>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changed, 2023 to 2026</a:t>
            </a:r>
            <a:endParaRPr lang="en-US" sz="3400" dirty="0"/>
          </a:p>
        </p:txBody>
      </p:sp>
      <p:sp>
        <p:nvSpPr>
          <p:cNvPr id="3" name="Shape 1"/>
          <p:cNvSpPr/>
          <p:nvPr/>
        </p:nvSpPr>
        <p:spPr>
          <a:xfrm>
            <a:off x="795528" y="1984248"/>
            <a:ext cx="0" cy="3383280"/>
          </a:xfrm>
          <a:prstGeom prst="line">
            <a:avLst/>
          </a:prstGeom>
          <a:noFill/>
          <a:ln w="19050">
            <a:solidFill>
              <a:srgbClr val="D9D4C7"/>
            </a:solidFill>
            <a:prstDash val="solid"/>
          </a:ln>
        </p:spPr>
      </p:sp>
      <p:sp>
        <p:nvSpPr>
          <p:cNvPr id="4" name="Shape 2"/>
          <p:cNvSpPr/>
          <p:nvPr/>
        </p:nvSpPr>
        <p:spPr>
          <a:xfrm>
            <a:off x="708660" y="1965960"/>
            <a:ext cx="173736" cy="173736"/>
          </a:xfrm>
          <a:prstGeom prst="ellipse">
            <a:avLst/>
          </a:prstGeom>
          <a:solidFill>
            <a:srgbClr val="F7F5EF"/>
          </a:solidFill>
          <a:ln w="19050">
            <a:solidFill>
              <a:srgbClr val="68716A"/>
            </a:solidFill>
            <a:prstDash val="solid"/>
          </a:ln>
        </p:spPr>
      </p:sp>
      <p:sp>
        <p:nvSpPr>
          <p:cNvPr id="5" name="Text 3"/>
          <p:cNvSpPr txBox="1"/>
          <p:nvPr/>
        </p:nvSpPr>
        <p:spPr>
          <a:xfrm>
            <a:off x="1143000" y="1874520"/>
            <a:ext cx="1795729" cy="384048"/>
          </a:xfrm>
          <a:prstGeom prst="rect">
            <a:avLst/>
          </a:prstGeom>
          <a:noFill/>
          <a:ln/>
        </p:spPr>
        <p:txBody>
          <a:bodyPr wrap="square" lIns="0" tIns="0" rIns="0" bIns="0" rtlCol="0" anchor="t"/>
          <a:lstStyle/>
          <a:p>
            <a:pPr indent="0" marL="0">
              <a:buNone/>
            </a:pPr>
            <a:r>
              <a:rPr lang="en-US" sz="2000" b="1" dirty="0">
                <a:solidFill>
                  <a:srgbClr val="15201A"/>
                </a:solidFill>
                <a:latin typeface="Schibsted Grotesk" pitchFamily="34" charset="0"/>
                <a:ea typeface="Schibsted Grotesk" pitchFamily="34" charset="-122"/>
                <a:cs typeface="Schibsted Grotesk" pitchFamily="34" charset="-120"/>
              </a:rPr>
              <a:t>Sept 2023</a:t>
            </a:r>
            <a:endParaRPr lang="en-US" sz="2000" dirty="0"/>
          </a:p>
        </p:txBody>
      </p:sp>
      <p:sp>
        <p:nvSpPr>
          <p:cNvPr id="6" name="Text 4"/>
          <p:cNvSpPr txBox="1"/>
          <p:nvPr/>
        </p:nvSpPr>
        <p:spPr>
          <a:xfrm>
            <a:off x="3447974" y="1892808"/>
            <a:ext cx="8057921" cy="658368"/>
          </a:xfrm>
          <a:prstGeom prst="rect">
            <a:avLst/>
          </a:prstGeom>
          <a:noFill/>
          <a:ln/>
        </p:spPr>
        <p:txBody>
          <a:bodyPr wrap="square" lIns="0" tIns="0" rIns="0" bIns="0" rtlCol="0" anchor="t"/>
          <a:lstStyle/>
          <a:p>
            <a:pPr indent="0" marL="0">
              <a:buNone/>
            </a:pPr>
            <a:r>
              <a:rPr lang="en-US" sz="1800" dirty="0">
                <a:solidFill>
                  <a:srgbClr val="38433C"/>
                </a:solidFill>
                <a:latin typeface="Schibsted Grotesk" pitchFamily="34" charset="0"/>
                <a:ea typeface="Schibsted Grotesk" pitchFamily="34" charset="-122"/>
                <a:cs typeface="Schibsted Grotesk" pitchFamily="34" charset="-120"/>
              </a:rPr>
              <a:t>Walk-ins closed after demand rose 600%.</a:t>
            </a:r>
            <a:endParaRPr lang="en-US" sz="1800" dirty="0"/>
          </a:p>
        </p:txBody>
      </p:sp>
      <p:sp>
        <p:nvSpPr>
          <p:cNvPr id="7" name="Shape 5"/>
          <p:cNvSpPr/>
          <p:nvPr/>
        </p:nvSpPr>
        <p:spPr>
          <a:xfrm>
            <a:off x="708660" y="2734056"/>
            <a:ext cx="173736" cy="173736"/>
          </a:xfrm>
          <a:prstGeom prst="ellipse">
            <a:avLst/>
          </a:prstGeom>
          <a:solidFill>
            <a:srgbClr val="F7F5EF"/>
          </a:solidFill>
          <a:ln w="19050">
            <a:solidFill>
              <a:srgbClr val="68716A"/>
            </a:solidFill>
            <a:prstDash val="solid"/>
          </a:ln>
        </p:spPr>
      </p:sp>
      <p:sp>
        <p:nvSpPr>
          <p:cNvPr id="8" name="Text 6"/>
          <p:cNvSpPr txBox="1"/>
          <p:nvPr/>
        </p:nvSpPr>
        <p:spPr>
          <a:xfrm>
            <a:off x="1143000" y="2642616"/>
            <a:ext cx="1795729" cy="384048"/>
          </a:xfrm>
          <a:prstGeom prst="rect">
            <a:avLst/>
          </a:prstGeom>
          <a:noFill/>
          <a:ln/>
        </p:spPr>
        <p:txBody>
          <a:bodyPr wrap="square" lIns="0" tIns="0" rIns="0" bIns="0" rtlCol="0" anchor="t"/>
          <a:lstStyle/>
          <a:p>
            <a:pPr indent="0" marL="0">
              <a:buNone/>
            </a:pPr>
            <a:r>
              <a:rPr lang="en-US" sz="2000" b="1" dirty="0">
                <a:solidFill>
                  <a:srgbClr val="15201A"/>
                </a:solidFill>
                <a:latin typeface="Schibsted Grotesk" pitchFamily="34" charset="0"/>
                <a:ea typeface="Schibsted Grotesk" pitchFamily="34" charset="-122"/>
                <a:cs typeface="Schibsted Grotesk" pitchFamily="34" charset="-120"/>
              </a:rPr>
              <a:t>Oct 2024</a:t>
            </a:r>
            <a:endParaRPr lang="en-US" sz="2000" dirty="0"/>
          </a:p>
        </p:txBody>
      </p:sp>
      <p:sp>
        <p:nvSpPr>
          <p:cNvPr id="9" name="Text 7"/>
          <p:cNvSpPr txBox="1"/>
          <p:nvPr/>
        </p:nvSpPr>
        <p:spPr>
          <a:xfrm>
            <a:off x="3447974" y="2660904"/>
            <a:ext cx="8057921" cy="658368"/>
          </a:xfrm>
          <a:prstGeom prst="rect">
            <a:avLst/>
          </a:prstGeom>
          <a:noFill/>
          <a:ln/>
        </p:spPr>
        <p:txBody>
          <a:bodyPr wrap="square" lIns="0" tIns="0" rIns="0" bIns="0" rtlCol="0" anchor="t"/>
          <a:lstStyle/>
          <a:p>
            <a:pPr indent="0" marL="0">
              <a:buNone/>
            </a:pPr>
            <a:r>
              <a:rPr lang="en-US" sz="1800" dirty="0">
                <a:solidFill>
                  <a:srgbClr val="38433C"/>
                </a:solidFill>
                <a:latin typeface="Schibsted Grotesk" pitchFamily="34" charset="0"/>
                <a:ea typeface="Schibsted Grotesk" pitchFamily="34" charset="-122"/>
                <a:cs typeface="Schibsted Grotesk" pitchFamily="34" charset="-120"/>
              </a:rPr>
              <a:t>Hamper-only. 40 volunteers were replaced by six part-time staff.</a:t>
            </a:r>
            <a:endParaRPr lang="en-US" sz="1800" dirty="0"/>
          </a:p>
        </p:txBody>
      </p:sp>
      <p:sp>
        <p:nvSpPr>
          <p:cNvPr id="10" name="Shape 8"/>
          <p:cNvSpPr/>
          <p:nvPr/>
        </p:nvSpPr>
        <p:spPr>
          <a:xfrm>
            <a:off x="708660" y="3502152"/>
            <a:ext cx="173736" cy="173736"/>
          </a:xfrm>
          <a:prstGeom prst="ellipse">
            <a:avLst/>
          </a:prstGeom>
          <a:solidFill>
            <a:srgbClr val="F7F5EF"/>
          </a:solidFill>
          <a:ln w="19050">
            <a:solidFill>
              <a:srgbClr val="68716A"/>
            </a:solidFill>
            <a:prstDash val="solid"/>
          </a:ln>
        </p:spPr>
      </p:sp>
      <p:sp>
        <p:nvSpPr>
          <p:cNvPr id="11" name="Text 9"/>
          <p:cNvSpPr txBox="1"/>
          <p:nvPr/>
        </p:nvSpPr>
        <p:spPr>
          <a:xfrm>
            <a:off x="1143000" y="3410712"/>
            <a:ext cx="1795729" cy="384048"/>
          </a:xfrm>
          <a:prstGeom prst="rect">
            <a:avLst/>
          </a:prstGeom>
          <a:noFill/>
          <a:ln/>
        </p:spPr>
        <p:txBody>
          <a:bodyPr wrap="square" lIns="0" tIns="0" rIns="0" bIns="0" rtlCol="0" anchor="t"/>
          <a:lstStyle/>
          <a:p>
            <a:pPr indent="0" marL="0">
              <a:buNone/>
            </a:pPr>
            <a:r>
              <a:rPr lang="en-US" sz="2000" b="1" dirty="0">
                <a:solidFill>
                  <a:srgbClr val="15201A"/>
                </a:solidFill>
                <a:latin typeface="Schibsted Grotesk" pitchFamily="34" charset="0"/>
                <a:ea typeface="Schibsted Grotesk" pitchFamily="34" charset="-122"/>
                <a:cs typeface="Schibsted Grotesk" pitchFamily="34" charset="-120"/>
              </a:rPr>
              <a:t>Feb 2025</a:t>
            </a:r>
            <a:endParaRPr lang="en-US" sz="2000" dirty="0"/>
          </a:p>
        </p:txBody>
      </p:sp>
      <p:sp>
        <p:nvSpPr>
          <p:cNvPr id="12" name="Text 10"/>
          <p:cNvSpPr txBox="1"/>
          <p:nvPr/>
        </p:nvSpPr>
        <p:spPr>
          <a:xfrm>
            <a:off x="3447974" y="3429000"/>
            <a:ext cx="8057921" cy="658368"/>
          </a:xfrm>
          <a:prstGeom prst="rect">
            <a:avLst/>
          </a:prstGeom>
          <a:noFill/>
          <a:ln/>
        </p:spPr>
        <p:txBody>
          <a:bodyPr wrap="square" lIns="0" tIns="0" rIns="0" bIns="0" rtlCol="0" anchor="t"/>
          <a:lstStyle/>
          <a:p>
            <a:pPr indent="0" marL="0">
              <a:buNone/>
            </a:pPr>
            <a:r>
              <a:rPr lang="en-US" sz="1800" dirty="0">
                <a:solidFill>
                  <a:srgbClr val="38433C"/>
                </a:solidFill>
                <a:latin typeface="Schibsted Grotesk" pitchFamily="34" charset="0"/>
                <a:ea typeface="Schibsted Grotesk" pitchFamily="34" charset="-122"/>
                <a:cs typeface="Schibsted Grotesk" pitchFamily="34" charset="-120"/>
              </a:rPr>
              <a:t>The proposed USC budget dropped the Food Support Coordinator.</a:t>
            </a:r>
            <a:endParaRPr lang="en-US" sz="1800" dirty="0"/>
          </a:p>
        </p:txBody>
      </p:sp>
      <p:sp>
        <p:nvSpPr>
          <p:cNvPr id="13" name="Shape 11"/>
          <p:cNvSpPr/>
          <p:nvPr/>
        </p:nvSpPr>
        <p:spPr>
          <a:xfrm>
            <a:off x="708660" y="4270248"/>
            <a:ext cx="173736" cy="173736"/>
          </a:xfrm>
          <a:prstGeom prst="ellipse">
            <a:avLst/>
          </a:prstGeom>
          <a:solidFill>
            <a:srgbClr val="F7F5EF"/>
          </a:solidFill>
          <a:ln w="19050">
            <a:solidFill>
              <a:srgbClr val="68716A"/>
            </a:solidFill>
            <a:prstDash val="solid"/>
          </a:ln>
        </p:spPr>
      </p:sp>
      <p:sp>
        <p:nvSpPr>
          <p:cNvPr id="14" name="Text 12"/>
          <p:cNvSpPr txBox="1"/>
          <p:nvPr/>
        </p:nvSpPr>
        <p:spPr>
          <a:xfrm>
            <a:off x="1143000" y="4178808"/>
            <a:ext cx="1795729" cy="384048"/>
          </a:xfrm>
          <a:prstGeom prst="rect">
            <a:avLst/>
          </a:prstGeom>
          <a:noFill/>
          <a:ln/>
        </p:spPr>
        <p:txBody>
          <a:bodyPr wrap="square" lIns="0" tIns="0" rIns="0" bIns="0" rtlCol="0" anchor="t"/>
          <a:lstStyle/>
          <a:p>
            <a:pPr indent="0" marL="0">
              <a:buNone/>
            </a:pPr>
            <a:r>
              <a:rPr lang="en-US" sz="2000" b="1" dirty="0">
                <a:solidFill>
                  <a:srgbClr val="15201A"/>
                </a:solidFill>
                <a:latin typeface="Schibsted Grotesk" pitchFamily="34" charset="0"/>
                <a:ea typeface="Schibsted Grotesk" pitchFamily="34" charset="-122"/>
                <a:cs typeface="Schibsted Grotesk" pitchFamily="34" charset="-120"/>
              </a:rPr>
              <a:t>Oct 2026</a:t>
            </a:r>
            <a:endParaRPr lang="en-US" sz="2000" dirty="0"/>
          </a:p>
        </p:txBody>
      </p:sp>
      <p:sp>
        <p:nvSpPr>
          <p:cNvPr id="15" name="Text 13"/>
          <p:cNvSpPr txBox="1"/>
          <p:nvPr/>
        </p:nvSpPr>
        <p:spPr>
          <a:xfrm>
            <a:off x="3447974" y="4197096"/>
            <a:ext cx="8057921" cy="658368"/>
          </a:xfrm>
          <a:prstGeom prst="rect">
            <a:avLst/>
          </a:prstGeom>
          <a:noFill/>
          <a:ln/>
        </p:spPr>
        <p:txBody>
          <a:bodyPr wrap="square" lIns="0" tIns="0" rIns="0" bIns="0" rtlCol="0" anchor="t"/>
          <a:lstStyle/>
          <a:p>
            <a:pPr indent="0" marL="0">
              <a:buNone/>
            </a:pPr>
            <a:r>
              <a:rPr lang="en-US" sz="1800" dirty="0">
                <a:solidFill>
                  <a:srgbClr val="38433C"/>
                </a:solidFill>
                <a:latin typeface="Schibsted Grotesk" pitchFamily="34" charset="0"/>
                <a:ea typeface="Schibsted Grotesk" pitchFamily="34" charset="-122"/>
                <a:cs typeface="Schibsted Grotesk" pitchFamily="34" charset="-120"/>
              </a:rPr>
              <a:t>The USC page lists walk-in hours in UCC 40F, Mon–Thu, 10 to 4, and still says requests reopen Sept 8, 2025.</a:t>
            </a:r>
            <a:endParaRPr lang="en-US" sz="1800" dirty="0"/>
          </a:p>
        </p:txBody>
      </p:sp>
      <p:sp>
        <p:nvSpPr>
          <p:cNvPr id="16" name="Shape 14"/>
          <p:cNvSpPr/>
          <p:nvPr/>
        </p:nvSpPr>
        <p:spPr>
          <a:xfrm>
            <a:off x="708660" y="5038344"/>
            <a:ext cx="173736" cy="173736"/>
          </a:xfrm>
          <a:prstGeom prst="ellipse">
            <a:avLst/>
          </a:prstGeom>
          <a:solidFill>
            <a:srgbClr val="1D5E40"/>
          </a:solidFill>
          <a:ln w="19050">
            <a:solidFill>
              <a:srgbClr val="1D5E40"/>
            </a:solidFill>
            <a:prstDash val="solid"/>
          </a:ln>
        </p:spPr>
      </p:sp>
      <p:sp>
        <p:nvSpPr>
          <p:cNvPr id="17" name="Text 15"/>
          <p:cNvSpPr txBox="1"/>
          <p:nvPr/>
        </p:nvSpPr>
        <p:spPr>
          <a:xfrm>
            <a:off x="1143000" y="4946904"/>
            <a:ext cx="1795729" cy="384048"/>
          </a:xfrm>
          <a:prstGeom prst="rect">
            <a:avLst/>
          </a:prstGeom>
          <a:noFill/>
          <a:ln/>
        </p:spPr>
        <p:txBody>
          <a:bodyPr wrap="square" lIns="0" tIns="0" rIns="0" bIns="0" rtlCol="0" anchor="t"/>
          <a:lstStyle/>
          <a:p>
            <a:pPr indent="0" marL="0">
              <a:buNone/>
            </a:pPr>
            <a:r>
              <a:rPr lang="en-US" sz="2000" b="1" dirty="0">
                <a:solidFill>
                  <a:srgbClr val="1D5E40"/>
                </a:solidFill>
                <a:latin typeface="Schibsted Grotesk" pitchFamily="34" charset="0"/>
                <a:ea typeface="Schibsted Grotesk" pitchFamily="34" charset="-122"/>
                <a:cs typeface="Schibsted Grotesk" pitchFamily="34" charset="-120"/>
              </a:rPr>
              <a:t>Today</a:t>
            </a:r>
            <a:endParaRPr lang="en-US" sz="2000" dirty="0"/>
          </a:p>
        </p:txBody>
      </p:sp>
      <p:sp>
        <p:nvSpPr>
          <p:cNvPr id="18" name="Text 16"/>
          <p:cNvSpPr txBox="1"/>
          <p:nvPr/>
        </p:nvSpPr>
        <p:spPr>
          <a:xfrm>
            <a:off x="3447974" y="4965192"/>
            <a:ext cx="8057921" cy="658368"/>
          </a:xfrm>
          <a:prstGeom prst="rect">
            <a:avLst/>
          </a:prstGeom>
          <a:noFill/>
          <a:ln/>
        </p:spPr>
        <p:txBody>
          <a:bodyPr wrap="square" lIns="0" tIns="0" rIns="0" bIns="0" rtlCol="0" anchor="t"/>
          <a:lstStyle/>
          <a:p>
            <a:pPr indent="0" marL="0">
              <a:buNone/>
            </a:pPr>
            <a:r>
              <a:rPr lang="en-US" sz="1800" dirty="0">
                <a:solidFill>
                  <a:srgbClr val="15201A"/>
                </a:solidFill>
                <a:latin typeface="Schibsted Grotesk" pitchFamily="34" charset="0"/>
                <a:ea typeface="Schibsted Grotesk" pitchFamily="34" charset="-122"/>
                <a:cs typeface="Schibsted Grotesk" pitchFamily="34" charset="-120"/>
              </a:rPr>
              <a:t>Otherwise: an online form, at least 48 hours, and a locker.</a:t>
            </a:r>
            <a:endParaRPr lang="en-US" sz="1800" dirty="0"/>
          </a:p>
        </p:txBody>
      </p:sp>
      <p:sp>
        <p:nvSpPr>
          <p:cNvPr id="19" name="Text 17"/>
          <p:cNvSpPr txBox="1"/>
          <p:nvPr/>
        </p:nvSpPr>
        <p:spPr>
          <a:xfrm>
            <a:off x="685800" y="5925312"/>
            <a:ext cx="10820095" cy="292608"/>
          </a:xfrm>
          <a:prstGeom prst="rect">
            <a:avLst/>
          </a:prstGeom>
          <a:noFill/>
          <a:ln/>
        </p:spPr>
        <p:txBody>
          <a:bodyPr wrap="square" lIns="0" tIns="0" rIns="0" bIns="0" rtlCol="0" anchor="b"/>
          <a:lstStyle/>
          <a:p>
            <a:pPr indent="0" marL="0">
              <a:buNone/>
            </a:pPr>
            <a:r>
              <a:rPr lang="en-US" sz="1100" dirty="0">
                <a:solidFill>
                  <a:srgbClr val="68716A"/>
                </a:solidFill>
                <a:latin typeface="Schibsted Grotesk" pitchFamily="34" charset="0"/>
                <a:ea typeface="Schibsted Grotesk" pitchFamily="34" charset="-122"/>
                <a:cs typeface="Schibsted Grotesk" pitchFamily="34" charset="-120"/>
              </a:rPr>
              <a:t>Sources: The Gazette, Oct 4, 2024 and Feb 2025; USC Food Support page, checked Oct 31, 2026.</a:t>
            </a:r>
            <a:endParaRPr lang="en-US" sz="11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4"/>
          <p:cNvSpPr/>
          <p:nvPr>
            <p:ph idx="104" type="title" hasCustomPrompt="1"/>
          </p:nvPr>
        </p:nvSpPr>
        <p:spPr>
          <a:xfrm>
            <a:off x="685800" y="502920"/>
            <a:ext cx="10241280" cy="1188720"/>
          </a:xfrm>
          <a:prstGeom prst="rect">
            <a:avLst/>
          </a:prstGeom>
          <a:noFill/>
          <a:ln/>
        </p:spPr>
        <p:txBody>
          <a:bodyPr wrap="square" lIns="0" tIns="0" rIns="0" bIns="0" rtlCol="0" anchor="t"/>
          <a:lstStyle/>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A3. Sources</a:t>
            </a:r>
            <a:endParaRPr lang="en-US" sz="3400" dirty="0"/>
          </a:p>
        </p:txBody>
      </p:sp>
      <p:sp>
        <p:nvSpPr>
          <p:cNvPr id="3" name="Text 1"/>
          <p:cNvSpPr txBox="1"/>
          <p:nvPr/>
        </p:nvSpPr>
        <p:spPr>
          <a:xfrm>
            <a:off x="685800" y="1463040"/>
            <a:ext cx="5295748" cy="256032"/>
          </a:xfrm>
          <a:prstGeom prst="rect">
            <a:avLst/>
          </a:prstGeom>
          <a:noFill/>
          <a:ln/>
        </p:spPr>
        <p:txBody>
          <a:bodyPr wrap="square" lIns="0" tIns="0" rIns="0" bIns="0" rtlCol="0" anchor="t"/>
          <a:lstStyle/>
          <a:p>
            <a:pPr indent="0" marL="0">
              <a:buNone/>
            </a:pPr>
            <a:r>
              <a:rPr lang="en-US" sz="1300" b="1" dirty="0">
                <a:solidFill>
                  <a:srgbClr val="15201A"/>
                </a:solidFill>
                <a:latin typeface="Schibsted Grotesk" pitchFamily="34" charset="0"/>
                <a:ea typeface="Schibsted Grotesk" pitchFamily="34" charset="-122"/>
                <a:cs typeface="Schibsted Grotesk" pitchFamily="34" charset="-120"/>
              </a:rPr>
              <a:t>Aspire 2026 case and exhibits</a:t>
            </a:r>
            <a:endParaRPr lang="en-US" sz="1300" dirty="0"/>
          </a:p>
        </p:txBody>
      </p:sp>
      <p:sp>
        <p:nvSpPr>
          <p:cNvPr id="4" name="Text 2"/>
          <p:cNvSpPr txBox="1"/>
          <p:nvPr/>
        </p:nvSpPr>
        <p:spPr>
          <a:xfrm>
            <a:off x="685800" y="1728216"/>
            <a:ext cx="5295748" cy="274320"/>
          </a:xfrm>
          <a:prstGeom prst="rect">
            <a:avLst/>
          </a:prstGeom>
          <a:noFill/>
          <a:ln/>
        </p:spPr>
        <p:txBody>
          <a:bodyPr wrap="square" lIns="0" tIns="0" rIns="0" bIns="0" rtlCol="0" anchor="t"/>
          <a:lstStyle/>
          <a:p>
            <a:pPr indent="0" marL="0">
              <a:buNone/>
            </a:pPr>
            <a:r>
              <a:rPr lang="en-US" sz="1100" dirty="0">
                <a:solidFill>
                  <a:srgbClr val="38433C"/>
                </a:solidFill>
                <a:latin typeface="Schibsted Grotesk" pitchFamily="34" charset="0"/>
                <a:ea typeface="Schibsted Grotesk" pitchFamily="34" charset="-122"/>
                <a:cs typeface="Schibsted Grotesk" pitchFamily="34" charset="-120"/>
              </a:rPr>
              <a:t>USC fees, 2026–27 budget, FY2024 statements, Roadmap, election data.</a:t>
            </a:r>
            <a:endParaRPr lang="en-US" sz="1100" dirty="0"/>
          </a:p>
        </p:txBody>
      </p:sp>
      <p:sp>
        <p:nvSpPr>
          <p:cNvPr id="5" name="Text 3"/>
          <p:cNvSpPr txBox="1"/>
          <p:nvPr/>
        </p:nvSpPr>
        <p:spPr>
          <a:xfrm>
            <a:off x="685800" y="2084832"/>
            <a:ext cx="5295748" cy="256032"/>
          </a:xfrm>
          <a:prstGeom prst="rect">
            <a:avLst/>
          </a:prstGeom>
          <a:noFill/>
          <a:ln/>
        </p:spPr>
        <p:txBody>
          <a:bodyPr wrap="square" lIns="0" tIns="0" rIns="0" bIns="0" rtlCol="0" anchor="t"/>
          <a:lstStyle/>
          <a:p>
            <a:pPr indent="0" marL="0">
              <a:buNone/>
            </a:pPr>
            <a:r>
              <a:rPr lang="en-US" sz="1300" b="1" dirty="0">
                <a:solidFill>
                  <a:srgbClr val="15201A"/>
                </a:solidFill>
                <a:latin typeface="Schibsted Grotesk" pitchFamily="34" charset="0"/>
                <a:ea typeface="Schibsted Grotesk" pitchFamily="34" charset="-122"/>
                <a:cs typeface="Schibsted Grotesk" pitchFamily="34" charset="-120"/>
              </a:rPr>
              <a:t>Global News, Mar 15, 2024</a:t>
            </a:r>
            <a:endParaRPr lang="en-US" sz="1300" dirty="0"/>
          </a:p>
        </p:txBody>
      </p:sp>
      <p:sp>
        <p:nvSpPr>
          <p:cNvPr id="6" name="Text 4"/>
          <p:cNvSpPr txBox="1"/>
          <p:nvPr/>
        </p:nvSpPr>
        <p:spPr>
          <a:xfrm>
            <a:off x="685800" y="2350008"/>
            <a:ext cx="5295748" cy="274320"/>
          </a:xfrm>
          <a:prstGeom prst="rect">
            <a:avLst/>
          </a:prstGeom>
          <a:noFill/>
          <a:ln/>
        </p:spPr>
        <p:txBody>
          <a:bodyPr wrap="square" lIns="0" tIns="0" rIns="0" bIns="0" rtlCol="0" anchor="t"/>
          <a:lstStyle/>
          <a:p>
            <a:pPr indent="0" marL="0">
              <a:buNone/>
            </a:pPr>
            <a:r>
              <a:rPr lang="en-US" sz="1100" dirty="0">
                <a:solidFill>
                  <a:srgbClr val="38433C"/>
                </a:solidFill>
                <a:latin typeface="Schibsted Grotesk" pitchFamily="34" charset="0"/>
                <a:ea typeface="Schibsted Grotesk" pitchFamily="34" charset="-122"/>
                <a:cs typeface="Schibsted Grotesk" pitchFamily="34" charset="-120"/>
              </a:rPr>
              <a:t>1,700+ hampers since Sept 2023; about 750 in all of 2022–23.</a:t>
            </a:r>
            <a:endParaRPr lang="en-US" sz="1100" dirty="0"/>
          </a:p>
        </p:txBody>
      </p:sp>
      <p:sp>
        <p:nvSpPr>
          <p:cNvPr id="7" name="Text 5"/>
          <p:cNvSpPr txBox="1"/>
          <p:nvPr/>
        </p:nvSpPr>
        <p:spPr>
          <a:xfrm>
            <a:off x="685800" y="2706624"/>
            <a:ext cx="5295748" cy="256032"/>
          </a:xfrm>
          <a:prstGeom prst="rect">
            <a:avLst/>
          </a:prstGeom>
          <a:noFill/>
          <a:ln/>
        </p:spPr>
        <p:txBody>
          <a:bodyPr wrap="square" lIns="0" tIns="0" rIns="0" bIns="0" rtlCol="0" anchor="t"/>
          <a:lstStyle/>
          <a:p>
            <a:pPr indent="0" marL="0">
              <a:buNone/>
            </a:pPr>
            <a:r>
              <a:rPr lang="en-US" sz="1300" b="1" dirty="0">
                <a:solidFill>
                  <a:srgbClr val="15201A"/>
                </a:solidFill>
                <a:latin typeface="Schibsted Grotesk" pitchFamily="34" charset="0"/>
                <a:ea typeface="Schibsted Grotesk" pitchFamily="34" charset="-122"/>
                <a:cs typeface="Schibsted Grotesk" pitchFamily="34" charset="-120"/>
              </a:rPr>
              <a:t>The Gazette, Oct 4, 2024</a:t>
            </a:r>
            <a:endParaRPr lang="en-US" sz="1300" dirty="0"/>
          </a:p>
        </p:txBody>
      </p:sp>
      <p:sp>
        <p:nvSpPr>
          <p:cNvPr id="8" name="Text 6"/>
          <p:cNvSpPr txBox="1"/>
          <p:nvPr/>
        </p:nvSpPr>
        <p:spPr>
          <a:xfrm>
            <a:off x="685800" y="2971800"/>
            <a:ext cx="5295748" cy="274320"/>
          </a:xfrm>
          <a:prstGeom prst="rect">
            <a:avLst/>
          </a:prstGeom>
          <a:noFill/>
          <a:ln/>
        </p:spPr>
        <p:txBody>
          <a:bodyPr wrap="square" lIns="0" tIns="0" rIns="0" bIns="0" rtlCol="0" anchor="t"/>
          <a:lstStyle/>
          <a:p>
            <a:pPr indent="0" marL="0">
              <a:buNone/>
            </a:pPr>
            <a:r>
              <a:rPr lang="en-US" sz="1100" dirty="0">
                <a:solidFill>
                  <a:srgbClr val="38433C"/>
                </a:solidFill>
                <a:latin typeface="Schibsted Grotesk" pitchFamily="34" charset="0"/>
                <a:ea typeface="Schibsted Grotesk" pitchFamily="34" charset="-122"/>
                <a:cs typeface="Schibsted Grotesk" pitchFamily="34" charset="-120"/>
              </a:rPr>
              <a:t>Walk-ins closed Sept 2023 after a 600% rise; “incredibly difficult.”</a:t>
            </a:r>
            <a:endParaRPr lang="en-US" sz="1100" dirty="0"/>
          </a:p>
        </p:txBody>
      </p:sp>
      <p:sp>
        <p:nvSpPr>
          <p:cNvPr id="9" name="Text 7"/>
          <p:cNvSpPr txBox="1"/>
          <p:nvPr/>
        </p:nvSpPr>
        <p:spPr>
          <a:xfrm>
            <a:off x="685800" y="3328416"/>
            <a:ext cx="5295748" cy="256032"/>
          </a:xfrm>
          <a:prstGeom prst="rect">
            <a:avLst/>
          </a:prstGeom>
          <a:noFill/>
          <a:ln/>
        </p:spPr>
        <p:txBody>
          <a:bodyPr wrap="square" lIns="0" tIns="0" rIns="0" bIns="0" rtlCol="0" anchor="t"/>
          <a:lstStyle/>
          <a:p>
            <a:pPr indent="0" marL="0">
              <a:buNone/>
            </a:pPr>
            <a:r>
              <a:rPr lang="en-US" sz="1300" b="1" dirty="0">
                <a:solidFill>
                  <a:srgbClr val="15201A"/>
                </a:solidFill>
                <a:latin typeface="Schibsted Grotesk" pitchFamily="34" charset="0"/>
                <a:ea typeface="Schibsted Grotesk" pitchFamily="34" charset="-122"/>
                <a:cs typeface="Schibsted Grotesk" pitchFamily="34" charset="-120"/>
              </a:rPr>
              <a:t>The Gazette, Feb 2025</a:t>
            </a:r>
            <a:endParaRPr lang="en-US" sz="1300" dirty="0"/>
          </a:p>
        </p:txBody>
      </p:sp>
      <p:sp>
        <p:nvSpPr>
          <p:cNvPr id="10" name="Text 8"/>
          <p:cNvSpPr txBox="1"/>
          <p:nvPr/>
        </p:nvSpPr>
        <p:spPr>
          <a:xfrm>
            <a:off x="685800" y="3593592"/>
            <a:ext cx="5295748" cy="274320"/>
          </a:xfrm>
          <a:prstGeom prst="rect">
            <a:avLst/>
          </a:prstGeom>
          <a:noFill/>
          <a:ln/>
        </p:spPr>
        <p:txBody>
          <a:bodyPr wrap="square" lIns="0" tIns="0" rIns="0" bIns="0" rtlCol="0" anchor="t"/>
          <a:lstStyle/>
          <a:p>
            <a:pPr indent="0" marL="0">
              <a:buNone/>
            </a:pPr>
            <a:r>
              <a:rPr lang="en-US" sz="1100" dirty="0">
                <a:solidFill>
                  <a:srgbClr val="38433C"/>
                </a:solidFill>
                <a:latin typeface="Schibsted Grotesk" pitchFamily="34" charset="0"/>
                <a:ea typeface="Schibsted Grotesk" pitchFamily="34" charset="-122"/>
                <a:cs typeface="Schibsted Grotesk" pitchFamily="34" charset="-120"/>
              </a:rPr>
              <a:t>Proposed 2025–26 budget drops the Food Support Coordinator role.</a:t>
            </a:r>
            <a:endParaRPr lang="en-US" sz="1100" dirty="0"/>
          </a:p>
        </p:txBody>
      </p:sp>
      <p:sp>
        <p:nvSpPr>
          <p:cNvPr id="11" name="Text 9"/>
          <p:cNvSpPr txBox="1"/>
          <p:nvPr/>
        </p:nvSpPr>
        <p:spPr>
          <a:xfrm>
            <a:off x="685800" y="3950208"/>
            <a:ext cx="5295748" cy="256032"/>
          </a:xfrm>
          <a:prstGeom prst="rect">
            <a:avLst/>
          </a:prstGeom>
          <a:noFill/>
          <a:ln/>
        </p:spPr>
        <p:txBody>
          <a:bodyPr wrap="square" lIns="0" tIns="0" rIns="0" bIns="0" rtlCol="0" anchor="t"/>
          <a:lstStyle/>
          <a:p>
            <a:pPr indent="0" marL="0">
              <a:buNone/>
            </a:pPr>
            <a:r>
              <a:rPr lang="en-US" sz="1300" b="1" dirty="0">
                <a:solidFill>
                  <a:srgbClr val="15201A"/>
                </a:solidFill>
                <a:latin typeface="Schibsted Grotesk" pitchFamily="34" charset="0"/>
                <a:ea typeface="Schibsted Grotesk" pitchFamily="34" charset="-122"/>
                <a:cs typeface="Schibsted Grotesk" pitchFamily="34" charset="-120"/>
              </a:rPr>
              <a:t>USC Food Support page, Oct 31, 2026</a:t>
            </a:r>
            <a:endParaRPr lang="en-US" sz="1300" dirty="0"/>
          </a:p>
        </p:txBody>
      </p:sp>
      <p:sp>
        <p:nvSpPr>
          <p:cNvPr id="12" name="Text 10"/>
          <p:cNvSpPr txBox="1"/>
          <p:nvPr/>
        </p:nvSpPr>
        <p:spPr>
          <a:xfrm>
            <a:off x="685800" y="4215384"/>
            <a:ext cx="5295748" cy="274320"/>
          </a:xfrm>
          <a:prstGeom prst="rect">
            <a:avLst/>
          </a:prstGeom>
          <a:noFill/>
          <a:ln/>
        </p:spPr>
        <p:txBody>
          <a:bodyPr wrap="square" lIns="0" tIns="0" rIns="0" bIns="0" rtlCol="0" anchor="t"/>
          <a:lstStyle/>
          <a:p>
            <a:pPr indent="0" marL="0">
              <a:buNone/>
            </a:pPr>
            <a:r>
              <a:rPr lang="en-US" sz="1100" dirty="0">
                <a:solidFill>
                  <a:srgbClr val="38433C"/>
                </a:solidFill>
                <a:latin typeface="Schibsted Grotesk" pitchFamily="34" charset="0"/>
                <a:ea typeface="Schibsted Grotesk" pitchFamily="34" charset="-122"/>
                <a:cs typeface="Schibsted Grotesk" pitchFamily="34" charset="-120"/>
              </a:rPr>
              <a:t>Mon–Thu 10–4, UCC 40F; hampers “as soon as 48 hours”; donations only.</a:t>
            </a:r>
            <a:endParaRPr lang="en-US" sz="1100" dirty="0"/>
          </a:p>
        </p:txBody>
      </p:sp>
      <p:sp>
        <p:nvSpPr>
          <p:cNvPr id="13" name="Text 11"/>
          <p:cNvSpPr txBox="1"/>
          <p:nvPr/>
        </p:nvSpPr>
        <p:spPr>
          <a:xfrm>
            <a:off x="685800" y="4572000"/>
            <a:ext cx="5295748" cy="256032"/>
          </a:xfrm>
          <a:prstGeom prst="rect">
            <a:avLst/>
          </a:prstGeom>
          <a:noFill/>
          <a:ln/>
        </p:spPr>
        <p:txBody>
          <a:bodyPr wrap="square" lIns="0" tIns="0" rIns="0" bIns="0" rtlCol="0" anchor="t"/>
          <a:lstStyle/>
          <a:p>
            <a:pPr indent="0" marL="0">
              <a:buNone/>
            </a:pPr>
            <a:r>
              <a:rPr lang="en-US" sz="1300" b="1" dirty="0">
                <a:solidFill>
                  <a:srgbClr val="15201A"/>
                </a:solidFill>
                <a:latin typeface="Schibsted Grotesk" pitchFamily="34" charset="0"/>
                <a:ea typeface="Schibsted Grotesk" pitchFamily="34" charset="-122"/>
                <a:cs typeface="Schibsted Grotesk" pitchFamily="34" charset="-120"/>
              </a:rPr>
              <a:t>CASA, Walking the Tightrope, Mar 2025</a:t>
            </a:r>
            <a:endParaRPr lang="en-US" sz="1300" dirty="0"/>
          </a:p>
        </p:txBody>
      </p:sp>
      <p:sp>
        <p:nvSpPr>
          <p:cNvPr id="14" name="Text 12"/>
          <p:cNvSpPr txBox="1"/>
          <p:nvPr/>
        </p:nvSpPr>
        <p:spPr>
          <a:xfrm>
            <a:off x="685800" y="4837176"/>
            <a:ext cx="5295748" cy="274320"/>
          </a:xfrm>
          <a:prstGeom prst="rect">
            <a:avLst/>
          </a:prstGeom>
          <a:noFill/>
          <a:ln/>
        </p:spPr>
        <p:txBody>
          <a:bodyPr wrap="square" lIns="0" tIns="0" rIns="0" bIns="0" rtlCol="0" anchor="t"/>
          <a:lstStyle/>
          <a:p>
            <a:pPr indent="0" marL="0">
              <a:buNone/>
            </a:pPr>
            <a:r>
              <a:rPr lang="en-US" sz="1100" dirty="0">
                <a:solidFill>
                  <a:srgbClr val="38433C"/>
                </a:solidFill>
                <a:latin typeface="Schibsted Grotesk" pitchFamily="34" charset="0"/>
                <a:ea typeface="Schibsted Grotesk" pitchFamily="34" charset="-122"/>
                <a:cs typeface="Schibsted Grotesk" pitchFamily="34" charset="-120"/>
              </a:rPr>
              <a:t>Abacus Data, 1,500 students, May 2024: 40% skipped meals for cost.</a:t>
            </a:r>
            <a:endParaRPr lang="en-US" sz="1100" dirty="0"/>
          </a:p>
        </p:txBody>
      </p:sp>
      <p:sp>
        <p:nvSpPr>
          <p:cNvPr id="15" name="Text 13"/>
          <p:cNvSpPr txBox="1"/>
          <p:nvPr/>
        </p:nvSpPr>
        <p:spPr>
          <a:xfrm>
            <a:off x="685800" y="5193792"/>
            <a:ext cx="5295748" cy="256032"/>
          </a:xfrm>
          <a:prstGeom prst="rect">
            <a:avLst/>
          </a:prstGeom>
          <a:noFill/>
          <a:ln/>
        </p:spPr>
        <p:txBody>
          <a:bodyPr wrap="square" lIns="0" tIns="0" rIns="0" bIns="0" rtlCol="0" anchor="t"/>
          <a:lstStyle/>
          <a:p>
            <a:pPr indent="0" marL="0">
              <a:buNone/>
            </a:pPr>
            <a:r>
              <a:rPr lang="en-US" sz="1300" b="1" dirty="0">
                <a:solidFill>
                  <a:srgbClr val="15201A"/>
                </a:solidFill>
                <a:latin typeface="Schibsted Grotesk" pitchFamily="34" charset="0"/>
                <a:ea typeface="Schibsted Grotesk" pitchFamily="34" charset="-122"/>
                <a:cs typeface="Schibsted Grotesk" pitchFamily="34" charset="-120"/>
              </a:rPr>
              <a:t>The Eyeopener, Oct 27, 2026</a:t>
            </a:r>
            <a:endParaRPr lang="en-US" sz="1300" dirty="0"/>
          </a:p>
        </p:txBody>
      </p:sp>
      <p:sp>
        <p:nvSpPr>
          <p:cNvPr id="16" name="Text 14"/>
          <p:cNvSpPr txBox="1"/>
          <p:nvPr/>
        </p:nvSpPr>
        <p:spPr>
          <a:xfrm>
            <a:off x="685800" y="5458968"/>
            <a:ext cx="5295748" cy="274320"/>
          </a:xfrm>
          <a:prstGeom prst="rect">
            <a:avLst/>
          </a:prstGeom>
          <a:noFill/>
          <a:ln/>
        </p:spPr>
        <p:txBody>
          <a:bodyPr wrap="square" lIns="0" tIns="0" rIns="0" bIns="0" rtlCol="0" anchor="t"/>
          <a:lstStyle/>
          <a:p>
            <a:pPr indent="0" marL="0">
              <a:buNone/>
            </a:pPr>
            <a:r>
              <a:rPr lang="en-US" sz="1100" dirty="0">
                <a:solidFill>
                  <a:srgbClr val="38433C"/>
                </a:solidFill>
                <a:latin typeface="Schibsted Grotesk" pitchFamily="34" charset="0"/>
                <a:ea typeface="Schibsted Grotesk" pitchFamily="34" charset="-122"/>
                <a:cs typeface="Schibsted Grotesk" pitchFamily="34" charset="-120"/>
              </a:rPr>
              <a:t>TMU: 48.5% food insecure; 20% had visited the food bank.</a:t>
            </a:r>
            <a:endParaRPr lang="en-US" sz="1100" dirty="0"/>
          </a:p>
        </p:txBody>
      </p:sp>
      <p:sp>
        <p:nvSpPr>
          <p:cNvPr id="17" name="Text 15"/>
          <p:cNvSpPr txBox="1"/>
          <p:nvPr/>
        </p:nvSpPr>
        <p:spPr>
          <a:xfrm>
            <a:off x="6210148" y="1463040"/>
            <a:ext cx="5295748" cy="256032"/>
          </a:xfrm>
          <a:prstGeom prst="rect">
            <a:avLst/>
          </a:prstGeom>
          <a:noFill/>
          <a:ln/>
        </p:spPr>
        <p:txBody>
          <a:bodyPr wrap="square" lIns="0" tIns="0" rIns="0" bIns="0" rtlCol="0" anchor="t"/>
          <a:lstStyle/>
          <a:p>
            <a:pPr indent="0" marL="0">
              <a:buNone/>
            </a:pPr>
            <a:r>
              <a:rPr lang="en-US" sz="1300" b="1" dirty="0">
                <a:solidFill>
                  <a:srgbClr val="15201A"/>
                </a:solidFill>
                <a:latin typeface="Schibsted Grotesk" pitchFamily="34" charset="0"/>
                <a:ea typeface="Schibsted Grotesk" pitchFamily="34" charset="-122"/>
                <a:cs typeface="Schibsted Grotesk" pitchFamily="34" charset="-120"/>
              </a:rPr>
              <a:t>Jones et al., JAFSCD 2024; corrected 2025</a:t>
            </a:r>
            <a:endParaRPr lang="en-US" sz="1300" dirty="0"/>
          </a:p>
        </p:txBody>
      </p:sp>
      <p:sp>
        <p:nvSpPr>
          <p:cNvPr id="18" name="Text 16"/>
          <p:cNvSpPr txBox="1"/>
          <p:nvPr/>
        </p:nvSpPr>
        <p:spPr>
          <a:xfrm>
            <a:off x="6210148" y="1728216"/>
            <a:ext cx="5295748" cy="274320"/>
          </a:xfrm>
          <a:prstGeom prst="rect">
            <a:avLst/>
          </a:prstGeom>
          <a:noFill/>
          <a:ln/>
        </p:spPr>
        <p:txBody>
          <a:bodyPr wrap="square" lIns="0" tIns="0" rIns="0" bIns="0" rtlCol="0" anchor="t"/>
          <a:lstStyle/>
          <a:p>
            <a:pPr indent="0" marL="0">
              <a:buNone/>
            </a:pPr>
            <a:r>
              <a:rPr lang="en-US" sz="1100" dirty="0">
                <a:solidFill>
                  <a:srgbClr val="38433C"/>
                </a:solidFill>
                <a:latin typeface="Schibsted Grotesk" pitchFamily="34" charset="0"/>
                <a:ea typeface="Schibsted Grotesk" pitchFamily="34" charset="-122"/>
                <a:cs typeface="Schibsted Grotesk" pitchFamily="34" charset="-120"/>
              </a:rPr>
              <a:t>Anonymous pantries at VCU: 5,263 door openings in 2022–23.</a:t>
            </a:r>
            <a:endParaRPr lang="en-US" sz="1100" dirty="0"/>
          </a:p>
        </p:txBody>
      </p:sp>
      <p:sp>
        <p:nvSpPr>
          <p:cNvPr id="19" name="Text 17"/>
          <p:cNvSpPr txBox="1"/>
          <p:nvPr/>
        </p:nvSpPr>
        <p:spPr>
          <a:xfrm>
            <a:off x="6210148" y="2084832"/>
            <a:ext cx="5295748" cy="256032"/>
          </a:xfrm>
          <a:prstGeom prst="rect">
            <a:avLst/>
          </a:prstGeom>
          <a:noFill/>
          <a:ln/>
        </p:spPr>
        <p:txBody>
          <a:bodyPr wrap="square" lIns="0" tIns="0" rIns="0" bIns="0" rtlCol="0" anchor="t"/>
          <a:lstStyle/>
          <a:p>
            <a:pPr indent="0" marL="0">
              <a:buNone/>
            </a:pPr>
            <a:r>
              <a:rPr lang="en-US" sz="1300" b="1" dirty="0">
                <a:solidFill>
                  <a:srgbClr val="15201A"/>
                </a:solidFill>
                <a:latin typeface="Schibsted Grotesk" pitchFamily="34" charset="0"/>
                <a:ea typeface="Schibsted Grotesk" pitchFamily="34" charset="-122"/>
                <a:cs typeface="Schibsted Grotesk" pitchFamily="34" charset="-120"/>
              </a:rPr>
              <a:t>The Gateway, May 3, 2024</a:t>
            </a:r>
            <a:endParaRPr lang="en-US" sz="1300" dirty="0"/>
          </a:p>
        </p:txBody>
      </p:sp>
      <p:sp>
        <p:nvSpPr>
          <p:cNvPr id="20" name="Text 18"/>
          <p:cNvSpPr txBox="1"/>
          <p:nvPr/>
        </p:nvSpPr>
        <p:spPr>
          <a:xfrm>
            <a:off x="6210148" y="2350008"/>
            <a:ext cx="5295748" cy="274320"/>
          </a:xfrm>
          <a:prstGeom prst="rect">
            <a:avLst/>
          </a:prstGeom>
          <a:noFill/>
          <a:ln/>
        </p:spPr>
        <p:txBody>
          <a:bodyPr wrap="square" lIns="0" tIns="0" rIns="0" bIns="0" rtlCol="0" anchor="t"/>
          <a:lstStyle/>
          <a:p>
            <a:pPr indent="0" marL="0">
              <a:buNone/>
            </a:pPr>
            <a:r>
              <a:rPr lang="en-US" sz="1100" dirty="0">
                <a:solidFill>
                  <a:srgbClr val="38433C"/>
                </a:solidFill>
                <a:latin typeface="Schibsted Grotesk" pitchFamily="34" charset="0"/>
                <a:ea typeface="Schibsted Grotesk" pitchFamily="34" charset="-122"/>
                <a:cs typeface="Schibsted Grotesk" pitchFamily="34" charset="-120"/>
              </a:rPr>
              <a:t>U of Alberta: walk-up pantry empty in hours; six-week waitlist.</a:t>
            </a:r>
            <a:endParaRPr lang="en-US" sz="1100" dirty="0"/>
          </a:p>
        </p:txBody>
      </p:sp>
      <p:sp>
        <p:nvSpPr>
          <p:cNvPr id="21" name="Text 19"/>
          <p:cNvSpPr txBox="1"/>
          <p:nvPr/>
        </p:nvSpPr>
        <p:spPr>
          <a:xfrm>
            <a:off x="6210148" y="2706624"/>
            <a:ext cx="5295748" cy="256032"/>
          </a:xfrm>
          <a:prstGeom prst="rect">
            <a:avLst/>
          </a:prstGeom>
          <a:noFill/>
          <a:ln/>
        </p:spPr>
        <p:txBody>
          <a:bodyPr wrap="square" lIns="0" tIns="0" rIns="0" bIns="0" rtlCol="0" anchor="t"/>
          <a:lstStyle/>
          <a:p>
            <a:pPr indent="0" marL="0">
              <a:buNone/>
            </a:pPr>
            <a:r>
              <a:rPr lang="en-US" sz="1300" b="1" dirty="0">
                <a:solidFill>
                  <a:srgbClr val="15201A"/>
                </a:solidFill>
                <a:latin typeface="Schibsted Grotesk" pitchFamily="34" charset="0"/>
                <a:ea typeface="Schibsted Grotesk" pitchFamily="34" charset="-122"/>
                <a:cs typeface="Schibsted Grotesk" pitchFamily="34" charset="-120"/>
              </a:rPr>
              <a:t>LSPIRG, Year in Review 2023–2024</a:t>
            </a:r>
            <a:endParaRPr lang="en-US" sz="1300" dirty="0"/>
          </a:p>
        </p:txBody>
      </p:sp>
      <p:sp>
        <p:nvSpPr>
          <p:cNvPr id="22" name="Text 20"/>
          <p:cNvSpPr txBox="1"/>
          <p:nvPr/>
        </p:nvSpPr>
        <p:spPr>
          <a:xfrm>
            <a:off x="6210148" y="2971800"/>
            <a:ext cx="5295748" cy="274320"/>
          </a:xfrm>
          <a:prstGeom prst="rect">
            <a:avLst/>
          </a:prstGeom>
          <a:noFill/>
          <a:ln/>
        </p:spPr>
        <p:txBody>
          <a:bodyPr wrap="square" lIns="0" tIns="0" rIns="0" bIns="0" rtlCol="0" anchor="t"/>
          <a:lstStyle/>
          <a:p>
            <a:pPr indent="0" marL="0">
              <a:buNone/>
            </a:pPr>
            <a:r>
              <a:rPr lang="en-US" sz="1100" dirty="0">
                <a:solidFill>
                  <a:srgbClr val="38433C"/>
                </a:solidFill>
                <a:latin typeface="Schibsted Grotesk" pitchFamily="34" charset="0"/>
                <a:ea typeface="Schibsted Grotesk" pitchFamily="34" charset="-122"/>
                <a:cs typeface="Schibsted Grotesk" pitchFamily="34" charset="-120"/>
              </a:rPr>
              <a:t>Laurier’s free weekly food distribution: up to 200 students a week.</a:t>
            </a:r>
            <a:endParaRPr lang="en-US" sz="1100" dirty="0"/>
          </a:p>
        </p:txBody>
      </p:sp>
      <p:sp>
        <p:nvSpPr>
          <p:cNvPr id="23" name="Text 21"/>
          <p:cNvSpPr txBox="1"/>
          <p:nvPr/>
        </p:nvSpPr>
        <p:spPr>
          <a:xfrm>
            <a:off x="6210148" y="3328416"/>
            <a:ext cx="5295748" cy="256032"/>
          </a:xfrm>
          <a:prstGeom prst="rect">
            <a:avLst/>
          </a:prstGeom>
          <a:noFill/>
          <a:ln/>
        </p:spPr>
        <p:txBody>
          <a:bodyPr wrap="square" lIns="0" tIns="0" rIns="0" bIns="0" rtlCol="0" anchor="t"/>
          <a:lstStyle/>
          <a:p>
            <a:pPr indent="0" marL="0">
              <a:buNone/>
            </a:pPr>
            <a:r>
              <a:rPr lang="en-US" sz="1300" b="1" dirty="0">
                <a:solidFill>
                  <a:srgbClr val="15201A"/>
                </a:solidFill>
                <a:latin typeface="Schibsted Grotesk" pitchFamily="34" charset="0"/>
                <a:ea typeface="Schibsted Grotesk" pitchFamily="34" charset="-122"/>
                <a:cs typeface="Schibsted Grotesk" pitchFamily="34" charset="-120"/>
              </a:rPr>
              <a:t>Western News, Oct 25, 2024</a:t>
            </a:r>
            <a:endParaRPr lang="en-US" sz="1300" dirty="0"/>
          </a:p>
        </p:txBody>
      </p:sp>
      <p:sp>
        <p:nvSpPr>
          <p:cNvPr id="24" name="Text 22"/>
          <p:cNvSpPr txBox="1"/>
          <p:nvPr/>
        </p:nvSpPr>
        <p:spPr>
          <a:xfrm>
            <a:off x="6210148" y="3593592"/>
            <a:ext cx="5295748" cy="274320"/>
          </a:xfrm>
          <a:prstGeom prst="rect">
            <a:avLst/>
          </a:prstGeom>
          <a:noFill/>
          <a:ln/>
        </p:spPr>
        <p:txBody>
          <a:bodyPr wrap="square" lIns="0" tIns="0" rIns="0" bIns="0" rtlCol="0" anchor="t"/>
          <a:lstStyle/>
          <a:p>
            <a:pPr indent="0" marL="0">
              <a:buNone/>
            </a:pPr>
            <a:r>
              <a:rPr lang="en-US" sz="1100" dirty="0">
                <a:solidFill>
                  <a:srgbClr val="38433C"/>
                </a:solidFill>
                <a:latin typeface="Schibsted Grotesk" pitchFamily="34" charset="0"/>
                <a:ea typeface="Schibsted Grotesk" pitchFamily="34" charset="-122"/>
                <a:cs typeface="Schibsted Grotesk" pitchFamily="34" charset="-120"/>
              </a:rPr>
              <a:t>Campus dining gave 7,500+ surplus meals to 19 off-campus agencies.</a:t>
            </a:r>
            <a:endParaRPr lang="en-US" sz="1100" dirty="0"/>
          </a:p>
        </p:txBody>
      </p:sp>
      <p:sp>
        <p:nvSpPr>
          <p:cNvPr id="25" name="Text 23"/>
          <p:cNvSpPr txBox="1"/>
          <p:nvPr/>
        </p:nvSpPr>
        <p:spPr>
          <a:xfrm>
            <a:off x="6210148" y="3950208"/>
            <a:ext cx="5295748" cy="256032"/>
          </a:xfrm>
          <a:prstGeom prst="rect">
            <a:avLst/>
          </a:prstGeom>
          <a:noFill/>
          <a:ln/>
        </p:spPr>
        <p:txBody>
          <a:bodyPr wrap="square" lIns="0" tIns="0" rIns="0" bIns="0" rtlCol="0" anchor="t"/>
          <a:lstStyle/>
          <a:p>
            <a:pPr indent="0" marL="0">
              <a:buNone/>
            </a:pPr>
            <a:r>
              <a:rPr lang="en-US" sz="1300" b="1" dirty="0">
                <a:solidFill>
                  <a:srgbClr val="15201A"/>
                </a:solidFill>
                <a:latin typeface="Schibsted Grotesk" pitchFamily="34" charset="0"/>
                <a:ea typeface="Schibsted Grotesk" pitchFamily="34" charset="-122"/>
                <a:cs typeface="Schibsted Grotesk" pitchFamily="34" charset="-120"/>
              </a:rPr>
              <a:t>Donation of Food Act, 1994 (Ontario)</a:t>
            </a:r>
            <a:endParaRPr lang="en-US" sz="1300" dirty="0"/>
          </a:p>
        </p:txBody>
      </p:sp>
      <p:sp>
        <p:nvSpPr>
          <p:cNvPr id="26" name="Text 24"/>
          <p:cNvSpPr txBox="1"/>
          <p:nvPr/>
        </p:nvSpPr>
        <p:spPr>
          <a:xfrm>
            <a:off x="6210148" y="4215384"/>
            <a:ext cx="5295748" cy="274320"/>
          </a:xfrm>
          <a:prstGeom prst="rect">
            <a:avLst/>
          </a:prstGeom>
          <a:noFill/>
          <a:ln/>
        </p:spPr>
        <p:txBody>
          <a:bodyPr wrap="square" lIns="0" tIns="0" rIns="0" bIns="0" rtlCol="0" anchor="t"/>
          <a:lstStyle/>
          <a:p>
            <a:pPr indent="0" marL="0">
              <a:buNone/>
            </a:pPr>
            <a:r>
              <a:rPr lang="en-US" sz="1100" dirty="0">
                <a:solidFill>
                  <a:srgbClr val="38433C"/>
                </a:solidFill>
                <a:latin typeface="Schibsted Grotesk" pitchFamily="34" charset="0"/>
                <a:ea typeface="Schibsted Grotesk" pitchFamily="34" charset="-122"/>
                <a:cs typeface="Schibsted Grotesk" pitchFamily="34" charset="-120"/>
              </a:rPr>
              <a:t>Donors are liable only for unfit food given with intent or recklessness.</a:t>
            </a:r>
            <a:endParaRPr lang="en-US" sz="1100" dirty="0"/>
          </a:p>
        </p:txBody>
      </p:sp>
      <p:sp>
        <p:nvSpPr>
          <p:cNvPr id="27" name="Text 25"/>
          <p:cNvSpPr txBox="1"/>
          <p:nvPr/>
        </p:nvSpPr>
        <p:spPr>
          <a:xfrm>
            <a:off x="6210148" y="4572000"/>
            <a:ext cx="5295748" cy="256032"/>
          </a:xfrm>
          <a:prstGeom prst="rect">
            <a:avLst/>
          </a:prstGeom>
          <a:noFill/>
          <a:ln/>
        </p:spPr>
        <p:txBody>
          <a:bodyPr wrap="square" lIns="0" tIns="0" rIns="0" bIns="0" rtlCol="0" anchor="t"/>
          <a:lstStyle/>
          <a:p>
            <a:pPr indent="0" marL="0">
              <a:buNone/>
            </a:pPr>
            <a:r>
              <a:rPr lang="en-US" sz="1300" b="1" dirty="0">
                <a:solidFill>
                  <a:srgbClr val="15201A"/>
                </a:solidFill>
                <a:latin typeface="Schibsted Grotesk" pitchFamily="34" charset="0"/>
                <a:ea typeface="Schibsted Grotesk" pitchFamily="34" charset="-122"/>
                <a:cs typeface="Schibsted Grotesk" pitchFamily="34" charset="-120"/>
              </a:rPr>
              <a:t>Western Libraries, Weldon Displays Policy</a:t>
            </a:r>
            <a:endParaRPr lang="en-US" sz="1300" dirty="0"/>
          </a:p>
        </p:txBody>
      </p:sp>
      <p:sp>
        <p:nvSpPr>
          <p:cNvPr id="28" name="Text 26"/>
          <p:cNvSpPr txBox="1"/>
          <p:nvPr/>
        </p:nvSpPr>
        <p:spPr>
          <a:xfrm>
            <a:off x="6210148" y="4837176"/>
            <a:ext cx="5295748" cy="274320"/>
          </a:xfrm>
          <a:prstGeom prst="rect">
            <a:avLst/>
          </a:prstGeom>
          <a:noFill/>
          <a:ln/>
        </p:spPr>
        <p:txBody>
          <a:bodyPr wrap="square" lIns="0" tIns="0" rIns="0" bIns="0" rtlCol="0" anchor="t"/>
          <a:lstStyle/>
          <a:p>
            <a:pPr indent="0" marL="0">
              <a:buNone/>
            </a:pPr>
            <a:r>
              <a:rPr lang="en-US" sz="1100" dirty="0">
                <a:solidFill>
                  <a:srgbClr val="38433C"/>
                </a:solidFill>
                <a:latin typeface="Schibsted Grotesk" pitchFamily="34" charset="0"/>
                <a:ea typeface="Schibsted Grotesk" pitchFamily="34" charset="-122"/>
                <a:cs typeface="Schibsted Grotesk" pitchFamily="34" charset="-120"/>
              </a:rPr>
              <a:t>Displays in Weldon are selected and authorized by Western Libraries.</a:t>
            </a:r>
            <a:endParaRPr lang="en-US" sz="11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4"/>
          <p:cNvSpPr/>
          <p:nvPr>
            <p:ph idx="104" type="title" hasCustomPrompt="1"/>
          </p:nvPr>
        </p:nvSpPr>
        <p:spPr>
          <a:xfrm>
            <a:off x="685800" y="502920"/>
            <a:ext cx="10241280" cy="1188720"/>
          </a:xfrm>
          <a:prstGeom prst="rect">
            <a:avLst/>
          </a:prstGeom>
          <a:noFill/>
          <a:ln/>
        </p:spPr>
        <p:txBody>
          <a:bodyPr wrap="square" lIns="0" tIns="0" rIns="0" bIns="0" rtlCol="0" anchor="t"/>
          <a:lstStyle/>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A4. Budget assumptions</a:t>
            </a:r>
            <a:endParaRPr lang="en-US" sz="3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85800" y="1417320"/>
          <a:ext cx="10820095" cy="914400"/>
        </p:xfrm>
        <a:graphic>
          <a:graphicData uri="http://schemas.openxmlformats.org/drawingml/2006/table">
            <a:tbl>
              <a:tblPr/>
              <a:tblGrid>
                <a:gridCol w="2743200"/>
                <a:gridCol w="1143000"/>
                <a:gridCol w="6933895"/>
              </a:tblGrid>
              <a:tr h="393192">
                <a:tc>
                  <a:txBody>
                    <a:bodyPr/>
                    <a:lstStyle/>
                    <a:p>
                      <a:pPr indent="0" marL="0">
                        <a:buNone/>
                      </a:pPr>
                      <a:r>
                        <a:rPr lang="en-US" sz="1400" b="1" dirty="0">
                          <a:solidFill>
                            <a:srgbClr val="15201A"/>
                          </a:solidFill>
                          <a:latin typeface="Schibsted Grotesk" pitchFamily="34" charset="0"/>
                          <a:ea typeface="Schibsted Grotesk" pitchFamily="34" charset="-122"/>
                          <a:cs typeface="Schibsted Grotesk" pitchFamily="34" charset="-120"/>
                        </a:rPr>
                        <a:t>Line</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15875" cap="flat" cmpd="sng" algn="ctr">
                      <a:solidFill>
                        <a:srgbClr val="15201A"/>
                      </a:solidFill>
                      <a:prstDash val="solid"/>
                      <a:round/>
                      <a:headEnd type="none" w="med" len="med"/>
                      <a:tailEnd type="none" w="med" len="med"/>
                    </a:lnB>
                    <a:solidFill>
                      <a:srgbClr val="F7F5EF"/>
                    </a:solidFill>
                  </a:tcPr>
                </a:tc>
                <a:tc>
                  <a:txBody>
                    <a:bodyPr/>
                    <a:lstStyle/>
                    <a:p>
                      <a:pPr indent="0" marL="0">
                        <a:buNone/>
                      </a:pPr>
                      <a:r>
                        <a:rPr lang="en-US" sz="1400" b="1" dirty="0">
                          <a:solidFill>
                            <a:srgbClr val="15201A"/>
                          </a:solidFill>
                          <a:latin typeface="Schibsted Grotesk" pitchFamily="34" charset="0"/>
                          <a:ea typeface="Schibsted Grotesk" pitchFamily="34" charset="-122"/>
                          <a:cs typeface="Schibsted Grotesk" pitchFamily="34" charset="-120"/>
                        </a:rPr>
                        <a:t>Amount</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15875" cap="flat" cmpd="sng" algn="ctr">
                      <a:solidFill>
                        <a:srgbClr val="15201A"/>
                      </a:solidFill>
                      <a:prstDash val="solid"/>
                      <a:round/>
                      <a:headEnd type="none" w="med" len="med"/>
                      <a:tailEnd type="none" w="med" len="med"/>
                    </a:lnB>
                    <a:solidFill>
                      <a:srgbClr val="F7F5EF"/>
                    </a:solidFill>
                  </a:tcPr>
                </a:tc>
                <a:tc>
                  <a:txBody>
                    <a:bodyPr/>
                    <a:lstStyle/>
                    <a:p>
                      <a:pPr indent="0" marL="0">
                        <a:buNone/>
                      </a:pPr>
                      <a:r>
                        <a:rPr lang="en-US" sz="1400" b="1" dirty="0">
                          <a:solidFill>
                            <a:srgbClr val="15201A"/>
                          </a:solidFill>
                          <a:latin typeface="Schibsted Grotesk" pitchFamily="34" charset="0"/>
                          <a:ea typeface="Schibsted Grotesk" pitchFamily="34" charset="-122"/>
                          <a:cs typeface="Schibsted Grotesk" pitchFamily="34" charset="-120"/>
                        </a:rPr>
                        <a:t>Basis</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15875" cap="flat" cmpd="sng" algn="ctr">
                      <a:solidFill>
                        <a:srgbClr val="15201A"/>
                      </a:solidFill>
                      <a:prstDash val="solid"/>
                      <a:round/>
                      <a:headEnd type="none" w="med" len="med"/>
                      <a:tailEnd type="none" w="med" len="med"/>
                    </a:lnB>
                    <a:solidFill>
                      <a:srgbClr val="F7F5EF"/>
                    </a:solidFill>
                  </a:tcPr>
                </a:tc>
              </a:tr>
              <a:tr h="393192">
                <a:tc>
                  <a:txBody>
                    <a:bodyPr/>
                    <a:lstStyle/>
                    <a:p>
                      <a:pPr indent="0" marL="0">
                        <a:buNone/>
                      </a:pPr>
                      <a:r>
                        <a:rPr lang="en-US" sz="1400" b="1" dirty="0">
                          <a:solidFill>
                            <a:srgbClr val="15201A"/>
                          </a:solidFill>
                          <a:latin typeface="Schibsted Grotesk" pitchFamily="34" charset="0"/>
                          <a:ea typeface="Schibsted Grotesk" pitchFamily="34" charset="-122"/>
                          <a:cs typeface="Schibsted Grotesk" pitchFamily="34" charset="-120"/>
                        </a:rPr>
                        <a:t>Coordinator (part-time)</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$3,000</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About a third of the $9,000 coordinator role the USC funds for Public Arts.</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393192">
                <a:tc>
                  <a:txBody>
                    <a:bodyPr/>
                    <a:lstStyle/>
                    <a:p>
                      <a:pPr indent="0" marL="0">
                        <a:buNone/>
                      </a:pPr>
                      <a:r>
                        <a:rPr lang="en-US" sz="1400" b="1" dirty="0">
                          <a:solidFill>
                            <a:srgbClr val="15201A"/>
                          </a:solidFill>
                          <a:latin typeface="Schibsted Grotesk" pitchFamily="34" charset="0"/>
                          <a:ea typeface="Schibsted Grotesk" pitchFamily="34" charset="-122"/>
                          <a:cs typeface="Schibsted Grotesk" pitchFamily="34" charset="-120"/>
                        </a:rPr>
                        <a:t>Shelving and signs</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$1,100</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Two lockable shelving units (about $400 each), bins, signs and QR codes.</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393192">
                <a:tc>
                  <a:txBody>
                    <a:bodyPr/>
                    <a:lstStyle/>
                    <a:p>
                      <a:pPr indent="0" marL="0">
                        <a:buNone/>
                      </a:pPr>
                      <a:r>
                        <a:rPr lang="en-US" sz="1400" b="1" dirty="0">
                          <a:solidFill>
                            <a:srgbClr val="15201A"/>
                          </a:solidFill>
                          <a:latin typeface="Schibsted Grotesk" pitchFamily="34" charset="0"/>
                          <a:ea typeface="Schibsted Grotesk" pitchFamily="34" charset="-122"/>
                          <a:cs typeface="Schibsted Grotesk" pitchFamily="34" charset="-120"/>
                        </a:rPr>
                        <a:t>Food stock</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$1,050</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About 420 shelf-stable items at $2.50, bought after approval.</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393192">
                <a:tc>
                  <a:txBody>
                    <a:bodyPr/>
                    <a:lstStyle/>
                    <a:p>
                      <a:pPr indent="0" marL="0">
                        <a:buNone/>
                      </a:pPr>
                      <a:r>
                        <a:rPr lang="en-US" sz="1400" b="1" dirty="0">
                          <a:solidFill>
                            <a:srgbClr val="15201A"/>
                          </a:solidFill>
                          <a:latin typeface="Schibsted Grotesk" pitchFamily="34" charset="0"/>
                          <a:ea typeface="Schibsted Grotesk" pitchFamily="34" charset="-122"/>
                          <a:cs typeface="Schibsted Grotesk" pitchFamily="34" charset="-120"/>
                        </a:rPr>
                        <a:t>Contingency</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$600</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About 10% of the other lines.</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393192">
                <a:tc>
                  <a:txBody>
                    <a:bodyPr/>
                    <a:lstStyle/>
                    <a:p>
                      <a:pPr indent="0" marL="0">
                        <a:buNone/>
                      </a:pPr>
                      <a:r>
                        <a:rPr lang="en-US" sz="1400" b="1" dirty="0">
                          <a:solidFill>
                            <a:srgbClr val="15201A"/>
                          </a:solidFill>
                          <a:latin typeface="Schibsted Grotesk" pitchFamily="34" charset="0"/>
                          <a:ea typeface="Schibsted Grotesk" pitchFamily="34" charset="-122"/>
                          <a:cs typeface="Schibsted Grotesk" pitchFamily="34" charset="-120"/>
                        </a:rPr>
                        <a:t>Promotion</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$500</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Table tents, posters, QR stickers and messenger kits.</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393192">
                <a:tc>
                  <a:txBody>
                    <a:bodyPr/>
                    <a:lstStyle/>
                    <a:p>
                      <a:pPr indent="0" marL="0">
                        <a:buNone/>
                      </a:pPr>
                      <a:r>
                        <a:rPr lang="en-US" sz="1400" b="1" dirty="0">
                          <a:solidFill>
                            <a:srgbClr val="15201A"/>
                          </a:solidFill>
                          <a:latin typeface="Schibsted Grotesk" pitchFamily="34" charset="0"/>
                          <a:ea typeface="Schibsted Grotesk" pitchFamily="34" charset="-122"/>
                          <a:cs typeface="Schibsted Grotesk" pitchFamily="34" charset="-120"/>
                        </a:rPr>
                        <a:t>Hygiene items</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$400</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Soap and toothpaste; period products come from Free the Dot.</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393192">
                <a:tc>
                  <a:txBody>
                    <a:bodyPr/>
                    <a:lstStyle/>
                    <a:p>
                      <a:pPr indent="0" marL="0">
                        <a:buNone/>
                      </a:pPr>
                      <a:r>
                        <a:rPr lang="en-US" sz="1400" b="1" dirty="0">
                          <a:solidFill>
                            <a:srgbClr val="15201A"/>
                          </a:solidFill>
                          <a:latin typeface="Schibsted Grotesk" pitchFamily="34" charset="0"/>
                          <a:ea typeface="Schibsted Grotesk" pitchFamily="34" charset="-122"/>
                          <a:cs typeface="Schibsted Grotesk" pitchFamily="34" charset="-120"/>
                        </a:rPr>
                        <a:t>Volunteer training</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$200</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Online food-handler certification for six volunteers.</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393192">
                <a:tc>
                  <a:txBody>
                    <a:bodyPr/>
                    <a:lstStyle/>
                    <a:p>
                      <a:pPr indent="0" marL="0">
                        <a:buNone/>
                      </a:pPr>
                      <a:r>
                        <a:rPr lang="en-US" sz="1400" b="1" dirty="0">
                          <a:solidFill>
                            <a:srgbClr val="15201A"/>
                          </a:solidFill>
                          <a:latin typeface="Schibsted Grotesk" pitchFamily="34" charset="0"/>
                          <a:ea typeface="Schibsted Grotesk" pitchFamily="34" charset="-122"/>
                          <a:cs typeface="Schibsted Grotesk" pitchFamily="34" charset="-120"/>
                        </a:rPr>
                        <a:t>Hosting</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$50</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Free hosting tier and a domain; the app sits inside USC Now.</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393192">
                <a:tc>
                  <a:txBody>
                    <a:bodyPr/>
                    <a:lstStyle/>
                    <a:p>
                      <a:pPr indent="0" marL="0">
                        <a:buNone/>
                      </a:pPr>
                      <a:r>
                        <a:rPr lang="en-US" sz="1400" b="1" dirty="0">
                          <a:solidFill>
                            <a:srgbClr val="15201A"/>
                          </a:solidFill>
                          <a:latin typeface="Schibsted Grotesk" pitchFamily="34" charset="0"/>
                          <a:ea typeface="Schibsted Grotesk" pitchFamily="34" charset="-122"/>
                          <a:cs typeface="Schibsted Grotesk" pitchFamily="34" charset="-120"/>
                        </a:rPr>
                        <a:t>Full year, six shelves</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~$25,000</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Full coordinator; four more shelves; stock and hygiene at pilot rates for 26 weeks; plus 10%. Under 70 cents a student.</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bl>
          </a:graphicData>
        </a:graphic>
      </p:graphicFrame>
      <p:sp>
        <p:nvSpPr>
          <p:cNvPr id="4" name="Text 1"/>
          <p:cNvSpPr txBox="1"/>
          <p:nvPr/>
        </p:nvSpPr>
        <p:spPr>
          <a:xfrm>
            <a:off x="685800" y="5833872"/>
            <a:ext cx="10820095" cy="292608"/>
          </a:xfrm>
          <a:prstGeom prst="rect">
            <a:avLst/>
          </a:prstGeom>
          <a:noFill/>
          <a:ln/>
        </p:spPr>
        <p:txBody>
          <a:bodyPr wrap="square" lIns="0" tIns="0" rIns="0" bIns="0" rtlCol="0" anchor="t"/>
          <a:lstStyle/>
          <a:p>
            <a:pPr indent="0" marL="0">
              <a:buNone/>
            </a:pPr>
            <a:r>
              <a:rPr lang="en-US" sz="1300" dirty="0">
                <a:solidFill>
                  <a:srgbClr val="15201A"/>
                </a:solidFill>
                <a:latin typeface="Schibsted Grotesk" pitchFamily="34" charset="0"/>
                <a:ea typeface="Schibsted Grotesk" pitchFamily="34" charset="-122"/>
                <a:cs typeface="Schibsted Grotesk" pitchFamily="34" charset="-120"/>
              </a:rPr>
              <a:t>Council ($500 each) and sponsor ($1,000) amounts are targets to confirm. Surplus food from USC hospitality is in kind.</a:t>
            </a:r>
            <a:endParaRPr lang="en-US" sz="13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4"/>
          <p:cNvSpPr/>
          <p:nvPr>
            <p:ph idx="104" type="title" hasCustomPrompt="1"/>
          </p:nvPr>
        </p:nvSpPr>
        <p:spPr>
          <a:xfrm>
            <a:off x="685800" y="502920"/>
            <a:ext cx="10241280" cy="1188720"/>
          </a:xfrm>
          <a:prstGeom prst="rect">
            <a:avLst/>
          </a:prstGeom>
          <a:noFill/>
          <a:ln/>
        </p:spPr>
        <p:txBody>
          <a:bodyPr wrap="square" lIns="0" tIns="0" rIns="0" bIns="0" rtlCol="0" anchor="t"/>
          <a:lstStyle/>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A5. Options we ruled out</a:t>
            </a:r>
            <a:endParaRPr lang="en-US" sz="3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85800" y="1417320"/>
          <a:ext cx="10820095" cy="914400"/>
        </p:xfrm>
        <a:graphic>
          <a:graphicData uri="http://schemas.openxmlformats.org/drawingml/2006/table">
            <a:tbl>
              <a:tblPr/>
              <a:tblGrid>
                <a:gridCol w="3200400"/>
                <a:gridCol w="2331720"/>
                <a:gridCol w="5287975"/>
              </a:tblGrid>
              <a:tr h="658368">
                <a:tc>
                  <a:txBody>
                    <a:bodyPr/>
                    <a:lstStyle/>
                    <a:p>
                      <a:pPr indent="0" marL="0">
                        <a:buNone/>
                      </a:pPr>
                      <a:r>
                        <a:rPr lang="en-US" sz="1400" b="1" dirty="0">
                          <a:solidFill>
                            <a:srgbClr val="15201A"/>
                          </a:solidFill>
                          <a:latin typeface="Schibsted Grotesk" pitchFamily="34" charset="0"/>
                          <a:ea typeface="Schibsted Grotesk" pitchFamily="34" charset="-122"/>
                          <a:cs typeface="Schibsted Grotesk" pitchFamily="34" charset="-120"/>
                        </a:rPr>
                        <a:t>Option</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15875" cap="flat" cmpd="sng" algn="ctr">
                      <a:solidFill>
                        <a:srgbClr val="15201A"/>
                      </a:solidFill>
                      <a:prstDash val="solid"/>
                      <a:round/>
                      <a:headEnd type="none" w="med" len="med"/>
                      <a:tailEnd type="none" w="med" len="med"/>
                    </a:lnB>
                    <a:solidFill>
                      <a:srgbClr val="F7F5EF"/>
                    </a:solidFill>
                  </a:tcPr>
                </a:tc>
                <a:tc>
                  <a:txBody>
                    <a:bodyPr/>
                    <a:lstStyle/>
                    <a:p>
                      <a:pPr indent="0" marL="0">
                        <a:buNone/>
                      </a:pPr>
                      <a:r>
                        <a:rPr lang="en-US" sz="1400" b="1" dirty="0">
                          <a:solidFill>
                            <a:srgbClr val="15201A"/>
                          </a:solidFill>
                          <a:latin typeface="Schibsted Grotesk" pitchFamily="34" charset="0"/>
                          <a:ea typeface="Schibsted Grotesk" pitchFamily="34" charset="-122"/>
                          <a:cs typeface="Schibsted Grotesk" pitchFamily="34" charset="-120"/>
                        </a:rPr>
                        <a:t>What it offers</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15875" cap="flat" cmpd="sng" algn="ctr">
                      <a:solidFill>
                        <a:srgbClr val="15201A"/>
                      </a:solidFill>
                      <a:prstDash val="solid"/>
                      <a:round/>
                      <a:headEnd type="none" w="med" len="med"/>
                      <a:tailEnd type="none" w="med" len="med"/>
                    </a:lnB>
                    <a:solidFill>
                      <a:srgbClr val="F7F5EF"/>
                    </a:solidFill>
                  </a:tcPr>
                </a:tc>
                <a:tc>
                  <a:txBody>
                    <a:bodyPr/>
                    <a:lstStyle/>
                    <a:p>
                      <a:pPr indent="0" marL="0">
                        <a:buNone/>
                      </a:pPr>
                      <a:r>
                        <a:rPr lang="en-US" sz="1400" b="1" dirty="0">
                          <a:solidFill>
                            <a:srgbClr val="15201A"/>
                          </a:solidFill>
                          <a:latin typeface="Schibsted Grotesk" pitchFamily="34" charset="0"/>
                          <a:ea typeface="Schibsted Grotesk" pitchFamily="34" charset="-122"/>
                          <a:cs typeface="Schibsted Grotesk" pitchFamily="34" charset="-120"/>
                        </a:rPr>
                        <a:t>Why not on its own</a:t>
                      </a:r>
                      <a:endParaRPr lang="en-US" sz="14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15875" cap="flat" cmpd="sng" algn="ctr">
                      <a:solidFill>
                        <a:srgbClr val="15201A"/>
                      </a:solidFill>
                      <a:prstDash val="solid"/>
                      <a:round/>
                      <a:headEnd type="none" w="med" len="med"/>
                      <a:tailEnd type="none" w="med" len="med"/>
                    </a:lnB>
                    <a:solidFill>
                      <a:srgbClr val="F7F5EF"/>
                    </a:solidFill>
                  </a:tcPr>
                </a:tc>
              </a:tr>
              <a:tr h="658368">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Bigger O-Week push for hampers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Reaches every first-year</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Lands when information overload peaks; nothing at the moment of need.</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658368">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Longer hours at UCC 40F</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Familiar, staffed</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Still one basement room, and every extra hour needs paid staff.</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658368">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A standalone FoodLink app</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Full control</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One more app to download. FoodLink lives inside USC Now instead.</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658368">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Community fridge</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Fresh food</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Needs temperature logs and public-health rules. A phase-two option.</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r h="658368">
                <a:tc>
                  <a:txBody>
                    <a:bodyPr/>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Too Good To Go</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Cheap surplus bags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c>
                  <a:txBody>
                    <a:bodyPr/>
                    <a:lstStyle/>
                    <a:p>
                      <a:pPr indent="0" marL="0">
                        <a:buNone/>
                      </a:pPr>
                      <a:r>
                        <a:rPr lang="en-US" sz="1600" dirty="0">
                          <a:solidFill>
                            <a:srgbClr val="38433C"/>
                          </a:solidFill>
                          <a:latin typeface="Schibsted Grotesk" pitchFamily="34" charset="0"/>
                          <a:ea typeface="Schibsted Grotesk" pitchFamily="34" charset="-122"/>
                          <a:cs typeface="Schibsted Grotesk" pitchFamily="34" charset="-120"/>
                        </a:rPr>
                        <a:t>Costs students money and is mostly off campus.</a:t>
                      </a:r>
                      <a:endParaRPr lang="en-US" sz="1600" dirty="0">
                        <a:latin typeface="Schibsted Grotesk" charset="0"/>
                        <a:ea typeface="Schibsted Grotesk" charset="0"/>
                        <a:cs typeface="Schibsted Grotesk" charset="0"/>
                      </a:endParaRPr>
                    </a:p>
                  </a:txBody>
                  <a:tcPr marL="0" marR="177800" marT="76200" marB="76200"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solidFill>
                      <a:srgbClr val="F7F5EF"/>
                    </a:solidFill>
                  </a:tcPr>
                </a:tc>
              </a:tr>
            </a:tbl>
          </a:graphicData>
        </a:graphic>
      </p:graphicFrame>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4"/>
          <p:cNvSpPr/>
          <p:nvPr>
            <p:ph idx="104" type="title" hasCustomPrompt="1"/>
          </p:nvPr>
        </p:nvSpPr>
        <p:spPr>
          <a:xfrm>
            <a:off x="685800" y="502920"/>
            <a:ext cx="10241280" cy="1188720"/>
          </a:xfrm>
          <a:prstGeom prst="rect">
            <a:avLst/>
          </a:prstGeom>
          <a:noFill/>
          <a:ln/>
        </p:spPr>
        <p:txBody>
          <a:bodyPr wrap="square" lIns="0" tIns="0" rIns="0" bIns="0" rtlCol="0" anchor="t"/>
          <a:lstStyle/>
          <a:p>
            <a:pPr algn="l" indent="0" marL="0">
              <a:lnSpc>
                <a:spcPct val="95000"/>
              </a:lnSpc>
              <a:buNone/>
            </a:pPr>
            <a:r>
              <a:rPr lang="en-US" sz="3400" b="1" dirty="0">
                <a:solidFill>
                  <a:srgbClr val="15201A"/>
                </a:solidFill>
                <a:latin typeface="Schibsted Grotesk" pitchFamily="34" charset="0"/>
                <a:ea typeface="Schibsted Grotesk" pitchFamily="34" charset="-122"/>
                <a:cs typeface="Schibsted Grotesk" pitchFamily="34" charset="-120"/>
              </a:rPr>
              <a:t>A6. Questions we expect</a:t>
            </a:r>
            <a:endParaRPr lang="en-US" sz="3400" dirty="0"/>
          </a:p>
        </p:txBody>
      </p:sp>
      <p:sp>
        <p:nvSpPr>
          <p:cNvPr id="3" name="Shape 1"/>
          <p:cNvSpPr/>
          <p:nvPr/>
        </p:nvSpPr>
        <p:spPr>
          <a:xfrm>
            <a:off x="685800" y="1325880"/>
            <a:ext cx="5295748" cy="0"/>
          </a:xfrm>
          <a:prstGeom prst="line">
            <a:avLst/>
          </a:prstGeom>
          <a:noFill/>
          <a:ln w="9525">
            <a:solidFill>
              <a:srgbClr val="D9D4C7"/>
            </a:solidFill>
            <a:prstDash val="solid"/>
          </a:ln>
        </p:spPr>
      </p:sp>
      <p:sp>
        <p:nvSpPr>
          <p:cNvPr id="4" name="Text 2"/>
          <p:cNvSpPr txBox="1"/>
          <p:nvPr/>
        </p:nvSpPr>
        <p:spPr>
          <a:xfrm>
            <a:off x="685800" y="1417320"/>
            <a:ext cx="5295748" cy="329184"/>
          </a:xfrm>
          <a:prstGeom prst="rect">
            <a:avLst/>
          </a:prstGeom>
          <a:noFill/>
          <a:ln/>
        </p:spPr>
        <p:txBody>
          <a:bodyPr wrap="square" lIns="0" tIns="0" rIns="0" bIns="0" rtlCol="0" anchor="t"/>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Why Food Support and not Peer Support?</a:t>
            </a:r>
            <a:endParaRPr lang="en-US" sz="1600" dirty="0"/>
          </a:p>
        </p:txBody>
      </p:sp>
      <p:sp>
        <p:nvSpPr>
          <p:cNvPr id="5" name="Text 3"/>
          <p:cNvSpPr txBox="1"/>
          <p:nvPr/>
        </p:nvSpPr>
        <p:spPr>
          <a:xfrm>
            <a:off x="685800" y="1783080"/>
            <a:ext cx="5295748" cy="713232"/>
          </a:xfrm>
          <a:prstGeom prst="rect">
            <a:avLst/>
          </a:prstGeom>
          <a:noFill/>
          <a:ln/>
        </p:spPr>
        <p:txBody>
          <a:bodyPr wrap="square" lIns="0" tIns="0" rIns="0" bIns="0" rtlCol="0" anchor="t"/>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The USC’s roadmap names it, its need is measurable, and the fix is visible. FoodLink also points students to Peer Support.</a:t>
            </a:r>
            <a:endParaRPr lang="en-US" sz="1400" dirty="0"/>
          </a:p>
        </p:txBody>
      </p:sp>
      <p:sp>
        <p:nvSpPr>
          <p:cNvPr id="6" name="Shape 4"/>
          <p:cNvSpPr/>
          <p:nvPr/>
        </p:nvSpPr>
        <p:spPr>
          <a:xfrm>
            <a:off x="6210148" y="1325880"/>
            <a:ext cx="5295748" cy="0"/>
          </a:xfrm>
          <a:prstGeom prst="line">
            <a:avLst/>
          </a:prstGeom>
          <a:noFill/>
          <a:ln w="9525">
            <a:solidFill>
              <a:srgbClr val="D9D4C7"/>
            </a:solidFill>
            <a:prstDash val="solid"/>
          </a:ln>
        </p:spPr>
      </p:sp>
      <p:sp>
        <p:nvSpPr>
          <p:cNvPr id="7" name="Text 5"/>
          <p:cNvSpPr txBox="1"/>
          <p:nvPr/>
        </p:nvSpPr>
        <p:spPr>
          <a:xfrm>
            <a:off x="6210148" y="1417320"/>
            <a:ext cx="5295748" cy="329184"/>
          </a:xfrm>
          <a:prstGeom prst="rect">
            <a:avLst/>
          </a:prstGeom>
          <a:noFill/>
          <a:ln/>
        </p:spPr>
        <p:txBody>
          <a:bodyPr wrap="square" lIns="0" tIns="0" rIns="0" bIns="0" rtlCol="0" anchor="t"/>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Isn’t this just walk-ins again?</a:t>
            </a:r>
            <a:endParaRPr lang="en-US" sz="1600" dirty="0"/>
          </a:p>
        </p:txBody>
      </p:sp>
      <p:sp>
        <p:nvSpPr>
          <p:cNvPr id="8" name="Text 6"/>
          <p:cNvSpPr txBox="1"/>
          <p:nvPr/>
        </p:nvSpPr>
        <p:spPr>
          <a:xfrm>
            <a:off x="6210148" y="1783080"/>
            <a:ext cx="5295748" cy="713232"/>
          </a:xfrm>
          <a:prstGeom prst="rect">
            <a:avLst/>
          </a:prstGeom>
          <a:noFill/>
          <a:ln/>
        </p:spPr>
        <p:txBody>
          <a:bodyPr wrap="square" lIns="0" tIns="0" rIns="0" bIns="0" rtlCol="0" anchor="t"/>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Walk-up access with counted restocks and live stock: the controls the USC said walk-ins lacked.</a:t>
            </a:r>
            <a:endParaRPr lang="en-US" sz="1400" dirty="0"/>
          </a:p>
        </p:txBody>
      </p:sp>
      <p:sp>
        <p:nvSpPr>
          <p:cNvPr id="9" name="Shape 7"/>
          <p:cNvSpPr/>
          <p:nvPr/>
        </p:nvSpPr>
        <p:spPr>
          <a:xfrm>
            <a:off x="685800" y="2487168"/>
            <a:ext cx="5295748" cy="0"/>
          </a:xfrm>
          <a:prstGeom prst="line">
            <a:avLst/>
          </a:prstGeom>
          <a:noFill/>
          <a:ln w="9525">
            <a:solidFill>
              <a:srgbClr val="D9D4C7"/>
            </a:solidFill>
            <a:prstDash val="solid"/>
          </a:ln>
        </p:spPr>
      </p:sp>
      <p:sp>
        <p:nvSpPr>
          <p:cNvPr id="10" name="Text 8"/>
          <p:cNvSpPr txBox="1"/>
          <p:nvPr/>
        </p:nvSpPr>
        <p:spPr>
          <a:xfrm>
            <a:off x="685800" y="2578608"/>
            <a:ext cx="5295748" cy="329184"/>
          </a:xfrm>
          <a:prstGeom prst="rect">
            <a:avLst/>
          </a:prstGeom>
          <a:noFill/>
          <a:ln/>
        </p:spPr>
        <p:txBody>
          <a:bodyPr wrap="square" lIns="0" tIns="0" rIns="0" bIns="0" rtlCol="0" anchor="t"/>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Won’t shelves pull students from hampers?</a:t>
            </a:r>
            <a:endParaRPr lang="en-US" sz="1600" dirty="0"/>
          </a:p>
        </p:txBody>
      </p:sp>
      <p:sp>
        <p:nvSpPr>
          <p:cNvPr id="11" name="Text 9"/>
          <p:cNvSpPr txBox="1"/>
          <p:nvPr/>
        </p:nvSpPr>
        <p:spPr>
          <a:xfrm>
            <a:off x="685800" y="2944368"/>
            <a:ext cx="5295748" cy="713232"/>
          </a:xfrm>
          <a:prstGeom prst="rect">
            <a:avLst/>
          </a:prstGeom>
          <a:noFill/>
          <a:ln/>
        </p:spPr>
        <p:txBody>
          <a:bodyPr wrap="square" lIns="0" tIns="0" rIns="0" bIns="0" rtlCol="0" anchor="t"/>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Shelves cover today and hampers cover the week; the app links to both. Hamper requests are tracked and must not fall.</a:t>
            </a:r>
            <a:endParaRPr lang="en-US" sz="1400" dirty="0"/>
          </a:p>
        </p:txBody>
      </p:sp>
      <p:sp>
        <p:nvSpPr>
          <p:cNvPr id="12" name="Shape 10"/>
          <p:cNvSpPr/>
          <p:nvPr/>
        </p:nvSpPr>
        <p:spPr>
          <a:xfrm>
            <a:off x="6210148" y="2487168"/>
            <a:ext cx="5295748" cy="0"/>
          </a:xfrm>
          <a:prstGeom prst="line">
            <a:avLst/>
          </a:prstGeom>
          <a:noFill/>
          <a:ln w="9525">
            <a:solidFill>
              <a:srgbClr val="D9D4C7"/>
            </a:solidFill>
            <a:prstDash val="solid"/>
          </a:ln>
        </p:spPr>
      </p:sp>
      <p:sp>
        <p:nvSpPr>
          <p:cNvPr id="13" name="Text 11"/>
          <p:cNvSpPr txBox="1"/>
          <p:nvPr/>
        </p:nvSpPr>
        <p:spPr>
          <a:xfrm>
            <a:off x="6210148" y="2578608"/>
            <a:ext cx="5295748" cy="329184"/>
          </a:xfrm>
          <a:prstGeom prst="rect">
            <a:avLst/>
          </a:prstGeom>
          <a:noFill/>
          <a:ln/>
        </p:spPr>
        <p:txBody>
          <a:bodyPr wrap="square" lIns="0" tIns="0" rIns="0" bIns="0" rtlCol="0" anchor="t"/>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Who runs it when this year’s team leaves?</a:t>
            </a:r>
            <a:endParaRPr lang="en-US" sz="1600" dirty="0"/>
          </a:p>
        </p:txBody>
      </p:sp>
      <p:sp>
        <p:nvSpPr>
          <p:cNvPr id="14" name="Text 12"/>
          <p:cNvSpPr txBox="1"/>
          <p:nvPr/>
        </p:nvSpPr>
        <p:spPr>
          <a:xfrm>
            <a:off x="6210148" y="2944368"/>
            <a:ext cx="5295748" cy="713232"/>
          </a:xfrm>
          <a:prstGeom prst="rect">
            <a:avLst/>
          </a:prstGeom>
          <a:noFill/>
          <a:ln/>
        </p:spPr>
        <p:txBody>
          <a:bodyPr wrap="square" lIns="0" tIns="0" rIns="0" bIns="0" rtlCol="0" anchor="t"/>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Host councils own their shelves, the coordinator role carries over, and the app keeps the counts and the playbook.</a:t>
            </a:r>
            <a:endParaRPr lang="en-US" sz="1400" dirty="0"/>
          </a:p>
        </p:txBody>
      </p:sp>
      <p:sp>
        <p:nvSpPr>
          <p:cNvPr id="15" name="Shape 13"/>
          <p:cNvSpPr/>
          <p:nvPr/>
        </p:nvSpPr>
        <p:spPr>
          <a:xfrm>
            <a:off x="685800" y="3648456"/>
            <a:ext cx="5295748" cy="0"/>
          </a:xfrm>
          <a:prstGeom prst="line">
            <a:avLst/>
          </a:prstGeom>
          <a:noFill/>
          <a:ln w="9525">
            <a:solidFill>
              <a:srgbClr val="D9D4C7"/>
            </a:solidFill>
            <a:prstDash val="solid"/>
          </a:ln>
        </p:spPr>
      </p:sp>
      <p:sp>
        <p:nvSpPr>
          <p:cNvPr id="16" name="Text 14"/>
          <p:cNvSpPr txBox="1"/>
          <p:nvPr/>
        </p:nvSpPr>
        <p:spPr>
          <a:xfrm>
            <a:off x="685800" y="3739896"/>
            <a:ext cx="5295748" cy="329184"/>
          </a:xfrm>
          <a:prstGeom prst="rect">
            <a:avLst/>
          </a:prstGeom>
          <a:noFill/>
          <a:ln/>
        </p:spPr>
        <p:txBody>
          <a:bodyPr wrap="square" lIns="0" tIns="0" rIns="0" bIns="0" rtlCol="0" anchor="t"/>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Why not a separate app?</a:t>
            </a:r>
            <a:endParaRPr lang="en-US" sz="1600" dirty="0"/>
          </a:p>
        </p:txBody>
      </p:sp>
      <p:sp>
        <p:nvSpPr>
          <p:cNvPr id="17" name="Text 15"/>
          <p:cNvSpPr txBox="1"/>
          <p:nvPr/>
        </p:nvSpPr>
        <p:spPr>
          <a:xfrm>
            <a:off x="685800" y="4105656"/>
            <a:ext cx="5295748" cy="713232"/>
          </a:xfrm>
          <a:prstGeom prst="rect">
            <a:avLst/>
          </a:prstGeom>
          <a:noFill/>
          <a:ln/>
        </p:spPr>
        <p:txBody>
          <a:bodyPr wrap="square" lIns="0" tIns="0" rIns="0" bIns="0" rtlCol="0" anchor="t"/>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Students won’t download another app. FoodLink is a tab in USC Now, which the roadmap already plans to overhaul.</a:t>
            </a:r>
            <a:endParaRPr lang="en-US" sz="1400" dirty="0"/>
          </a:p>
        </p:txBody>
      </p:sp>
      <p:sp>
        <p:nvSpPr>
          <p:cNvPr id="18" name="Shape 16"/>
          <p:cNvSpPr/>
          <p:nvPr/>
        </p:nvSpPr>
        <p:spPr>
          <a:xfrm>
            <a:off x="6210148" y="3648456"/>
            <a:ext cx="5295748" cy="0"/>
          </a:xfrm>
          <a:prstGeom prst="line">
            <a:avLst/>
          </a:prstGeom>
          <a:noFill/>
          <a:ln w="9525">
            <a:solidFill>
              <a:srgbClr val="D9D4C7"/>
            </a:solidFill>
            <a:prstDash val="solid"/>
          </a:ln>
        </p:spPr>
      </p:sp>
      <p:sp>
        <p:nvSpPr>
          <p:cNvPr id="19" name="Text 17"/>
          <p:cNvSpPr txBox="1"/>
          <p:nvPr/>
        </p:nvSpPr>
        <p:spPr>
          <a:xfrm>
            <a:off x="6210148" y="3739896"/>
            <a:ext cx="5295748" cy="329184"/>
          </a:xfrm>
          <a:prstGeom prst="rect">
            <a:avLst/>
          </a:prstGeom>
          <a:noFill/>
          <a:ln/>
        </p:spPr>
        <p:txBody>
          <a:bodyPr wrap="square" lIns="0" tIns="0" rIns="0" bIns="0" rtlCol="0" anchor="t"/>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What stops one person emptying a shelf?</a:t>
            </a:r>
            <a:endParaRPr lang="en-US" sz="1600" dirty="0"/>
          </a:p>
        </p:txBody>
      </p:sp>
      <p:sp>
        <p:nvSpPr>
          <p:cNvPr id="20" name="Text 18"/>
          <p:cNvSpPr txBox="1"/>
          <p:nvPr/>
        </p:nvSpPr>
        <p:spPr>
          <a:xfrm>
            <a:off x="6210148" y="4105656"/>
            <a:ext cx="5295748" cy="713232"/>
          </a:xfrm>
          <a:prstGeom prst="rect">
            <a:avLst/>
          </a:prstGeom>
          <a:noFill/>
          <a:ln/>
        </p:spPr>
        <p:txBody>
          <a:bodyPr wrap="square" lIns="0" tIns="0" rIns="0" bIns="0" rtlCol="0" anchor="t"/>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A posted guide, two restocks a day, and live counts that show rushes so stock can move.</a:t>
            </a:r>
            <a:endParaRPr lang="en-US" sz="1400" dirty="0"/>
          </a:p>
        </p:txBody>
      </p:sp>
      <p:sp>
        <p:nvSpPr>
          <p:cNvPr id="21" name="Shape 19"/>
          <p:cNvSpPr/>
          <p:nvPr/>
        </p:nvSpPr>
        <p:spPr>
          <a:xfrm>
            <a:off x="685800" y="4809744"/>
            <a:ext cx="5295748" cy="0"/>
          </a:xfrm>
          <a:prstGeom prst="line">
            <a:avLst/>
          </a:prstGeom>
          <a:noFill/>
          <a:ln w="9525">
            <a:solidFill>
              <a:srgbClr val="D9D4C7"/>
            </a:solidFill>
            <a:prstDash val="solid"/>
          </a:ln>
        </p:spPr>
      </p:sp>
      <p:sp>
        <p:nvSpPr>
          <p:cNvPr id="22" name="Text 20"/>
          <p:cNvSpPr txBox="1"/>
          <p:nvPr/>
        </p:nvSpPr>
        <p:spPr>
          <a:xfrm>
            <a:off x="685800" y="4901184"/>
            <a:ext cx="5295748" cy="329184"/>
          </a:xfrm>
          <a:prstGeom prst="rect">
            <a:avLst/>
          </a:prstGeom>
          <a:noFill/>
          <a:ln/>
        </p:spPr>
        <p:txBody>
          <a:bodyPr wrap="square" lIns="0" tIns="0" rIns="0" bIns="0" rtlCol="0" anchor="t"/>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Is giving out surplus food safe and legal?</a:t>
            </a:r>
            <a:endParaRPr lang="en-US" sz="1600" dirty="0"/>
          </a:p>
        </p:txBody>
      </p:sp>
      <p:sp>
        <p:nvSpPr>
          <p:cNvPr id="23" name="Text 21"/>
          <p:cNvSpPr txBox="1"/>
          <p:nvPr/>
        </p:nvSpPr>
        <p:spPr>
          <a:xfrm>
            <a:off x="685800" y="5266944"/>
            <a:ext cx="5295748" cy="713232"/>
          </a:xfrm>
          <a:prstGeom prst="rect">
            <a:avLst/>
          </a:prstGeom>
          <a:noFill/>
          <a:ln/>
        </p:spPr>
        <p:txBody>
          <a:bodyPr wrap="square" lIns="0" tIns="0" rIns="0" bIns="0" rtlCol="0" anchor="t"/>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Sealed, labelled, in-date food only, checked in the app. Ontario’s Donation of Food Act protects good-faith donors.</a:t>
            </a:r>
            <a:endParaRPr lang="en-US" sz="1400" dirty="0"/>
          </a:p>
        </p:txBody>
      </p:sp>
      <p:sp>
        <p:nvSpPr>
          <p:cNvPr id="24" name="Shape 22"/>
          <p:cNvSpPr/>
          <p:nvPr/>
        </p:nvSpPr>
        <p:spPr>
          <a:xfrm>
            <a:off x="6210148" y="4809744"/>
            <a:ext cx="5295748" cy="0"/>
          </a:xfrm>
          <a:prstGeom prst="line">
            <a:avLst/>
          </a:prstGeom>
          <a:noFill/>
          <a:ln w="9525">
            <a:solidFill>
              <a:srgbClr val="D9D4C7"/>
            </a:solidFill>
            <a:prstDash val="solid"/>
          </a:ln>
        </p:spPr>
      </p:sp>
      <p:sp>
        <p:nvSpPr>
          <p:cNvPr id="25" name="Text 23"/>
          <p:cNvSpPr txBox="1"/>
          <p:nvPr/>
        </p:nvSpPr>
        <p:spPr>
          <a:xfrm>
            <a:off x="6210148" y="4901184"/>
            <a:ext cx="5295748" cy="329184"/>
          </a:xfrm>
          <a:prstGeom prst="rect">
            <a:avLst/>
          </a:prstGeom>
          <a:noFill/>
          <a:ln/>
        </p:spPr>
        <p:txBody>
          <a:bodyPr wrap="square" lIns="0" tIns="0" rIns="0" bIns="0" rtlCol="0" anchor="t"/>
          <a:lstStyle/>
          <a:p>
            <a:pPr indent="0" marL="0">
              <a:buNone/>
            </a:pPr>
            <a:r>
              <a:rPr lang="en-US" sz="1600" b="1" dirty="0">
                <a:solidFill>
                  <a:srgbClr val="15201A"/>
                </a:solidFill>
                <a:latin typeface="Schibsted Grotesk" pitchFamily="34" charset="0"/>
                <a:ea typeface="Schibsted Grotesk" pitchFamily="34" charset="-122"/>
                <a:cs typeface="Schibsted Grotesk" pitchFamily="34" charset="-120"/>
              </a:rPr>
              <a:t>What happens after week 11?</a:t>
            </a:r>
            <a:endParaRPr lang="en-US" sz="1600" dirty="0"/>
          </a:p>
        </p:txBody>
      </p:sp>
      <p:sp>
        <p:nvSpPr>
          <p:cNvPr id="26" name="Text 24"/>
          <p:cNvSpPr txBox="1"/>
          <p:nvPr/>
        </p:nvSpPr>
        <p:spPr>
          <a:xfrm>
            <a:off x="6210148" y="5266944"/>
            <a:ext cx="5295748" cy="713232"/>
          </a:xfrm>
          <a:prstGeom prst="rect">
            <a:avLst/>
          </a:prstGeom>
          <a:noFill/>
          <a:ln/>
        </p:spPr>
        <p:txBody>
          <a:bodyPr wrap="square" lIns="0" tIns="0" rIns="0" bIns="0" rtlCol="0" anchor="t"/>
          <a:lstStyle/>
          <a:p>
            <a:pPr indent="0" marL="0">
              <a:buNone/>
            </a:pPr>
            <a:r>
              <a:rPr lang="en-US" sz="1400" dirty="0">
                <a:solidFill>
                  <a:srgbClr val="38433C"/>
                </a:solidFill>
                <a:latin typeface="Schibsted Grotesk" pitchFamily="34" charset="0"/>
                <a:ea typeface="Schibsted Grotesk" pitchFamily="34" charset="-122"/>
                <a:cs typeface="Schibsted Grotesk" pitchFamily="34" charset="-120"/>
              </a:rPr>
              <a:t>If five of six goals are met, add shelves and launch at O-Week 2027. If not, stop and publish what we learned.</a:t>
            </a:r>
            <a:endParaRPr lang="en-US" sz="1400" dirty="0"/>
          </a:p>
        </p:txBody>
      </p:sp>
      <p:sp>
        <p:nvSpPr>
          <p:cNvPr id="25" name="Slide Number Placeholder 0"/>
          <p:cNvSpPr>
            <a:spLocks noGrp="1"/>
          </p:cNvSpPr>
          <p:nvPr>
            <p:ph type="sldNum" sz="quarter" idx="4294967295"/>
          </p:nvPr>
        </p:nvSpPr>
        <p:spPr>
          <a:xfrm>
            <a:off x="10774375" y="6455664"/>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rgbClr val="68716A"/>
                </a:solidFill>
                <a:latin typeface="Schibsted Grotesk"/>
                <a:ea typeface="Schibsted Grotesk"/>
                <a:cs typeface="Schibsted Grotesk"/>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FoodLink">
  <a:themeElements>
    <a:clrScheme name="FoodLink">
      <a:dk1>
        <a:srgbClr val="15201A"/>
      </a:dk1>
      <a:lt1>
        <a:srgbClr val="FFFFFF"/>
      </a:lt1>
      <a:dk2>
        <a:srgbClr val="113425"/>
      </a:dk2>
      <a:lt2>
        <a:srgbClr val="F7F5EF"/>
      </a:lt2>
      <a:accent1>
        <a:srgbClr val="1D5E40"/>
      </a:accent1>
      <a:accent2>
        <a:srgbClr val="A97A2F"/>
      </a:accent2>
      <a:accent3>
        <a:srgbClr val="2E5F7A"/>
      </a:accent3>
      <a:accent4>
        <a:srgbClr val="9C3B2E"/>
      </a:accent4>
      <a:accent5>
        <a:srgbClr val="68716A"/>
      </a:accent5>
      <a:accent6>
        <a:srgbClr val="E1EAE1"/>
      </a:accent6>
      <a:hlink>
        <a:srgbClr val="1D5E40"/>
      </a:hlink>
      <a:folHlink>
        <a:srgbClr val="113425"/>
      </a:folHlink>
    </a:clrScheme>
    <a:fontScheme name="FoodLink">
      <a:majorFont>
        <a:latin typeface="Schibsted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chibsted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PBSN ASPIRE: FoodLink</dc:title>
  <dc:subject>PptxGenJS Presentation</dc:subject>
  <dc:creator>PBSN ASPIRE team</dc:creator>
  <cp:lastModifiedBy>PBSN ASPIRE team</cp:lastModifiedBy>
  <cp:revision>1</cp:revision>
  <dcterms:created xsi:type="dcterms:W3CDTF">2026-10-31T14:27:59Z</dcterms:created>
  <dcterms:modified xsi:type="dcterms:W3CDTF">2026-10-31T14:27:59Z</dcterms:modified>
</cp:coreProperties>
</file>