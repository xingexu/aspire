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[0:00–0:10] Good morning. We’re Xinge, Nuo, Zohra and Ahana, and this is FoodLink.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[0:10–0:30] Demand for USC Food Support more than doubled, but walk-in help is one basement room, 24 hours a week. FoodLink adds walk-up shelves, partner surplus and one app, and counts every restock. We ask for $2,500, two shelf spots and one Food Support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[0:30–0:52] In 2022–23 the USC handed out about 750 hampers all year. From September 2023 to mid-March 2024: more than 1,700, in about half the time. Demand rose 600% in 2023, and walk-ins closed that September. Nationally, 40% of students skipped meals because of cost in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[0:52–1:17] Walk-ins closed in September 2023, and in October 2024 the food bank went hamper-only, with six part-time staff replacing forty volunteers. Today the USC page lists walk-in hours again: one basement room, Monday to Thursday, ten to four. It still says requests reopen September 2025. Otherwise it’s an online form and at least 48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[1:17–1:42] Access: one basement room, Monday to Thursday, ten to four, and hampers that take at least 48 hours. Supply: the service runs entirely on donations, none of the 21 USC fee lines funds it, and special requests often go unmet. Information: five services with their own hours and rules, and a page that contradicts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[1:42–2:05] This shaped our design. In 2023 the USC said walk-ins made it incredibly difficult to get food out in an organized way. So FoodLink adds walk-up access with the controls walk-ins lacked: counted restocks, live stock, one-tap reports, and a food-safety checklist at every check-in.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[2:05–2:30] FoodLink has three parts. Points: two walk-up shelves of sealed, shelf-stable food and hygiene products, with no forms and no ID. Drops: campus partners post sealed surplus that students reserve with an anonymous code. And the app shows live stock, live drops and every other option. All three feed one dashboard the USC can audit, published weekly.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[2:30–2:50] Open FoodLink and see what is on each shelf and when it was last counted. Walk up and take what you need: no form, no name. If a shelf is empty, tap once; the volunteer on shift is told. Let me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[2:50–4:05] LIVE DEMO, 75 seconds. Open the app’s Live demo page and press Reset demo first. Step 1: on the phone, a student reports the UCC canned protein empty, with no login. Step 2: the volunteer logs a restock; the phone updates and the dashboard records what was taken since the last check. Step 3: a café posts twelve sealed sandwiches; the app checks the food-safety rules before it goes live. Step 4: the student reserves one and gets an anonymous code. Step 5: switch the screen to USC dashboard; every number we just created is there, and the history behind it is simulated. If the network fails, narrate the five steps from this screenshot.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[4:05–4:30] We have no usage data of our own yet, so here is the closest evidence. Anonymous, unstaffed pantries at Virginia Commonwealth University saw 5,263 door openings in one school year, with little misuse. Alberta’s walk-up pantry ran out of a week’s stock in hours. At TMU, half of students are food insecure, but only one in five used the food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[4:30–4:58] We built the budget around the USC Grant rules. The fund doesn’t pay for equipment or ongoing costs, so we borrow the shelving and ask only for one-time pilot costs: $2,500, mostly food and hygiene stock. Our team adds a 10% match, which the committee prefers. At 1,000 items that is $2.50 an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[4:58–5:18] We will judge the pilot on five targets the app measures itself: 1,000 items taken, under five percent thrown away, empty shelves restocked within two hours, three surplus partners, and zero food-safety incidents. At week eleven we continue if four of the five are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[5:18–5:38] We apply in November and hear back in about twenty business days. By December 15 we confirm the second site and the shelving. We launch in weeks one and two, adjust in weeks seven and eight, survey in week ten, and decide in week eleven.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[5:38–6:05] Each risk has a control. Food safety: sealed, shelf-stable food on the shelves; perishables only through Drops, picked up within two hours. Emptied shelves: a posted guide and live counts. Volunteer drop-off: fifteen-minute check-ins with staff backup. If no second site is approved, we run the UCC alone and halve the target. If the grant is cut, we run one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[6:05–6:25] Strengths: it’s built, anonymous, measures itself and costs $2,500. Weaknesses: shelf-stable food only, reliance on volunteers, and no usage data of our own yet, which the pilot exists to produce. Opportunities: the Grant Fund, FoodRescue.ca and residences next. Threats: a safety incident, vandalism and burnout.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[6:25–7:00] Our ask is $2,500 from the USC Grant Fund for one-time pilot costs, a spot in the UCC plus one more building, and one Food Support contact for eleven weeks. FoodLink keeps the USC’s food bank and hampers and adds walk-up shelves in busy buildings, with the accountability the USC asked for, and the app is already built.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only if a judge asks where a number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Bases for each budget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Why not something simpler.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Short answers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13425"/>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85800" y="6382512"/>
            <a:ext cx="10820095" cy="0"/>
          </a:xfrm>
          <a:prstGeom prst="line">
            <a:avLst/>
          </a:prstGeom>
          <a:noFill/>
          <a:ln w="9525">
            <a:solidFill>
              <a:srgbClr val="D9D4C7"/>
            </a:solidFill>
            <a:prstDash val="solid"/>
          </a:ln>
        </p:spPr>
      </p:sp>
      <p:sp>
        <p:nvSpPr>
          <p:cNvPr id="3" name="Text 1"/>
          <p:cNvSpPr/>
          <p:nvPr/>
        </p:nvSpPr>
        <p:spPr>
          <a:xfrm>
            <a:off x="685800" y="6455664"/>
            <a:ext cx="1463040" cy="274320"/>
          </a:xfrm>
          <a:prstGeom prst="rect">
            <a:avLst/>
          </a:prstGeom>
          <a:noFill/>
          <a:ln/>
        </p:spPr>
        <p:txBody>
          <a:bodyPr wrap="square" lIns="0" tIns="0" rIns="0" bIns="0" rtlCol="0" anchor="ctr"/>
          <a:lstStyle/>
          <a:p>
            <a:pPr indent="0" marL="0">
              <a:buNone/>
            </a:pPr>
            <a:r>
              <a:rPr lang="en-US" sz="1200" b="1" dirty="0">
                <a:solidFill>
                  <a:srgbClr val="15201A"/>
                </a:solidFill>
                <a:latin typeface="Schibsted Grotesk" pitchFamily="34" charset="0"/>
                <a:ea typeface="Schibsted Grotesk" pitchFamily="34" charset="-122"/>
                <a:cs typeface="Schibsted Grotesk" pitchFamily="34" charset="-120"/>
              </a:rPr>
              <a:t>FoodLink</a:t>
            </a:r>
            <a:endParaRPr lang="en-US" sz="1200" dirty="0"/>
          </a:p>
        </p:txBody>
      </p:sp>
      <p:sp>
        <p:nvSpPr>
          <p:cNvPr id="4" name="Text 2"/>
          <p:cNvSpPr/>
          <p:nvPr/>
        </p:nvSpPr>
        <p:spPr>
          <a:xfrm>
            <a:off x="3645256" y="6455664"/>
            <a:ext cx="1143000" cy="274320"/>
          </a:xfrm>
          <a:prstGeom prst="rect">
            <a:avLst/>
          </a:prstGeom>
          <a:noFill/>
          <a:ln/>
        </p:spPr>
        <p:txBody>
          <a:bodyPr wrap="square" lIns="0" tIns="0" rIns="0" bIns="0" rtlCol="0" anchor="ctr"/>
          <a:lstStyle/>
          <a:p>
            <a:pPr algn="ctr" indent="0" marL="0">
              <a:buNone/>
            </a:pPr>
            <a:r>
              <a:rPr lang="en-US" sz="1100" dirty="0">
                <a:solidFill>
                  <a:srgbClr val="68716A"/>
                </a:solidFill>
                <a:latin typeface="Schibsted Grotesk" pitchFamily="34" charset="0"/>
                <a:ea typeface="Schibsted Grotesk" pitchFamily="34" charset="-122"/>
                <a:cs typeface="Schibsted Grotesk" pitchFamily="34" charset="-120"/>
              </a:rPr>
              <a:t>Problem</a:t>
            </a:r>
            <a:endParaRPr lang="en-US" sz="1100" dirty="0"/>
          </a:p>
        </p:txBody>
      </p:sp>
      <p:sp>
        <p:nvSpPr>
          <p:cNvPr id="5" name="Text 3"/>
          <p:cNvSpPr/>
          <p:nvPr/>
        </p:nvSpPr>
        <p:spPr>
          <a:xfrm>
            <a:off x="4897984" y="6455664"/>
            <a:ext cx="1143000" cy="274320"/>
          </a:xfrm>
          <a:prstGeom prst="rect">
            <a:avLst/>
          </a:prstGeom>
          <a:noFill/>
          <a:ln/>
        </p:spPr>
        <p:txBody>
          <a:bodyPr wrap="square" lIns="0" tIns="0" rIns="0" bIns="0" rtlCol="0" anchor="ctr"/>
          <a:lstStyle/>
          <a:p>
            <a:pPr algn="ctr" indent="0" marL="0">
              <a:buNone/>
            </a:pPr>
            <a:r>
              <a:rPr lang="en-US" sz="1100" dirty="0">
                <a:solidFill>
                  <a:srgbClr val="68716A"/>
                </a:solidFill>
                <a:latin typeface="Schibsted Grotesk" pitchFamily="34" charset="0"/>
                <a:ea typeface="Schibsted Grotesk" pitchFamily="34" charset="-122"/>
                <a:cs typeface="Schibsted Grotesk" pitchFamily="34" charset="-120"/>
              </a:rPr>
              <a:t>Solution</a:t>
            </a:r>
            <a:endParaRPr lang="en-US" sz="1100" dirty="0"/>
          </a:p>
        </p:txBody>
      </p:sp>
      <p:sp>
        <p:nvSpPr>
          <p:cNvPr id="6" name="Text 4"/>
          <p:cNvSpPr/>
          <p:nvPr/>
        </p:nvSpPr>
        <p:spPr>
          <a:xfrm>
            <a:off x="6150712" y="6455664"/>
            <a:ext cx="1143000" cy="274320"/>
          </a:xfrm>
          <a:prstGeom prst="rect">
            <a:avLst/>
          </a:prstGeom>
          <a:noFill/>
          <a:ln/>
        </p:spPr>
        <p:txBody>
          <a:bodyPr wrap="square" lIns="0" tIns="0" rIns="0" bIns="0" rtlCol="0" anchor="ctr"/>
          <a:lstStyle/>
          <a:p>
            <a:pPr algn="ctr" indent="0" marL="0">
              <a:buNone/>
            </a:pPr>
            <a:r>
              <a:rPr lang="en-US" sz="1100" dirty="0">
                <a:solidFill>
                  <a:srgbClr val="68716A"/>
                </a:solidFill>
                <a:latin typeface="Schibsted Grotesk" pitchFamily="34" charset="0"/>
                <a:ea typeface="Schibsted Grotesk" pitchFamily="34" charset="-122"/>
                <a:cs typeface="Schibsted Grotesk" pitchFamily="34" charset="-120"/>
              </a:rPr>
              <a:t>Model</a:t>
            </a:r>
            <a:endParaRPr lang="en-US" sz="1100" dirty="0"/>
          </a:p>
        </p:txBody>
      </p:sp>
      <p:sp>
        <p:nvSpPr>
          <p:cNvPr id="7" name="Text 5"/>
          <p:cNvSpPr/>
          <p:nvPr/>
        </p:nvSpPr>
        <p:spPr>
          <a:xfrm>
            <a:off x="7403440" y="6455664"/>
            <a:ext cx="1143000" cy="274320"/>
          </a:xfrm>
          <a:prstGeom prst="rect">
            <a:avLst/>
          </a:prstGeom>
          <a:noFill/>
          <a:ln/>
        </p:spPr>
        <p:txBody>
          <a:bodyPr wrap="square" lIns="0" tIns="0" rIns="0" bIns="0" rtlCol="0" anchor="ctr"/>
          <a:lstStyle/>
          <a:p>
            <a:pPr algn="ctr" indent="0" marL="0">
              <a:buNone/>
            </a:pPr>
            <a:r>
              <a:rPr lang="en-US" sz="1100" dirty="0">
                <a:solidFill>
                  <a:srgbClr val="68716A"/>
                </a:solidFill>
                <a:latin typeface="Schibsted Grotesk" pitchFamily="34" charset="0"/>
                <a:ea typeface="Schibsted Grotesk" pitchFamily="34" charset="-122"/>
                <a:cs typeface="Schibsted Grotesk" pitchFamily="34" charset="-120"/>
              </a:rPr>
              <a:t>Execution</a:t>
            </a:r>
            <a:endParaRPr lang="en-US" sz="1100" dirty="0"/>
          </a:p>
        </p:txBody>
      </p:sp>
      <p:sp>
        <p:nvSpPr>
          <p:cNvPr id="8" name="Text 6"/>
          <p:cNvSpPr/>
          <p:nvPr>
            <p:ph idx="106" type="title" hasCustomPrompt="1"/>
          </p:nvPr>
        </p:nvSpPr>
        <p:spPr>
          <a:xfrm>
            <a:off x="685800" y="502920"/>
            <a:ext cx="10241280" cy="1188720"/>
          </a:xfrm>
          <a:prstGeom prst="rect">
            <a:avLst/>
          </a:prstGeom>
          <a:noFill/>
          <a:ln/>
        </p:spPr>
        <p:txBody>
          <a:bodyPr wrap="square" rtlCol="0"/>
          <a:lstStyle>
            <a:lvl1pPr algn="l" indent="0" marL="0">
              <a:lnSpc>
                <a:spcPct val="95000"/>
              </a:lnSpc>
              <a:buNone/>
              <a:defRPr lang="en-US" sz="3400" b="1" dirty="0">
                <a:solidFill>
                  <a:srgbClr val="15201A"/>
                </a:solidFill>
                <a:latin typeface="Schibsted Grotesk" pitchFamily="34" charset="0"/>
                <a:ea typeface="Schibsted Grotesk" pitchFamily="34" charset="-122"/>
                <a:cs typeface="Schibsted Grotesk" pitchFamily="34" charset="-120"/>
              </a:defRPr>
            </a:lvl1pPr>
          </a:lstStyle>
          <a:p>
            <a:pPr algn="l" indent="0" marL="0">
              <a:lnSpc>
                <a:spcPct val="95000"/>
              </a:lnSpc>
              <a:buNone/>
            </a:pPr>
            <a:endParaRPr lang="en-US" sz="34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ROBLEM">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85800" y="6382512"/>
            <a:ext cx="10820095" cy="0"/>
          </a:xfrm>
          <a:prstGeom prst="line">
            <a:avLst/>
          </a:prstGeom>
          <a:noFill/>
          <a:ln w="9525">
            <a:solidFill>
              <a:srgbClr val="D9D4C7"/>
            </a:solidFill>
            <a:prstDash val="solid"/>
          </a:ln>
        </p:spPr>
      </p:sp>
      <p:sp>
        <p:nvSpPr>
          <p:cNvPr id="3" name="Text 1"/>
          <p:cNvSpPr/>
          <p:nvPr/>
        </p:nvSpPr>
        <p:spPr>
          <a:xfrm>
            <a:off x="685800" y="6455664"/>
            <a:ext cx="1463040" cy="274320"/>
          </a:xfrm>
          <a:prstGeom prst="rect">
            <a:avLst/>
          </a:prstGeom>
          <a:noFill/>
          <a:ln/>
        </p:spPr>
        <p:txBody>
          <a:bodyPr wrap="square" lIns="0" tIns="0" rIns="0" bIns="0" rtlCol="0" anchor="ctr"/>
          <a:lstStyle/>
          <a:p>
            <a:pPr indent="0" marL="0">
              <a:buNone/>
            </a:pPr>
            <a:r>
              <a:rPr lang="en-US" sz="1200" b="1" dirty="0">
                <a:solidFill>
                  <a:srgbClr val="15201A"/>
                </a:solidFill>
                <a:latin typeface="Schibsted Grotesk" pitchFamily="34" charset="0"/>
                <a:ea typeface="Schibsted Grotesk" pitchFamily="34" charset="-122"/>
                <a:cs typeface="Schibsted Grotesk" pitchFamily="34" charset="-120"/>
              </a:rPr>
              <a:t>FoodLink</a:t>
            </a:r>
            <a:endParaRPr lang="en-US" sz="1200" dirty="0"/>
          </a:p>
        </p:txBody>
      </p:sp>
      <p:sp>
        <p:nvSpPr>
          <p:cNvPr id="4" name="Shape 2"/>
          <p:cNvSpPr/>
          <p:nvPr/>
        </p:nvSpPr>
        <p:spPr>
          <a:xfrm>
            <a:off x="3828136" y="6359652"/>
            <a:ext cx="777240" cy="45720"/>
          </a:xfrm>
          <a:prstGeom prst="rect">
            <a:avLst/>
          </a:prstGeom>
          <a:solidFill>
            <a:srgbClr val="A97A2F"/>
          </a:solidFill>
          <a:ln w="12700">
            <a:solidFill>
              <a:srgbClr val="A97A2F"/>
            </a:solidFill>
            <a:prstDash val="solid"/>
          </a:ln>
        </p:spPr>
      </p:sp>
      <p:sp>
        <p:nvSpPr>
          <p:cNvPr id="5" name="Text 3"/>
          <p:cNvSpPr/>
          <p:nvPr/>
        </p:nvSpPr>
        <p:spPr>
          <a:xfrm>
            <a:off x="3645256" y="6455664"/>
            <a:ext cx="1143000" cy="274320"/>
          </a:xfrm>
          <a:prstGeom prst="rect">
            <a:avLst/>
          </a:prstGeom>
          <a:noFill/>
          <a:ln/>
        </p:spPr>
        <p:txBody>
          <a:bodyPr wrap="square" lIns="0" tIns="0" rIns="0" bIns="0" rtlCol="0" anchor="ctr"/>
          <a:lstStyle/>
          <a:p>
            <a:pPr algn="ctr" indent="0" marL="0">
              <a:buNone/>
            </a:pPr>
            <a:r>
              <a:rPr lang="en-US" sz="1100" b="1" dirty="0">
                <a:solidFill>
                  <a:srgbClr val="15201A"/>
                </a:solidFill>
                <a:latin typeface="Schibsted Grotesk" pitchFamily="34" charset="0"/>
                <a:ea typeface="Schibsted Grotesk" pitchFamily="34" charset="-122"/>
                <a:cs typeface="Schibsted Grotesk" pitchFamily="34" charset="-120"/>
              </a:rPr>
              <a:t>Problem</a:t>
            </a:r>
            <a:endParaRPr lang="en-US" sz="1100" dirty="0"/>
          </a:p>
        </p:txBody>
      </p:sp>
      <p:sp>
        <p:nvSpPr>
          <p:cNvPr id="6" name="Text 4"/>
          <p:cNvSpPr/>
          <p:nvPr/>
        </p:nvSpPr>
        <p:spPr>
          <a:xfrm>
            <a:off x="4897984" y="6455664"/>
            <a:ext cx="1143000" cy="274320"/>
          </a:xfrm>
          <a:prstGeom prst="rect">
            <a:avLst/>
          </a:prstGeom>
          <a:noFill/>
          <a:ln/>
        </p:spPr>
        <p:txBody>
          <a:bodyPr wrap="square" lIns="0" tIns="0" rIns="0" bIns="0" rtlCol="0" anchor="ctr"/>
          <a:lstStyle/>
          <a:p>
            <a:pPr algn="ctr" indent="0" marL="0">
              <a:buNone/>
            </a:pPr>
            <a:r>
              <a:rPr lang="en-US" sz="1100" dirty="0">
                <a:solidFill>
                  <a:srgbClr val="68716A"/>
                </a:solidFill>
                <a:latin typeface="Schibsted Grotesk" pitchFamily="34" charset="0"/>
                <a:ea typeface="Schibsted Grotesk" pitchFamily="34" charset="-122"/>
                <a:cs typeface="Schibsted Grotesk" pitchFamily="34" charset="-120"/>
              </a:rPr>
              <a:t>Solution</a:t>
            </a:r>
            <a:endParaRPr lang="en-US" sz="1100" dirty="0"/>
          </a:p>
        </p:txBody>
      </p:sp>
      <p:sp>
        <p:nvSpPr>
          <p:cNvPr id="7" name="Text 5"/>
          <p:cNvSpPr/>
          <p:nvPr/>
        </p:nvSpPr>
        <p:spPr>
          <a:xfrm>
            <a:off x="6150712" y="6455664"/>
            <a:ext cx="1143000" cy="274320"/>
          </a:xfrm>
          <a:prstGeom prst="rect">
            <a:avLst/>
          </a:prstGeom>
          <a:noFill/>
          <a:ln/>
        </p:spPr>
        <p:txBody>
          <a:bodyPr wrap="square" lIns="0" tIns="0" rIns="0" bIns="0" rtlCol="0" anchor="ctr"/>
          <a:lstStyle/>
          <a:p>
            <a:pPr algn="ctr" indent="0" marL="0">
              <a:buNone/>
            </a:pPr>
            <a:r>
              <a:rPr lang="en-US" sz="1100" dirty="0">
                <a:solidFill>
                  <a:srgbClr val="68716A"/>
                </a:solidFill>
                <a:latin typeface="Schibsted Grotesk" pitchFamily="34" charset="0"/>
                <a:ea typeface="Schibsted Grotesk" pitchFamily="34" charset="-122"/>
                <a:cs typeface="Schibsted Grotesk" pitchFamily="34" charset="-120"/>
              </a:rPr>
              <a:t>Model</a:t>
            </a:r>
            <a:endParaRPr lang="en-US" sz="1100" dirty="0"/>
          </a:p>
        </p:txBody>
      </p:sp>
      <p:sp>
        <p:nvSpPr>
          <p:cNvPr id="8" name="Text 6"/>
          <p:cNvSpPr/>
          <p:nvPr/>
        </p:nvSpPr>
        <p:spPr>
          <a:xfrm>
            <a:off x="7403440" y="6455664"/>
            <a:ext cx="1143000" cy="274320"/>
          </a:xfrm>
          <a:prstGeom prst="rect">
            <a:avLst/>
          </a:prstGeom>
          <a:noFill/>
          <a:ln/>
        </p:spPr>
        <p:txBody>
          <a:bodyPr wrap="square" lIns="0" tIns="0" rIns="0" bIns="0" rtlCol="0" anchor="ctr"/>
          <a:lstStyle/>
          <a:p>
            <a:pPr algn="ctr" indent="0" marL="0">
              <a:buNone/>
            </a:pPr>
            <a:r>
              <a:rPr lang="en-US" sz="1100" dirty="0">
                <a:solidFill>
                  <a:srgbClr val="68716A"/>
                </a:solidFill>
                <a:latin typeface="Schibsted Grotesk" pitchFamily="34" charset="0"/>
                <a:ea typeface="Schibsted Grotesk" pitchFamily="34" charset="-122"/>
                <a:cs typeface="Schibsted Grotesk" pitchFamily="34" charset="-120"/>
              </a:rPr>
              <a:t>Execution</a:t>
            </a:r>
            <a:endParaRPr lang="en-US" sz="1100" dirty="0"/>
          </a:p>
        </p:txBody>
      </p:sp>
      <p:sp>
        <p:nvSpPr>
          <p:cNvPr id="9" name="Text 7"/>
          <p:cNvSpPr/>
          <p:nvPr>
            <p:ph idx="107" type="title" hasCustomPrompt="1"/>
          </p:nvPr>
        </p:nvSpPr>
        <p:spPr>
          <a:xfrm>
            <a:off x="685800" y="502920"/>
            <a:ext cx="10241280" cy="1188720"/>
          </a:xfrm>
          <a:prstGeom prst="rect">
            <a:avLst/>
          </a:prstGeom>
          <a:noFill/>
          <a:ln/>
        </p:spPr>
        <p:txBody>
          <a:bodyPr wrap="square" rtlCol="0"/>
          <a:lstStyle>
            <a:lvl1pPr algn="l" indent="0" marL="0">
              <a:lnSpc>
                <a:spcPct val="95000"/>
              </a:lnSpc>
              <a:buNone/>
              <a:defRPr lang="en-US" sz="3400" b="1" dirty="0">
                <a:solidFill>
                  <a:srgbClr val="15201A"/>
                </a:solidFill>
                <a:latin typeface="Schibsted Grotesk" pitchFamily="34" charset="0"/>
                <a:ea typeface="Schibsted Grotesk" pitchFamily="34" charset="-122"/>
                <a:cs typeface="Schibsted Grotesk" pitchFamily="34" charset="-120"/>
              </a:defRPr>
            </a:lvl1pPr>
          </a:lstStyle>
          <a:p>
            <a:pPr algn="l" indent="0" marL="0">
              <a:lnSpc>
                <a:spcPct val="95000"/>
              </a:lnSpc>
              <a:buNone/>
            </a:pPr>
            <a:endParaRPr lang="en-US" sz="34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OLUTION">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85800" y="6382512"/>
            <a:ext cx="10820095" cy="0"/>
          </a:xfrm>
          <a:prstGeom prst="line">
            <a:avLst/>
          </a:prstGeom>
          <a:noFill/>
          <a:ln w="9525">
            <a:solidFill>
              <a:srgbClr val="D9D4C7"/>
            </a:solidFill>
            <a:prstDash val="solid"/>
          </a:ln>
        </p:spPr>
      </p:sp>
      <p:sp>
        <p:nvSpPr>
          <p:cNvPr id="3" name="Text 1"/>
          <p:cNvSpPr/>
          <p:nvPr/>
        </p:nvSpPr>
        <p:spPr>
          <a:xfrm>
            <a:off x="685800" y="6455664"/>
            <a:ext cx="1463040" cy="274320"/>
          </a:xfrm>
          <a:prstGeom prst="rect">
            <a:avLst/>
          </a:prstGeom>
          <a:noFill/>
          <a:ln/>
        </p:spPr>
        <p:txBody>
          <a:bodyPr wrap="square" lIns="0" tIns="0" rIns="0" bIns="0" rtlCol="0" anchor="ctr"/>
          <a:lstStyle/>
          <a:p>
            <a:pPr indent="0" marL="0">
              <a:buNone/>
            </a:pPr>
            <a:r>
              <a:rPr lang="en-US" sz="1200" b="1" dirty="0">
                <a:solidFill>
                  <a:srgbClr val="15201A"/>
                </a:solidFill>
                <a:latin typeface="Schibsted Grotesk" pitchFamily="34" charset="0"/>
                <a:ea typeface="Schibsted Grotesk" pitchFamily="34" charset="-122"/>
                <a:cs typeface="Schibsted Grotesk" pitchFamily="34" charset="-120"/>
              </a:rPr>
              <a:t>FoodLink</a:t>
            </a:r>
            <a:endParaRPr lang="en-US" sz="1200" dirty="0"/>
          </a:p>
        </p:txBody>
      </p:sp>
      <p:sp>
        <p:nvSpPr>
          <p:cNvPr id="4" name="Text 2"/>
          <p:cNvSpPr/>
          <p:nvPr/>
        </p:nvSpPr>
        <p:spPr>
          <a:xfrm>
            <a:off x="3645256" y="6455664"/>
            <a:ext cx="1143000" cy="274320"/>
          </a:xfrm>
          <a:prstGeom prst="rect">
            <a:avLst/>
          </a:prstGeom>
          <a:noFill/>
          <a:ln/>
        </p:spPr>
        <p:txBody>
          <a:bodyPr wrap="square" lIns="0" tIns="0" rIns="0" bIns="0" rtlCol="0" anchor="ctr"/>
          <a:lstStyle/>
          <a:p>
            <a:pPr algn="ctr" indent="0" marL="0">
              <a:buNone/>
            </a:pPr>
            <a:r>
              <a:rPr lang="en-US" sz="1100" dirty="0">
                <a:solidFill>
                  <a:srgbClr val="68716A"/>
                </a:solidFill>
                <a:latin typeface="Schibsted Grotesk" pitchFamily="34" charset="0"/>
                <a:ea typeface="Schibsted Grotesk" pitchFamily="34" charset="-122"/>
                <a:cs typeface="Schibsted Grotesk" pitchFamily="34" charset="-120"/>
              </a:rPr>
              <a:t>Problem</a:t>
            </a:r>
            <a:endParaRPr lang="en-US" sz="1100" dirty="0"/>
          </a:p>
        </p:txBody>
      </p:sp>
      <p:sp>
        <p:nvSpPr>
          <p:cNvPr id="5" name="Shape 3"/>
          <p:cNvSpPr/>
          <p:nvPr/>
        </p:nvSpPr>
        <p:spPr>
          <a:xfrm>
            <a:off x="5080864" y="6359652"/>
            <a:ext cx="777240" cy="45720"/>
          </a:xfrm>
          <a:prstGeom prst="rect">
            <a:avLst/>
          </a:prstGeom>
          <a:solidFill>
            <a:srgbClr val="A97A2F"/>
          </a:solidFill>
          <a:ln w="12700">
            <a:solidFill>
              <a:srgbClr val="A97A2F"/>
            </a:solidFill>
            <a:prstDash val="solid"/>
          </a:ln>
        </p:spPr>
      </p:sp>
      <p:sp>
        <p:nvSpPr>
          <p:cNvPr id="6" name="Text 4"/>
          <p:cNvSpPr/>
          <p:nvPr/>
        </p:nvSpPr>
        <p:spPr>
          <a:xfrm>
            <a:off x="4897984" y="6455664"/>
            <a:ext cx="1143000" cy="274320"/>
          </a:xfrm>
          <a:prstGeom prst="rect">
            <a:avLst/>
          </a:prstGeom>
          <a:noFill/>
          <a:ln/>
        </p:spPr>
        <p:txBody>
          <a:bodyPr wrap="square" lIns="0" tIns="0" rIns="0" bIns="0" rtlCol="0" anchor="ctr"/>
          <a:lstStyle/>
          <a:p>
            <a:pPr algn="ctr" indent="0" marL="0">
              <a:buNone/>
            </a:pPr>
            <a:r>
              <a:rPr lang="en-US" sz="1100" b="1" dirty="0">
                <a:solidFill>
                  <a:srgbClr val="15201A"/>
                </a:solidFill>
                <a:latin typeface="Schibsted Grotesk" pitchFamily="34" charset="0"/>
                <a:ea typeface="Schibsted Grotesk" pitchFamily="34" charset="-122"/>
                <a:cs typeface="Schibsted Grotesk" pitchFamily="34" charset="-120"/>
              </a:rPr>
              <a:t>Solution</a:t>
            </a:r>
            <a:endParaRPr lang="en-US" sz="1100" dirty="0"/>
          </a:p>
        </p:txBody>
      </p:sp>
      <p:sp>
        <p:nvSpPr>
          <p:cNvPr id="7" name="Text 5"/>
          <p:cNvSpPr/>
          <p:nvPr/>
        </p:nvSpPr>
        <p:spPr>
          <a:xfrm>
            <a:off x="6150712" y="6455664"/>
            <a:ext cx="1143000" cy="274320"/>
          </a:xfrm>
          <a:prstGeom prst="rect">
            <a:avLst/>
          </a:prstGeom>
          <a:noFill/>
          <a:ln/>
        </p:spPr>
        <p:txBody>
          <a:bodyPr wrap="square" lIns="0" tIns="0" rIns="0" bIns="0" rtlCol="0" anchor="ctr"/>
          <a:lstStyle/>
          <a:p>
            <a:pPr algn="ctr" indent="0" marL="0">
              <a:buNone/>
            </a:pPr>
            <a:r>
              <a:rPr lang="en-US" sz="1100" dirty="0">
                <a:solidFill>
                  <a:srgbClr val="68716A"/>
                </a:solidFill>
                <a:latin typeface="Schibsted Grotesk" pitchFamily="34" charset="0"/>
                <a:ea typeface="Schibsted Grotesk" pitchFamily="34" charset="-122"/>
                <a:cs typeface="Schibsted Grotesk" pitchFamily="34" charset="-120"/>
              </a:rPr>
              <a:t>Model</a:t>
            </a:r>
            <a:endParaRPr lang="en-US" sz="1100" dirty="0"/>
          </a:p>
        </p:txBody>
      </p:sp>
      <p:sp>
        <p:nvSpPr>
          <p:cNvPr id="8" name="Text 6"/>
          <p:cNvSpPr/>
          <p:nvPr/>
        </p:nvSpPr>
        <p:spPr>
          <a:xfrm>
            <a:off x="7403440" y="6455664"/>
            <a:ext cx="1143000" cy="274320"/>
          </a:xfrm>
          <a:prstGeom prst="rect">
            <a:avLst/>
          </a:prstGeom>
          <a:noFill/>
          <a:ln/>
        </p:spPr>
        <p:txBody>
          <a:bodyPr wrap="square" lIns="0" tIns="0" rIns="0" bIns="0" rtlCol="0" anchor="ctr"/>
          <a:lstStyle/>
          <a:p>
            <a:pPr algn="ctr" indent="0" marL="0">
              <a:buNone/>
            </a:pPr>
            <a:r>
              <a:rPr lang="en-US" sz="1100" dirty="0">
                <a:solidFill>
                  <a:srgbClr val="68716A"/>
                </a:solidFill>
                <a:latin typeface="Schibsted Grotesk" pitchFamily="34" charset="0"/>
                <a:ea typeface="Schibsted Grotesk" pitchFamily="34" charset="-122"/>
                <a:cs typeface="Schibsted Grotesk" pitchFamily="34" charset="-120"/>
              </a:rPr>
              <a:t>Execution</a:t>
            </a:r>
            <a:endParaRPr lang="en-US" sz="1100" dirty="0"/>
          </a:p>
        </p:txBody>
      </p:sp>
      <p:sp>
        <p:nvSpPr>
          <p:cNvPr id="9" name="Text 7"/>
          <p:cNvSpPr/>
          <p:nvPr>
            <p:ph idx="107" type="title" hasCustomPrompt="1"/>
          </p:nvPr>
        </p:nvSpPr>
        <p:spPr>
          <a:xfrm>
            <a:off x="685800" y="502920"/>
            <a:ext cx="10241280" cy="1188720"/>
          </a:xfrm>
          <a:prstGeom prst="rect">
            <a:avLst/>
          </a:prstGeom>
          <a:noFill/>
          <a:ln/>
        </p:spPr>
        <p:txBody>
          <a:bodyPr wrap="square" rtlCol="0"/>
          <a:lstStyle>
            <a:lvl1pPr algn="l" indent="0" marL="0">
              <a:lnSpc>
                <a:spcPct val="95000"/>
              </a:lnSpc>
              <a:buNone/>
              <a:defRPr lang="en-US" sz="3400" b="1" dirty="0">
                <a:solidFill>
                  <a:srgbClr val="15201A"/>
                </a:solidFill>
                <a:latin typeface="Schibsted Grotesk" pitchFamily="34" charset="0"/>
                <a:ea typeface="Schibsted Grotesk" pitchFamily="34" charset="-122"/>
                <a:cs typeface="Schibsted Grotesk" pitchFamily="34" charset="-120"/>
              </a:defRPr>
            </a:lvl1pPr>
          </a:lstStyle>
          <a:p>
            <a:pPr algn="l" indent="0" marL="0">
              <a:lnSpc>
                <a:spcPct val="95000"/>
              </a:lnSpc>
              <a:buNone/>
            </a:pPr>
            <a:endParaRPr lang="en-US" sz="34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MODEL">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85800" y="6382512"/>
            <a:ext cx="10820095" cy="0"/>
          </a:xfrm>
          <a:prstGeom prst="line">
            <a:avLst/>
          </a:prstGeom>
          <a:noFill/>
          <a:ln w="9525">
            <a:solidFill>
              <a:srgbClr val="D9D4C7"/>
            </a:solidFill>
            <a:prstDash val="solid"/>
          </a:ln>
        </p:spPr>
      </p:sp>
      <p:sp>
        <p:nvSpPr>
          <p:cNvPr id="3" name="Text 1"/>
          <p:cNvSpPr/>
          <p:nvPr/>
        </p:nvSpPr>
        <p:spPr>
          <a:xfrm>
            <a:off x="685800" y="6455664"/>
            <a:ext cx="1463040" cy="274320"/>
          </a:xfrm>
          <a:prstGeom prst="rect">
            <a:avLst/>
          </a:prstGeom>
          <a:noFill/>
          <a:ln/>
        </p:spPr>
        <p:txBody>
          <a:bodyPr wrap="square" lIns="0" tIns="0" rIns="0" bIns="0" rtlCol="0" anchor="ctr"/>
          <a:lstStyle/>
          <a:p>
            <a:pPr indent="0" marL="0">
              <a:buNone/>
            </a:pPr>
            <a:r>
              <a:rPr lang="en-US" sz="1200" b="1" dirty="0">
                <a:solidFill>
                  <a:srgbClr val="15201A"/>
                </a:solidFill>
                <a:latin typeface="Schibsted Grotesk" pitchFamily="34" charset="0"/>
                <a:ea typeface="Schibsted Grotesk" pitchFamily="34" charset="-122"/>
                <a:cs typeface="Schibsted Grotesk" pitchFamily="34" charset="-120"/>
              </a:rPr>
              <a:t>FoodLink</a:t>
            </a:r>
            <a:endParaRPr lang="en-US" sz="1200" dirty="0"/>
          </a:p>
        </p:txBody>
      </p:sp>
      <p:sp>
        <p:nvSpPr>
          <p:cNvPr id="4" name="Text 2"/>
          <p:cNvSpPr/>
          <p:nvPr/>
        </p:nvSpPr>
        <p:spPr>
          <a:xfrm>
            <a:off x="3645256" y="6455664"/>
            <a:ext cx="1143000" cy="274320"/>
          </a:xfrm>
          <a:prstGeom prst="rect">
            <a:avLst/>
          </a:prstGeom>
          <a:noFill/>
          <a:ln/>
        </p:spPr>
        <p:txBody>
          <a:bodyPr wrap="square" lIns="0" tIns="0" rIns="0" bIns="0" rtlCol="0" anchor="ctr"/>
          <a:lstStyle/>
          <a:p>
            <a:pPr algn="ctr" indent="0" marL="0">
              <a:buNone/>
            </a:pPr>
            <a:r>
              <a:rPr lang="en-US" sz="1100" dirty="0">
                <a:solidFill>
                  <a:srgbClr val="68716A"/>
                </a:solidFill>
                <a:latin typeface="Schibsted Grotesk" pitchFamily="34" charset="0"/>
                <a:ea typeface="Schibsted Grotesk" pitchFamily="34" charset="-122"/>
                <a:cs typeface="Schibsted Grotesk" pitchFamily="34" charset="-120"/>
              </a:rPr>
              <a:t>Problem</a:t>
            </a:r>
            <a:endParaRPr lang="en-US" sz="1100" dirty="0"/>
          </a:p>
        </p:txBody>
      </p:sp>
      <p:sp>
        <p:nvSpPr>
          <p:cNvPr id="5" name="Text 3"/>
          <p:cNvSpPr/>
          <p:nvPr/>
        </p:nvSpPr>
        <p:spPr>
          <a:xfrm>
            <a:off x="4897984" y="6455664"/>
            <a:ext cx="1143000" cy="274320"/>
          </a:xfrm>
          <a:prstGeom prst="rect">
            <a:avLst/>
          </a:prstGeom>
          <a:noFill/>
          <a:ln/>
        </p:spPr>
        <p:txBody>
          <a:bodyPr wrap="square" lIns="0" tIns="0" rIns="0" bIns="0" rtlCol="0" anchor="ctr"/>
          <a:lstStyle/>
          <a:p>
            <a:pPr algn="ctr" indent="0" marL="0">
              <a:buNone/>
            </a:pPr>
            <a:r>
              <a:rPr lang="en-US" sz="1100" dirty="0">
                <a:solidFill>
                  <a:srgbClr val="68716A"/>
                </a:solidFill>
                <a:latin typeface="Schibsted Grotesk" pitchFamily="34" charset="0"/>
                <a:ea typeface="Schibsted Grotesk" pitchFamily="34" charset="-122"/>
                <a:cs typeface="Schibsted Grotesk" pitchFamily="34" charset="-120"/>
              </a:rPr>
              <a:t>Solution</a:t>
            </a:r>
            <a:endParaRPr lang="en-US" sz="1100" dirty="0"/>
          </a:p>
        </p:txBody>
      </p:sp>
      <p:sp>
        <p:nvSpPr>
          <p:cNvPr id="6" name="Shape 4"/>
          <p:cNvSpPr/>
          <p:nvPr/>
        </p:nvSpPr>
        <p:spPr>
          <a:xfrm>
            <a:off x="6333592" y="6359652"/>
            <a:ext cx="777240" cy="45720"/>
          </a:xfrm>
          <a:prstGeom prst="rect">
            <a:avLst/>
          </a:prstGeom>
          <a:solidFill>
            <a:srgbClr val="A97A2F"/>
          </a:solidFill>
          <a:ln w="12700">
            <a:solidFill>
              <a:srgbClr val="A97A2F"/>
            </a:solidFill>
            <a:prstDash val="solid"/>
          </a:ln>
        </p:spPr>
      </p:sp>
      <p:sp>
        <p:nvSpPr>
          <p:cNvPr id="7" name="Text 5"/>
          <p:cNvSpPr/>
          <p:nvPr/>
        </p:nvSpPr>
        <p:spPr>
          <a:xfrm>
            <a:off x="6150712" y="6455664"/>
            <a:ext cx="1143000" cy="274320"/>
          </a:xfrm>
          <a:prstGeom prst="rect">
            <a:avLst/>
          </a:prstGeom>
          <a:noFill/>
          <a:ln/>
        </p:spPr>
        <p:txBody>
          <a:bodyPr wrap="square" lIns="0" tIns="0" rIns="0" bIns="0" rtlCol="0" anchor="ctr"/>
          <a:lstStyle/>
          <a:p>
            <a:pPr algn="ctr" indent="0" marL="0">
              <a:buNone/>
            </a:pPr>
            <a:r>
              <a:rPr lang="en-US" sz="1100" b="1" dirty="0">
                <a:solidFill>
                  <a:srgbClr val="15201A"/>
                </a:solidFill>
                <a:latin typeface="Schibsted Grotesk" pitchFamily="34" charset="0"/>
                <a:ea typeface="Schibsted Grotesk" pitchFamily="34" charset="-122"/>
                <a:cs typeface="Schibsted Grotesk" pitchFamily="34" charset="-120"/>
              </a:rPr>
              <a:t>Model</a:t>
            </a:r>
            <a:endParaRPr lang="en-US" sz="1100" dirty="0"/>
          </a:p>
        </p:txBody>
      </p:sp>
      <p:sp>
        <p:nvSpPr>
          <p:cNvPr id="8" name="Text 6"/>
          <p:cNvSpPr/>
          <p:nvPr/>
        </p:nvSpPr>
        <p:spPr>
          <a:xfrm>
            <a:off x="7403440" y="6455664"/>
            <a:ext cx="1143000" cy="274320"/>
          </a:xfrm>
          <a:prstGeom prst="rect">
            <a:avLst/>
          </a:prstGeom>
          <a:noFill/>
          <a:ln/>
        </p:spPr>
        <p:txBody>
          <a:bodyPr wrap="square" lIns="0" tIns="0" rIns="0" bIns="0" rtlCol="0" anchor="ctr"/>
          <a:lstStyle/>
          <a:p>
            <a:pPr algn="ctr" indent="0" marL="0">
              <a:buNone/>
            </a:pPr>
            <a:r>
              <a:rPr lang="en-US" sz="1100" dirty="0">
                <a:solidFill>
                  <a:srgbClr val="68716A"/>
                </a:solidFill>
                <a:latin typeface="Schibsted Grotesk" pitchFamily="34" charset="0"/>
                <a:ea typeface="Schibsted Grotesk" pitchFamily="34" charset="-122"/>
                <a:cs typeface="Schibsted Grotesk" pitchFamily="34" charset="-120"/>
              </a:rPr>
              <a:t>Execution</a:t>
            </a:r>
            <a:endParaRPr lang="en-US" sz="1100" dirty="0"/>
          </a:p>
        </p:txBody>
      </p:sp>
      <p:sp>
        <p:nvSpPr>
          <p:cNvPr id="9" name="Text 7"/>
          <p:cNvSpPr/>
          <p:nvPr>
            <p:ph idx="107" type="title" hasCustomPrompt="1"/>
          </p:nvPr>
        </p:nvSpPr>
        <p:spPr>
          <a:xfrm>
            <a:off x="685800" y="502920"/>
            <a:ext cx="10241280" cy="1188720"/>
          </a:xfrm>
          <a:prstGeom prst="rect">
            <a:avLst/>
          </a:prstGeom>
          <a:noFill/>
          <a:ln/>
        </p:spPr>
        <p:txBody>
          <a:bodyPr wrap="square" rtlCol="0"/>
          <a:lstStyle>
            <a:lvl1pPr algn="l" indent="0" marL="0">
              <a:lnSpc>
                <a:spcPct val="95000"/>
              </a:lnSpc>
              <a:buNone/>
              <a:defRPr lang="en-US" sz="3400" b="1" dirty="0">
                <a:solidFill>
                  <a:srgbClr val="15201A"/>
                </a:solidFill>
                <a:latin typeface="Schibsted Grotesk" pitchFamily="34" charset="0"/>
                <a:ea typeface="Schibsted Grotesk" pitchFamily="34" charset="-122"/>
                <a:cs typeface="Schibsted Grotesk" pitchFamily="34" charset="-120"/>
              </a:defRPr>
            </a:lvl1pPr>
          </a:lstStyle>
          <a:p>
            <a:pPr algn="l" indent="0" marL="0">
              <a:lnSpc>
                <a:spcPct val="95000"/>
              </a:lnSpc>
              <a:buNone/>
            </a:pPr>
            <a:endParaRPr lang="en-US" sz="34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EXECUTION">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85800" y="6382512"/>
            <a:ext cx="10820095" cy="0"/>
          </a:xfrm>
          <a:prstGeom prst="line">
            <a:avLst/>
          </a:prstGeom>
          <a:noFill/>
          <a:ln w="9525">
            <a:solidFill>
              <a:srgbClr val="D9D4C7"/>
            </a:solidFill>
            <a:prstDash val="solid"/>
          </a:ln>
        </p:spPr>
      </p:sp>
      <p:sp>
        <p:nvSpPr>
          <p:cNvPr id="3" name="Text 1"/>
          <p:cNvSpPr/>
          <p:nvPr/>
        </p:nvSpPr>
        <p:spPr>
          <a:xfrm>
            <a:off x="685800" y="6455664"/>
            <a:ext cx="1463040" cy="274320"/>
          </a:xfrm>
          <a:prstGeom prst="rect">
            <a:avLst/>
          </a:prstGeom>
          <a:noFill/>
          <a:ln/>
        </p:spPr>
        <p:txBody>
          <a:bodyPr wrap="square" lIns="0" tIns="0" rIns="0" bIns="0" rtlCol="0" anchor="ctr"/>
          <a:lstStyle/>
          <a:p>
            <a:pPr indent="0" marL="0">
              <a:buNone/>
            </a:pPr>
            <a:r>
              <a:rPr lang="en-US" sz="1200" b="1" dirty="0">
                <a:solidFill>
                  <a:srgbClr val="15201A"/>
                </a:solidFill>
                <a:latin typeface="Schibsted Grotesk" pitchFamily="34" charset="0"/>
                <a:ea typeface="Schibsted Grotesk" pitchFamily="34" charset="-122"/>
                <a:cs typeface="Schibsted Grotesk" pitchFamily="34" charset="-120"/>
              </a:rPr>
              <a:t>FoodLink</a:t>
            </a:r>
            <a:endParaRPr lang="en-US" sz="1200" dirty="0"/>
          </a:p>
        </p:txBody>
      </p:sp>
      <p:sp>
        <p:nvSpPr>
          <p:cNvPr id="4" name="Text 2"/>
          <p:cNvSpPr/>
          <p:nvPr/>
        </p:nvSpPr>
        <p:spPr>
          <a:xfrm>
            <a:off x="3645256" y="6455664"/>
            <a:ext cx="1143000" cy="274320"/>
          </a:xfrm>
          <a:prstGeom prst="rect">
            <a:avLst/>
          </a:prstGeom>
          <a:noFill/>
          <a:ln/>
        </p:spPr>
        <p:txBody>
          <a:bodyPr wrap="square" lIns="0" tIns="0" rIns="0" bIns="0" rtlCol="0" anchor="ctr"/>
          <a:lstStyle/>
          <a:p>
            <a:pPr algn="ctr" indent="0" marL="0">
              <a:buNone/>
            </a:pPr>
            <a:r>
              <a:rPr lang="en-US" sz="1100" dirty="0">
                <a:solidFill>
                  <a:srgbClr val="68716A"/>
                </a:solidFill>
                <a:latin typeface="Schibsted Grotesk" pitchFamily="34" charset="0"/>
                <a:ea typeface="Schibsted Grotesk" pitchFamily="34" charset="-122"/>
                <a:cs typeface="Schibsted Grotesk" pitchFamily="34" charset="-120"/>
              </a:rPr>
              <a:t>Problem</a:t>
            </a:r>
            <a:endParaRPr lang="en-US" sz="1100" dirty="0"/>
          </a:p>
        </p:txBody>
      </p:sp>
      <p:sp>
        <p:nvSpPr>
          <p:cNvPr id="5" name="Text 3"/>
          <p:cNvSpPr/>
          <p:nvPr/>
        </p:nvSpPr>
        <p:spPr>
          <a:xfrm>
            <a:off x="4897984" y="6455664"/>
            <a:ext cx="1143000" cy="274320"/>
          </a:xfrm>
          <a:prstGeom prst="rect">
            <a:avLst/>
          </a:prstGeom>
          <a:noFill/>
          <a:ln/>
        </p:spPr>
        <p:txBody>
          <a:bodyPr wrap="square" lIns="0" tIns="0" rIns="0" bIns="0" rtlCol="0" anchor="ctr"/>
          <a:lstStyle/>
          <a:p>
            <a:pPr algn="ctr" indent="0" marL="0">
              <a:buNone/>
            </a:pPr>
            <a:r>
              <a:rPr lang="en-US" sz="1100" dirty="0">
                <a:solidFill>
                  <a:srgbClr val="68716A"/>
                </a:solidFill>
                <a:latin typeface="Schibsted Grotesk" pitchFamily="34" charset="0"/>
                <a:ea typeface="Schibsted Grotesk" pitchFamily="34" charset="-122"/>
                <a:cs typeface="Schibsted Grotesk" pitchFamily="34" charset="-120"/>
              </a:rPr>
              <a:t>Solution</a:t>
            </a:r>
            <a:endParaRPr lang="en-US" sz="1100" dirty="0"/>
          </a:p>
        </p:txBody>
      </p:sp>
      <p:sp>
        <p:nvSpPr>
          <p:cNvPr id="6" name="Text 4"/>
          <p:cNvSpPr/>
          <p:nvPr/>
        </p:nvSpPr>
        <p:spPr>
          <a:xfrm>
            <a:off x="6150712" y="6455664"/>
            <a:ext cx="1143000" cy="274320"/>
          </a:xfrm>
          <a:prstGeom prst="rect">
            <a:avLst/>
          </a:prstGeom>
          <a:noFill/>
          <a:ln/>
        </p:spPr>
        <p:txBody>
          <a:bodyPr wrap="square" lIns="0" tIns="0" rIns="0" bIns="0" rtlCol="0" anchor="ctr"/>
          <a:lstStyle/>
          <a:p>
            <a:pPr algn="ctr" indent="0" marL="0">
              <a:buNone/>
            </a:pPr>
            <a:r>
              <a:rPr lang="en-US" sz="1100" dirty="0">
                <a:solidFill>
                  <a:srgbClr val="68716A"/>
                </a:solidFill>
                <a:latin typeface="Schibsted Grotesk" pitchFamily="34" charset="0"/>
                <a:ea typeface="Schibsted Grotesk" pitchFamily="34" charset="-122"/>
                <a:cs typeface="Schibsted Grotesk" pitchFamily="34" charset="-120"/>
              </a:rPr>
              <a:t>Model</a:t>
            </a:r>
            <a:endParaRPr lang="en-US" sz="1100" dirty="0"/>
          </a:p>
        </p:txBody>
      </p:sp>
      <p:sp>
        <p:nvSpPr>
          <p:cNvPr id="7" name="Shape 5"/>
          <p:cNvSpPr/>
          <p:nvPr/>
        </p:nvSpPr>
        <p:spPr>
          <a:xfrm>
            <a:off x="7586320" y="6359652"/>
            <a:ext cx="777240" cy="45720"/>
          </a:xfrm>
          <a:prstGeom prst="rect">
            <a:avLst/>
          </a:prstGeom>
          <a:solidFill>
            <a:srgbClr val="A97A2F"/>
          </a:solidFill>
          <a:ln w="12700">
            <a:solidFill>
              <a:srgbClr val="A97A2F"/>
            </a:solidFill>
            <a:prstDash val="solid"/>
          </a:ln>
        </p:spPr>
      </p:sp>
      <p:sp>
        <p:nvSpPr>
          <p:cNvPr id="8" name="Text 6"/>
          <p:cNvSpPr/>
          <p:nvPr/>
        </p:nvSpPr>
        <p:spPr>
          <a:xfrm>
            <a:off x="7403440" y="6455664"/>
            <a:ext cx="1143000" cy="274320"/>
          </a:xfrm>
          <a:prstGeom prst="rect">
            <a:avLst/>
          </a:prstGeom>
          <a:noFill/>
          <a:ln/>
        </p:spPr>
        <p:txBody>
          <a:bodyPr wrap="square" lIns="0" tIns="0" rIns="0" bIns="0" rtlCol="0" anchor="ctr"/>
          <a:lstStyle/>
          <a:p>
            <a:pPr algn="ctr" indent="0" marL="0">
              <a:buNone/>
            </a:pPr>
            <a:r>
              <a:rPr lang="en-US" sz="1100" b="1" dirty="0">
                <a:solidFill>
                  <a:srgbClr val="15201A"/>
                </a:solidFill>
                <a:latin typeface="Schibsted Grotesk" pitchFamily="34" charset="0"/>
                <a:ea typeface="Schibsted Grotesk" pitchFamily="34" charset="-122"/>
                <a:cs typeface="Schibsted Grotesk" pitchFamily="34" charset="-120"/>
              </a:rPr>
              <a:t>Execution</a:t>
            </a:r>
            <a:endParaRPr lang="en-US" sz="1100" dirty="0"/>
          </a:p>
        </p:txBody>
      </p:sp>
      <p:sp>
        <p:nvSpPr>
          <p:cNvPr id="9" name="Text 7"/>
          <p:cNvSpPr/>
          <p:nvPr>
            <p:ph idx="107" type="title" hasCustomPrompt="1"/>
          </p:nvPr>
        </p:nvSpPr>
        <p:spPr>
          <a:xfrm>
            <a:off x="685800" y="502920"/>
            <a:ext cx="10241280" cy="1188720"/>
          </a:xfrm>
          <a:prstGeom prst="rect">
            <a:avLst/>
          </a:prstGeom>
          <a:noFill/>
          <a:ln/>
        </p:spPr>
        <p:txBody>
          <a:bodyPr wrap="square" rtlCol="0"/>
          <a:lstStyle>
            <a:lvl1pPr algn="l" indent="0" marL="0">
              <a:lnSpc>
                <a:spcPct val="95000"/>
              </a:lnSpc>
              <a:buNone/>
              <a:defRPr lang="en-US" sz="3400" b="1" dirty="0">
                <a:solidFill>
                  <a:srgbClr val="15201A"/>
                </a:solidFill>
                <a:latin typeface="Schibsted Grotesk" pitchFamily="34" charset="0"/>
                <a:ea typeface="Schibsted Grotesk" pitchFamily="34" charset="-122"/>
                <a:cs typeface="Schibsted Grotesk" pitchFamily="34" charset="-120"/>
              </a:defRPr>
            </a:lvl1pPr>
          </a:lstStyle>
          <a:p>
            <a:pPr algn="l" indent="0" marL="0">
              <a:lnSpc>
                <a:spcPct val="95000"/>
              </a:lnSpc>
              <a:buNone/>
            </a:pPr>
            <a:endParaRPr lang="en-US" sz="34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LOSE">
    <p:bg>
      <p:bgPr>
        <a:solidFill>
          <a:srgbClr val="113425"/>
        </a:solidFill>
      </p:bgPr>
    </p:bg>
    <p:spTree>
      <p:nvGrpSpPr>
        <p:cNvPr id="1" name=""/>
        <p:cNvGrpSpPr/>
        <p:nvPr/>
      </p:nvGrpSpPr>
      <p:grpSpPr>
        <a:xfrm>
          <a:off x="0" y="0"/>
          <a:ext cx="0" cy="0"/>
          <a:chOff x="0" y="0"/>
          <a:chExt cx="0" cy="0"/>
        </a:xfrm>
      </p:grpSpPr>
      <p:sp>
        <p:nvSpPr>
          <p:cNvPr id="2" name="Shape 0"/>
          <p:cNvSpPr/>
          <p:nvPr/>
        </p:nvSpPr>
        <p:spPr>
          <a:xfrm>
            <a:off x="685800" y="6382512"/>
            <a:ext cx="10820095" cy="0"/>
          </a:xfrm>
          <a:prstGeom prst="line">
            <a:avLst/>
          </a:prstGeom>
          <a:noFill/>
          <a:ln w="9525">
            <a:solidFill>
              <a:srgbClr val="2F5444"/>
            </a:solidFill>
            <a:prstDash val="solid"/>
          </a:ln>
        </p:spPr>
      </p:sp>
      <p:sp>
        <p:nvSpPr>
          <p:cNvPr id="3" name="Text 1"/>
          <p:cNvSpPr/>
          <p:nvPr/>
        </p:nvSpPr>
        <p:spPr>
          <a:xfrm>
            <a:off x="685800" y="6455664"/>
            <a:ext cx="1463040" cy="274320"/>
          </a:xfrm>
          <a:prstGeom prst="rect">
            <a:avLst/>
          </a:prstGeom>
          <a:noFill/>
          <a:ln/>
        </p:spPr>
        <p:txBody>
          <a:bodyPr wrap="square" lIns="0" tIns="0" rIns="0" bIns="0" rtlCol="0" anchor="ctr"/>
          <a:lstStyle/>
          <a:p>
            <a:pPr indent="0" marL="0">
              <a:buNone/>
            </a:pPr>
            <a:r>
              <a:rPr lang="en-US" sz="1200" b="1" dirty="0">
                <a:solidFill>
                  <a:srgbClr val="F7F5EF"/>
                </a:solidFill>
                <a:latin typeface="Schibsted Grotesk" pitchFamily="34" charset="0"/>
                <a:ea typeface="Schibsted Grotesk" pitchFamily="34" charset="-122"/>
                <a:cs typeface="Schibsted Grotesk" pitchFamily="34" charset="-120"/>
              </a:rPr>
              <a:t>FoodLink</a:t>
            </a:r>
            <a:endParaRPr lang="en-US" sz="1200" dirty="0"/>
          </a:p>
        </p:txBody>
      </p:sp>
      <p:sp>
        <p:nvSpPr>
          <p:cNvPr id="4" name="Text 2"/>
          <p:cNvSpPr/>
          <p:nvPr/>
        </p:nvSpPr>
        <p:spPr>
          <a:xfrm>
            <a:off x="3645256" y="6455664"/>
            <a:ext cx="1143000" cy="274320"/>
          </a:xfrm>
          <a:prstGeom prst="rect">
            <a:avLst/>
          </a:prstGeom>
          <a:noFill/>
          <a:ln/>
        </p:spPr>
        <p:txBody>
          <a:bodyPr wrap="square" lIns="0" tIns="0" rIns="0" bIns="0" rtlCol="0" anchor="ctr"/>
          <a:lstStyle/>
          <a:p>
            <a:pPr algn="ctr" indent="0" marL="0">
              <a:buNone/>
            </a:pPr>
            <a:r>
              <a:rPr lang="en-US" sz="1100" dirty="0">
                <a:solidFill>
                  <a:srgbClr val="93AE9C"/>
                </a:solidFill>
                <a:latin typeface="Schibsted Grotesk" pitchFamily="34" charset="0"/>
                <a:ea typeface="Schibsted Grotesk" pitchFamily="34" charset="-122"/>
                <a:cs typeface="Schibsted Grotesk" pitchFamily="34" charset="-120"/>
              </a:rPr>
              <a:t>Problem</a:t>
            </a:r>
            <a:endParaRPr lang="en-US" sz="1100" dirty="0"/>
          </a:p>
        </p:txBody>
      </p:sp>
      <p:sp>
        <p:nvSpPr>
          <p:cNvPr id="5" name="Text 3"/>
          <p:cNvSpPr/>
          <p:nvPr/>
        </p:nvSpPr>
        <p:spPr>
          <a:xfrm>
            <a:off x="4897984" y="6455664"/>
            <a:ext cx="1143000" cy="274320"/>
          </a:xfrm>
          <a:prstGeom prst="rect">
            <a:avLst/>
          </a:prstGeom>
          <a:noFill/>
          <a:ln/>
        </p:spPr>
        <p:txBody>
          <a:bodyPr wrap="square" lIns="0" tIns="0" rIns="0" bIns="0" rtlCol="0" anchor="ctr"/>
          <a:lstStyle/>
          <a:p>
            <a:pPr algn="ctr" indent="0" marL="0">
              <a:buNone/>
            </a:pPr>
            <a:r>
              <a:rPr lang="en-US" sz="1100" dirty="0">
                <a:solidFill>
                  <a:srgbClr val="93AE9C"/>
                </a:solidFill>
                <a:latin typeface="Schibsted Grotesk" pitchFamily="34" charset="0"/>
                <a:ea typeface="Schibsted Grotesk" pitchFamily="34" charset="-122"/>
                <a:cs typeface="Schibsted Grotesk" pitchFamily="34" charset="-120"/>
              </a:rPr>
              <a:t>Solution</a:t>
            </a:r>
            <a:endParaRPr lang="en-US" sz="1100" dirty="0"/>
          </a:p>
        </p:txBody>
      </p:sp>
      <p:sp>
        <p:nvSpPr>
          <p:cNvPr id="6" name="Text 4"/>
          <p:cNvSpPr/>
          <p:nvPr/>
        </p:nvSpPr>
        <p:spPr>
          <a:xfrm>
            <a:off x="6150712" y="6455664"/>
            <a:ext cx="1143000" cy="274320"/>
          </a:xfrm>
          <a:prstGeom prst="rect">
            <a:avLst/>
          </a:prstGeom>
          <a:noFill/>
          <a:ln/>
        </p:spPr>
        <p:txBody>
          <a:bodyPr wrap="square" lIns="0" tIns="0" rIns="0" bIns="0" rtlCol="0" anchor="ctr"/>
          <a:lstStyle/>
          <a:p>
            <a:pPr algn="ctr" indent="0" marL="0">
              <a:buNone/>
            </a:pPr>
            <a:r>
              <a:rPr lang="en-US" sz="1100" dirty="0">
                <a:solidFill>
                  <a:srgbClr val="93AE9C"/>
                </a:solidFill>
                <a:latin typeface="Schibsted Grotesk" pitchFamily="34" charset="0"/>
                <a:ea typeface="Schibsted Grotesk" pitchFamily="34" charset="-122"/>
                <a:cs typeface="Schibsted Grotesk" pitchFamily="34" charset="-120"/>
              </a:rPr>
              <a:t>Model</a:t>
            </a:r>
            <a:endParaRPr lang="en-US" sz="1100" dirty="0"/>
          </a:p>
        </p:txBody>
      </p:sp>
      <p:sp>
        <p:nvSpPr>
          <p:cNvPr id="7" name="Text 5"/>
          <p:cNvSpPr/>
          <p:nvPr/>
        </p:nvSpPr>
        <p:spPr>
          <a:xfrm>
            <a:off x="7403440" y="6455664"/>
            <a:ext cx="1143000" cy="274320"/>
          </a:xfrm>
          <a:prstGeom prst="rect">
            <a:avLst/>
          </a:prstGeom>
          <a:noFill/>
          <a:ln/>
        </p:spPr>
        <p:txBody>
          <a:bodyPr wrap="square" lIns="0" tIns="0" rIns="0" bIns="0" rtlCol="0" anchor="ctr"/>
          <a:lstStyle/>
          <a:p>
            <a:pPr algn="ctr" indent="0" marL="0">
              <a:buNone/>
            </a:pPr>
            <a:r>
              <a:rPr lang="en-US" sz="1100" dirty="0">
                <a:solidFill>
                  <a:srgbClr val="93AE9C"/>
                </a:solidFill>
                <a:latin typeface="Schibsted Grotesk" pitchFamily="34" charset="0"/>
                <a:ea typeface="Schibsted Grotesk" pitchFamily="34" charset="-122"/>
                <a:cs typeface="Schibsted Grotesk" pitchFamily="34" charset="-120"/>
              </a:rPr>
              <a:t>Execution</a:t>
            </a:r>
            <a:endParaRPr lang="en-US" sz="1100" dirty="0"/>
          </a:p>
        </p:txBody>
      </p:sp>
      <p:sp>
        <p:nvSpPr>
          <p:cNvPr id="8" name="Text 6"/>
          <p:cNvSpPr/>
          <p:nvPr>
            <p:ph idx="106" type="title" hasCustomPrompt="1"/>
          </p:nvPr>
        </p:nvSpPr>
        <p:spPr>
          <a:xfrm>
            <a:off x="685800" y="502920"/>
            <a:ext cx="10241280" cy="1188720"/>
          </a:xfrm>
          <a:prstGeom prst="rect">
            <a:avLst/>
          </a:prstGeom>
          <a:noFill/>
          <a:ln/>
        </p:spPr>
        <p:txBody>
          <a:bodyPr wrap="square" rtlCol="0"/>
          <a:lstStyle>
            <a:lvl1pPr algn="l" indent="0" marL="0">
              <a:lnSpc>
                <a:spcPct val="95000"/>
              </a:lnSpc>
              <a:buNone/>
              <a:defRPr lang="en-US" sz="3400" b="1" dirty="0">
                <a:solidFill>
                  <a:srgbClr val="F7F5EF"/>
                </a:solidFill>
                <a:latin typeface="Schibsted Grotesk" pitchFamily="34" charset="0"/>
                <a:ea typeface="Schibsted Grotesk" pitchFamily="34" charset="-122"/>
                <a:cs typeface="Schibsted Grotesk" pitchFamily="34" charset="-120"/>
              </a:defRPr>
            </a:lvl1pPr>
          </a:lstStyle>
          <a:p>
            <a:pPr algn="l" indent="0" marL="0">
              <a:lnSpc>
                <a:spcPct val="95000"/>
              </a:lnSpc>
              <a:buNone/>
            </a:pPr>
            <a:endParaRPr lang="en-US" sz="34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93AE9C"/>
                </a:solidFill>
                <a:latin typeface="Schibsted Grotesk"/>
                <a:ea typeface="Schibsted Grotesk"/>
                <a:cs typeface="Schibsted Grotesk"/>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APPENDIX">
    <p:bg>
      <p:bgPr>
        <a:solidFill>
          <a:srgbClr val="F7F5EF"/>
        </a:solidFill>
      </p:bgPr>
    </p:bg>
    <p:spTree>
      <p:nvGrpSpPr>
        <p:cNvPr id="1" name=""/>
        <p:cNvGrpSpPr/>
        <p:nvPr/>
      </p:nvGrpSpPr>
      <p:grpSpPr>
        <a:xfrm>
          <a:off x="0" y="0"/>
          <a:ext cx="0" cy="0"/>
          <a:chOff x="0" y="0"/>
          <a:chExt cx="0" cy="0"/>
        </a:xfrm>
      </p:grpSpPr>
      <p:sp>
        <p:nvSpPr>
          <p:cNvPr id="2" name="Shape 0"/>
          <p:cNvSpPr/>
          <p:nvPr/>
        </p:nvSpPr>
        <p:spPr>
          <a:xfrm>
            <a:off x="685800" y="6382512"/>
            <a:ext cx="10820095" cy="0"/>
          </a:xfrm>
          <a:prstGeom prst="line">
            <a:avLst/>
          </a:prstGeom>
          <a:noFill/>
          <a:ln w="9525">
            <a:solidFill>
              <a:srgbClr val="D9D4C7"/>
            </a:solidFill>
            <a:prstDash val="solid"/>
          </a:ln>
        </p:spPr>
      </p:sp>
      <p:sp>
        <p:nvSpPr>
          <p:cNvPr id="3" name="Text 1"/>
          <p:cNvSpPr/>
          <p:nvPr/>
        </p:nvSpPr>
        <p:spPr>
          <a:xfrm>
            <a:off x="685800" y="6455664"/>
            <a:ext cx="1463040" cy="274320"/>
          </a:xfrm>
          <a:prstGeom prst="rect">
            <a:avLst/>
          </a:prstGeom>
          <a:noFill/>
          <a:ln/>
        </p:spPr>
        <p:txBody>
          <a:bodyPr wrap="square" lIns="0" tIns="0" rIns="0" bIns="0" rtlCol="0" anchor="ctr"/>
          <a:lstStyle/>
          <a:p>
            <a:pPr indent="0" marL="0">
              <a:buNone/>
            </a:pPr>
            <a:r>
              <a:rPr lang="en-US" sz="1200" b="1" dirty="0">
                <a:solidFill>
                  <a:srgbClr val="15201A"/>
                </a:solidFill>
                <a:latin typeface="Schibsted Grotesk" pitchFamily="34" charset="0"/>
                <a:ea typeface="Schibsted Grotesk" pitchFamily="34" charset="-122"/>
                <a:cs typeface="Schibsted Grotesk" pitchFamily="34" charset="-120"/>
              </a:rPr>
              <a:t>FoodLink</a:t>
            </a:r>
            <a:endParaRPr lang="en-US" sz="1200" dirty="0"/>
          </a:p>
        </p:txBody>
      </p:sp>
      <p:sp>
        <p:nvSpPr>
          <p:cNvPr id="4" name="Shape 2"/>
          <p:cNvSpPr/>
          <p:nvPr/>
        </p:nvSpPr>
        <p:spPr>
          <a:xfrm>
            <a:off x="5707228" y="6359652"/>
            <a:ext cx="777240" cy="45720"/>
          </a:xfrm>
          <a:prstGeom prst="rect">
            <a:avLst/>
          </a:prstGeom>
          <a:solidFill>
            <a:srgbClr val="A97A2F"/>
          </a:solidFill>
          <a:ln w="12700">
            <a:solidFill>
              <a:srgbClr val="A97A2F"/>
            </a:solidFill>
            <a:prstDash val="solid"/>
          </a:ln>
        </p:spPr>
      </p:sp>
      <p:sp>
        <p:nvSpPr>
          <p:cNvPr id="5" name="Text 3"/>
          <p:cNvSpPr/>
          <p:nvPr/>
        </p:nvSpPr>
        <p:spPr>
          <a:xfrm>
            <a:off x="5524348" y="6455664"/>
            <a:ext cx="1143000" cy="274320"/>
          </a:xfrm>
          <a:prstGeom prst="rect">
            <a:avLst/>
          </a:prstGeom>
          <a:noFill/>
          <a:ln/>
        </p:spPr>
        <p:txBody>
          <a:bodyPr wrap="square" lIns="0" tIns="0" rIns="0" bIns="0" rtlCol="0" anchor="ctr"/>
          <a:lstStyle/>
          <a:p>
            <a:pPr algn="ctr" indent="0" marL="0">
              <a:buNone/>
            </a:pPr>
            <a:r>
              <a:rPr lang="en-US" sz="1100" b="1" dirty="0">
                <a:solidFill>
                  <a:srgbClr val="15201A"/>
                </a:solidFill>
                <a:latin typeface="Schibsted Grotesk" pitchFamily="34" charset="0"/>
                <a:ea typeface="Schibsted Grotesk" pitchFamily="34" charset="-122"/>
                <a:cs typeface="Schibsted Grotesk" pitchFamily="34" charset="-120"/>
              </a:rPr>
              <a:t>Appendix</a:t>
            </a:r>
            <a:endParaRPr lang="en-US" sz="1100" dirty="0"/>
          </a:p>
        </p:txBody>
      </p:sp>
      <p:sp>
        <p:nvSpPr>
          <p:cNvPr id="6" name="Text 4"/>
          <p:cNvSpPr/>
          <p:nvPr>
            <p:ph idx="104" type="title" hasCustomPrompt="1"/>
          </p:nvPr>
        </p:nvSpPr>
        <p:spPr>
          <a:xfrm>
            <a:off x="685800" y="502920"/>
            <a:ext cx="10241280" cy="1188720"/>
          </a:xfrm>
          <a:prstGeom prst="rect">
            <a:avLst/>
          </a:prstGeom>
          <a:noFill/>
          <a:ln/>
        </p:spPr>
        <p:txBody>
          <a:bodyPr wrap="square" rtlCol="0"/>
          <a:lstStyle>
            <a:lvl1pPr algn="l" indent="0" marL="0">
              <a:lnSpc>
                <a:spcPct val="95000"/>
              </a:lnSpc>
              <a:buNone/>
              <a:defRPr lang="en-US" sz="3400" b="1" dirty="0">
                <a:solidFill>
                  <a:srgbClr val="15201A"/>
                </a:solidFill>
                <a:latin typeface="Schibsted Grotesk" pitchFamily="34" charset="0"/>
                <a:ea typeface="Schibsted Grotesk" pitchFamily="34" charset="-122"/>
                <a:cs typeface="Schibsted Grotesk" pitchFamily="34" charset="-120"/>
              </a:defRPr>
            </a:lvl1pPr>
          </a:lstStyle>
          <a:p>
            <a:pPr algn="l" indent="0" marL="0">
              <a:lnSpc>
                <a:spcPct val="95000"/>
              </a:lnSpc>
              <a:buNone/>
            </a:pPr>
            <a:endParaRPr lang="en-US" sz="34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1009</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6.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658368"/>
            <a:ext cx="6949440" cy="320040"/>
          </a:xfrm>
          <a:prstGeom prst="rect">
            <a:avLst/>
          </a:prstGeom>
          <a:noFill/>
          <a:ln/>
        </p:spPr>
        <p:txBody>
          <a:bodyPr wrap="square" lIns="0" tIns="0" rIns="0" bIns="0" rtlCol="0" anchor="t"/>
          <a:lstStyle/>
          <a:p>
            <a:pPr indent="0" marL="0">
              <a:buNone/>
            </a:pPr>
            <a:r>
              <a:rPr lang="en-US" sz="1400" dirty="0">
                <a:solidFill>
                  <a:srgbClr val="93AE9C"/>
                </a:solidFill>
                <a:latin typeface="Schibsted Grotesk" pitchFamily="34" charset="0"/>
                <a:ea typeface="Schibsted Grotesk" pitchFamily="34" charset="-122"/>
                <a:cs typeface="Schibsted Grotesk" pitchFamily="34" charset="-120"/>
              </a:rPr>
              <a:t>A proposal to the University Students’ Council, Western University</a:t>
            </a:r>
            <a:endParaRPr lang="en-US" sz="1400" dirty="0"/>
          </a:p>
        </p:txBody>
      </p:sp>
      <p:sp>
        <p:nvSpPr>
          <p:cNvPr id="3" name="Shape 1"/>
          <p:cNvSpPr/>
          <p:nvPr/>
        </p:nvSpPr>
        <p:spPr>
          <a:xfrm>
            <a:off x="685800" y="1664208"/>
            <a:ext cx="640080" cy="45720"/>
          </a:xfrm>
          <a:prstGeom prst="rect">
            <a:avLst/>
          </a:prstGeom>
          <a:solidFill>
            <a:srgbClr val="A97A2F"/>
          </a:solidFill>
          <a:ln w="12700">
            <a:solidFill>
              <a:srgbClr val="A97A2F"/>
            </a:solidFill>
            <a:prstDash val="solid"/>
          </a:ln>
        </p:spPr>
      </p:sp>
      <p:sp>
        <p:nvSpPr>
          <p:cNvPr id="4" name="Text 2"/>
          <p:cNvSpPr txBox="1"/>
          <p:nvPr/>
        </p:nvSpPr>
        <p:spPr>
          <a:xfrm>
            <a:off x="685800" y="1847088"/>
            <a:ext cx="6949440" cy="594360"/>
          </a:xfrm>
          <a:prstGeom prst="rect">
            <a:avLst/>
          </a:prstGeom>
          <a:noFill/>
          <a:ln/>
        </p:spPr>
        <p:txBody>
          <a:bodyPr wrap="square" lIns="0" tIns="0" rIns="0" bIns="0" rtlCol="0" anchor="t"/>
          <a:lstStyle/>
          <a:p>
            <a:pPr indent="0" marL="0">
              <a:buNone/>
            </a:pPr>
            <a:r>
              <a:rPr lang="en-US" sz="3400" b="1" dirty="0">
                <a:solidFill>
                  <a:srgbClr val="CBD9CE"/>
                </a:solidFill>
                <a:latin typeface="Schibsted Grotesk" pitchFamily="34" charset="0"/>
                <a:ea typeface="Schibsted Grotesk" pitchFamily="34" charset="-122"/>
                <a:cs typeface="Schibsted Grotesk" pitchFamily="34" charset="-120"/>
              </a:rPr>
              <a:t>PBSN ASPIRE:</a:t>
            </a:r>
            <a:endParaRPr lang="en-US" sz="3400" dirty="0"/>
          </a:p>
        </p:txBody>
      </p:sp>
      <p:sp>
        <p:nvSpPr>
          <p:cNvPr id="5" name="Text 3"/>
          <p:cNvSpPr txBox="1"/>
          <p:nvPr/>
        </p:nvSpPr>
        <p:spPr>
          <a:xfrm>
            <a:off x="685800" y="2377440"/>
            <a:ext cx="6949440" cy="1463040"/>
          </a:xfrm>
          <a:prstGeom prst="rect">
            <a:avLst/>
          </a:prstGeom>
          <a:noFill/>
          <a:ln/>
        </p:spPr>
        <p:txBody>
          <a:bodyPr wrap="square" lIns="0" tIns="0" rIns="0" bIns="0" rtlCol="0" anchor="t"/>
          <a:lstStyle/>
          <a:p>
            <a:pPr indent="0" marL="0">
              <a:buNone/>
            </a:pPr>
            <a:r>
              <a:rPr lang="en-US" sz="11200" b="1" dirty="0">
                <a:solidFill>
                  <a:srgbClr val="F7F5EF"/>
                </a:solidFill>
                <a:latin typeface="Schibsted Grotesk" pitchFamily="34" charset="0"/>
                <a:ea typeface="Schibsted Grotesk" pitchFamily="34" charset="-122"/>
                <a:cs typeface="Schibsted Grotesk" pitchFamily="34" charset="-120"/>
              </a:rPr>
              <a:t>FoodLink</a:t>
            </a:r>
            <a:endParaRPr lang="en-US" sz="11200" dirty="0"/>
          </a:p>
        </p:txBody>
      </p:sp>
      <p:sp>
        <p:nvSpPr>
          <p:cNvPr id="6" name="Text 4"/>
          <p:cNvSpPr txBox="1"/>
          <p:nvPr/>
        </p:nvSpPr>
        <p:spPr>
          <a:xfrm>
            <a:off x="685800" y="4005072"/>
            <a:ext cx="6309360" cy="777240"/>
          </a:xfrm>
          <a:prstGeom prst="rect">
            <a:avLst/>
          </a:prstGeom>
          <a:noFill/>
          <a:ln/>
        </p:spPr>
        <p:txBody>
          <a:bodyPr wrap="square" lIns="0" tIns="0" rIns="0" bIns="0" rtlCol="0" anchor="t"/>
          <a:lstStyle/>
          <a:p>
            <a:pPr indent="0" marL="0">
              <a:buNone/>
            </a:pPr>
            <a:r>
              <a:rPr lang="en-US" sz="2200" dirty="0">
                <a:solidFill>
                  <a:srgbClr val="CBD9CE"/>
                </a:solidFill>
                <a:latin typeface="Schibsted Grotesk" pitchFamily="34" charset="0"/>
                <a:ea typeface="Schibsted Grotesk" pitchFamily="34" charset="-122"/>
                <a:cs typeface="Schibsted Grotesk" pitchFamily="34" charset="-120"/>
              </a:rPr>
              <a:t>Walk-up food access for Western students, with every restock counted.</a:t>
            </a:r>
            <a:endParaRPr lang="en-US" sz="2200" dirty="0"/>
          </a:p>
        </p:txBody>
      </p:sp>
      <p:sp>
        <p:nvSpPr>
          <p:cNvPr id="7" name="Shape 5"/>
          <p:cNvSpPr/>
          <p:nvPr/>
        </p:nvSpPr>
        <p:spPr>
          <a:xfrm>
            <a:off x="685800" y="5120640"/>
            <a:ext cx="6400800" cy="0"/>
          </a:xfrm>
          <a:prstGeom prst="line">
            <a:avLst/>
          </a:prstGeom>
          <a:noFill/>
          <a:ln w="9525">
            <a:solidFill>
              <a:srgbClr val="2F5444"/>
            </a:solidFill>
            <a:prstDash val="solid"/>
          </a:ln>
        </p:spPr>
      </p:sp>
      <p:sp>
        <p:nvSpPr>
          <p:cNvPr id="8" name="Text 6"/>
          <p:cNvSpPr txBox="1"/>
          <p:nvPr/>
        </p:nvSpPr>
        <p:spPr>
          <a:xfrm>
            <a:off x="685800" y="5266944"/>
            <a:ext cx="2743200" cy="274320"/>
          </a:xfrm>
          <a:prstGeom prst="rect">
            <a:avLst/>
          </a:prstGeom>
          <a:noFill/>
          <a:ln/>
        </p:spPr>
        <p:txBody>
          <a:bodyPr wrap="square" lIns="0" tIns="0" rIns="0" bIns="0" rtlCol="0" anchor="t"/>
          <a:lstStyle/>
          <a:p>
            <a:pPr indent="0" marL="0">
              <a:buNone/>
            </a:pPr>
            <a:r>
              <a:rPr lang="en-US" sz="1200" dirty="0">
                <a:solidFill>
                  <a:srgbClr val="93AE9C"/>
                </a:solidFill>
                <a:latin typeface="Schibsted Grotesk" pitchFamily="34" charset="0"/>
                <a:ea typeface="Schibsted Grotesk" pitchFamily="34" charset="-122"/>
                <a:cs typeface="Schibsted Grotesk" pitchFamily="34" charset="-120"/>
              </a:rPr>
              <a:t>Team</a:t>
            </a:r>
            <a:endParaRPr lang="en-US" sz="1200" dirty="0"/>
          </a:p>
        </p:txBody>
      </p:sp>
      <p:sp>
        <p:nvSpPr>
          <p:cNvPr id="9" name="Text 7"/>
          <p:cNvSpPr txBox="1"/>
          <p:nvPr/>
        </p:nvSpPr>
        <p:spPr>
          <a:xfrm>
            <a:off x="685800" y="5541264"/>
            <a:ext cx="6949440" cy="365760"/>
          </a:xfrm>
          <a:prstGeom prst="rect">
            <a:avLst/>
          </a:prstGeom>
          <a:noFill/>
          <a:ln/>
        </p:spPr>
        <p:txBody>
          <a:bodyPr wrap="square" lIns="0" tIns="0" rIns="0" bIns="0" rtlCol="0" anchor="t"/>
          <a:lstStyle/>
          <a:p>
            <a:pPr indent="0" marL="0">
              <a:buNone/>
            </a:pPr>
            <a:r>
              <a:rPr lang="en-US" sz="1600" dirty="0">
                <a:solidFill>
                  <a:srgbClr val="F7F5EF"/>
                </a:solidFill>
                <a:latin typeface="Schibsted Grotesk" pitchFamily="34" charset="0"/>
                <a:ea typeface="Schibsted Grotesk" pitchFamily="34" charset="-122"/>
                <a:cs typeface="Schibsted Grotesk" pitchFamily="34" charset="-120"/>
              </a:rPr>
              <a:t>Xinge Xu (Zinger)   ·   Nuo Zhang   ·   Zohra Khawaja   ·   Ahana Gehlot</a:t>
            </a:r>
            <a:endParaRPr lang="en-US" sz="1600" dirty="0"/>
          </a:p>
        </p:txBody>
      </p:sp>
      <p:pic>
        <p:nvPicPr>
          <p:cNvPr id="10" name="Image 0" descr="/tmp/claude-0/-home-claude/cb850c95-8acd-5c96-8a28-bf7aa743d4f8/scratchpad/foodlink/deck/img3/cover-phone.png">    </p:cNvPr>
          <p:cNvPicPr>
            <a:picLocks noChangeAspect="1"/>
          </p:cNvPicPr>
          <p:nvPr/>
        </p:nvPicPr>
        <p:blipFill>
          <a:blip r:embed="rId1"/>
          <a:stretch>
            <a:fillRect/>
          </a:stretch>
        </p:blipFill>
        <p:spPr>
          <a:xfrm>
            <a:off x="8092440" y="1128932"/>
            <a:ext cx="3291840" cy="57290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6"/>
          <p:cNvSpPr/>
          <p:nvPr>
            <p:ph idx="106" type="title" hasCustomPrompt="1"/>
          </p:nvPr>
        </p:nvSpPr>
        <p:spPr>
          <a:xfrm>
            <a:off x="685800" y="502920"/>
            <a:ext cx="10241280" cy="1188720"/>
          </a:xfrm>
          <a:prstGeom prst="rect">
            <a:avLst/>
          </a:prstGeom>
          <a:noFill/>
          <a:ln/>
        </p:spPr>
        <p:txBody>
          <a:bodyPr wrap="square" lIns="0" tIns="0" rIns="0" bIns="0" rtlCol="0" anchor="t"/>
          <a:lstStyle/>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We ask the USC to fund an 11-week</a:t>
            </a:r>
            <a:endParaRPr lang="en-US" sz="3400" dirty="0"/>
          </a:p>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FoodLink pilot for $2,500</a:t>
            </a:r>
            <a:endParaRPr lang="en-US" sz="3400" dirty="0"/>
          </a:p>
        </p:txBody>
      </p:sp>
      <p:sp>
        <p:nvSpPr>
          <p:cNvPr id="3" name="Shape 1"/>
          <p:cNvSpPr/>
          <p:nvPr/>
        </p:nvSpPr>
        <p:spPr>
          <a:xfrm>
            <a:off x="685800" y="1783080"/>
            <a:ext cx="10820095" cy="0"/>
          </a:xfrm>
          <a:prstGeom prst="line">
            <a:avLst/>
          </a:prstGeom>
          <a:noFill/>
          <a:ln w="15875">
            <a:solidFill>
              <a:srgbClr val="15201A"/>
            </a:solidFill>
            <a:prstDash val="solid"/>
          </a:ln>
        </p:spPr>
      </p:sp>
      <p:sp>
        <p:nvSpPr>
          <p:cNvPr id="4" name="Text 2"/>
          <p:cNvSpPr txBox="1"/>
          <p:nvPr/>
        </p:nvSpPr>
        <p:spPr>
          <a:xfrm>
            <a:off x="685800" y="2011680"/>
            <a:ext cx="2533574" cy="457200"/>
          </a:xfrm>
          <a:prstGeom prst="rect">
            <a:avLst/>
          </a:prstGeom>
          <a:noFill/>
          <a:ln/>
        </p:spPr>
        <p:txBody>
          <a:bodyPr wrap="square" lIns="0" tIns="0" rIns="0" bIns="0" rtlCol="0" anchor="t"/>
          <a:lstStyle/>
          <a:p>
            <a:pPr indent="0" marL="0">
              <a:buNone/>
            </a:pPr>
            <a:r>
              <a:rPr lang="en-US" sz="2400" b="1" dirty="0">
                <a:solidFill>
                  <a:srgbClr val="1D5E40"/>
                </a:solidFill>
                <a:latin typeface="Schibsted Grotesk" pitchFamily="34" charset="0"/>
                <a:ea typeface="Schibsted Grotesk" pitchFamily="34" charset="-122"/>
                <a:cs typeface="Schibsted Grotesk" pitchFamily="34" charset="-120"/>
              </a:rPr>
              <a:t>Problem</a:t>
            </a:r>
            <a:endParaRPr lang="en-US" sz="2400" dirty="0"/>
          </a:p>
        </p:txBody>
      </p:sp>
      <p:sp>
        <p:nvSpPr>
          <p:cNvPr id="5" name="Text 3"/>
          <p:cNvSpPr txBox="1"/>
          <p:nvPr/>
        </p:nvSpPr>
        <p:spPr>
          <a:xfrm>
            <a:off x="3447974" y="2039112"/>
            <a:ext cx="8057921" cy="914400"/>
          </a:xfrm>
          <a:prstGeom prst="rect">
            <a:avLst/>
          </a:prstGeom>
          <a:noFill/>
          <a:ln/>
        </p:spPr>
        <p:txBody>
          <a:bodyPr wrap="square" lIns="0" tIns="0" rIns="0" bIns="0" rtlCol="0" anchor="t"/>
          <a:lstStyle/>
          <a:p>
            <a:pPr indent="0" marL="0">
              <a:buNone/>
            </a:pPr>
            <a:r>
              <a:rPr lang="en-US" sz="2000" dirty="0">
                <a:solidFill>
                  <a:srgbClr val="15201A"/>
                </a:solidFill>
                <a:latin typeface="Schibsted Grotesk" pitchFamily="34" charset="0"/>
                <a:ea typeface="Schibsted Grotesk" pitchFamily="34" charset="-122"/>
                <a:cs typeface="Schibsted Grotesk" pitchFamily="34" charset="-120"/>
              </a:rPr>
              <a:t>Hamper demand more than doubled. Walk-in help is one basement room open 24 hours a week, and hampers take at least 48 hours.</a:t>
            </a:r>
            <a:endParaRPr lang="en-US" sz="2000" dirty="0"/>
          </a:p>
        </p:txBody>
      </p:sp>
      <p:sp>
        <p:nvSpPr>
          <p:cNvPr id="6" name="Shape 4"/>
          <p:cNvSpPr/>
          <p:nvPr/>
        </p:nvSpPr>
        <p:spPr>
          <a:xfrm>
            <a:off x="685800" y="3154680"/>
            <a:ext cx="10820095" cy="0"/>
          </a:xfrm>
          <a:prstGeom prst="line">
            <a:avLst/>
          </a:prstGeom>
          <a:noFill/>
          <a:ln w="9525">
            <a:solidFill>
              <a:srgbClr val="D9D4C7"/>
            </a:solidFill>
            <a:prstDash val="solid"/>
          </a:ln>
        </p:spPr>
      </p:sp>
      <p:sp>
        <p:nvSpPr>
          <p:cNvPr id="7" name="Text 5"/>
          <p:cNvSpPr txBox="1"/>
          <p:nvPr/>
        </p:nvSpPr>
        <p:spPr>
          <a:xfrm>
            <a:off x="685800" y="3383280"/>
            <a:ext cx="2533574" cy="457200"/>
          </a:xfrm>
          <a:prstGeom prst="rect">
            <a:avLst/>
          </a:prstGeom>
          <a:noFill/>
          <a:ln/>
        </p:spPr>
        <p:txBody>
          <a:bodyPr wrap="square" lIns="0" tIns="0" rIns="0" bIns="0" rtlCol="0" anchor="t"/>
          <a:lstStyle/>
          <a:p>
            <a:pPr indent="0" marL="0">
              <a:buNone/>
            </a:pPr>
            <a:r>
              <a:rPr lang="en-US" sz="2400" b="1" dirty="0">
                <a:solidFill>
                  <a:srgbClr val="1D5E40"/>
                </a:solidFill>
                <a:latin typeface="Schibsted Grotesk" pitchFamily="34" charset="0"/>
                <a:ea typeface="Schibsted Grotesk" pitchFamily="34" charset="-122"/>
                <a:cs typeface="Schibsted Grotesk" pitchFamily="34" charset="-120"/>
              </a:rPr>
              <a:t>Solution</a:t>
            </a:r>
            <a:endParaRPr lang="en-US" sz="2400" dirty="0"/>
          </a:p>
        </p:txBody>
      </p:sp>
      <p:sp>
        <p:nvSpPr>
          <p:cNvPr id="8" name="Text 6"/>
          <p:cNvSpPr txBox="1"/>
          <p:nvPr/>
        </p:nvSpPr>
        <p:spPr>
          <a:xfrm>
            <a:off x="3447974" y="3410712"/>
            <a:ext cx="8057921" cy="914400"/>
          </a:xfrm>
          <a:prstGeom prst="rect">
            <a:avLst/>
          </a:prstGeom>
          <a:noFill/>
          <a:ln/>
        </p:spPr>
        <p:txBody>
          <a:bodyPr wrap="square" lIns="0" tIns="0" rIns="0" bIns="0" rtlCol="0" anchor="t"/>
          <a:lstStyle/>
          <a:p>
            <a:pPr indent="0" marL="0">
              <a:buNone/>
            </a:pPr>
            <a:r>
              <a:rPr lang="en-US" sz="2000" dirty="0">
                <a:solidFill>
                  <a:srgbClr val="15201A"/>
                </a:solidFill>
                <a:latin typeface="Schibsted Grotesk" pitchFamily="34" charset="0"/>
                <a:ea typeface="Schibsted Grotesk" pitchFamily="34" charset="-122"/>
                <a:cs typeface="Schibsted Grotesk" pitchFamily="34" charset="-120"/>
              </a:rPr>
              <a:t>Walk-up shelves with live stock in busy buildings, sealed partner surplus, and one app for every option. Every restock is counted.</a:t>
            </a:r>
            <a:endParaRPr lang="en-US" sz="2000" dirty="0"/>
          </a:p>
        </p:txBody>
      </p:sp>
      <p:sp>
        <p:nvSpPr>
          <p:cNvPr id="9" name="Shape 7"/>
          <p:cNvSpPr/>
          <p:nvPr/>
        </p:nvSpPr>
        <p:spPr>
          <a:xfrm>
            <a:off x="685800" y="4526280"/>
            <a:ext cx="10820095" cy="0"/>
          </a:xfrm>
          <a:prstGeom prst="line">
            <a:avLst/>
          </a:prstGeom>
          <a:noFill/>
          <a:ln w="9525">
            <a:solidFill>
              <a:srgbClr val="D9D4C7"/>
            </a:solidFill>
            <a:prstDash val="solid"/>
          </a:ln>
        </p:spPr>
      </p:sp>
      <p:sp>
        <p:nvSpPr>
          <p:cNvPr id="10" name="Text 8"/>
          <p:cNvSpPr txBox="1"/>
          <p:nvPr/>
        </p:nvSpPr>
        <p:spPr>
          <a:xfrm>
            <a:off x="685800" y="4754880"/>
            <a:ext cx="2533574" cy="457200"/>
          </a:xfrm>
          <a:prstGeom prst="rect">
            <a:avLst/>
          </a:prstGeom>
          <a:noFill/>
          <a:ln/>
        </p:spPr>
        <p:txBody>
          <a:bodyPr wrap="square" lIns="0" tIns="0" rIns="0" bIns="0" rtlCol="0" anchor="t"/>
          <a:lstStyle/>
          <a:p>
            <a:pPr indent="0" marL="0">
              <a:buNone/>
            </a:pPr>
            <a:r>
              <a:rPr lang="en-US" sz="2400" b="1" dirty="0">
                <a:solidFill>
                  <a:srgbClr val="1D5E40"/>
                </a:solidFill>
                <a:latin typeface="Schibsted Grotesk" pitchFamily="34" charset="0"/>
                <a:ea typeface="Schibsted Grotesk" pitchFamily="34" charset="-122"/>
                <a:cs typeface="Schibsted Grotesk" pitchFamily="34" charset="-120"/>
              </a:rPr>
              <a:t>Ask</a:t>
            </a:r>
            <a:endParaRPr lang="en-US" sz="2400" dirty="0"/>
          </a:p>
        </p:txBody>
      </p:sp>
      <p:sp>
        <p:nvSpPr>
          <p:cNvPr id="11" name="Text 9"/>
          <p:cNvSpPr txBox="1"/>
          <p:nvPr/>
        </p:nvSpPr>
        <p:spPr>
          <a:xfrm>
            <a:off x="3447974" y="4782312"/>
            <a:ext cx="8057921" cy="914400"/>
          </a:xfrm>
          <a:prstGeom prst="rect">
            <a:avLst/>
          </a:prstGeom>
          <a:noFill/>
          <a:ln/>
        </p:spPr>
        <p:txBody>
          <a:bodyPr wrap="square" lIns="0" tIns="0" rIns="0" bIns="0" rtlCol="0" anchor="t"/>
          <a:lstStyle/>
          <a:p>
            <a:pPr indent="0" marL="0">
              <a:buNone/>
            </a:pPr>
            <a:r>
              <a:rPr lang="en-US" sz="2000" dirty="0">
                <a:solidFill>
                  <a:srgbClr val="15201A"/>
                </a:solidFill>
                <a:latin typeface="Schibsted Grotesk" pitchFamily="34" charset="0"/>
                <a:ea typeface="Schibsted Grotesk" pitchFamily="34" charset="-122"/>
                <a:cs typeface="Schibsted Grotesk" pitchFamily="34" charset="-120"/>
              </a:rPr>
              <a:t>$2,500 from the USC Grant Fund for one-time pilot costs, a spot in the UCC plus one more building, and one Food Support contact, January to March 2027.</a:t>
            </a:r>
            <a:endParaRPr lang="en-US" sz="20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10241280" cy="1188720"/>
          </a:xfrm>
          <a:prstGeom prst="rect">
            <a:avLst/>
          </a:prstGeom>
          <a:noFill/>
          <a:ln/>
        </p:spPr>
        <p:txBody>
          <a:bodyPr wrap="square" lIns="0" tIns="0" rIns="0" bIns="0" rtlCol="0" anchor="t"/>
          <a:lstStyle/>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Hamper demand more than doubled</a:t>
            </a:r>
            <a:endParaRPr lang="en-US" sz="3400" dirty="0"/>
          </a:p>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in about half the time</a:t>
            </a:r>
            <a:endParaRPr lang="en-US" sz="3400" dirty="0"/>
          </a:p>
        </p:txBody>
      </p:sp>
      <p:sp>
        <p:nvSpPr>
          <p:cNvPr id="3" name="Text 1"/>
          <p:cNvSpPr txBox="1"/>
          <p:nvPr/>
        </p:nvSpPr>
        <p:spPr>
          <a:xfrm>
            <a:off x="685800" y="1874520"/>
            <a:ext cx="6216472" cy="292608"/>
          </a:xfrm>
          <a:prstGeom prst="rect">
            <a:avLst/>
          </a:prstGeom>
          <a:noFill/>
          <a:ln/>
        </p:spPr>
        <p:txBody>
          <a:bodyPr wrap="square" lIns="0" tIns="0" rIns="0" bIns="0" rtlCol="0" anchor="t"/>
          <a:lstStyle/>
          <a:p>
            <a:pPr indent="0" marL="0">
              <a:buNone/>
            </a:pPr>
            <a:r>
              <a:rPr lang="en-US" sz="1500" dirty="0">
                <a:solidFill>
                  <a:srgbClr val="68716A"/>
                </a:solidFill>
                <a:latin typeface="Schibsted Grotesk" pitchFamily="34" charset="0"/>
                <a:ea typeface="Schibsted Grotesk" pitchFamily="34" charset="-122"/>
                <a:cs typeface="Schibsted Grotesk" pitchFamily="34" charset="-120"/>
              </a:rPr>
              <a:t>Hampers handed out by USC Food Support</a:t>
            </a:r>
            <a:endParaRPr lang="en-US" sz="1500" dirty="0"/>
          </a:p>
        </p:txBody>
      </p:sp>
      <p:sp>
        <p:nvSpPr>
          <p:cNvPr id="4" name="Shape 2"/>
          <p:cNvSpPr/>
          <p:nvPr/>
        </p:nvSpPr>
        <p:spPr>
          <a:xfrm>
            <a:off x="685800" y="5212080"/>
            <a:ext cx="6216472" cy="0"/>
          </a:xfrm>
          <a:prstGeom prst="line">
            <a:avLst/>
          </a:prstGeom>
          <a:noFill/>
          <a:ln w="15875">
            <a:solidFill>
              <a:srgbClr val="15201A"/>
            </a:solidFill>
            <a:prstDash val="solid"/>
          </a:ln>
        </p:spPr>
      </p:sp>
      <p:sp>
        <p:nvSpPr>
          <p:cNvPr id="5" name="Shape 3"/>
          <p:cNvSpPr/>
          <p:nvPr/>
        </p:nvSpPr>
        <p:spPr>
          <a:xfrm>
            <a:off x="1234440" y="4183380"/>
            <a:ext cx="1737360" cy="1028700"/>
          </a:xfrm>
          <a:prstGeom prst="rect">
            <a:avLst/>
          </a:prstGeom>
          <a:solidFill>
            <a:srgbClr val="BDC3BA"/>
          </a:solidFill>
          <a:ln w="12700">
            <a:solidFill>
              <a:srgbClr val="BDC3BA"/>
            </a:solidFill>
            <a:prstDash val="solid"/>
          </a:ln>
        </p:spPr>
      </p:sp>
      <p:sp>
        <p:nvSpPr>
          <p:cNvPr id="6" name="Text 4"/>
          <p:cNvSpPr txBox="1"/>
          <p:nvPr/>
        </p:nvSpPr>
        <p:spPr>
          <a:xfrm>
            <a:off x="777240" y="3451860"/>
            <a:ext cx="2651760" cy="658368"/>
          </a:xfrm>
          <a:prstGeom prst="rect">
            <a:avLst/>
          </a:prstGeom>
          <a:noFill/>
          <a:ln/>
        </p:spPr>
        <p:txBody>
          <a:bodyPr wrap="square" lIns="0" tIns="0" rIns="0" bIns="0" rtlCol="0" anchor="b"/>
          <a:lstStyle/>
          <a:p>
            <a:pPr algn="ctr" indent="0" marL="0">
              <a:buNone/>
            </a:pPr>
            <a:r>
              <a:rPr lang="en-US" sz="4400" b="1" dirty="0">
                <a:solidFill>
                  <a:srgbClr val="15201A"/>
                </a:solidFill>
                <a:latin typeface="Schibsted Grotesk" pitchFamily="34" charset="0"/>
                <a:ea typeface="Schibsted Grotesk" pitchFamily="34" charset="-122"/>
                <a:cs typeface="Schibsted Grotesk" pitchFamily="34" charset="-120"/>
              </a:rPr>
              <a:t>750</a:t>
            </a:r>
            <a:endParaRPr lang="en-US" sz="4400" dirty="0"/>
          </a:p>
        </p:txBody>
      </p:sp>
      <p:sp>
        <p:nvSpPr>
          <p:cNvPr id="7" name="Text 5"/>
          <p:cNvSpPr txBox="1"/>
          <p:nvPr/>
        </p:nvSpPr>
        <p:spPr>
          <a:xfrm>
            <a:off x="502920" y="5321808"/>
            <a:ext cx="3200400" cy="292608"/>
          </a:xfrm>
          <a:prstGeom prst="rect">
            <a:avLst/>
          </a:prstGeom>
          <a:noFill/>
          <a:ln/>
        </p:spPr>
        <p:txBody>
          <a:bodyPr wrap="square" lIns="0" tIns="0" rIns="0" bIns="0" rtlCol="0" anchor="t"/>
          <a:lstStyle/>
          <a:p>
            <a:pPr algn="ctr" indent="0" marL="0">
              <a:buNone/>
            </a:pPr>
            <a:r>
              <a:rPr lang="en-US" sz="1500" b="1" dirty="0">
                <a:solidFill>
                  <a:srgbClr val="15201A"/>
                </a:solidFill>
                <a:latin typeface="Schibsted Grotesk" pitchFamily="34" charset="0"/>
                <a:ea typeface="Schibsted Grotesk" pitchFamily="34" charset="-122"/>
                <a:cs typeface="Schibsted Grotesk" pitchFamily="34" charset="-120"/>
              </a:rPr>
              <a:t>2022–23</a:t>
            </a:r>
            <a:endParaRPr lang="en-US" sz="1500" dirty="0"/>
          </a:p>
        </p:txBody>
      </p:sp>
      <p:sp>
        <p:nvSpPr>
          <p:cNvPr id="8" name="Text 6"/>
          <p:cNvSpPr txBox="1"/>
          <p:nvPr/>
        </p:nvSpPr>
        <p:spPr>
          <a:xfrm>
            <a:off x="502920" y="5614416"/>
            <a:ext cx="3200400" cy="274320"/>
          </a:xfrm>
          <a:prstGeom prst="rect">
            <a:avLst/>
          </a:prstGeom>
          <a:noFill/>
          <a:ln/>
        </p:spPr>
        <p:txBody>
          <a:bodyPr wrap="square" lIns="0" tIns="0" rIns="0" bIns="0" rtlCol="0" anchor="t"/>
          <a:lstStyle/>
          <a:p>
            <a:pPr algn="ctr" indent="0" marL="0">
              <a:buNone/>
            </a:pPr>
            <a:r>
              <a:rPr lang="en-US" sz="1400" dirty="0">
                <a:solidFill>
                  <a:srgbClr val="68716A"/>
                </a:solidFill>
                <a:latin typeface="Schibsted Grotesk" pitchFamily="34" charset="0"/>
                <a:ea typeface="Schibsted Grotesk" pitchFamily="34" charset="-122"/>
                <a:cs typeface="Schibsted Grotesk" pitchFamily="34" charset="-120"/>
              </a:rPr>
              <a:t>Full year</a:t>
            </a:r>
            <a:endParaRPr lang="en-US" sz="1400" dirty="0"/>
          </a:p>
        </p:txBody>
      </p:sp>
      <p:sp>
        <p:nvSpPr>
          <p:cNvPr id="9" name="Shape 7"/>
          <p:cNvSpPr/>
          <p:nvPr/>
        </p:nvSpPr>
        <p:spPr>
          <a:xfrm>
            <a:off x="3977640" y="2880360"/>
            <a:ext cx="1737360" cy="2331720"/>
          </a:xfrm>
          <a:prstGeom prst="rect">
            <a:avLst/>
          </a:prstGeom>
          <a:solidFill>
            <a:srgbClr val="1D5E40"/>
          </a:solidFill>
          <a:ln w="12700">
            <a:solidFill>
              <a:srgbClr val="1D5E40"/>
            </a:solidFill>
            <a:prstDash val="solid"/>
          </a:ln>
        </p:spPr>
      </p:sp>
      <p:sp>
        <p:nvSpPr>
          <p:cNvPr id="10" name="Text 8"/>
          <p:cNvSpPr txBox="1"/>
          <p:nvPr/>
        </p:nvSpPr>
        <p:spPr>
          <a:xfrm>
            <a:off x="3520440" y="2148840"/>
            <a:ext cx="2651760" cy="658368"/>
          </a:xfrm>
          <a:prstGeom prst="rect">
            <a:avLst/>
          </a:prstGeom>
          <a:noFill/>
          <a:ln/>
        </p:spPr>
        <p:txBody>
          <a:bodyPr wrap="square" lIns="0" tIns="0" rIns="0" bIns="0" rtlCol="0" anchor="b"/>
          <a:lstStyle/>
          <a:p>
            <a:pPr algn="ctr" indent="0" marL="0">
              <a:buNone/>
            </a:pPr>
            <a:r>
              <a:rPr lang="en-US" sz="4400" b="1" dirty="0">
                <a:solidFill>
                  <a:srgbClr val="15201A"/>
                </a:solidFill>
                <a:latin typeface="Schibsted Grotesk" pitchFamily="34" charset="0"/>
                <a:ea typeface="Schibsted Grotesk" pitchFamily="34" charset="-122"/>
                <a:cs typeface="Schibsted Grotesk" pitchFamily="34" charset="-120"/>
              </a:rPr>
              <a:t>1,700+</a:t>
            </a:r>
            <a:endParaRPr lang="en-US" sz="4400" dirty="0"/>
          </a:p>
        </p:txBody>
      </p:sp>
      <p:sp>
        <p:nvSpPr>
          <p:cNvPr id="11" name="Text 9"/>
          <p:cNvSpPr txBox="1"/>
          <p:nvPr/>
        </p:nvSpPr>
        <p:spPr>
          <a:xfrm>
            <a:off x="3246120" y="5321808"/>
            <a:ext cx="3200400" cy="292608"/>
          </a:xfrm>
          <a:prstGeom prst="rect">
            <a:avLst/>
          </a:prstGeom>
          <a:noFill/>
          <a:ln/>
        </p:spPr>
        <p:txBody>
          <a:bodyPr wrap="square" lIns="0" tIns="0" rIns="0" bIns="0" rtlCol="0" anchor="t"/>
          <a:lstStyle/>
          <a:p>
            <a:pPr algn="ctr" indent="0" marL="0">
              <a:buNone/>
            </a:pPr>
            <a:r>
              <a:rPr lang="en-US" sz="1500" b="1" dirty="0">
                <a:solidFill>
                  <a:srgbClr val="15201A"/>
                </a:solidFill>
                <a:latin typeface="Schibsted Grotesk" pitchFamily="34" charset="0"/>
                <a:ea typeface="Schibsted Grotesk" pitchFamily="34" charset="-122"/>
                <a:cs typeface="Schibsted Grotesk" pitchFamily="34" charset="-120"/>
              </a:rPr>
              <a:t>Sept 2023 – mid-March 2024</a:t>
            </a:r>
            <a:endParaRPr lang="en-US" sz="1500" dirty="0"/>
          </a:p>
        </p:txBody>
      </p:sp>
      <p:sp>
        <p:nvSpPr>
          <p:cNvPr id="12" name="Text 10"/>
          <p:cNvSpPr txBox="1"/>
          <p:nvPr/>
        </p:nvSpPr>
        <p:spPr>
          <a:xfrm>
            <a:off x="3246120" y="5614416"/>
            <a:ext cx="3200400" cy="274320"/>
          </a:xfrm>
          <a:prstGeom prst="rect">
            <a:avLst/>
          </a:prstGeom>
          <a:noFill/>
          <a:ln/>
        </p:spPr>
        <p:txBody>
          <a:bodyPr wrap="square" lIns="0" tIns="0" rIns="0" bIns="0" rtlCol="0" anchor="t"/>
          <a:lstStyle/>
          <a:p>
            <a:pPr algn="ctr" indent="0" marL="0">
              <a:buNone/>
            </a:pPr>
            <a:r>
              <a:rPr lang="en-US" sz="1400" dirty="0">
                <a:solidFill>
                  <a:srgbClr val="68716A"/>
                </a:solidFill>
                <a:latin typeface="Schibsted Grotesk" pitchFamily="34" charset="0"/>
                <a:ea typeface="Schibsted Grotesk" pitchFamily="34" charset="-122"/>
                <a:cs typeface="Schibsted Grotesk" pitchFamily="34" charset="-120"/>
              </a:rPr>
              <a:t>6.5 months</a:t>
            </a:r>
            <a:endParaRPr lang="en-US" sz="1400" dirty="0"/>
          </a:p>
        </p:txBody>
      </p:sp>
      <p:sp>
        <p:nvSpPr>
          <p:cNvPr id="13" name="Text 11"/>
          <p:cNvSpPr txBox="1"/>
          <p:nvPr/>
        </p:nvSpPr>
        <p:spPr>
          <a:xfrm>
            <a:off x="8051597" y="1828800"/>
            <a:ext cx="3454298" cy="640080"/>
          </a:xfrm>
          <a:prstGeom prst="rect">
            <a:avLst/>
          </a:prstGeom>
          <a:noFill/>
          <a:ln/>
        </p:spPr>
        <p:txBody>
          <a:bodyPr wrap="square" lIns="0" tIns="0" rIns="0" bIns="0" rtlCol="0" anchor="t"/>
          <a:lstStyle/>
          <a:p>
            <a:pPr indent="0" marL="0">
              <a:buNone/>
            </a:pPr>
            <a:r>
              <a:rPr lang="en-US" sz="4000" b="1" dirty="0">
                <a:solidFill>
                  <a:srgbClr val="1D5E40"/>
                </a:solidFill>
                <a:latin typeface="Schibsted Grotesk" pitchFamily="34" charset="0"/>
                <a:ea typeface="Schibsted Grotesk" pitchFamily="34" charset="-122"/>
                <a:cs typeface="Schibsted Grotesk" pitchFamily="34" charset="-120"/>
              </a:rPr>
              <a:t>+600%</a:t>
            </a:r>
            <a:endParaRPr lang="en-US" sz="4000" dirty="0"/>
          </a:p>
        </p:txBody>
      </p:sp>
      <p:sp>
        <p:nvSpPr>
          <p:cNvPr id="14" name="Text 12"/>
          <p:cNvSpPr txBox="1"/>
          <p:nvPr/>
        </p:nvSpPr>
        <p:spPr>
          <a:xfrm>
            <a:off x="8051597" y="2487168"/>
            <a:ext cx="3454298" cy="548640"/>
          </a:xfrm>
          <a:prstGeom prst="rect">
            <a:avLst/>
          </a:prstGeom>
          <a:noFill/>
          <a:ln/>
        </p:spPr>
        <p:txBody>
          <a:bodyPr wrap="square" lIns="0" tIns="0" rIns="0" bIns="0" rtlCol="0" anchor="t"/>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rise in demand in 2023</a:t>
            </a:r>
            <a:endParaRPr lang="en-US" sz="1600" dirty="0"/>
          </a:p>
        </p:txBody>
      </p:sp>
      <p:sp>
        <p:nvSpPr>
          <p:cNvPr id="15" name="Shape 13"/>
          <p:cNvSpPr/>
          <p:nvPr/>
        </p:nvSpPr>
        <p:spPr>
          <a:xfrm>
            <a:off x="8051597" y="2990088"/>
            <a:ext cx="3454298" cy="0"/>
          </a:xfrm>
          <a:prstGeom prst="line">
            <a:avLst/>
          </a:prstGeom>
          <a:noFill/>
          <a:ln w="9525">
            <a:solidFill>
              <a:srgbClr val="D9D4C7"/>
            </a:solidFill>
            <a:prstDash val="solid"/>
          </a:ln>
        </p:spPr>
      </p:sp>
      <p:sp>
        <p:nvSpPr>
          <p:cNvPr id="16" name="Text 14"/>
          <p:cNvSpPr txBox="1"/>
          <p:nvPr/>
        </p:nvSpPr>
        <p:spPr>
          <a:xfrm>
            <a:off x="8051597" y="3154680"/>
            <a:ext cx="3454298" cy="640080"/>
          </a:xfrm>
          <a:prstGeom prst="rect">
            <a:avLst/>
          </a:prstGeom>
          <a:noFill/>
          <a:ln/>
        </p:spPr>
        <p:txBody>
          <a:bodyPr wrap="square" lIns="0" tIns="0" rIns="0" bIns="0" rtlCol="0" anchor="t"/>
          <a:lstStyle/>
          <a:p>
            <a:pPr indent="0" marL="0">
              <a:buNone/>
            </a:pPr>
            <a:r>
              <a:rPr lang="en-US" sz="4000" b="1" dirty="0">
                <a:solidFill>
                  <a:srgbClr val="1D5E40"/>
                </a:solidFill>
                <a:latin typeface="Schibsted Grotesk" pitchFamily="34" charset="0"/>
                <a:ea typeface="Schibsted Grotesk" pitchFamily="34" charset="-122"/>
                <a:cs typeface="Schibsted Grotesk" pitchFamily="34" charset="-120"/>
              </a:rPr>
              <a:t>Sept 2023</a:t>
            </a:r>
            <a:endParaRPr lang="en-US" sz="4000" dirty="0"/>
          </a:p>
        </p:txBody>
      </p:sp>
      <p:sp>
        <p:nvSpPr>
          <p:cNvPr id="17" name="Text 15"/>
          <p:cNvSpPr txBox="1"/>
          <p:nvPr/>
        </p:nvSpPr>
        <p:spPr>
          <a:xfrm>
            <a:off x="8051597" y="3813048"/>
            <a:ext cx="3454298" cy="548640"/>
          </a:xfrm>
          <a:prstGeom prst="rect">
            <a:avLst/>
          </a:prstGeom>
          <a:noFill/>
          <a:ln/>
        </p:spPr>
        <p:txBody>
          <a:bodyPr wrap="square" lIns="0" tIns="0" rIns="0" bIns="0" rtlCol="0" anchor="t"/>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walk-ins closed after that rise</a:t>
            </a:r>
            <a:endParaRPr lang="en-US" sz="1600" dirty="0"/>
          </a:p>
        </p:txBody>
      </p:sp>
      <p:sp>
        <p:nvSpPr>
          <p:cNvPr id="18" name="Shape 16"/>
          <p:cNvSpPr/>
          <p:nvPr/>
        </p:nvSpPr>
        <p:spPr>
          <a:xfrm>
            <a:off x="8051597" y="4315968"/>
            <a:ext cx="3454298" cy="0"/>
          </a:xfrm>
          <a:prstGeom prst="line">
            <a:avLst/>
          </a:prstGeom>
          <a:noFill/>
          <a:ln w="9525">
            <a:solidFill>
              <a:srgbClr val="D9D4C7"/>
            </a:solidFill>
            <a:prstDash val="solid"/>
          </a:ln>
        </p:spPr>
      </p:sp>
      <p:sp>
        <p:nvSpPr>
          <p:cNvPr id="19" name="Text 17"/>
          <p:cNvSpPr txBox="1"/>
          <p:nvPr/>
        </p:nvSpPr>
        <p:spPr>
          <a:xfrm>
            <a:off x="8051597" y="4480560"/>
            <a:ext cx="3454298" cy="640080"/>
          </a:xfrm>
          <a:prstGeom prst="rect">
            <a:avLst/>
          </a:prstGeom>
          <a:noFill/>
          <a:ln/>
        </p:spPr>
        <p:txBody>
          <a:bodyPr wrap="square" lIns="0" tIns="0" rIns="0" bIns="0" rtlCol="0" anchor="t"/>
          <a:lstStyle/>
          <a:p>
            <a:pPr indent="0" marL="0">
              <a:buNone/>
            </a:pPr>
            <a:r>
              <a:rPr lang="en-US" sz="4000" b="1" dirty="0">
                <a:solidFill>
                  <a:srgbClr val="1D5E40"/>
                </a:solidFill>
                <a:latin typeface="Schibsted Grotesk" pitchFamily="34" charset="0"/>
                <a:ea typeface="Schibsted Grotesk" pitchFamily="34" charset="-122"/>
                <a:cs typeface="Schibsted Grotesk" pitchFamily="34" charset="-120"/>
              </a:rPr>
              <a:t>40%</a:t>
            </a:r>
            <a:endParaRPr lang="en-US" sz="4000" dirty="0"/>
          </a:p>
        </p:txBody>
      </p:sp>
      <p:sp>
        <p:nvSpPr>
          <p:cNvPr id="20" name="Text 18"/>
          <p:cNvSpPr txBox="1"/>
          <p:nvPr/>
        </p:nvSpPr>
        <p:spPr>
          <a:xfrm>
            <a:off x="8051597" y="5138928"/>
            <a:ext cx="3454298" cy="548640"/>
          </a:xfrm>
          <a:prstGeom prst="rect">
            <a:avLst/>
          </a:prstGeom>
          <a:noFill/>
          <a:ln/>
        </p:spPr>
        <p:txBody>
          <a:bodyPr wrap="square" lIns="0" tIns="0" rIns="0" bIns="0" rtlCol="0" anchor="t"/>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of Canadian students skipped meals because of cost in 2024</a:t>
            </a:r>
            <a:endParaRPr lang="en-US" sz="1600" dirty="0"/>
          </a:p>
        </p:txBody>
      </p:sp>
      <p:sp>
        <p:nvSpPr>
          <p:cNvPr id="21" name="Text 19"/>
          <p:cNvSpPr txBox="1"/>
          <p:nvPr/>
        </p:nvSpPr>
        <p:spPr>
          <a:xfrm>
            <a:off x="685800" y="5925312"/>
            <a:ext cx="10820095" cy="292608"/>
          </a:xfrm>
          <a:prstGeom prst="rect">
            <a:avLst/>
          </a:prstGeom>
          <a:noFill/>
          <a:ln/>
        </p:spPr>
        <p:txBody>
          <a:bodyPr wrap="square" lIns="0" tIns="0" rIns="0" bIns="0" rtlCol="0" anchor="b"/>
          <a:lstStyle/>
          <a:p>
            <a:pPr indent="0" marL="0">
              <a:buNone/>
            </a:pPr>
            <a:r>
              <a:rPr lang="en-US" sz="1100" dirty="0">
                <a:solidFill>
                  <a:srgbClr val="68716A"/>
                </a:solidFill>
                <a:latin typeface="Schibsted Grotesk" pitchFamily="34" charset="0"/>
                <a:ea typeface="Schibsted Grotesk" pitchFamily="34" charset="-122"/>
                <a:cs typeface="Schibsted Grotesk" pitchFamily="34" charset="-120"/>
              </a:rPr>
              <a:t>Sources: Global News, Mar 15, 2024; The Gazette, Oct 4, 2024; CASA, Walking the Tightrope, Mar 2025 (Abacus Data survey of 1,500 students, May 2024).</a:t>
            </a:r>
            <a:endParaRPr lang="en-US" sz="11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10241280" cy="1188720"/>
          </a:xfrm>
          <a:prstGeom prst="rect">
            <a:avLst/>
          </a:prstGeom>
          <a:noFill/>
          <a:ln/>
        </p:spPr>
        <p:txBody>
          <a:bodyPr wrap="square" lIns="0" tIns="0" rIns="0" bIns="0" rtlCol="0" anchor="t"/>
          <a:lstStyle/>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Today, walk-in help is one basement</a:t>
            </a:r>
            <a:endParaRPr lang="en-US" sz="3400" dirty="0"/>
          </a:p>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room, open 24 hours a week</a:t>
            </a:r>
            <a:endParaRPr lang="en-US" sz="3400" dirty="0"/>
          </a:p>
        </p:txBody>
      </p:sp>
      <p:sp>
        <p:nvSpPr>
          <p:cNvPr id="3" name="Shape 1"/>
          <p:cNvSpPr/>
          <p:nvPr/>
        </p:nvSpPr>
        <p:spPr>
          <a:xfrm>
            <a:off x="795528" y="1984248"/>
            <a:ext cx="0" cy="3383280"/>
          </a:xfrm>
          <a:prstGeom prst="line">
            <a:avLst/>
          </a:prstGeom>
          <a:noFill/>
          <a:ln w="19050">
            <a:solidFill>
              <a:srgbClr val="D9D4C7"/>
            </a:solidFill>
            <a:prstDash val="solid"/>
          </a:ln>
        </p:spPr>
      </p:sp>
      <p:sp>
        <p:nvSpPr>
          <p:cNvPr id="4" name="Shape 2"/>
          <p:cNvSpPr/>
          <p:nvPr/>
        </p:nvSpPr>
        <p:spPr>
          <a:xfrm>
            <a:off x="708660" y="1965960"/>
            <a:ext cx="173736" cy="173736"/>
          </a:xfrm>
          <a:prstGeom prst="ellipse">
            <a:avLst/>
          </a:prstGeom>
          <a:solidFill>
            <a:srgbClr val="F7F5EF"/>
          </a:solidFill>
          <a:ln w="19050">
            <a:solidFill>
              <a:srgbClr val="68716A"/>
            </a:solidFill>
            <a:prstDash val="solid"/>
          </a:ln>
        </p:spPr>
      </p:sp>
      <p:sp>
        <p:nvSpPr>
          <p:cNvPr id="5" name="Text 3"/>
          <p:cNvSpPr txBox="1"/>
          <p:nvPr/>
        </p:nvSpPr>
        <p:spPr>
          <a:xfrm>
            <a:off x="1143000" y="1874520"/>
            <a:ext cx="1795729" cy="384048"/>
          </a:xfrm>
          <a:prstGeom prst="rect">
            <a:avLst/>
          </a:prstGeom>
          <a:noFill/>
          <a:ln/>
        </p:spPr>
        <p:txBody>
          <a:bodyPr wrap="square" lIns="0" tIns="0" rIns="0" bIns="0" rtlCol="0" anchor="t"/>
          <a:lstStyle/>
          <a:p>
            <a:pPr indent="0" marL="0">
              <a:buNone/>
            </a:pPr>
            <a:r>
              <a:rPr lang="en-US" sz="2000" b="1" dirty="0">
                <a:solidFill>
                  <a:srgbClr val="15201A"/>
                </a:solidFill>
                <a:latin typeface="Schibsted Grotesk" pitchFamily="34" charset="0"/>
                <a:ea typeface="Schibsted Grotesk" pitchFamily="34" charset="-122"/>
                <a:cs typeface="Schibsted Grotesk" pitchFamily="34" charset="-120"/>
              </a:rPr>
              <a:t>Sept 2023</a:t>
            </a:r>
            <a:endParaRPr lang="en-US" sz="2000" dirty="0"/>
          </a:p>
        </p:txBody>
      </p:sp>
      <p:sp>
        <p:nvSpPr>
          <p:cNvPr id="6" name="Text 4"/>
          <p:cNvSpPr txBox="1"/>
          <p:nvPr/>
        </p:nvSpPr>
        <p:spPr>
          <a:xfrm>
            <a:off x="3447974" y="1892808"/>
            <a:ext cx="8057921" cy="658368"/>
          </a:xfrm>
          <a:prstGeom prst="rect">
            <a:avLst/>
          </a:prstGeom>
          <a:noFill/>
          <a:ln/>
        </p:spPr>
        <p:txBody>
          <a:bodyPr wrap="square" lIns="0" tIns="0" rIns="0" bIns="0" rtlCol="0" anchor="t"/>
          <a:lstStyle/>
          <a:p>
            <a:pPr indent="0" marL="0">
              <a:buNone/>
            </a:pPr>
            <a:r>
              <a:rPr lang="en-US" sz="1800" dirty="0">
                <a:solidFill>
                  <a:srgbClr val="38433C"/>
                </a:solidFill>
                <a:latin typeface="Schibsted Grotesk" pitchFamily="34" charset="0"/>
                <a:ea typeface="Schibsted Grotesk" pitchFamily="34" charset="-122"/>
                <a:cs typeface="Schibsted Grotesk" pitchFamily="34" charset="-120"/>
              </a:rPr>
              <a:t>Walk-ins closed after demand rose 600%.</a:t>
            </a:r>
            <a:endParaRPr lang="en-US" sz="1800" dirty="0"/>
          </a:p>
        </p:txBody>
      </p:sp>
      <p:sp>
        <p:nvSpPr>
          <p:cNvPr id="7" name="Shape 5"/>
          <p:cNvSpPr/>
          <p:nvPr/>
        </p:nvSpPr>
        <p:spPr>
          <a:xfrm>
            <a:off x="708660" y="2734056"/>
            <a:ext cx="173736" cy="173736"/>
          </a:xfrm>
          <a:prstGeom prst="ellipse">
            <a:avLst/>
          </a:prstGeom>
          <a:solidFill>
            <a:srgbClr val="F7F5EF"/>
          </a:solidFill>
          <a:ln w="19050">
            <a:solidFill>
              <a:srgbClr val="68716A"/>
            </a:solidFill>
            <a:prstDash val="solid"/>
          </a:ln>
        </p:spPr>
      </p:sp>
      <p:sp>
        <p:nvSpPr>
          <p:cNvPr id="8" name="Text 6"/>
          <p:cNvSpPr txBox="1"/>
          <p:nvPr/>
        </p:nvSpPr>
        <p:spPr>
          <a:xfrm>
            <a:off x="1143000" y="2642616"/>
            <a:ext cx="1795729" cy="384048"/>
          </a:xfrm>
          <a:prstGeom prst="rect">
            <a:avLst/>
          </a:prstGeom>
          <a:noFill/>
          <a:ln/>
        </p:spPr>
        <p:txBody>
          <a:bodyPr wrap="square" lIns="0" tIns="0" rIns="0" bIns="0" rtlCol="0" anchor="t"/>
          <a:lstStyle/>
          <a:p>
            <a:pPr indent="0" marL="0">
              <a:buNone/>
            </a:pPr>
            <a:r>
              <a:rPr lang="en-US" sz="2000" b="1" dirty="0">
                <a:solidFill>
                  <a:srgbClr val="15201A"/>
                </a:solidFill>
                <a:latin typeface="Schibsted Grotesk" pitchFamily="34" charset="0"/>
                <a:ea typeface="Schibsted Grotesk" pitchFamily="34" charset="-122"/>
                <a:cs typeface="Schibsted Grotesk" pitchFamily="34" charset="-120"/>
              </a:rPr>
              <a:t>Oct 2024</a:t>
            </a:r>
            <a:endParaRPr lang="en-US" sz="2000" dirty="0"/>
          </a:p>
        </p:txBody>
      </p:sp>
      <p:sp>
        <p:nvSpPr>
          <p:cNvPr id="9" name="Text 7"/>
          <p:cNvSpPr txBox="1"/>
          <p:nvPr/>
        </p:nvSpPr>
        <p:spPr>
          <a:xfrm>
            <a:off x="3447974" y="2660904"/>
            <a:ext cx="8057921" cy="658368"/>
          </a:xfrm>
          <a:prstGeom prst="rect">
            <a:avLst/>
          </a:prstGeom>
          <a:noFill/>
          <a:ln/>
        </p:spPr>
        <p:txBody>
          <a:bodyPr wrap="square" lIns="0" tIns="0" rIns="0" bIns="0" rtlCol="0" anchor="t"/>
          <a:lstStyle/>
          <a:p>
            <a:pPr indent="0" marL="0">
              <a:buNone/>
            </a:pPr>
            <a:r>
              <a:rPr lang="en-US" sz="1800" dirty="0">
                <a:solidFill>
                  <a:srgbClr val="38433C"/>
                </a:solidFill>
                <a:latin typeface="Schibsted Grotesk" pitchFamily="34" charset="0"/>
                <a:ea typeface="Schibsted Grotesk" pitchFamily="34" charset="-122"/>
                <a:cs typeface="Schibsted Grotesk" pitchFamily="34" charset="-120"/>
              </a:rPr>
              <a:t>Hamper-only. 40 volunteers were replaced by six part-time staff.</a:t>
            </a:r>
            <a:endParaRPr lang="en-US" sz="1800" dirty="0"/>
          </a:p>
        </p:txBody>
      </p:sp>
      <p:sp>
        <p:nvSpPr>
          <p:cNvPr id="10" name="Shape 8"/>
          <p:cNvSpPr/>
          <p:nvPr/>
        </p:nvSpPr>
        <p:spPr>
          <a:xfrm>
            <a:off x="708660" y="3502152"/>
            <a:ext cx="173736" cy="173736"/>
          </a:xfrm>
          <a:prstGeom prst="ellipse">
            <a:avLst/>
          </a:prstGeom>
          <a:solidFill>
            <a:srgbClr val="F7F5EF"/>
          </a:solidFill>
          <a:ln w="19050">
            <a:solidFill>
              <a:srgbClr val="68716A"/>
            </a:solidFill>
            <a:prstDash val="solid"/>
          </a:ln>
        </p:spPr>
      </p:sp>
      <p:sp>
        <p:nvSpPr>
          <p:cNvPr id="11" name="Text 9"/>
          <p:cNvSpPr txBox="1"/>
          <p:nvPr/>
        </p:nvSpPr>
        <p:spPr>
          <a:xfrm>
            <a:off x="1143000" y="3410712"/>
            <a:ext cx="1795729" cy="384048"/>
          </a:xfrm>
          <a:prstGeom prst="rect">
            <a:avLst/>
          </a:prstGeom>
          <a:noFill/>
          <a:ln/>
        </p:spPr>
        <p:txBody>
          <a:bodyPr wrap="square" lIns="0" tIns="0" rIns="0" bIns="0" rtlCol="0" anchor="t"/>
          <a:lstStyle/>
          <a:p>
            <a:pPr indent="0" marL="0">
              <a:buNone/>
            </a:pPr>
            <a:r>
              <a:rPr lang="en-US" sz="2000" b="1" dirty="0">
                <a:solidFill>
                  <a:srgbClr val="15201A"/>
                </a:solidFill>
                <a:latin typeface="Schibsted Grotesk" pitchFamily="34" charset="0"/>
                <a:ea typeface="Schibsted Grotesk" pitchFamily="34" charset="-122"/>
                <a:cs typeface="Schibsted Grotesk" pitchFamily="34" charset="-120"/>
              </a:rPr>
              <a:t>Feb 2025</a:t>
            </a:r>
            <a:endParaRPr lang="en-US" sz="2000" dirty="0"/>
          </a:p>
        </p:txBody>
      </p:sp>
      <p:sp>
        <p:nvSpPr>
          <p:cNvPr id="12" name="Text 10"/>
          <p:cNvSpPr txBox="1"/>
          <p:nvPr/>
        </p:nvSpPr>
        <p:spPr>
          <a:xfrm>
            <a:off x="3447974" y="3429000"/>
            <a:ext cx="8057921" cy="658368"/>
          </a:xfrm>
          <a:prstGeom prst="rect">
            <a:avLst/>
          </a:prstGeom>
          <a:noFill/>
          <a:ln/>
        </p:spPr>
        <p:txBody>
          <a:bodyPr wrap="square" lIns="0" tIns="0" rIns="0" bIns="0" rtlCol="0" anchor="t"/>
          <a:lstStyle/>
          <a:p>
            <a:pPr indent="0" marL="0">
              <a:buNone/>
            </a:pPr>
            <a:r>
              <a:rPr lang="en-US" sz="1800" dirty="0">
                <a:solidFill>
                  <a:srgbClr val="38433C"/>
                </a:solidFill>
                <a:latin typeface="Schibsted Grotesk" pitchFamily="34" charset="0"/>
                <a:ea typeface="Schibsted Grotesk" pitchFamily="34" charset="-122"/>
                <a:cs typeface="Schibsted Grotesk" pitchFamily="34" charset="-120"/>
              </a:rPr>
              <a:t>The proposed USC budget dropped the Food Support Coordinator.</a:t>
            </a:r>
            <a:endParaRPr lang="en-US" sz="1800" dirty="0"/>
          </a:p>
        </p:txBody>
      </p:sp>
      <p:sp>
        <p:nvSpPr>
          <p:cNvPr id="13" name="Shape 11"/>
          <p:cNvSpPr/>
          <p:nvPr/>
        </p:nvSpPr>
        <p:spPr>
          <a:xfrm>
            <a:off x="708660" y="4270248"/>
            <a:ext cx="173736" cy="173736"/>
          </a:xfrm>
          <a:prstGeom prst="ellipse">
            <a:avLst/>
          </a:prstGeom>
          <a:solidFill>
            <a:srgbClr val="F7F5EF"/>
          </a:solidFill>
          <a:ln w="19050">
            <a:solidFill>
              <a:srgbClr val="68716A"/>
            </a:solidFill>
            <a:prstDash val="solid"/>
          </a:ln>
        </p:spPr>
      </p:sp>
      <p:sp>
        <p:nvSpPr>
          <p:cNvPr id="14" name="Text 12"/>
          <p:cNvSpPr txBox="1"/>
          <p:nvPr/>
        </p:nvSpPr>
        <p:spPr>
          <a:xfrm>
            <a:off x="1143000" y="4178808"/>
            <a:ext cx="1795729" cy="384048"/>
          </a:xfrm>
          <a:prstGeom prst="rect">
            <a:avLst/>
          </a:prstGeom>
          <a:noFill/>
          <a:ln/>
        </p:spPr>
        <p:txBody>
          <a:bodyPr wrap="square" lIns="0" tIns="0" rIns="0" bIns="0" rtlCol="0" anchor="t"/>
          <a:lstStyle/>
          <a:p>
            <a:pPr indent="0" marL="0">
              <a:buNone/>
            </a:pPr>
            <a:r>
              <a:rPr lang="en-US" sz="2000" b="1" dirty="0">
                <a:solidFill>
                  <a:srgbClr val="15201A"/>
                </a:solidFill>
                <a:latin typeface="Schibsted Grotesk" pitchFamily="34" charset="0"/>
                <a:ea typeface="Schibsted Grotesk" pitchFamily="34" charset="-122"/>
                <a:cs typeface="Schibsted Grotesk" pitchFamily="34" charset="-120"/>
              </a:rPr>
              <a:t>Oct 2026</a:t>
            </a:r>
            <a:endParaRPr lang="en-US" sz="2000" dirty="0"/>
          </a:p>
        </p:txBody>
      </p:sp>
      <p:sp>
        <p:nvSpPr>
          <p:cNvPr id="15" name="Text 13"/>
          <p:cNvSpPr txBox="1"/>
          <p:nvPr/>
        </p:nvSpPr>
        <p:spPr>
          <a:xfrm>
            <a:off x="3447974" y="4197096"/>
            <a:ext cx="8057921" cy="658368"/>
          </a:xfrm>
          <a:prstGeom prst="rect">
            <a:avLst/>
          </a:prstGeom>
          <a:noFill/>
          <a:ln/>
        </p:spPr>
        <p:txBody>
          <a:bodyPr wrap="square" lIns="0" tIns="0" rIns="0" bIns="0" rtlCol="0" anchor="t"/>
          <a:lstStyle/>
          <a:p>
            <a:pPr indent="0" marL="0">
              <a:buNone/>
            </a:pPr>
            <a:r>
              <a:rPr lang="en-US" sz="1800" dirty="0">
                <a:solidFill>
                  <a:srgbClr val="38433C"/>
                </a:solidFill>
                <a:latin typeface="Schibsted Grotesk" pitchFamily="34" charset="0"/>
                <a:ea typeface="Schibsted Grotesk" pitchFamily="34" charset="-122"/>
                <a:cs typeface="Schibsted Grotesk" pitchFamily="34" charset="-120"/>
              </a:rPr>
              <a:t>The USC page lists walk-in hours in UCC 40F, Mon–Thu, 10 to 4, and still says requests reopen Sept 8, 2025.</a:t>
            </a:r>
            <a:endParaRPr lang="en-US" sz="1800" dirty="0"/>
          </a:p>
        </p:txBody>
      </p:sp>
      <p:sp>
        <p:nvSpPr>
          <p:cNvPr id="16" name="Shape 14"/>
          <p:cNvSpPr/>
          <p:nvPr/>
        </p:nvSpPr>
        <p:spPr>
          <a:xfrm>
            <a:off x="708660" y="5038344"/>
            <a:ext cx="173736" cy="173736"/>
          </a:xfrm>
          <a:prstGeom prst="ellipse">
            <a:avLst/>
          </a:prstGeom>
          <a:solidFill>
            <a:srgbClr val="1D5E40"/>
          </a:solidFill>
          <a:ln w="19050">
            <a:solidFill>
              <a:srgbClr val="1D5E40"/>
            </a:solidFill>
            <a:prstDash val="solid"/>
          </a:ln>
        </p:spPr>
      </p:sp>
      <p:sp>
        <p:nvSpPr>
          <p:cNvPr id="17" name="Text 15"/>
          <p:cNvSpPr txBox="1"/>
          <p:nvPr/>
        </p:nvSpPr>
        <p:spPr>
          <a:xfrm>
            <a:off x="1143000" y="4946904"/>
            <a:ext cx="1795729" cy="384048"/>
          </a:xfrm>
          <a:prstGeom prst="rect">
            <a:avLst/>
          </a:prstGeom>
          <a:noFill/>
          <a:ln/>
        </p:spPr>
        <p:txBody>
          <a:bodyPr wrap="square" lIns="0" tIns="0" rIns="0" bIns="0" rtlCol="0" anchor="t"/>
          <a:lstStyle/>
          <a:p>
            <a:pPr indent="0" marL="0">
              <a:buNone/>
            </a:pPr>
            <a:r>
              <a:rPr lang="en-US" sz="2000" b="1" dirty="0">
                <a:solidFill>
                  <a:srgbClr val="1D5E40"/>
                </a:solidFill>
                <a:latin typeface="Schibsted Grotesk" pitchFamily="34" charset="0"/>
                <a:ea typeface="Schibsted Grotesk" pitchFamily="34" charset="-122"/>
                <a:cs typeface="Schibsted Grotesk" pitchFamily="34" charset="-120"/>
              </a:rPr>
              <a:t>Today</a:t>
            </a:r>
            <a:endParaRPr lang="en-US" sz="2000" dirty="0"/>
          </a:p>
        </p:txBody>
      </p:sp>
      <p:sp>
        <p:nvSpPr>
          <p:cNvPr id="18" name="Text 16"/>
          <p:cNvSpPr txBox="1"/>
          <p:nvPr/>
        </p:nvSpPr>
        <p:spPr>
          <a:xfrm>
            <a:off x="3447974" y="4965192"/>
            <a:ext cx="8057921" cy="658368"/>
          </a:xfrm>
          <a:prstGeom prst="rect">
            <a:avLst/>
          </a:prstGeom>
          <a:noFill/>
          <a:ln/>
        </p:spPr>
        <p:txBody>
          <a:bodyPr wrap="square" lIns="0" tIns="0" rIns="0" bIns="0" rtlCol="0" anchor="t"/>
          <a:lstStyle/>
          <a:p>
            <a:pPr indent="0" marL="0">
              <a:buNone/>
            </a:pPr>
            <a:r>
              <a:rPr lang="en-US" sz="1800" dirty="0">
                <a:solidFill>
                  <a:srgbClr val="15201A"/>
                </a:solidFill>
                <a:latin typeface="Schibsted Grotesk" pitchFamily="34" charset="0"/>
                <a:ea typeface="Schibsted Grotesk" pitchFamily="34" charset="-122"/>
                <a:cs typeface="Schibsted Grotesk" pitchFamily="34" charset="-120"/>
              </a:rPr>
              <a:t>Otherwise: an online form, at least 48 hours, and a locker.</a:t>
            </a:r>
            <a:endParaRPr lang="en-US" sz="1800" dirty="0"/>
          </a:p>
        </p:txBody>
      </p:sp>
      <p:sp>
        <p:nvSpPr>
          <p:cNvPr id="19" name="Text 17"/>
          <p:cNvSpPr txBox="1"/>
          <p:nvPr/>
        </p:nvSpPr>
        <p:spPr>
          <a:xfrm>
            <a:off x="685800" y="5925312"/>
            <a:ext cx="10820095" cy="292608"/>
          </a:xfrm>
          <a:prstGeom prst="rect">
            <a:avLst/>
          </a:prstGeom>
          <a:noFill/>
          <a:ln/>
        </p:spPr>
        <p:txBody>
          <a:bodyPr wrap="square" lIns="0" tIns="0" rIns="0" bIns="0" rtlCol="0" anchor="b"/>
          <a:lstStyle/>
          <a:p>
            <a:pPr indent="0" marL="0">
              <a:buNone/>
            </a:pPr>
            <a:r>
              <a:rPr lang="en-US" sz="1100" dirty="0">
                <a:solidFill>
                  <a:srgbClr val="68716A"/>
                </a:solidFill>
                <a:latin typeface="Schibsted Grotesk" pitchFamily="34" charset="0"/>
                <a:ea typeface="Schibsted Grotesk" pitchFamily="34" charset="-122"/>
                <a:cs typeface="Schibsted Grotesk" pitchFamily="34" charset="-120"/>
              </a:rPr>
              <a:t>Sources: The Gazette, Oct 4, 2024 and Feb 2025; USC Food Support page, checked Oct 31, 2026 (office hours; “can be filled in as soon as 48 hours”).</a:t>
            </a:r>
            <a:endParaRPr lang="en-US" sz="11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10241280" cy="1188720"/>
          </a:xfrm>
          <a:prstGeom prst="rect">
            <a:avLst/>
          </a:prstGeom>
          <a:noFill/>
          <a:ln/>
        </p:spPr>
        <p:txBody>
          <a:bodyPr wrap="square" lIns="0" tIns="0" rIns="0" bIns="0" rtlCol="0" anchor="t"/>
          <a:lstStyle/>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Help exists, but access, supply and</a:t>
            </a:r>
            <a:endParaRPr lang="en-US" sz="3400" dirty="0"/>
          </a:p>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information get in the way</a:t>
            </a:r>
            <a:endParaRPr lang="en-US" sz="3400" dirty="0"/>
          </a:p>
        </p:txBody>
      </p:sp>
      <p:sp>
        <p:nvSpPr>
          <p:cNvPr id="3" name="Shape 1"/>
          <p:cNvSpPr/>
          <p:nvPr/>
        </p:nvSpPr>
        <p:spPr>
          <a:xfrm>
            <a:off x="685800" y="1874520"/>
            <a:ext cx="3454298" cy="2606040"/>
          </a:xfrm>
          <a:prstGeom prst="rect">
            <a:avLst/>
          </a:prstGeom>
          <a:solidFill>
            <a:srgbClr val="FFFFFF"/>
          </a:solidFill>
          <a:ln w="9525">
            <a:solidFill>
              <a:srgbClr val="D9D4C7"/>
            </a:solidFill>
            <a:prstDash val="solid"/>
          </a:ln>
        </p:spPr>
      </p:sp>
      <p:sp>
        <p:nvSpPr>
          <p:cNvPr id="4" name="Shape 2"/>
          <p:cNvSpPr/>
          <p:nvPr/>
        </p:nvSpPr>
        <p:spPr>
          <a:xfrm>
            <a:off x="960120" y="2148840"/>
            <a:ext cx="411480" cy="45720"/>
          </a:xfrm>
          <a:prstGeom prst="rect">
            <a:avLst/>
          </a:prstGeom>
          <a:solidFill>
            <a:srgbClr val="A97A2F"/>
          </a:solidFill>
          <a:ln w="12700">
            <a:solidFill>
              <a:srgbClr val="A97A2F"/>
            </a:solidFill>
            <a:prstDash val="solid"/>
          </a:ln>
        </p:spPr>
      </p:sp>
      <p:sp>
        <p:nvSpPr>
          <p:cNvPr id="5" name="Text 3"/>
          <p:cNvSpPr txBox="1"/>
          <p:nvPr/>
        </p:nvSpPr>
        <p:spPr>
          <a:xfrm>
            <a:off x="960120" y="2313432"/>
            <a:ext cx="2905658" cy="457200"/>
          </a:xfrm>
          <a:prstGeom prst="rect">
            <a:avLst/>
          </a:prstGeom>
          <a:noFill/>
          <a:ln/>
        </p:spPr>
        <p:txBody>
          <a:bodyPr wrap="square" lIns="0" tIns="0" rIns="0" bIns="0" rtlCol="0" anchor="t"/>
          <a:lstStyle/>
          <a:p>
            <a:pPr indent="0" marL="0">
              <a:buNone/>
            </a:pPr>
            <a:r>
              <a:rPr lang="en-US" sz="2600" b="1" dirty="0">
                <a:solidFill>
                  <a:srgbClr val="15201A"/>
                </a:solidFill>
                <a:latin typeface="Schibsted Grotesk" pitchFamily="34" charset="0"/>
                <a:ea typeface="Schibsted Grotesk" pitchFamily="34" charset="-122"/>
                <a:cs typeface="Schibsted Grotesk" pitchFamily="34" charset="-120"/>
              </a:rPr>
              <a:t>Access</a:t>
            </a:r>
            <a:endParaRPr lang="en-US" sz="2600" dirty="0"/>
          </a:p>
        </p:txBody>
      </p:sp>
      <p:sp>
        <p:nvSpPr>
          <p:cNvPr id="6" name="Text 4"/>
          <p:cNvSpPr txBox="1"/>
          <p:nvPr/>
        </p:nvSpPr>
        <p:spPr>
          <a:xfrm>
            <a:off x="960120" y="2898648"/>
            <a:ext cx="2905658" cy="1417320"/>
          </a:xfrm>
          <a:prstGeom prst="rect">
            <a:avLst/>
          </a:prstGeom>
          <a:noFill/>
          <a:ln/>
        </p:spPr>
        <p:txBody>
          <a:bodyPr wrap="square" lIns="0" tIns="0" rIns="0" bIns="0" rtlCol="0" anchor="t"/>
          <a:lstStyle/>
          <a:p>
            <a:pPr marL="203200" indent="-203200">
              <a:spcAft>
                <a:spcPts val="1200"/>
              </a:spcAft>
              <a:buSzPct val="100000"/>
              <a:buChar char="•"/>
            </a:pPr>
            <a:r>
              <a:rPr lang="en-US" sz="1600" dirty="0">
                <a:solidFill>
                  <a:srgbClr val="38433C"/>
                </a:solidFill>
                <a:latin typeface="Schibsted Grotesk" pitchFamily="34" charset="0"/>
                <a:ea typeface="Schibsted Grotesk" pitchFamily="34" charset="-122"/>
                <a:cs typeface="Schibsted Grotesk" pitchFamily="34" charset="-120"/>
              </a:rPr>
              <a:t>One room, 24 hours a week</a:t>
            </a:r>
            <a:endParaRPr lang="en-US" sz="1600" dirty="0"/>
          </a:p>
          <a:p>
            <a:pPr marL="203200" indent="-203200">
              <a:spcAft>
                <a:spcPts val="1200"/>
              </a:spcAft>
              <a:buSzPct val="100000"/>
              <a:buChar char="•"/>
            </a:pPr>
            <a:r>
              <a:rPr lang="en-US" sz="1600" dirty="0">
                <a:solidFill>
                  <a:srgbClr val="38433C"/>
                </a:solidFill>
                <a:latin typeface="Schibsted Grotesk" pitchFamily="34" charset="0"/>
                <a:ea typeface="Schibsted Grotesk" pitchFamily="34" charset="-122"/>
                <a:cs typeface="Schibsted Grotesk" pitchFamily="34" charset="-120"/>
              </a:rPr>
              <a:t>Closed evenings, Fri–Sun</a:t>
            </a:r>
            <a:endParaRPr lang="en-US" sz="1600" dirty="0"/>
          </a:p>
          <a:p>
            <a:pPr marL="203200" indent="-203200">
              <a:spcAft>
                <a:spcPts val="1200"/>
              </a:spcAft>
              <a:buSzPct val="100000"/>
              <a:buChar char="•"/>
            </a:pPr>
            <a:r>
              <a:rPr lang="en-US" sz="1600" dirty="0">
                <a:solidFill>
                  <a:srgbClr val="38433C"/>
                </a:solidFill>
                <a:latin typeface="Schibsted Grotesk" pitchFamily="34" charset="0"/>
                <a:ea typeface="Schibsted Grotesk" pitchFamily="34" charset="-122"/>
                <a:cs typeface="Schibsted Grotesk" pitchFamily="34" charset="-120"/>
              </a:rPr>
              <a:t>Hampers: 48+ hours</a:t>
            </a:r>
            <a:endParaRPr lang="en-US" sz="1600" dirty="0"/>
          </a:p>
        </p:txBody>
      </p:sp>
      <p:sp>
        <p:nvSpPr>
          <p:cNvPr id="7" name="Shape 5"/>
          <p:cNvSpPr/>
          <p:nvPr/>
        </p:nvSpPr>
        <p:spPr>
          <a:xfrm>
            <a:off x="4368698" y="1874520"/>
            <a:ext cx="3454298" cy="2606040"/>
          </a:xfrm>
          <a:prstGeom prst="rect">
            <a:avLst/>
          </a:prstGeom>
          <a:solidFill>
            <a:srgbClr val="FFFFFF"/>
          </a:solidFill>
          <a:ln w="9525">
            <a:solidFill>
              <a:srgbClr val="D9D4C7"/>
            </a:solidFill>
            <a:prstDash val="solid"/>
          </a:ln>
        </p:spPr>
      </p:sp>
      <p:sp>
        <p:nvSpPr>
          <p:cNvPr id="8" name="Shape 6"/>
          <p:cNvSpPr/>
          <p:nvPr/>
        </p:nvSpPr>
        <p:spPr>
          <a:xfrm>
            <a:off x="4643018" y="2148840"/>
            <a:ext cx="411480" cy="45720"/>
          </a:xfrm>
          <a:prstGeom prst="rect">
            <a:avLst/>
          </a:prstGeom>
          <a:solidFill>
            <a:srgbClr val="A97A2F"/>
          </a:solidFill>
          <a:ln w="12700">
            <a:solidFill>
              <a:srgbClr val="A97A2F"/>
            </a:solidFill>
            <a:prstDash val="solid"/>
          </a:ln>
        </p:spPr>
      </p:sp>
      <p:sp>
        <p:nvSpPr>
          <p:cNvPr id="9" name="Text 7"/>
          <p:cNvSpPr txBox="1"/>
          <p:nvPr/>
        </p:nvSpPr>
        <p:spPr>
          <a:xfrm>
            <a:off x="4643018" y="2313432"/>
            <a:ext cx="2905658" cy="457200"/>
          </a:xfrm>
          <a:prstGeom prst="rect">
            <a:avLst/>
          </a:prstGeom>
          <a:noFill/>
          <a:ln/>
        </p:spPr>
        <p:txBody>
          <a:bodyPr wrap="square" lIns="0" tIns="0" rIns="0" bIns="0" rtlCol="0" anchor="t"/>
          <a:lstStyle/>
          <a:p>
            <a:pPr indent="0" marL="0">
              <a:buNone/>
            </a:pPr>
            <a:r>
              <a:rPr lang="en-US" sz="2600" b="1" dirty="0">
                <a:solidFill>
                  <a:srgbClr val="15201A"/>
                </a:solidFill>
                <a:latin typeface="Schibsted Grotesk" pitchFamily="34" charset="0"/>
                <a:ea typeface="Schibsted Grotesk" pitchFamily="34" charset="-122"/>
                <a:cs typeface="Schibsted Grotesk" pitchFamily="34" charset="-120"/>
              </a:rPr>
              <a:t>Supply</a:t>
            </a:r>
            <a:endParaRPr lang="en-US" sz="2600" dirty="0"/>
          </a:p>
        </p:txBody>
      </p:sp>
      <p:sp>
        <p:nvSpPr>
          <p:cNvPr id="10" name="Text 8"/>
          <p:cNvSpPr txBox="1"/>
          <p:nvPr/>
        </p:nvSpPr>
        <p:spPr>
          <a:xfrm>
            <a:off x="4643018" y="2898648"/>
            <a:ext cx="2905658" cy="1417320"/>
          </a:xfrm>
          <a:prstGeom prst="rect">
            <a:avLst/>
          </a:prstGeom>
          <a:noFill/>
          <a:ln/>
        </p:spPr>
        <p:txBody>
          <a:bodyPr wrap="square" lIns="0" tIns="0" rIns="0" bIns="0" rtlCol="0" anchor="t"/>
          <a:lstStyle/>
          <a:p>
            <a:pPr marL="203200" indent="-203200">
              <a:spcAft>
                <a:spcPts val="1200"/>
              </a:spcAft>
              <a:buSzPct val="100000"/>
              <a:buChar char="•"/>
            </a:pPr>
            <a:r>
              <a:rPr lang="en-US" sz="1600" dirty="0">
                <a:solidFill>
                  <a:srgbClr val="38433C"/>
                </a:solidFill>
                <a:latin typeface="Schibsted Grotesk" pitchFamily="34" charset="0"/>
                <a:ea typeface="Schibsted Grotesk" pitchFamily="34" charset="-122"/>
                <a:cs typeface="Schibsted Grotesk" pitchFamily="34" charset="-120"/>
              </a:rPr>
              <a:t>Runs entirely on donations</a:t>
            </a:r>
            <a:endParaRPr lang="en-US" sz="1600" dirty="0"/>
          </a:p>
          <a:p>
            <a:pPr marL="203200" indent="-203200">
              <a:spcAft>
                <a:spcPts val="1200"/>
              </a:spcAft>
              <a:buSzPct val="100000"/>
              <a:buChar char="•"/>
            </a:pPr>
            <a:r>
              <a:rPr lang="en-US" sz="1600" dirty="0">
                <a:solidFill>
                  <a:srgbClr val="38433C"/>
                </a:solidFill>
                <a:latin typeface="Schibsted Grotesk" pitchFamily="34" charset="0"/>
                <a:ea typeface="Schibsted Grotesk" pitchFamily="34" charset="-122"/>
                <a:cs typeface="Schibsted Grotesk" pitchFamily="34" charset="-120"/>
              </a:rPr>
              <a:t>No USC fee line funds it</a:t>
            </a:r>
            <a:endParaRPr lang="en-US" sz="1600" dirty="0"/>
          </a:p>
          <a:p>
            <a:pPr marL="203200" indent="-203200">
              <a:spcAft>
                <a:spcPts val="1200"/>
              </a:spcAft>
              <a:buSzPct val="100000"/>
              <a:buChar char="•"/>
            </a:pPr>
            <a:r>
              <a:rPr lang="en-US" sz="1600" dirty="0">
                <a:solidFill>
                  <a:srgbClr val="38433C"/>
                </a:solidFill>
                <a:latin typeface="Schibsted Grotesk" pitchFamily="34" charset="0"/>
                <a:ea typeface="Schibsted Grotesk" pitchFamily="34" charset="-122"/>
                <a:cs typeface="Schibsted Grotesk" pitchFamily="34" charset="-120"/>
              </a:rPr>
              <a:t>Can’t meet special requests</a:t>
            </a:r>
            <a:endParaRPr lang="en-US" sz="1600" dirty="0"/>
          </a:p>
        </p:txBody>
      </p:sp>
      <p:sp>
        <p:nvSpPr>
          <p:cNvPr id="11" name="Shape 9"/>
          <p:cNvSpPr/>
          <p:nvPr/>
        </p:nvSpPr>
        <p:spPr>
          <a:xfrm>
            <a:off x="8051597" y="1874520"/>
            <a:ext cx="3454298" cy="2606040"/>
          </a:xfrm>
          <a:prstGeom prst="rect">
            <a:avLst/>
          </a:prstGeom>
          <a:solidFill>
            <a:srgbClr val="FFFFFF"/>
          </a:solidFill>
          <a:ln w="9525">
            <a:solidFill>
              <a:srgbClr val="D9D4C7"/>
            </a:solidFill>
            <a:prstDash val="solid"/>
          </a:ln>
        </p:spPr>
      </p:sp>
      <p:sp>
        <p:nvSpPr>
          <p:cNvPr id="12" name="Shape 10"/>
          <p:cNvSpPr/>
          <p:nvPr/>
        </p:nvSpPr>
        <p:spPr>
          <a:xfrm>
            <a:off x="8325917" y="2148840"/>
            <a:ext cx="411480" cy="45720"/>
          </a:xfrm>
          <a:prstGeom prst="rect">
            <a:avLst/>
          </a:prstGeom>
          <a:solidFill>
            <a:srgbClr val="A97A2F"/>
          </a:solidFill>
          <a:ln w="12700">
            <a:solidFill>
              <a:srgbClr val="A97A2F"/>
            </a:solidFill>
            <a:prstDash val="solid"/>
          </a:ln>
        </p:spPr>
      </p:sp>
      <p:sp>
        <p:nvSpPr>
          <p:cNvPr id="13" name="Text 11"/>
          <p:cNvSpPr txBox="1"/>
          <p:nvPr/>
        </p:nvSpPr>
        <p:spPr>
          <a:xfrm>
            <a:off x="8325917" y="2313432"/>
            <a:ext cx="2905658" cy="457200"/>
          </a:xfrm>
          <a:prstGeom prst="rect">
            <a:avLst/>
          </a:prstGeom>
          <a:noFill/>
          <a:ln/>
        </p:spPr>
        <p:txBody>
          <a:bodyPr wrap="square" lIns="0" tIns="0" rIns="0" bIns="0" rtlCol="0" anchor="t"/>
          <a:lstStyle/>
          <a:p>
            <a:pPr indent="0" marL="0">
              <a:buNone/>
            </a:pPr>
            <a:r>
              <a:rPr lang="en-US" sz="2600" b="1" dirty="0">
                <a:solidFill>
                  <a:srgbClr val="15201A"/>
                </a:solidFill>
                <a:latin typeface="Schibsted Grotesk" pitchFamily="34" charset="0"/>
                <a:ea typeface="Schibsted Grotesk" pitchFamily="34" charset="-122"/>
                <a:cs typeface="Schibsted Grotesk" pitchFamily="34" charset="-120"/>
              </a:rPr>
              <a:t>Information</a:t>
            </a:r>
            <a:endParaRPr lang="en-US" sz="2600" dirty="0"/>
          </a:p>
        </p:txBody>
      </p:sp>
      <p:sp>
        <p:nvSpPr>
          <p:cNvPr id="14" name="Text 12"/>
          <p:cNvSpPr txBox="1"/>
          <p:nvPr/>
        </p:nvSpPr>
        <p:spPr>
          <a:xfrm>
            <a:off x="8325917" y="2898648"/>
            <a:ext cx="2905658" cy="1417320"/>
          </a:xfrm>
          <a:prstGeom prst="rect">
            <a:avLst/>
          </a:prstGeom>
          <a:noFill/>
          <a:ln/>
        </p:spPr>
        <p:txBody>
          <a:bodyPr wrap="square" lIns="0" tIns="0" rIns="0" bIns="0" rtlCol="0" anchor="t"/>
          <a:lstStyle/>
          <a:p>
            <a:pPr marL="203200" indent="-203200">
              <a:spcAft>
                <a:spcPts val="1200"/>
              </a:spcAft>
              <a:buSzPct val="100000"/>
              <a:buChar char="•"/>
            </a:pPr>
            <a:r>
              <a:rPr lang="en-US" sz="1600" dirty="0">
                <a:solidFill>
                  <a:srgbClr val="38433C"/>
                </a:solidFill>
                <a:latin typeface="Schibsted Grotesk" pitchFamily="34" charset="0"/>
                <a:ea typeface="Schibsted Grotesk" pitchFamily="34" charset="-122"/>
                <a:cs typeface="Schibsted Grotesk" pitchFamily="34" charset="-120"/>
              </a:rPr>
              <a:t>Five services, five rules</a:t>
            </a:r>
            <a:endParaRPr lang="en-US" sz="1600" dirty="0"/>
          </a:p>
          <a:p>
            <a:pPr marL="203200" indent="-203200">
              <a:spcAft>
                <a:spcPts val="1200"/>
              </a:spcAft>
              <a:buSzPct val="100000"/>
              <a:buChar char="•"/>
            </a:pPr>
            <a:r>
              <a:rPr lang="en-US" sz="1600" dirty="0">
                <a:solidFill>
                  <a:srgbClr val="38433C"/>
                </a:solidFill>
                <a:latin typeface="Schibsted Grotesk" pitchFamily="34" charset="0"/>
                <a:ea typeface="Schibsted Grotesk" pitchFamily="34" charset="-122"/>
                <a:cs typeface="Schibsted Grotesk" pitchFamily="34" charset="-120"/>
              </a:rPr>
              <a:t>Its page contradicts itself</a:t>
            </a:r>
            <a:endParaRPr lang="en-US" sz="1600" dirty="0"/>
          </a:p>
          <a:p>
            <a:pPr marL="203200" indent="-203200">
              <a:spcAft>
                <a:spcPts val="1200"/>
              </a:spcAft>
              <a:buSzPct val="100000"/>
              <a:buChar char="•"/>
            </a:pPr>
            <a:r>
              <a:rPr lang="en-US" sz="1600" dirty="0">
                <a:solidFill>
                  <a:srgbClr val="38433C"/>
                </a:solidFill>
                <a:latin typeface="Schibsted Grotesk" pitchFamily="34" charset="0"/>
                <a:ea typeface="Schibsted Grotesk" pitchFamily="34" charset="-122"/>
                <a:cs typeface="Schibsted Grotesk" pitchFamily="34" charset="-120"/>
              </a:rPr>
              <a:t>No live view of stock</a:t>
            </a:r>
            <a:endParaRPr lang="en-US" sz="1600" dirty="0"/>
          </a:p>
        </p:txBody>
      </p:sp>
      <p:sp>
        <p:nvSpPr>
          <p:cNvPr id="15" name="Shape 13"/>
          <p:cNvSpPr/>
          <p:nvPr/>
        </p:nvSpPr>
        <p:spPr>
          <a:xfrm>
            <a:off x="685800" y="4754880"/>
            <a:ext cx="10820095" cy="731520"/>
          </a:xfrm>
          <a:prstGeom prst="rect">
            <a:avLst/>
          </a:prstGeom>
          <a:solidFill>
            <a:srgbClr val="E1EAE1"/>
          </a:solidFill>
          <a:ln w="12700">
            <a:solidFill>
              <a:srgbClr val="E1EAE1"/>
            </a:solidFill>
            <a:prstDash val="solid"/>
          </a:ln>
        </p:spPr>
      </p:sp>
      <p:sp>
        <p:nvSpPr>
          <p:cNvPr id="16" name="Text 14"/>
          <p:cNvSpPr txBox="1"/>
          <p:nvPr/>
        </p:nvSpPr>
        <p:spPr>
          <a:xfrm>
            <a:off x="960120" y="4754880"/>
            <a:ext cx="10271455" cy="731520"/>
          </a:xfrm>
          <a:prstGeom prst="rect">
            <a:avLst/>
          </a:prstGeom>
          <a:noFill/>
          <a:ln/>
        </p:spPr>
        <p:txBody>
          <a:bodyPr wrap="square" lIns="0" tIns="0" rIns="0" bIns="0" rtlCol="0" anchor="ctr"/>
          <a:lstStyle/>
          <a:p>
            <a:pPr indent="0" marL="0">
              <a:buNone/>
            </a:pPr>
            <a:r>
              <a:rPr lang="en-US" sz="1800" dirty="0">
                <a:solidFill>
                  <a:srgbClr val="15201A"/>
                </a:solidFill>
                <a:latin typeface="Schibsted Grotesk" pitchFamily="34" charset="0"/>
                <a:ea typeface="Schibsted Grotesk" pitchFamily="34" charset="-122"/>
                <a:cs typeface="Schibsted Grotesk" pitchFamily="34" charset="-120"/>
              </a:rPr>
              <a:t>Western publishes no food-insecurity rate of its own, so hamper counts only show the students who asked.</a:t>
            </a:r>
            <a:endParaRPr lang="en-US" sz="1800" dirty="0"/>
          </a:p>
        </p:txBody>
      </p:sp>
      <p:sp>
        <p:nvSpPr>
          <p:cNvPr id="17" name="Text 15"/>
          <p:cNvSpPr txBox="1"/>
          <p:nvPr/>
        </p:nvSpPr>
        <p:spPr>
          <a:xfrm>
            <a:off x="685800" y="5925312"/>
            <a:ext cx="10820095" cy="292608"/>
          </a:xfrm>
          <a:prstGeom prst="rect">
            <a:avLst/>
          </a:prstGeom>
          <a:noFill/>
          <a:ln/>
        </p:spPr>
        <p:txBody>
          <a:bodyPr wrap="square" lIns="0" tIns="0" rIns="0" bIns="0" rtlCol="0" anchor="b"/>
          <a:lstStyle/>
          <a:p>
            <a:pPr indent="0" marL="0">
              <a:buNone/>
            </a:pPr>
            <a:r>
              <a:rPr lang="en-US" sz="1100" dirty="0">
                <a:solidFill>
                  <a:srgbClr val="68716A"/>
                </a:solidFill>
                <a:latin typeface="Schibsted Grotesk" pitchFamily="34" charset="0"/>
                <a:ea typeface="Schibsted Grotesk" pitchFamily="34" charset="-122"/>
                <a:cs typeface="Schibsted Grotesk" pitchFamily="34" charset="-120"/>
              </a:rPr>
              <a:t>Sources: USC Food Support page, checked Oct 31, 2026 (“we are often not able to honour all special requests”); Western 2026–27 fee schedule.</a:t>
            </a:r>
            <a:endParaRPr lang="en-US" sz="11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10241280" cy="1188720"/>
          </a:xfrm>
          <a:prstGeom prst="rect">
            <a:avLst/>
          </a:prstGeom>
          <a:noFill/>
          <a:ln/>
        </p:spPr>
        <p:txBody>
          <a:bodyPr wrap="square" lIns="0" tIns="0" rIns="0" bIns="0" rtlCol="0" anchor="t"/>
          <a:lstStyle/>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The USC closed walk-ins in 2023</a:t>
            </a:r>
            <a:endParaRPr lang="en-US" sz="3400" dirty="0"/>
          </a:p>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because they were hard to organize</a:t>
            </a:r>
            <a:endParaRPr lang="en-US" sz="3400" dirty="0"/>
          </a:p>
        </p:txBody>
      </p:sp>
      <p:sp>
        <p:nvSpPr>
          <p:cNvPr id="3" name="Shape 1"/>
          <p:cNvSpPr/>
          <p:nvPr/>
        </p:nvSpPr>
        <p:spPr>
          <a:xfrm>
            <a:off x="685800" y="1874520"/>
            <a:ext cx="5295748" cy="3520440"/>
          </a:xfrm>
          <a:prstGeom prst="rect">
            <a:avLst/>
          </a:prstGeom>
          <a:solidFill>
            <a:srgbClr val="EEEADF"/>
          </a:solidFill>
          <a:ln w="12700">
            <a:solidFill>
              <a:srgbClr val="EEEADF"/>
            </a:solidFill>
            <a:prstDash val="solid"/>
          </a:ln>
        </p:spPr>
      </p:sp>
      <p:sp>
        <p:nvSpPr>
          <p:cNvPr id="4" name="Text 2"/>
          <p:cNvSpPr txBox="1"/>
          <p:nvPr/>
        </p:nvSpPr>
        <p:spPr>
          <a:xfrm>
            <a:off x="960120" y="1920240"/>
            <a:ext cx="1097280" cy="1005840"/>
          </a:xfrm>
          <a:prstGeom prst="rect">
            <a:avLst/>
          </a:prstGeom>
          <a:noFill/>
          <a:ln/>
        </p:spPr>
        <p:txBody>
          <a:bodyPr wrap="square" lIns="0" tIns="0" rIns="0" bIns="0" rtlCol="0" anchor="t"/>
          <a:lstStyle/>
          <a:p>
            <a:pPr indent="0" marL="0">
              <a:buNone/>
            </a:pPr>
            <a:r>
              <a:rPr lang="en-US" sz="11000" dirty="0">
                <a:solidFill>
                  <a:srgbClr val="A97A2F"/>
                </a:solidFill>
                <a:latin typeface="Source Serif 4" pitchFamily="34" charset="0"/>
                <a:ea typeface="Source Serif 4" pitchFamily="34" charset="-122"/>
                <a:cs typeface="Source Serif 4" pitchFamily="34" charset="-120"/>
              </a:rPr>
              <a:t>“</a:t>
            </a:r>
            <a:endParaRPr lang="en-US" sz="11000" dirty="0"/>
          </a:p>
        </p:txBody>
      </p:sp>
      <p:sp>
        <p:nvSpPr>
          <p:cNvPr id="5" name="Text 3"/>
          <p:cNvSpPr txBox="1"/>
          <p:nvPr/>
        </p:nvSpPr>
        <p:spPr>
          <a:xfrm>
            <a:off x="1005840" y="2788920"/>
            <a:ext cx="4655668" cy="1828800"/>
          </a:xfrm>
          <a:prstGeom prst="rect">
            <a:avLst/>
          </a:prstGeom>
          <a:noFill/>
          <a:ln/>
        </p:spPr>
        <p:txBody>
          <a:bodyPr wrap="square" lIns="0" tIns="0" rIns="0" bIns="0" rtlCol="0" anchor="t"/>
          <a:lstStyle/>
          <a:p>
            <a:pPr indent="0" marL="0">
              <a:buNone/>
            </a:pPr>
            <a:r>
              <a:rPr lang="en-US" sz="2800" i="1" dirty="0">
                <a:solidFill>
                  <a:srgbClr val="15201A"/>
                </a:solidFill>
                <a:latin typeface="Source Serif 4" pitchFamily="34" charset="0"/>
                <a:ea typeface="Source Serif 4" pitchFamily="34" charset="-122"/>
                <a:cs typeface="Source Serif 4" pitchFamily="34" charset="-120"/>
              </a:rPr>
              <a:t>Walk-ins made it </a:t>
            </a:r>
            <a:pPr indent="0" marL="0">
              <a:buNone/>
            </a:pPr>
            <a:r>
              <a:rPr lang="en-US" sz="2800" i="1" dirty="0">
                <a:solidFill>
                  <a:srgbClr val="1D5E40"/>
                </a:solidFill>
                <a:latin typeface="Source Serif 4" pitchFamily="34" charset="0"/>
                <a:ea typeface="Source Serif 4" pitchFamily="34" charset="-122"/>
                <a:cs typeface="Source Serif 4" pitchFamily="34" charset="-120"/>
              </a:rPr>
              <a:t>incredibly difficult</a:t>
            </a:r>
            <a:pPr indent="0" marL="0">
              <a:buNone/>
            </a:pPr>
            <a:r>
              <a:rPr lang="en-US" sz="2800" i="1" dirty="0">
                <a:solidFill>
                  <a:srgbClr val="15201A"/>
                </a:solidFill>
                <a:latin typeface="Source Serif 4" pitchFamily="34" charset="0"/>
                <a:ea typeface="Source Serif 4" pitchFamily="34" charset="-122"/>
                <a:cs typeface="Source Serif 4" pitchFamily="34" charset="-120"/>
              </a:rPr>
              <a:t> to get food out in an organized way.</a:t>
            </a:r>
            <a:endParaRPr lang="en-US" sz="2800" dirty="0"/>
          </a:p>
        </p:txBody>
      </p:sp>
      <p:sp>
        <p:nvSpPr>
          <p:cNvPr id="6" name="Text 4"/>
          <p:cNvSpPr txBox="1"/>
          <p:nvPr/>
        </p:nvSpPr>
        <p:spPr>
          <a:xfrm>
            <a:off x="1005840" y="4846320"/>
            <a:ext cx="4747108" cy="320040"/>
          </a:xfrm>
          <a:prstGeom prst="rect">
            <a:avLst/>
          </a:prstGeom>
          <a:noFill/>
          <a:ln/>
        </p:spPr>
        <p:txBody>
          <a:bodyPr wrap="square" lIns="0" tIns="0" rIns="0" bIns="0" rtlCol="0" anchor="t"/>
          <a:lstStyle/>
          <a:p>
            <a:pPr indent="0" marL="0">
              <a:buNone/>
            </a:pPr>
            <a:r>
              <a:rPr lang="en-US" sz="1400" dirty="0">
                <a:solidFill>
                  <a:srgbClr val="68716A"/>
                </a:solidFill>
                <a:latin typeface="Schibsted Grotesk" pitchFamily="34" charset="0"/>
                <a:ea typeface="Schibsted Grotesk" pitchFamily="34" charset="-122"/>
                <a:cs typeface="Schibsted Grotesk" pitchFamily="34" charset="-120"/>
              </a:rPr>
              <a:t>The USC, quoted in The Gazette, October 4, 2024</a:t>
            </a:r>
            <a:endParaRPr lang="en-US" sz="1400" dirty="0"/>
          </a:p>
        </p:txBody>
      </p:sp>
      <p:sp>
        <p:nvSpPr>
          <p:cNvPr id="7" name="Text 5"/>
          <p:cNvSpPr txBox="1"/>
          <p:nvPr/>
        </p:nvSpPr>
        <p:spPr>
          <a:xfrm>
            <a:off x="6393028" y="1874520"/>
            <a:ext cx="5112868" cy="685800"/>
          </a:xfrm>
          <a:prstGeom prst="rect">
            <a:avLst/>
          </a:prstGeom>
          <a:noFill/>
          <a:ln/>
        </p:spPr>
        <p:txBody>
          <a:bodyPr wrap="square" lIns="0" tIns="0" rIns="0" bIns="0" rtlCol="0" anchor="t"/>
          <a:lstStyle/>
          <a:p>
            <a:pPr indent="0" marL="0">
              <a:buNone/>
            </a:pPr>
            <a:r>
              <a:rPr lang="en-US" sz="1900" b="1" dirty="0">
                <a:solidFill>
                  <a:srgbClr val="15201A"/>
                </a:solidFill>
                <a:latin typeface="Schibsted Grotesk" pitchFamily="34" charset="0"/>
                <a:ea typeface="Schibsted Grotesk" pitchFamily="34" charset="-122"/>
                <a:cs typeface="Schibsted Grotesk" pitchFamily="34" charset="-120"/>
              </a:rPr>
              <a:t>FoodLink adds walk-up access with the controls walk-ins lacked:</a:t>
            </a:r>
            <a:endParaRPr lang="en-US" sz="1900" dirty="0"/>
          </a:p>
        </p:txBody>
      </p:sp>
      <p:sp>
        <p:nvSpPr>
          <p:cNvPr id="8" name="Shape 6"/>
          <p:cNvSpPr/>
          <p:nvPr/>
        </p:nvSpPr>
        <p:spPr>
          <a:xfrm>
            <a:off x="6393028" y="2624328"/>
            <a:ext cx="5112868" cy="0"/>
          </a:xfrm>
          <a:prstGeom prst="line">
            <a:avLst/>
          </a:prstGeom>
          <a:noFill/>
          <a:ln w="9525">
            <a:solidFill>
              <a:srgbClr val="D9D4C7"/>
            </a:solidFill>
            <a:prstDash val="solid"/>
          </a:ln>
        </p:spPr>
      </p:sp>
      <p:sp>
        <p:nvSpPr>
          <p:cNvPr id="9" name="Text 7"/>
          <p:cNvSpPr txBox="1"/>
          <p:nvPr/>
        </p:nvSpPr>
        <p:spPr>
          <a:xfrm>
            <a:off x="6393028" y="2743200"/>
            <a:ext cx="1965960" cy="502920"/>
          </a:xfrm>
          <a:prstGeom prst="rect">
            <a:avLst/>
          </a:prstGeom>
          <a:noFill/>
          <a:ln/>
        </p:spPr>
        <p:txBody>
          <a:bodyPr wrap="square" lIns="0" tIns="0" rIns="0" bIns="0" rtlCol="0" anchor="t"/>
          <a:lstStyle/>
          <a:p>
            <a:pPr indent="0" marL="0">
              <a:buNone/>
            </a:pPr>
            <a:r>
              <a:rPr lang="en-US" sz="1700" b="1" dirty="0">
                <a:solidFill>
                  <a:srgbClr val="1D5E40"/>
                </a:solidFill>
                <a:latin typeface="Schibsted Grotesk" pitchFamily="34" charset="0"/>
                <a:ea typeface="Schibsted Grotesk" pitchFamily="34" charset="-122"/>
                <a:cs typeface="Schibsted Grotesk" pitchFamily="34" charset="-120"/>
              </a:rPr>
              <a:t>Counted restocks</a:t>
            </a:r>
            <a:endParaRPr lang="en-US" sz="1700" dirty="0"/>
          </a:p>
        </p:txBody>
      </p:sp>
      <p:sp>
        <p:nvSpPr>
          <p:cNvPr id="10" name="Text 8"/>
          <p:cNvSpPr txBox="1"/>
          <p:nvPr/>
        </p:nvSpPr>
        <p:spPr>
          <a:xfrm>
            <a:off x="8450428" y="2743200"/>
            <a:ext cx="3055468" cy="548640"/>
          </a:xfrm>
          <a:prstGeom prst="rect">
            <a:avLst/>
          </a:prstGeom>
          <a:noFill/>
          <a:ln/>
        </p:spPr>
        <p:txBody>
          <a:bodyPr wrap="square" lIns="0" tIns="0" rIns="0" bIns="0" rtlCol="0" anchor="t"/>
          <a:lstStyle/>
          <a:p>
            <a:pPr indent="0" marL="0">
              <a:buNone/>
            </a:pPr>
            <a:r>
              <a:rPr lang="en-US" sz="1700" dirty="0">
                <a:solidFill>
                  <a:srgbClr val="38433C"/>
                </a:solidFill>
                <a:latin typeface="Schibsted Grotesk" pitchFamily="34" charset="0"/>
                <a:ea typeface="Schibsted Grotesk" pitchFamily="34" charset="-122"/>
                <a:cs typeface="Schibsted Grotesk" pitchFamily="34" charset="-120"/>
              </a:rPr>
              <a:t>Each check-in is logged.</a:t>
            </a:r>
            <a:endParaRPr lang="en-US" sz="1700" dirty="0"/>
          </a:p>
        </p:txBody>
      </p:sp>
      <p:sp>
        <p:nvSpPr>
          <p:cNvPr id="11" name="Shape 9"/>
          <p:cNvSpPr/>
          <p:nvPr/>
        </p:nvSpPr>
        <p:spPr>
          <a:xfrm>
            <a:off x="6393028" y="3291840"/>
            <a:ext cx="5112868" cy="0"/>
          </a:xfrm>
          <a:prstGeom prst="line">
            <a:avLst/>
          </a:prstGeom>
          <a:noFill/>
          <a:ln w="9525">
            <a:solidFill>
              <a:srgbClr val="D9D4C7"/>
            </a:solidFill>
            <a:prstDash val="solid"/>
          </a:ln>
        </p:spPr>
      </p:sp>
      <p:sp>
        <p:nvSpPr>
          <p:cNvPr id="12" name="Text 10"/>
          <p:cNvSpPr txBox="1"/>
          <p:nvPr/>
        </p:nvSpPr>
        <p:spPr>
          <a:xfrm>
            <a:off x="6393028" y="3410712"/>
            <a:ext cx="1965960" cy="502920"/>
          </a:xfrm>
          <a:prstGeom prst="rect">
            <a:avLst/>
          </a:prstGeom>
          <a:noFill/>
          <a:ln/>
        </p:spPr>
        <p:txBody>
          <a:bodyPr wrap="square" lIns="0" tIns="0" rIns="0" bIns="0" rtlCol="0" anchor="t"/>
          <a:lstStyle/>
          <a:p>
            <a:pPr indent="0" marL="0">
              <a:buNone/>
            </a:pPr>
            <a:r>
              <a:rPr lang="en-US" sz="1700" b="1" dirty="0">
                <a:solidFill>
                  <a:srgbClr val="1D5E40"/>
                </a:solidFill>
                <a:latin typeface="Schibsted Grotesk" pitchFamily="34" charset="0"/>
                <a:ea typeface="Schibsted Grotesk" pitchFamily="34" charset="-122"/>
                <a:cs typeface="Schibsted Grotesk" pitchFamily="34" charset="-120"/>
              </a:rPr>
              <a:t>Live stock</a:t>
            </a:r>
            <a:endParaRPr lang="en-US" sz="1700" dirty="0"/>
          </a:p>
        </p:txBody>
      </p:sp>
      <p:sp>
        <p:nvSpPr>
          <p:cNvPr id="13" name="Text 11"/>
          <p:cNvSpPr txBox="1"/>
          <p:nvPr/>
        </p:nvSpPr>
        <p:spPr>
          <a:xfrm>
            <a:off x="8450428" y="3410712"/>
            <a:ext cx="3055468" cy="548640"/>
          </a:xfrm>
          <a:prstGeom prst="rect">
            <a:avLst/>
          </a:prstGeom>
          <a:noFill/>
          <a:ln/>
        </p:spPr>
        <p:txBody>
          <a:bodyPr wrap="square" lIns="0" tIns="0" rIns="0" bIns="0" rtlCol="0" anchor="t"/>
          <a:lstStyle/>
          <a:p>
            <a:pPr indent="0" marL="0">
              <a:buNone/>
            </a:pPr>
            <a:r>
              <a:rPr lang="en-US" sz="1700" dirty="0">
                <a:solidFill>
                  <a:srgbClr val="38433C"/>
                </a:solidFill>
                <a:latin typeface="Schibsted Grotesk" pitchFamily="34" charset="0"/>
                <a:ea typeface="Schibsted Grotesk" pitchFamily="34" charset="-122"/>
                <a:cs typeface="Schibsted Grotesk" pitchFamily="34" charset="-120"/>
              </a:rPr>
              <a:t>Seen before walking over.</a:t>
            </a:r>
            <a:endParaRPr lang="en-US" sz="1700" dirty="0"/>
          </a:p>
        </p:txBody>
      </p:sp>
      <p:sp>
        <p:nvSpPr>
          <p:cNvPr id="14" name="Shape 12"/>
          <p:cNvSpPr/>
          <p:nvPr/>
        </p:nvSpPr>
        <p:spPr>
          <a:xfrm>
            <a:off x="6393028" y="3959352"/>
            <a:ext cx="5112868" cy="0"/>
          </a:xfrm>
          <a:prstGeom prst="line">
            <a:avLst/>
          </a:prstGeom>
          <a:noFill/>
          <a:ln w="9525">
            <a:solidFill>
              <a:srgbClr val="D9D4C7"/>
            </a:solidFill>
            <a:prstDash val="solid"/>
          </a:ln>
        </p:spPr>
      </p:sp>
      <p:sp>
        <p:nvSpPr>
          <p:cNvPr id="15" name="Text 13"/>
          <p:cNvSpPr txBox="1"/>
          <p:nvPr/>
        </p:nvSpPr>
        <p:spPr>
          <a:xfrm>
            <a:off x="6393028" y="4078224"/>
            <a:ext cx="1965960" cy="502920"/>
          </a:xfrm>
          <a:prstGeom prst="rect">
            <a:avLst/>
          </a:prstGeom>
          <a:noFill/>
          <a:ln/>
        </p:spPr>
        <p:txBody>
          <a:bodyPr wrap="square" lIns="0" tIns="0" rIns="0" bIns="0" rtlCol="0" anchor="t"/>
          <a:lstStyle/>
          <a:p>
            <a:pPr indent="0" marL="0">
              <a:buNone/>
            </a:pPr>
            <a:r>
              <a:rPr lang="en-US" sz="1700" b="1" dirty="0">
                <a:solidFill>
                  <a:srgbClr val="1D5E40"/>
                </a:solidFill>
                <a:latin typeface="Schibsted Grotesk" pitchFamily="34" charset="0"/>
                <a:ea typeface="Schibsted Grotesk" pitchFamily="34" charset="-122"/>
                <a:cs typeface="Schibsted Grotesk" pitchFamily="34" charset="-120"/>
              </a:rPr>
              <a:t>One-tap reports</a:t>
            </a:r>
            <a:endParaRPr lang="en-US" sz="1700" dirty="0"/>
          </a:p>
        </p:txBody>
      </p:sp>
      <p:sp>
        <p:nvSpPr>
          <p:cNvPr id="16" name="Text 14"/>
          <p:cNvSpPr txBox="1"/>
          <p:nvPr/>
        </p:nvSpPr>
        <p:spPr>
          <a:xfrm>
            <a:off x="8450428" y="4078224"/>
            <a:ext cx="3055468" cy="548640"/>
          </a:xfrm>
          <a:prstGeom prst="rect">
            <a:avLst/>
          </a:prstGeom>
          <a:noFill/>
          <a:ln/>
        </p:spPr>
        <p:txBody>
          <a:bodyPr wrap="square" lIns="0" tIns="0" rIns="0" bIns="0" rtlCol="0" anchor="t"/>
          <a:lstStyle/>
          <a:p>
            <a:pPr indent="0" marL="0">
              <a:buNone/>
            </a:pPr>
            <a:r>
              <a:rPr lang="en-US" sz="1700" dirty="0">
                <a:solidFill>
                  <a:srgbClr val="38433C"/>
                </a:solidFill>
                <a:latin typeface="Schibsted Grotesk" pitchFamily="34" charset="0"/>
                <a:ea typeface="Schibsted Grotesk" pitchFamily="34" charset="-122"/>
                <a:cs typeface="Schibsted Grotesk" pitchFamily="34" charset="-120"/>
              </a:rPr>
              <a:t>Empty shelf alerts a volunteer.</a:t>
            </a:r>
            <a:endParaRPr lang="en-US" sz="1700" dirty="0"/>
          </a:p>
        </p:txBody>
      </p:sp>
      <p:sp>
        <p:nvSpPr>
          <p:cNvPr id="17" name="Shape 15"/>
          <p:cNvSpPr/>
          <p:nvPr/>
        </p:nvSpPr>
        <p:spPr>
          <a:xfrm>
            <a:off x="6393028" y="4626864"/>
            <a:ext cx="5112868" cy="0"/>
          </a:xfrm>
          <a:prstGeom prst="line">
            <a:avLst/>
          </a:prstGeom>
          <a:noFill/>
          <a:ln w="9525">
            <a:solidFill>
              <a:srgbClr val="D9D4C7"/>
            </a:solidFill>
            <a:prstDash val="solid"/>
          </a:ln>
        </p:spPr>
      </p:sp>
      <p:sp>
        <p:nvSpPr>
          <p:cNvPr id="18" name="Text 16"/>
          <p:cNvSpPr txBox="1"/>
          <p:nvPr/>
        </p:nvSpPr>
        <p:spPr>
          <a:xfrm>
            <a:off x="6393028" y="4745736"/>
            <a:ext cx="1965960" cy="502920"/>
          </a:xfrm>
          <a:prstGeom prst="rect">
            <a:avLst/>
          </a:prstGeom>
          <a:noFill/>
          <a:ln/>
        </p:spPr>
        <p:txBody>
          <a:bodyPr wrap="square" lIns="0" tIns="0" rIns="0" bIns="0" rtlCol="0" anchor="t"/>
          <a:lstStyle/>
          <a:p>
            <a:pPr indent="0" marL="0">
              <a:buNone/>
            </a:pPr>
            <a:r>
              <a:rPr lang="en-US" sz="1700" b="1" dirty="0">
                <a:solidFill>
                  <a:srgbClr val="1D5E40"/>
                </a:solidFill>
                <a:latin typeface="Schibsted Grotesk" pitchFamily="34" charset="0"/>
                <a:ea typeface="Schibsted Grotesk" pitchFamily="34" charset="-122"/>
                <a:cs typeface="Schibsted Grotesk" pitchFamily="34" charset="-120"/>
              </a:rPr>
              <a:t>Safety checklist</a:t>
            </a:r>
            <a:endParaRPr lang="en-US" sz="1700" dirty="0"/>
          </a:p>
        </p:txBody>
      </p:sp>
      <p:sp>
        <p:nvSpPr>
          <p:cNvPr id="19" name="Text 17"/>
          <p:cNvSpPr txBox="1"/>
          <p:nvPr/>
        </p:nvSpPr>
        <p:spPr>
          <a:xfrm>
            <a:off x="8450428" y="4745736"/>
            <a:ext cx="3055468" cy="548640"/>
          </a:xfrm>
          <a:prstGeom prst="rect">
            <a:avLst/>
          </a:prstGeom>
          <a:noFill/>
          <a:ln/>
        </p:spPr>
        <p:txBody>
          <a:bodyPr wrap="square" lIns="0" tIns="0" rIns="0" bIns="0" rtlCol="0" anchor="t"/>
          <a:lstStyle/>
          <a:p>
            <a:pPr indent="0" marL="0">
              <a:buNone/>
            </a:pPr>
            <a:r>
              <a:rPr lang="en-US" sz="1700" dirty="0">
                <a:solidFill>
                  <a:srgbClr val="38433C"/>
                </a:solidFill>
                <a:latin typeface="Schibsted Grotesk" pitchFamily="34" charset="0"/>
                <a:ea typeface="Schibsted Grotesk" pitchFamily="34" charset="-122"/>
                <a:cs typeface="Schibsted Grotesk" pitchFamily="34" charset="-120"/>
              </a:rPr>
              <a:t>Sealed, in date, no fridge.</a:t>
            </a:r>
            <a:endParaRPr lang="en-US" sz="17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10241280" cy="1188720"/>
          </a:xfrm>
          <a:prstGeom prst="rect">
            <a:avLst/>
          </a:prstGeom>
          <a:noFill/>
          <a:ln/>
        </p:spPr>
        <p:txBody>
          <a:bodyPr wrap="square" lIns="0" tIns="0" rIns="0" bIns="0" rtlCol="0" anchor="t"/>
          <a:lstStyle/>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FoodLink has three parts that feed</a:t>
            </a:r>
            <a:endParaRPr lang="en-US" sz="3400" dirty="0"/>
          </a:p>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one dashboard the USC can audit</a:t>
            </a:r>
            <a:endParaRPr lang="en-US" sz="3400" dirty="0"/>
          </a:p>
        </p:txBody>
      </p:sp>
      <p:sp>
        <p:nvSpPr>
          <p:cNvPr id="3" name="Shape 1"/>
          <p:cNvSpPr/>
          <p:nvPr/>
        </p:nvSpPr>
        <p:spPr>
          <a:xfrm>
            <a:off x="685800" y="1874520"/>
            <a:ext cx="3454298" cy="2057400"/>
          </a:xfrm>
          <a:prstGeom prst="rect">
            <a:avLst/>
          </a:prstGeom>
          <a:solidFill>
            <a:srgbClr val="FFFFFF"/>
          </a:solidFill>
          <a:ln w="9525">
            <a:solidFill>
              <a:srgbClr val="D9D4C7"/>
            </a:solidFill>
            <a:prstDash val="solid"/>
          </a:ln>
        </p:spPr>
      </p:sp>
      <p:sp>
        <p:nvSpPr>
          <p:cNvPr id="4" name="Shape 2"/>
          <p:cNvSpPr/>
          <p:nvPr/>
        </p:nvSpPr>
        <p:spPr>
          <a:xfrm>
            <a:off x="960120" y="2148840"/>
            <a:ext cx="411480" cy="45720"/>
          </a:xfrm>
          <a:prstGeom prst="rect">
            <a:avLst/>
          </a:prstGeom>
          <a:solidFill>
            <a:srgbClr val="A97A2F"/>
          </a:solidFill>
          <a:ln w="12700">
            <a:solidFill>
              <a:srgbClr val="A97A2F"/>
            </a:solidFill>
            <a:prstDash val="solid"/>
          </a:ln>
        </p:spPr>
      </p:sp>
      <p:sp>
        <p:nvSpPr>
          <p:cNvPr id="5" name="Text 3"/>
          <p:cNvSpPr txBox="1"/>
          <p:nvPr/>
        </p:nvSpPr>
        <p:spPr>
          <a:xfrm>
            <a:off x="960120" y="2313432"/>
            <a:ext cx="2905658" cy="457200"/>
          </a:xfrm>
          <a:prstGeom prst="rect">
            <a:avLst/>
          </a:prstGeom>
          <a:noFill/>
          <a:ln/>
        </p:spPr>
        <p:txBody>
          <a:bodyPr wrap="square" lIns="0" tIns="0" rIns="0" bIns="0" rtlCol="0" anchor="t"/>
          <a:lstStyle/>
          <a:p>
            <a:pPr indent="0" marL="0">
              <a:buNone/>
            </a:pPr>
            <a:r>
              <a:rPr lang="en-US" sz="2800" b="1" dirty="0">
                <a:solidFill>
                  <a:srgbClr val="15201A"/>
                </a:solidFill>
                <a:latin typeface="Schibsted Grotesk" pitchFamily="34" charset="0"/>
                <a:ea typeface="Schibsted Grotesk" pitchFamily="34" charset="-122"/>
                <a:cs typeface="Schibsted Grotesk" pitchFamily="34" charset="-120"/>
              </a:rPr>
              <a:t>Points</a:t>
            </a:r>
            <a:endParaRPr lang="en-US" sz="2800" dirty="0"/>
          </a:p>
        </p:txBody>
      </p:sp>
      <p:sp>
        <p:nvSpPr>
          <p:cNvPr id="6" name="Text 4"/>
          <p:cNvSpPr txBox="1"/>
          <p:nvPr/>
        </p:nvSpPr>
        <p:spPr>
          <a:xfrm>
            <a:off x="960120" y="2898648"/>
            <a:ext cx="2905658" cy="914400"/>
          </a:xfrm>
          <a:prstGeom prst="rect">
            <a:avLst/>
          </a:prstGeom>
          <a:noFill/>
          <a:ln/>
        </p:spPr>
        <p:txBody>
          <a:bodyPr wrap="square" lIns="0" tIns="0" rIns="0" bIns="0" rtlCol="0" anchor="t"/>
          <a:lstStyle/>
          <a:p>
            <a:pPr indent="0" marL="0">
              <a:buNone/>
            </a:pPr>
            <a:r>
              <a:rPr lang="en-US" sz="1700" dirty="0">
                <a:solidFill>
                  <a:srgbClr val="38433C"/>
                </a:solidFill>
                <a:latin typeface="Schibsted Grotesk" pitchFamily="34" charset="0"/>
                <a:ea typeface="Schibsted Grotesk" pitchFamily="34" charset="-122"/>
                <a:cs typeface="Schibsted Grotesk" pitchFamily="34" charset="-120"/>
              </a:rPr>
              <a:t>Two walk-up shelves of sealed, shelf-stable food. No forms, no ID.</a:t>
            </a:r>
            <a:endParaRPr lang="en-US" sz="1700" dirty="0"/>
          </a:p>
        </p:txBody>
      </p:sp>
      <p:sp>
        <p:nvSpPr>
          <p:cNvPr id="7" name="Shape 5"/>
          <p:cNvSpPr/>
          <p:nvPr/>
        </p:nvSpPr>
        <p:spPr>
          <a:xfrm>
            <a:off x="2412949" y="3931920"/>
            <a:ext cx="0" cy="457200"/>
          </a:xfrm>
          <a:prstGeom prst="line">
            <a:avLst/>
          </a:prstGeom>
          <a:noFill/>
          <a:ln w="15875">
            <a:solidFill>
              <a:srgbClr val="68716A"/>
            </a:solidFill>
            <a:prstDash val="solid"/>
            <a:tailEnd type="triangle"/>
          </a:ln>
        </p:spPr>
      </p:sp>
      <p:sp>
        <p:nvSpPr>
          <p:cNvPr id="8" name="Shape 6"/>
          <p:cNvSpPr/>
          <p:nvPr/>
        </p:nvSpPr>
        <p:spPr>
          <a:xfrm>
            <a:off x="4368698" y="1874520"/>
            <a:ext cx="3454298" cy="2057400"/>
          </a:xfrm>
          <a:prstGeom prst="rect">
            <a:avLst/>
          </a:prstGeom>
          <a:solidFill>
            <a:srgbClr val="FFFFFF"/>
          </a:solidFill>
          <a:ln w="9525">
            <a:solidFill>
              <a:srgbClr val="D9D4C7"/>
            </a:solidFill>
            <a:prstDash val="solid"/>
          </a:ln>
        </p:spPr>
      </p:sp>
      <p:sp>
        <p:nvSpPr>
          <p:cNvPr id="9" name="Shape 7"/>
          <p:cNvSpPr/>
          <p:nvPr/>
        </p:nvSpPr>
        <p:spPr>
          <a:xfrm>
            <a:off x="4643018" y="2148840"/>
            <a:ext cx="411480" cy="45720"/>
          </a:xfrm>
          <a:prstGeom prst="rect">
            <a:avLst/>
          </a:prstGeom>
          <a:solidFill>
            <a:srgbClr val="A97A2F"/>
          </a:solidFill>
          <a:ln w="12700">
            <a:solidFill>
              <a:srgbClr val="A97A2F"/>
            </a:solidFill>
            <a:prstDash val="solid"/>
          </a:ln>
        </p:spPr>
      </p:sp>
      <p:sp>
        <p:nvSpPr>
          <p:cNvPr id="10" name="Text 8"/>
          <p:cNvSpPr txBox="1"/>
          <p:nvPr/>
        </p:nvSpPr>
        <p:spPr>
          <a:xfrm>
            <a:off x="4643018" y="2313432"/>
            <a:ext cx="2905658" cy="457200"/>
          </a:xfrm>
          <a:prstGeom prst="rect">
            <a:avLst/>
          </a:prstGeom>
          <a:noFill/>
          <a:ln/>
        </p:spPr>
        <p:txBody>
          <a:bodyPr wrap="square" lIns="0" tIns="0" rIns="0" bIns="0" rtlCol="0" anchor="t"/>
          <a:lstStyle/>
          <a:p>
            <a:pPr indent="0" marL="0">
              <a:buNone/>
            </a:pPr>
            <a:r>
              <a:rPr lang="en-US" sz="2800" b="1" dirty="0">
                <a:solidFill>
                  <a:srgbClr val="15201A"/>
                </a:solidFill>
                <a:latin typeface="Schibsted Grotesk" pitchFamily="34" charset="0"/>
                <a:ea typeface="Schibsted Grotesk" pitchFamily="34" charset="-122"/>
                <a:cs typeface="Schibsted Grotesk" pitchFamily="34" charset="-120"/>
              </a:rPr>
              <a:t>Drops</a:t>
            </a:r>
            <a:endParaRPr lang="en-US" sz="2800" dirty="0"/>
          </a:p>
        </p:txBody>
      </p:sp>
      <p:sp>
        <p:nvSpPr>
          <p:cNvPr id="11" name="Text 9"/>
          <p:cNvSpPr txBox="1"/>
          <p:nvPr/>
        </p:nvSpPr>
        <p:spPr>
          <a:xfrm>
            <a:off x="4643018" y="2898648"/>
            <a:ext cx="2905658" cy="914400"/>
          </a:xfrm>
          <a:prstGeom prst="rect">
            <a:avLst/>
          </a:prstGeom>
          <a:noFill/>
          <a:ln/>
        </p:spPr>
        <p:txBody>
          <a:bodyPr wrap="square" lIns="0" tIns="0" rIns="0" bIns="0" rtlCol="0" anchor="t"/>
          <a:lstStyle/>
          <a:p>
            <a:pPr indent="0" marL="0">
              <a:buNone/>
            </a:pPr>
            <a:r>
              <a:rPr lang="en-US" sz="1700" dirty="0">
                <a:solidFill>
                  <a:srgbClr val="38433C"/>
                </a:solidFill>
                <a:latin typeface="Schibsted Grotesk" pitchFamily="34" charset="0"/>
                <a:ea typeface="Schibsted Grotesk" pitchFamily="34" charset="-122"/>
                <a:cs typeface="Schibsted Grotesk" pitchFamily="34" charset="-120"/>
              </a:rPr>
              <a:t>Partners post sealed surplus; students reserve it anonymously.</a:t>
            </a:r>
            <a:endParaRPr lang="en-US" sz="1700" dirty="0"/>
          </a:p>
        </p:txBody>
      </p:sp>
      <p:sp>
        <p:nvSpPr>
          <p:cNvPr id="12" name="Shape 10"/>
          <p:cNvSpPr/>
          <p:nvPr/>
        </p:nvSpPr>
        <p:spPr>
          <a:xfrm>
            <a:off x="6095848" y="3931920"/>
            <a:ext cx="0" cy="457200"/>
          </a:xfrm>
          <a:prstGeom prst="line">
            <a:avLst/>
          </a:prstGeom>
          <a:noFill/>
          <a:ln w="15875">
            <a:solidFill>
              <a:srgbClr val="68716A"/>
            </a:solidFill>
            <a:prstDash val="solid"/>
            <a:tailEnd type="triangle"/>
          </a:ln>
        </p:spPr>
      </p:sp>
      <p:sp>
        <p:nvSpPr>
          <p:cNvPr id="13" name="Shape 11"/>
          <p:cNvSpPr/>
          <p:nvPr/>
        </p:nvSpPr>
        <p:spPr>
          <a:xfrm>
            <a:off x="8051597" y="1874520"/>
            <a:ext cx="3454298" cy="2057400"/>
          </a:xfrm>
          <a:prstGeom prst="rect">
            <a:avLst/>
          </a:prstGeom>
          <a:solidFill>
            <a:srgbClr val="FFFFFF"/>
          </a:solidFill>
          <a:ln w="9525">
            <a:solidFill>
              <a:srgbClr val="D9D4C7"/>
            </a:solidFill>
            <a:prstDash val="solid"/>
          </a:ln>
        </p:spPr>
      </p:sp>
      <p:sp>
        <p:nvSpPr>
          <p:cNvPr id="14" name="Shape 12"/>
          <p:cNvSpPr/>
          <p:nvPr/>
        </p:nvSpPr>
        <p:spPr>
          <a:xfrm>
            <a:off x="8325917" y="2148840"/>
            <a:ext cx="411480" cy="45720"/>
          </a:xfrm>
          <a:prstGeom prst="rect">
            <a:avLst/>
          </a:prstGeom>
          <a:solidFill>
            <a:srgbClr val="A97A2F"/>
          </a:solidFill>
          <a:ln w="12700">
            <a:solidFill>
              <a:srgbClr val="A97A2F"/>
            </a:solidFill>
            <a:prstDash val="solid"/>
          </a:ln>
        </p:spPr>
      </p:sp>
      <p:sp>
        <p:nvSpPr>
          <p:cNvPr id="15" name="Text 13"/>
          <p:cNvSpPr txBox="1"/>
          <p:nvPr/>
        </p:nvSpPr>
        <p:spPr>
          <a:xfrm>
            <a:off x="8325917" y="2313432"/>
            <a:ext cx="2905658" cy="457200"/>
          </a:xfrm>
          <a:prstGeom prst="rect">
            <a:avLst/>
          </a:prstGeom>
          <a:noFill/>
          <a:ln/>
        </p:spPr>
        <p:txBody>
          <a:bodyPr wrap="square" lIns="0" tIns="0" rIns="0" bIns="0" rtlCol="0" anchor="t"/>
          <a:lstStyle/>
          <a:p>
            <a:pPr indent="0" marL="0">
              <a:buNone/>
            </a:pPr>
            <a:r>
              <a:rPr lang="en-US" sz="2800" b="1" dirty="0">
                <a:solidFill>
                  <a:srgbClr val="15201A"/>
                </a:solidFill>
                <a:latin typeface="Schibsted Grotesk" pitchFamily="34" charset="0"/>
                <a:ea typeface="Schibsted Grotesk" pitchFamily="34" charset="-122"/>
                <a:cs typeface="Schibsted Grotesk" pitchFamily="34" charset="-120"/>
              </a:rPr>
              <a:t>App</a:t>
            </a:r>
            <a:endParaRPr lang="en-US" sz="2800" dirty="0"/>
          </a:p>
        </p:txBody>
      </p:sp>
      <p:sp>
        <p:nvSpPr>
          <p:cNvPr id="16" name="Text 14"/>
          <p:cNvSpPr txBox="1"/>
          <p:nvPr/>
        </p:nvSpPr>
        <p:spPr>
          <a:xfrm>
            <a:off x="8325917" y="2898648"/>
            <a:ext cx="2905658" cy="914400"/>
          </a:xfrm>
          <a:prstGeom prst="rect">
            <a:avLst/>
          </a:prstGeom>
          <a:noFill/>
          <a:ln/>
        </p:spPr>
        <p:txBody>
          <a:bodyPr wrap="square" lIns="0" tIns="0" rIns="0" bIns="0" rtlCol="0" anchor="t"/>
          <a:lstStyle/>
          <a:p>
            <a:pPr indent="0" marL="0">
              <a:buNone/>
            </a:pPr>
            <a:r>
              <a:rPr lang="en-US" sz="1700" dirty="0">
                <a:solidFill>
                  <a:srgbClr val="38433C"/>
                </a:solidFill>
                <a:latin typeface="Schibsted Grotesk" pitchFamily="34" charset="0"/>
                <a:ea typeface="Schibsted Grotesk" pitchFamily="34" charset="-122"/>
                <a:cs typeface="Schibsted Grotesk" pitchFamily="34" charset="-120"/>
              </a:rPr>
              <a:t>Live stock, live drops and every other food option nearby.</a:t>
            </a:r>
            <a:endParaRPr lang="en-US" sz="1700" dirty="0"/>
          </a:p>
        </p:txBody>
      </p:sp>
      <p:sp>
        <p:nvSpPr>
          <p:cNvPr id="17" name="Shape 15"/>
          <p:cNvSpPr/>
          <p:nvPr/>
        </p:nvSpPr>
        <p:spPr>
          <a:xfrm>
            <a:off x="9778746" y="3931920"/>
            <a:ext cx="0" cy="457200"/>
          </a:xfrm>
          <a:prstGeom prst="line">
            <a:avLst/>
          </a:prstGeom>
          <a:noFill/>
          <a:ln w="15875">
            <a:solidFill>
              <a:srgbClr val="68716A"/>
            </a:solidFill>
            <a:prstDash val="solid"/>
            <a:tailEnd type="triangle"/>
          </a:ln>
        </p:spPr>
      </p:sp>
      <p:sp>
        <p:nvSpPr>
          <p:cNvPr id="18" name="Shape 16"/>
          <p:cNvSpPr/>
          <p:nvPr/>
        </p:nvSpPr>
        <p:spPr>
          <a:xfrm>
            <a:off x="685800" y="4389120"/>
            <a:ext cx="10820095" cy="1371600"/>
          </a:xfrm>
          <a:prstGeom prst="rect">
            <a:avLst/>
          </a:prstGeom>
          <a:solidFill>
            <a:srgbClr val="113425"/>
          </a:solidFill>
          <a:ln w="12700">
            <a:solidFill>
              <a:srgbClr val="113425"/>
            </a:solidFill>
            <a:prstDash val="solid"/>
          </a:ln>
        </p:spPr>
      </p:sp>
      <p:sp>
        <p:nvSpPr>
          <p:cNvPr id="19" name="Text 17"/>
          <p:cNvSpPr txBox="1"/>
          <p:nvPr/>
        </p:nvSpPr>
        <p:spPr>
          <a:xfrm>
            <a:off x="1005840" y="4608576"/>
            <a:ext cx="5486400" cy="457200"/>
          </a:xfrm>
          <a:prstGeom prst="rect">
            <a:avLst/>
          </a:prstGeom>
          <a:noFill/>
          <a:ln/>
        </p:spPr>
        <p:txBody>
          <a:bodyPr wrap="square" lIns="0" tIns="0" rIns="0" bIns="0" rtlCol="0" anchor="t"/>
          <a:lstStyle/>
          <a:p>
            <a:pPr indent="0" marL="0">
              <a:buNone/>
            </a:pPr>
            <a:r>
              <a:rPr lang="en-US" sz="2800" b="1" dirty="0">
                <a:solidFill>
                  <a:srgbClr val="F7F5EF"/>
                </a:solidFill>
                <a:latin typeface="Schibsted Grotesk" pitchFamily="34" charset="0"/>
                <a:ea typeface="Schibsted Grotesk" pitchFamily="34" charset="-122"/>
                <a:cs typeface="Schibsted Grotesk" pitchFamily="34" charset="-120"/>
              </a:rPr>
              <a:t>USC dashboard</a:t>
            </a:r>
            <a:endParaRPr lang="en-US" sz="2800" dirty="0"/>
          </a:p>
        </p:txBody>
      </p:sp>
      <p:sp>
        <p:nvSpPr>
          <p:cNvPr id="20" name="Text 18"/>
          <p:cNvSpPr txBox="1"/>
          <p:nvPr/>
        </p:nvSpPr>
        <p:spPr>
          <a:xfrm>
            <a:off x="1005840" y="5157216"/>
            <a:ext cx="10180015" cy="457200"/>
          </a:xfrm>
          <a:prstGeom prst="rect">
            <a:avLst/>
          </a:prstGeom>
          <a:noFill/>
          <a:ln/>
        </p:spPr>
        <p:txBody>
          <a:bodyPr wrap="square" lIns="0" tIns="0" rIns="0" bIns="0" rtlCol="0" anchor="t"/>
          <a:lstStyle/>
          <a:p>
            <a:pPr indent="0" marL="0">
              <a:buNone/>
            </a:pPr>
            <a:r>
              <a:rPr lang="en-US" sz="1800" dirty="0">
                <a:solidFill>
                  <a:srgbClr val="CBD9CE"/>
                </a:solidFill>
                <a:latin typeface="Schibsted Grotesk" pitchFamily="34" charset="0"/>
                <a:ea typeface="Schibsted Grotesk" pitchFamily="34" charset="-122"/>
                <a:cs typeface="Schibsted Grotesk" pitchFamily="34" charset="-120"/>
              </a:rPr>
              <a:t>Items taken, waste, time to restock, surplus rescued, partners active. Published weekly.</a:t>
            </a:r>
            <a:endParaRPr lang="en-US" sz="1800" dirty="0"/>
          </a:p>
        </p:txBody>
      </p:sp>
      <p:sp>
        <p:nvSpPr>
          <p:cNvPr id="21" name="Text 19"/>
          <p:cNvSpPr txBox="1"/>
          <p:nvPr/>
        </p:nvSpPr>
        <p:spPr>
          <a:xfrm>
            <a:off x="685800" y="5925312"/>
            <a:ext cx="10820095" cy="292608"/>
          </a:xfrm>
          <a:prstGeom prst="rect">
            <a:avLst/>
          </a:prstGeom>
          <a:noFill/>
          <a:ln/>
        </p:spPr>
        <p:txBody>
          <a:bodyPr wrap="square" lIns="0" tIns="0" rIns="0" bIns="0" rtlCol="0" anchor="b"/>
          <a:lstStyle/>
          <a:p>
            <a:pPr indent="0" marL="0">
              <a:buNone/>
            </a:pPr>
            <a:r>
              <a:rPr lang="en-US" sz="1100" dirty="0">
                <a:solidFill>
                  <a:srgbClr val="68716A"/>
                </a:solidFill>
                <a:latin typeface="Schibsted Grotesk" pitchFamily="34" charset="0"/>
                <a:ea typeface="Schibsted Grotesk" pitchFamily="34" charset="-122"/>
                <a:cs typeface="Schibsted Grotesk" pitchFamily="34" charset="-120"/>
              </a:rPr>
              <a:t>Surplus exists on campus: Western’s dining halls gave over 7,500 surplus meals to 19 off-campus agencies, May to Oct 2024 (Western News, Oct 25, 2024).</a:t>
            </a:r>
            <a:endParaRPr lang="en-US" sz="11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10241280" cy="1188720"/>
          </a:xfrm>
          <a:prstGeom prst="rect">
            <a:avLst/>
          </a:prstGeom>
          <a:noFill/>
          <a:ln/>
        </p:spPr>
        <p:txBody>
          <a:bodyPr wrap="square" lIns="0" tIns="0" rIns="0" bIns="0" rtlCol="0" anchor="t"/>
          <a:lstStyle/>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A student finds food in three steps,</a:t>
            </a:r>
            <a:endParaRPr lang="en-US" sz="3400" dirty="0"/>
          </a:p>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with no form and no name</a:t>
            </a:r>
            <a:endParaRPr lang="en-US" sz="3400" dirty="0"/>
          </a:p>
        </p:txBody>
      </p:sp>
      <p:sp>
        <p:nvSpPr>
          <p:cNvPr id="3" name="Text 1"/>
          <p:cNvSpPr txBox="1"/>
          <p:nvPr/>
        </p:nvSpPr>
        <p:spPr>
          <a:xfrm>
            <a:off x="685800" y="1764792"/>
            <a:ext cx="731520" cy="822960"/>
          </a:xfrm>
          <a:prstGeom prst="rect">
            <a:avLst/>
          </a:prstGeom>
          <a:noFill/>
          <a:ln/>
        </p:spPr>
        <p:txBody>
          <a:bodyPr wrap="square" lIns="0" tIns="0" rIns="0" bIns="0" rtlCol="0" anchor="t"/>
          <a:lstStyle/>
          <a:p>
            <a:pPr indent="0" marL="0">
              <a:buNone/>
            </a:pPr>
            <a:r>
              <a:rPr lang="en-US" sz="5600" b="1" dirty="0">
                <a:solidFill>
                  <a:srgbClr val="A97A2F"/>
                </a:solidFill>
                <a:latin typeface="Schibsted Grotesk" pitchFamily="34" charset="0"/>
                <a:ea typeface="Schibsted Grotesk" pitchFamily="34" charset="-122"/>
                <a:cs typeface="Schibsted Grotesk" pitchFamily="34" charset="-120"/>
              </a:rPr>
              <a:t>1</a:t>
            </a:r>
            <a:endParaRPr lang="en-US" sz="5600" dirty="0"/>
          </a:p>
        </p:txBody>
      </p:sp>
      <p:sp>
        <p:nvSpPr>
          <p:cNvPr id="4" name="Text 2"/>
          <p:cNvSpPr txBox="1"/>
          <p:nvPr/>
        </p:nvSpPr>
        <p:spPr>
          <a:xfrm>
            <a:off x="1600200" y="1874520"/>
            <a:ext cx="7223760" cy="457200"/>
          </a:xfrm>
          <a:prstGeom prst="rect">
            <a:avLst/>
          </a:prstGeom>
          <a:noFill/>
          <a:ln/>
        </p:spPr>
        <p:txBody>
          <a:bodyPr wrap="square" lIns="0" tIns="0" rIns="0" bIns="0" rtlCol="0" anchor="t"/>
          <a:lstStyle/>
          <a:p>
            <a:pPr indent="0" marL="0">
              <a:buNone/>
            </a:pPr>
            <a:r>
              <a:rPr lang="en-US" sz="2400" b="1" dirty="0">
                <a:solidFill>
                  <a:srgbClr val="15201A"/>
                </a:solidFill>
                <a:latin typeface="Schibsted Grotesk" pitchFamily="34" charset="0"/>
                <a:ea typeface="Schibsted Grotesk" pitchFamily="34" charset="-122"/>
                <a:cs typeface="Schibsted Grotesk" pitchFamily="34" charset="-120"/>
              </a:rPr>
              <a:t>Open FoodLink</a:t>
            </a:r>
            <a:endParaRPr lang="en-US" sz="2400" dirty="0"/>
          </a:p>
        </p:txBody>
      </p:sp>
      <p:sp>
        <p:nvSpPr>
          <p:cNvPr id="5" name="Text 3"/>
          <p:cNvSpPr txBox="1"/>
          <p:nvPr/>
        </p:nvSpPr>
        <p:spPr>
          <a:xfrm>
            <a:off x="1600200" y="2350008"/>
            <a:ext cx="7223760" cy="685800"/>
          </a:xfrm>
          <a:prstGeom prst="rect">
            <a:avLst/>
          </a:prstGeom>
          <a:noFill/>
          <a:ln/>
        </p:spPr>
        <p:txBody>
          <a:bodyPr wrap="square" lIns="0" tIns="0" rIns="0" bIns="0" rtlCol="0" anchor="t"/>
          <a:lstStyle/>
          <a:p>
            <a:pPr indent="0" marL="0">
              <a:buNone/>
            </a:pPr>
            <a:r>
              <a:rPr lang="en-US" sz="1800" dirty="0">
                <a:solidFill>
                  <a:srgbClr val="38433C"/>
                </a:solidFill>
                <a:latin typeface="Schibsted Grotesk" pitchFamily="34" charset="0"/>
                <a:ea typeface="Schibsted Grotesk" pitchFamily="34" charset="-122"/>
                <a:cs typeface="Schibsted Grotesk" pitchFamily="34" charset="-120"/>
              </a:rPr>
              <a:t>See what is on each shelf right now and when it was last counted.</a:t>
            </a:r>
            <a:endParaRPr lang="en-US" sz="1800" dirty="0"/>
          </a:p>
        </p:txBody>
      </p:sp>
      <p:sp>
        <p:nvSpPr>
          <p:cNvPr id="6" name="Text 4"/>
          <p:cNvSpPr txBox="1"/>
          <p:nvPr/>
        </p:nvSpPr>
        <p:spPr>
          <a:xfrm>
            <a:off x="685800" y="3063240"/>
            <a:ext cx="731520" cy="822960"/>
          </a:xfrm>
          <a:prstGeom prst="rect">
            <a:avLst/>
          </a:prstGeom>
          <a:noFill/>
          <a:ln/>
        </p:spPr>
        <p:txBody>
          <a:bodyPr wrap="square" lIns="0" tIns="0" rIns="0" bIns="0" rtlCol="0" anchor="t"/>
          <a:lstStyle/>
          <a:p>
            <a:pPr indent="0" marL="0">
              <a:buNone/>
            </a:pPr>
            <a:r>
              <a:rPr lang="en-US" sz="5600" b="1" dirty="0">
                <a:solidFill>
                  <a:srgbClr val="A97A2F"/>
                </a:solidFill>
                <a:latin typeface="Schibsted Grotesk" pitchFamily="34" charset="0"/>
                <a:ea typeface="Schibsted Grotesk" pitchFamily="34" charset="-122"/>
                <a:cs typeface="Schibsted Grotesk" pitchFamily="34" charset="-120"/>
              </a:rPr>
              <a:t>2</a:t>
            </a:r>
            <a:endParaRPr lang="en-US" sz="5600" dirty="0"/>
          </a:p>
        </p:txBody>
      </p:sp>
      <p:sp>
        <p:nvSpPr>
          <p:cNvPr id="7" name="Text 5"/>
          <p:cNvSpPr txBox="1"/>
          <p:nvPr/>
        </p:nvSpPr>
        <p:spPr>
          <a:xfrm>
            <a:off x="1600200" y="3172968"/>
            <a:ext cx="7223760" cy="457200"/>
          </a:xfrm>
          <a:prstGeom prst="rect">
            <a:avLst/>
          </a:prstGeom>
          <a:noFill/>
          <a:ln/>
        </p:spPr>
        <p:txBody>
          <a:bodyPr wrap="square" lIns="0" tIns="0" rIns="0" bIns="0" rtlCol="0" anchor="t"/>
          <a:lstStyle/>
          <a:p>
            <a:pPr indent="0" marL="0">
              <a:buNone/>
            </a:pPr>
            <a:r>
              <a:rPr lang="en-US" sz="2400" b="1" dirty="0">
                <a:solidFill>
                  <a:srgbClr val="15201A"/>
                </a:solidFill>
                <a:latin typeface="Schibsted Grotesk" pitchFamily="34" charset="0"/>
                <a:ea typeface="Schibsted Grotesk" pitchFamily="34" charset="-122"/>
                <a:cs typeface="Schibsted Grotesk" pitchFamily="34" charset="-120"/>
              </a:rPr>
              <a:t>Walk up and take what you need</a:t>
            </a:r>
            <a:endParaRPr lang="en-US" sz="2400" dirty="0"/>
          </a:p>
        </p:txBody>
      </p:sp>
      <p:sp>
        <p:nvSpPr>
          <p:cNvPr id="8" name="Text 6"/>
          <p:cNvSpPr txBox="1"/>
          <p:nvPr/>
        </p:nvSpPr>
        <p:spPr>
          <a:xfrm>
            <a:off x="1600200" y="3648456"/>
            <a:ext cx="7223760" cy="685800"/>
          </a:xfrm>
          <a:prstGeom prst="rect">
            <a:avLst/>
          </a:prstGeom>
          <a:noFill/>
          <a:ln/>
        </p:spPr>
        <p:txBody>
          <a:bodyPr wrap="square" lIns="0" tIns="0" rIns="0" bIns="0" rtlCol="0" anchor="t"/>
          <a:lstStyle/>
          <a:p>
            <a:pPr indent="0" marL="0">
              <a:buNone/>
            </a:pPr>
            <a:r>
              <a:rPr lang="en-US" sz="1800" dirty="0">
                <a:solidFill>
                  <a:srgbClr val="38433C"/>
                </a:solidFill>
                <a:latin typeface="Schibsted Grotesk" pitchFamily="34" charset="0"/>
                <a:ea typeface="Schibsted Grotesk" pitchFamily="34" charset="-122"/>
                <a:cs typeface="Schibsted Grotesk" pitchFamily="34" charset="-120"/>
              </a:rPr>
              <a:t>No form, no name, no student number. A posted guide asks for enough for today.</a:t>
            </a:r>
            <a:endParaRPr lang="en-US" sz="1800" dirty="0"/>
          </a:p>
        </p:txBody>
      </p:sp>
      <p:sp>
        <p:nvSpPr>
          <p:cNvPr id="9" name="Text 7"/>
          <p:cNvSpPr txBox="1"/>
          <p:nvPr/>
        </p:nvSpPr>
        <p:spPr>
          <a:xfrm>
            <a:off x="685800" y="4361688"/>
            <a:ext cx="731520" cy="822960"/>
          </a:xfrm>
          <a:prstGeom prst="rect">
            <a:avLst/>
          </a:prstGeom>
          <a:noFill/>
          <a:ln/>
        </p:spPr>
        <p:txBody>
          <a:bodyPr wrap="square" lIns="0" tIns="0" rIns="0" bIns="0" rtlCol="0" anchor="t"/>
          <a:lstStyle/>
          <a:p>
            <a:pPr indent="0" marL="0">
              <a:buNone/>
            </a:pPr>
            <a:r>
              <a:rPr lang="en-US" sz="5600" b="1" dirty="0">
                <a:solidFill>
                  <a:srgbClr val="A97A2F"/>
                </a:solidFill>
                <a:latin typeface="Schibsted Grotesk" pitchFamily="34" charset="0"/>
                <a:ea typeface="Schibsted Grotesk" pitchFamily="34" charset="-122"/>
                <a:cs typeface="Schibsted Grotesk" pitchFamily="34" charset="-120"/>
              </a:rPr>
              <a:t>3</a:t>
            </a:r>
            <a:endParaRPr lang="en-US" sz="5600" dirty="0"/>
          </a:p>
        </p:txBody>
      </p:sp>
      <p:sp>
        <p:nvSpPr>
          <p:cNvPr id="10" name="Text 8"/>
          <p:cNvSpPr txBox="1"/>
          <p:nvPr/>
        </p:nvSpPr>
        <p:spPr>
          <a:xfrm>
            <a:off x="1600200" y="4471416"/>
            <a:ext cx="7223760" cy="457200"/>
          </a:xfrm>
          <a:prstGeom prst="rect">
            <a:avLst/>
          </a:prstGeom>
          <a:noFill/>
          <a:ln/>
        </p:spPr>
        <p:txBody>
          <a:bodyPr wrap="square" lIns="0" tIns="0" rIns="0" bIns="0" rtlCol="0" anchor="t"/>
          <a:lstStyle/>
          <a:p>
            <a:pPr indent="0" marL="0">
              <a:buNone/>
            </a:pPr>
            <a:r>
              <a:rPr lang="en-US" sz="2400" b="1" dirty="0">
                <a:solidFill>
                  <a:srgbClr val="15201A"/>
                </a:solidFill>
                <a:latin typeface="Schibsted Grotesk" pitchFamily="34" charset="0"/>
                <a:ea typeface="Schibsted Grotesk" pitchFamily="34" charset="-122"/>
                <a:cs typeface="Schibsted Grotesk" pitchFamily="34" charset="-120"/>
              </a:rPr>
              <a:t>Shelf empty? Tap once</a:t>
            </a:r>
            <a:endParaRPr lang="en-US" sz="2400" dirty="0"/>
          </a:p>
        </p:txBody>
      </p:sp>
      <p:sp>
        <p:nvSpPr>
          <p:cNvPr id="11" name="Text 9"/>
          <p:cNvSpPr txBox="1"/>
          <p:nvPr/>
        </p:nvSpPr>
        <p:spPr>
          <a:xfrm>
            <a:off x="1600200" y="4946904"/>
            <a:ext cx="7223760" cy="685800"/>
          </a:xfrm>
          <a:prstGeom prst="rect">
            <a:avLst/>
          </a:prstGeom>
          <a:noFill/>
          <a:ln/>
        </p:spPr>
        <p:txBody>
          <a:bodyPr wrap="square" lIns="0" tIns="0" rIns="0" bIns="0" rtlCol="0" anchor="t"/>
          <a:lstStyle/>
          <a:p>
            <a:pPr indent="0" marL="0">
              <a:buNone/>
            </a:pPr>
            <a:r>
              <a:rPr lang="en-US" sz="1800" dirty="0">
                <a:solidFill>
                  <a:srgbClr val="38433C"/>
                </a:solidFill>
                <a:latin typeface="Schibsted Grotesk" pitchFamily="34" charset="0"/>
                <a:ea typeface="Schibsted Grotesk" pitchFamily="34" charset="-122"/>
                <a:cs typeface="Schibsted Grotesk" pitchFamily="34" charset="-120"/>
              </a:rPr>
              <a:t>The volunteer on shift is alerted, with a two-hour restock target.</a:t>
            </a:r>
            <a:endParaRPr lang="en-US" sz="1800" dirty="0"/>
          </a:p>
        </p:txBody>
      </p:sp>
      <p:sp>
        <p:nvSpPr>
          <p:cNvPr id="12" name="Text 10"/>
          <p:cNvSpPr txBox="1"/>
          <p:nvPr/>
        </p:nvSpPr>
        <p:spPr>
          <a:xfrm>
            <a:off x="1600200" y="5623560"/>
            <a:ext cx="6583680" cy="292608"/>
          </a:xfrm>
          <a:prstGeom prst="rect">
            <a:avLst/>
          </a:prstGeom>
          <a:noFill/>
          <a:ln/>
        </p:spPr>
        <p:txBody>
          <a:bodyPr wrap="square" lIns="0" tIns="0" rIns="0" bIns="0" rtlCol="0" anchor="t"/>
          <a:lstStyle/>
          <a:p>
            <a:pPr indent="0" marL="0">
              <a:buNone/>
            </a:pPr>
            <a:r>
              <a:rPr lang="en-US" sz="1200" dirty="0">
                <a:solidFill>
                  <a:srgbClr val="68716A"/>
                </a:solidFill>
                <a:latin typeface="Schibsted Grotesk" pitchFamily="34" charset="0"/>
                <a:ea typeface="Schibsted Grotesk" pitchFamily="34" charset="-122"/>
                <a:cs typeface="Schibsted Grotesk" pitchFamily="34" charset="-120"/>
              </a:rPr>
              <a:t>Screenshot of the working app. Stock counts come from a simulated pilot.</a:t>
            </a:r>
            <a:endParaRPr lang="en-US" sz="1200" dirty="0"/>
          </a:p>
        </p:txBody>
      </p:sp>
      <p:pic>
        <p:nvPicPr>
          <p:cNvPr id="13" name="Image 0" descr="/tmp/claude-0/-home-claude/cb850c95-8acd-5c96-8a28-bf7aa743d4f8/scratchpad/foodlink/deck/img3/phone.png">    </p:cNvPr>
          <p:cNvPicPr>
            <a:picLocks noChangeAspect="1"/>
          </p:cNvPicPr>
          <p:nvPr/>
        </p:nvPicPr>
        <p:blipFill>
          <a:blip r:embed="rId1"/>
          <a:stretch>
            <a:fillRect/>
          </a:stretch>
        </p:blipFill>
        <p:spPr>
          <a:xfrm>
            <a:off x="8957015" y="1051560"/>
            <a:ext cx="2804912" cy="5166360"/>
          </a:xfrm>
          <a:prstGeom prst="rect">
            <a:avLst/>
          </a:prstGeom>
        </p:spPr>
      </p:pic>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10241280" cy="1188720"/>
          </a:xfrm>
          <a:prstGeom prst="rect">
            <a:avLst/>
          </a:prstGeom>
          <a:noFill/>
          <a:ln/>
        </p:spPr>
        <p:txBody>
          <a:bodyPr wrap="square" lIns="0" tIns="0" rIns="0" bIns="0" rtlCol="0" anchor="t"/>
          <a:lstStyle/>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Live demo: a report, a restock and</a:t>
            </a:r>
            <a:endParaRPr lang="en-US" sz="3400" dirty="0"/>
          </a:p>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a surplus drop, in real time</a:t>
            </a:r>
            <a:endParaRPr lang="en-US" sz="3400" dirty="0"/>
          </a:p>
        </p:txBody>
      </p:sp>
      <p:pic>
        <p:nvPicPr>
          <p:cNvPr id="3" name="Image 0" descr="/tmp/claude-0/-home-claude/cb850c95-8acd-5c96-8a28-bf7aa743d4f8/scratchpad/foodlink/deck/img3/present-framed.png">    </p:cNvPr>
          <p:cNvPicPr>
            <a:picLocks noChangeAspect="1"/>
          </p:cNvPicPr>
          <p:nvPr/>
        </p:nvPicPr>
        <p:blipFill>
          <a:blip r:embed="rId1"/>
          <a:stretch>
            <a:fillRect/>
          </a:stretch>
        </p:blipFill>
        <p:spPr>
          <a:xfrm>
            <a:off x="438912" y="1783080"/>
            <a:ext cx="6627952" cy="3917925"/>
          </a:xfrm>
          <a:prstGeom prst="rect">
            <a:avLst/>
          </a:prstGeom>
        </p:spPr>
      </p:pic>
      <p:sp>
        <p:nvSpPr>
          <p:cNvPr id="4" name="Text 1"/>
          <p:cNvSpPr txBox="1"/>
          <p:nvPr/>
        </p:nvSpPr>
        <p:spPr>
          <a:xfrm>
            <a:off x="7542352" y="1819656"/>
            <a:ext cx="411480" cy="502920"/>
          </a:xfrm>
          <a:prstGeom prst="rect">
            <a:avLst/>
          </a:prstGeom>
          <a:noFill/>
          <a:ln/>
        </p:spPr>
        <p:txBody>
          <a:bodyPr wrap="square" lIns="0" tIns="0" rIns="0" bIns="0" rtlCol="0" anchor="t"/>
          <a:lstStyle/>
          <a:p>
            <a:pPr indent="0" marL="0">
              <a:buNone/>
            </a:pPr>
            <a:r>
              <a:rPr lang="en-US" sz="2800" b="1" dirty="0">
                <a:solidFill>
                  <a:srgbClr val="A97A2F"/>
                </a:solidFill>
                <a:latin typeface="Schibsted Grotesk" pitchFamily="34" charset="0"/>
                <a:ea typeface="Schibsted Grotesk" pitchFamily="34" charset="-122"/>
                <a:cs typeface="Schibsted Grotesk" pitchFamily="34" charset="-120"/>
              </a:rPr>
              <a:t>1</a:t>
            </a:r>
            <a:endParaRPr lang="en-US" sz="2800" dirty="0"/>
          </a:p>
        </p:txBody>
      </p:sp>
      <p:sp>
        <p:nvSpPr>
          <p:cNvPr id="5" name="Text 2"/>
          <p:cNvSpPr txBox="1"/>
          <p:nvPr/>
        </p:nvSpPr>
        <p:spPr>
          <a:xfrm>
            <a:off x="8045272" y="1874520"/>
            <a:ext cx="3460623" cy="566928"/>
          </a:xfrm>
          <a:prstGeom prst="rect">
            <a:avLst/>
          </a:prstGeom>
          <a:noFill/>
          <a:ln/>
        </p:spPr>
        <p:txBody>
          <a:bodyPr wrap="square" lIns="0" tIns="0" rIns="0" bIns="0" rtlCol="0" anchor="t"/>
          <a:lstStyle/>
          <a:p>
            <a:pPr indent="0" marL="0">
              <a:buNone/>
            </a:pPr>
            <a:r>
              <a:rPr lang="en-US" sz="1800" dirty="0">
                <a:solidFill>
                  <a:srgbClr val="15201A"/>
                </a:solidFill>
                <a:latin typeface="Schibsted Grotesk" pitchFamily="34" charset="0"/>
                <a:ea typeface="Schibsted Grotesk" pitchFamily="34" charset="-122"/>
                <a:cs typeface="Schibsted Grotesk" pitchFamily="34" charset="-120"/>
              </a:rPr>
              <a:t>Student reports an empty shelf</a:t>
            </a:r>
            <a:endParaRPr lang="en-US" sz="1800" dirty="0"/>
          </a:p>
        </p:txBody>
      </p:sp>
      <p:sp>
        <p:nvSpPr>
          <p:cNvPr id="6" name="Text 3"/>
          <p:cNvSpPr txBox="1"/>
          <p:nvPr/>
        </p:nvSpPr>
        <p:spPr>
          <a:xfrm>
            <a:off x="7542352" y="2551176"/>
            <a:ext cx="411480" cy="502920"/>
          </a:xfrm>
          <a:prstGeom prst="rect">
            <a:avLst/>
          </a:prstGeom>
          <a:noFill/>
          <a:ln/>
        </p:spPr>
        <p:txBody>
          <a:bodyPr wrap="square" lIns="0" tIns="0" rIns="0" bIns="0" rtlCol="0" anchor="t"/>
          <a:lstStyle/>
          <a:p>
            <a:pPr indent="0" marL="0">
              <a:buNone/>
            </a:pPr>
            <a:r>
              <a:rPr lang="en-US" sz="2800" b="1" dirty="0">
                <a:solidFill>
                  <a:srgbClr val="A97A2F"/>
                </a:solidFill>
                <a:latin typeface="Schibsted Grotesk" pitchFamily="34" charset="0"/>
                <a:ea typeface="Schibsted Grotesk" pitchFamily="34" charset="-122"/>
                <a:cs typeface="Schibsted Grotesk" pitchFamily="34" charset="-120"/>
              </a:rPr>
              <a:t>2</a:t>
            </a:r>
            <a:endParaRPr lang="en-US" sz="2800" dirty="0"/>
          </a:p>
        </p:txBody>
      </p:sp>
      <p:sp>
        <p:nvSpPr>
          <p:cNvPr id="7" name="Text 4"/>
          <p:cNvSpPr txBox="1"/>
          <p:nvPr/>
        </p:nvSpPr>
        <p:spPr>
          <a:xfrm>
            <a:off x="8045272" y="2606040"/>
            <a:ext cx="3460623" cy="566928"/>
          </a:xfrm>
          <a:prstGeom prst="rect">
            <a:avLst/>
          </a:prstGeom>
          <a:noFill/>
          <a:ln/>
        </p:spPr>
        <p:txBody>
          <a:bodyPr wrap="square" lIns="0" tIns="0" rIns="0" bIns="0" rtlCol="0" anchor="t"/>
          <a:lstStyle/>
          <a:p>
            <a:pPr indent="0" marL="0">
              <a:buNone/>
            </a:pPr>
            <a:r>
              <a:rPr lang="en-US" sz="1800" dirty="0">
                <a:solidFill>
                  <a:srgbClr val="15201A"/>
                </a:solidFill>
                <a:latin typeface="Schibsted Grotesk" pitchFamily="34" charset="0"/>
                <a:ea typeface="Schibsted Grotesk" pitchFamily="34" charset="-122"/>
                <a:cs typeface="Schibsted Grotesk" pitchFamily="34" charset="-120"/>
              </a:rPr>
              <a:t>Volunteer restocks it</a:t>
            </a:r>
            <a:endParaRPr lang="en-US" sz="1800" dirty="0"/>
          </a:p>
        </p:txBody>
      </p:sp>
      <p:sp>
        <p:nvSpPr>
          <p:cNvPr id="8" name="Text 5"/>
          <p:cNvSpPr txBox="1"/>
          <p:nvPr/>
        </p:nvSpPr>
        <p:spPr>
          <a:xfrm>
            <a:off x="7542352" y="3282696"/>
            <a:ext cx="411480" cy="502920"/>
          </a:xfrm>
          <a:prstGeom prst="rect">
            <a:avLst/>
          </a:prstGeom>
          <a:noFill/>
          <a:ln/>
        </p:spPr>
        <p:txBody>
          <a:bodyPr wrap="square" lIns="0" tIns="0" rIns="0" bIns="0" rtlCol="0" anchor="t"/>
          <a:lstStyle/>
          <a:p>
            <a:pPr indent="0" marL="0">
              <a:buNone/>
            </a:pPr>
            <a:r>
              <a:rPr lang="en-US" sz="2800" b="1" dirty="0">
                <a:solidFill>
                  <a:srgbClr val="A97A2F"/>
                </a:solidFill>
                <a:latin typeface="Schibsted Grotesk" pitchFamily="34" charset="0"/>
                <a:ea typeface="Schibsted Grotesk" pitchFamily="34" charset="-122"/>
                <a:cs typeface="Schibsted Grotesk" pitchFamily="34" charset="-120"/>
              </a:rPr>
              <a:t>3</a:t>
            </a:r>
            <a:endParaRPr lang="en-US" sz="2800" dirty="0"/>
          </a:p>
        </p:txBody>
      </p:sp>
      <p:sp>
        <p:nvSpPr>
          <p:cNvPr id="9" name="Text 6"/>
          <p:cNvSpPr txBox="1"/>
          <p:nvPr/>
        </p:nvSpPr>
        <p:spPr>
          <a:xfrm>
            <a:off x="8045272" y="3337560"/>
            <a:ext cx="3460623" cy="566928"/>
          </a:xfrm>
          <a:prstGeom prst="rect">
            <a:avLst/>
          </a:prstGeom>
          <a:noFill/>
          <a:ln/>
        </p:spPr>
        <p:txBody>
          <a:bodyPr wrap="square" lIns="0" tIns="0" rIns="0" bIns="0" rtlCol="0" anchor="t"/>
          <a:lstStyle/>
          <a:p>
            <a:pPr indent="0" marL="0">
              <a:buNone/>
            </a:pPr>
            <a:r>
              <a:rPr lang="en-US" sz="1800" dirty="0">
                <a:solidFill>
                  <a:srgbClr val="15201A"/>
                </a:solidFill>
                <a:latin typeface="Schibsted Grotesk" pitchFamily="34" charset="0"/>
                <a:ea typeface="Schibsted Grotesk" pitchFamily="34" charset="-122"/>
                <a:cs typeface="Schibsted Grotesk" pitchFamily="34" charset="-120"/>
              </a:rPr>
              <a:t>Café posts sealed surplus</a:t>
            </a:r>
            <a:endParaRPr lang="en-US" sz="1800" dirty="0"/>
          </a:p>
        </p:txBody>
      </p:sp>
      <p:sp>
        <p:nvSpPr>
          <p:cNvPr id="10" name="Text 7"/>
          <p:cNvSpPr txBox="1"/>
          <p:nvPr/>
        </p:nvSpPr>
        <p:spPr>
          <a:xfrm>
            <a:off x="7542352" y="4014216"/>
            <a:ext cx="411480" cy="502920"/>
          </a:xfrm>
          <a:prstGeom prst="rect">
            <a:avLst/>
          </a:prstGeom>
          <a:noFill/>
          <a:ln/>
        </p:spPr>
        <p:txBody>
          <a:bodyPr wrap="square" lIns="0" tIns="0" rIns="0" bIns="0" rtlCol="0" anchor="t"/>
          <a:lstStyle/>
          <a:p>
            <a:pPr indent="0" marL="0">
              <a:buNone/>
            </a:pPr>
            <a:r>
              <a:rPr lang="en-US" sz="2800" b="1" dirty="0">
                <a:solidFill>
                  <a:srgbClr val="A97A2F"/>
                </a:solidFill>
                <a:latin typeface="Schibsted Grotesk" pitchFamily="34" charset="0"/>
                <a:ea typeface="Schibsted Grotesk" pitchFamily="34" charset="-122"/>
                <a:cs typeface="Schibsted Grotesk" pitchFamily="34" charset="-120"/>
              </a:rPr>
              <a:t>4</a:t>
            </a:r>
            <a:endParaRPr lang="en-US" sz="2800" dirty="0"/>
          </a:p>
        </p:txBody>
      </p:sp>
      <p:sp>
        <p:nvSpPr>
          <p:cNvPr id="11" name="Text 8"/>
          <p:cNvSpPr txBox="1"/>
          <p:nvPr/>
        </p:nvSpPr>
        <p:spPr>
          <a:xfrm>
            <a:off x="8045272" y="4069080"/>
            <a:ext cx="3460623" cy="566928"/>
          </a:xfrm>
          <a:prstGeom prst="rect">
            <a:avLst/>
          </a:prstGeom>
          <a:noFill/>
          <a:ln/>
        </p:spPr>
        <p:txBody>
          <a:bodyPr wrap="square" lIns="0" tIns="0" rIns="0" bIns="0" rtlCol="0" anchor="t"/>
          <a:lstStyle/>
          <a:p>
            <a:pPr indent="0" marL="0">
              <a:buNone/>
            </a:pPr>
            <a:r>
              <a:rPr lang="en-US" sz="1800" dirty="0">
                <a:solidFill>
                  <a:srgbClr val="15201A"/>
                </a:solidFill>
                <a:latin typeface="Schibsted Grotesk" pitchFamily="34" charset="0"/>
                <a:ea typeface="Schibsted Grotesk" pitchFamily="34" charset="-122"/>
                <a:cs typeface="Schibsted Grotesk" pitchFamily="34" charset="-120"/>
              </a:rPr>
              <a:t>Student reserves with a code</a:t>
            </a:r>
            <a:endParaRPr lang="en-US" sz="1800" dirty="0"/>
          </a:p>
        </p:txBody>
      </p:sp>
      <p:sp>
        <p:nvSpPr>
          <p:cNvPr id="12" name="Text 9"/>
          <p:cNvSpPr txBox="1"/>
          <p:nvPr/>
        </p:nvSpPr>
        <p:spPr>
          <a:xfrm>
            <a:off x="7542352" y="4745736"/>
            <a:ext cx="411480" cy="502920"/>
          </a:xfrm>
          <a:prstGeom prst="rect">
            <a:avLst/>
          </a:prstGeom>
          <a:noFill/>
          <a:ln/>
        </p:spPr>
        <p:txBody>
          <a:bodyPr wrap="square" lIns="0" tIns="0" rIns="0" bIns="0" rtlCol="0" anchor="t"/>
          <a:lstStyle/>
          <a:p>
            <a:pPr indent="0" marL="0">
              <a:buNone/>
            </a:pPr>
            <a:r>
              <a:rPr lang="en-US" sz="2800" b="1" dirty="0">
                <a:solidFill>
                  <a:srgbClr val="A97A2F"/>
                </a:solidFill>
                <a:latin typeface="Schibsted Grotesk" pitchFamily="34" charset="0"/>
                <a:ea typeface="Schibsted Grotesk" pitchFamily="34" charset="-122"/>
                <a:cs typeface="Schibsted Grotesk" pitchFamily="34" charset="-120"/>
              </a:rPr>
              <a:t>5</a:t>
            </a:r>
            <a:endParaRPr lang="en-US" sz="2800" dirty="0"/>
          </a:p>
        </p:txBody>
      </p:sp>
      <p:sp>
        <p:nvSpPr>
          <p:cNvPr id="13" name="Text 10"/>
          <p:cNvSpPr txBox="1"/>
          <p:nvPr/>
        </p:nvSpPr>
        <p:spPr>
          <a:xfrm>
            <a:off x="8045272" y="4800600"/>
            <a:ext cx="3460623" cy="566928"/>
          </a:xfrm>
          <a:prstGeom prst="rect">
            <a:avLst/>
          </a:prstGeom>
          <a:noFill/>
          <a:ln/>
        </p:spPr>
        <p:txBody>
          <a:bodyPr wrap="square" lIns="0" tIns="0" rIns="0" bIns="0" rtlCol="0" anchor="t"/>
          <a:lstStyle/>
          <a:p>
            <a:pPr indent="0" marL="0">
              <a:buNone/>
            </a:pPr>
            <a:r>
              <a:rPr lang="en-US" sz="1800" dirty="0">
                <a:solidFill>
                  <a:srgbClr val="15201A"/>
                </a:solidFill>
                <a:latin typeface="Schibsted Grotesk" pitchFamily="34" charset="0"/>
                <a:ea typeface="Schibsted Grotesk" pitchFamily="34" charset="-122"/>
                <a:cs typeface="Schibsted Grotesk" pitchFamily="34" charset="-120"/>
              </a:rPr>
              <a:t>USC dashboard updates</a:t>
            </a:r>
            <a:endParaRPr lang="en-US" sz="1800" dirty="0"/>
          </a:p>
        </p:txBody>
      </p:sp>
      <p:sp>
        <p:nvSpPr>
          <p:cNvPr id="14" name="Text 11"/>
          <p:cNvSpPr txBox="1"/>
          <p:nvPr/>
        </p:nvSpPr>
        <p:spPr>
          <a:xfrm>
            <a:off x="7542352" y="5486400"/>
            <a:ext cx="3963543" cy="438912"/>
          </a:xfrm>
          <a:prstGeom prst="rect">
            <a:avLst/>
          </a:prstGeom>
          <a:noFill/>
          <a:ln/>
        </p:spPr>
        <p:txBody>
          <a:bodyPr wrap="square" lIns="0" tIns="0" rIns="0" bIns="0" rtlCol="0" anchor="t"/>
          <a:lstStyle/>
          <a:p>
            <a:pPr indent="0" marL="0">
              <a:buNone/>
            </a:pPr>
            <a:r>
              <a:rPr lang="en-US" sz="1200" dirty="0">
                <a:solidFill>
                  <a:srgbClr val="68716A"/>
                </a:solidFill>
                <a:latin typeface="Schibsted Grotesk" pitchFamily="34" charset="0"/>
                <a:ea typeface="Schibsted Grotesk" pitchFamily="34" charset="-122"/>
                <a:cs typeface="Schibsted Grotesk" pitchFamily="34" charset="-120"/>
              </a:rPr>
              <a:t>The app’s live demo page after step 4. Dashboard history is simulated.</a:t>
            </a:r>
            <a:endParaRPr lang="en-US" sz="12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10241280" cy="1188720"/>
          </a:xfrm>
          <a:prstGeom prst="rect">
            <a:avLst/>
          </a:prstGeom>
          <a:noFill/>
          <a:ln/>
        </p:spPr>
        <p:txBody>
          <a:bodyPr wrap="square" lIns="0" tIns="0" rIns="0" bIns="0" rtlCol="0" anchor="t"/>
          <a:lstStyle/>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Where campus food is walk-up and</a:t>
            </a:r>
            <a:endParaRPr lang="en-US" sz="3400" dirty="0"/>
          </a:p>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anonymous, students use it</a:t>
            </a:r>
            <a:endParaRPr lang="en-US" sz="3400" dirty="0"/>
          </a:p>
        </p:txBody>
      </p:sp>
      <p:sp>
        <p:nvSpPr>
          <p:cNvPr id="3" name="Shape 1"/>
          <p:cNvSpPr/>
          <p:nvPr/>
        </p:nvSpPr>
        <p:spPr>
          <a:xfrm>
            <a:off x="685800" y="1874520"/>
            <a:ext cx="3454298" cy="0"/>
          </a:xfrm>
          <a:prstGeom prst="line">
            <a:avLst/>
          </a:prstGeom>
          <a:noFill/>
          <a:ln w="15875">
            <a:solidFill>
              <a:srgbClr val="15201A"/>
            </a:solidFill>
            <a:prstDash val="solid"/>
          </a:ln>
        </p:spPr>
      </p:sp>
      <p:sp>
        <p:nvSpPr>
          <p:cNvPr id="4" name="Text 2"/>
          <p:cNvSpPr txBox="1"/>
          <p:nvPr/>
        </p:nvSpPr>
        <p:spPr>
          <a:xfrm>
            <a:off x="685800" y="2011680"/>
            <a:ext cx="3454298" cy="868680"/>
          </a:xfrm>
          <a:prstGeom prst="rect">
            <a:avLst/>
          </a:prstGeom>
          <a:noFill/>
          <a:ln/>
        </p:spPr>
        <p:txBody>
          <a:bodyPr wrap="square" lIns="0" tIns="0" rIns="0" bIns="0" rtlCol="0" anchor="t"/>
          <a:lstStyle/>
          <a:p>
            <a:pPr indent="0" marL="0">
              <a:buNone/>
            </a:pPr>
            <a:r>
              <a:rPr lang="en-US" sz="5600" b="1" dirty="0">
                <a:solidFill>
                  <a:srgbClr val="1D5E40"/>
                </a:solidFill>
                <a:latin typeface="Schibsted Grotesk" pitchFamily="34" charset="0"/>
                <a:ea typeface="Schibsted Grotesk" pitchFamily="34" charset="-122"/>
                <a:cs typeface="Schibsted Grotesk" pitchFamily="34" charset="-120"/>
              </a:rPr>
              <a:t>5,263</a:t>
            </a:r>
            <a:endParaRPr lang="en-US" sz="5600" dirty="0"/>
          </a:p>
        </p:txBody>
      </p:sp>
      <p:sp>
        <p:nvSpPr>
          <p:cNvPr id="5" name="Text 3"/>
          <p:cNvSpPr txBox="1"/>
          <p:nvPr/>
        </p:nvSpPr>
        <p:spPr>
          <a:xfrm>
            <a:off x="685800" y="2953512"/>
            <a:ext cx="3362858" cy="1234440"/>
          </a:xfrm>
          <a:prstGeom prst="rect">
            <a:avLst/>
          </a:prstGeom>
          <a:noFill/>
          <a:ln/>
        </p:spPr>
        <p:txBody>
          <a:bodyPr wrap="square" lIns="0" tIns="0" rIns="0" bIns="0" rtlCol="0" anchor="t"/>
          <a:lstStyle/>
          <a:p>
            <a:pPr indent="0" marL="0">
              <a:buNone/>
            </a:pPr>
            <a:r>
              <a:rPr lang="en-US" sz="1700" dirty="0">
                <a:solidFill>
                  <a:srgbClr val="38433C"/>
                </a:solidFill>
                <a:latin typeface="Schibsted Grotesk" pitchFamily="34" charset="0"/>
                <a:ea typeface="Schibsted Grotesk" pitchFamily="34" charset="-122"/>
                <a:cs typeface="Schibsted Grotesk" pitchFamily="34" charset="-120"/>
              </a:rPr>
              <a:t>door openings in one school year at anonymous, unstaffed pantries at Virginia Commonwealth University. Vandalism was rare.</a:t>
            </a:r>
            <a:endParaRPr lang="en-US" sz="1700" dirty="0"/>
          </a:p>
        </p:txBody>
      </p:sp>
      <p:sp>
        <p:nvSpPr>
          <p:cNvPr id="6" name="Text 4"/>
          <p:cNvSpPr txBox="1"/>
          <p:nvPr/>
        </p:nvSpPr>
        <p:spPr>
          <a:xfrm>
            <a:off x="685800" y="4251960"/>
            <a:ext cx="3362858" cy="292608"/>
          </a:xfrm>
          <a:prstGeom prst="rect">
            <a:avLst/>
          </a:prstGeom>
          <a:noFill/>
          <a:ln/>
        </p:spPr>
        <p:txBody>
          <a:bodyPr wrap="square" lIns="0" tIns="0" rIns="0" bIns="0" rtlCol="0" anchor="t"/>
          <a:lstStyle/>
          <a:p>
            <a:pPr indent="0" marL="0">
              <a:buNone/>
            </a:pPr>
            <a:r>
              <a:rPr lang="en-US" sz="1150" dirty="0">
                <a:solidFill>
                  <a:srgbClr val="68716A"/>
                </a:solidFill>
                <a:latin typeface="Schibsted Grotesk" pitchFamily="34" charset="0"/>
                <a:ea typeface="Schibsted Grotesk" pitchFamily="34" charset="-122"/>
                <a:cs typeface="Schibsted Grotesk" pitchFamily="34" charset="-120"/>
              </a:rPr>
              <a:t>Jones et al., JAFSCD, 2024 (corrected 2025)</a:t>
            </a:r>
            <a:endParaRPr lang="en-US" sz="1150" dirty="0"/>
          </a:p>
        </p:txBody>
      </p:sp>
      <p:sp>
        <p:nvSpPr>
          <p:cNvPr id="7" name="Shape 5"/>
          <p:cNvSpPr/>
          <p:nvPr/>
        </p:nvSpPr>
        <p:spPr>
          <a:xfrm>
            <a:off x="4368698" y="1874520"/>
            <a:ext cx="3454298" cy="0"/>
          </a:xfrm>
          <a:prstGeom prst="line">
            <a:avLst/>
          </a:prstGeom>
          <a:noFill/>
          <a:ln w="15875">
            <a:solidFill>
              <a:srgbClr val="15201A"/>
            </a:solidFill>
            <a:prstDash val="solid"/>
          </a:ln>
        </p:spPr>
      </p:sp>
      <p:sp>
        <p:nvSpPr>
          <p:cNvPr id="8" name="Text 6"/>
          <p:cNvSpPr txBox="1"/>
          <p:nvPr/>
        </p:nvSpPr>
        <p:spPr>
          <a:xfrm>
            <a:off x="4368698" y="2011680"/>
            <a:ext cx="3454298" cy="868680"/>
          </a:xfrm>
          <a:prstGeom prst="rect">
            <a:avLst/>
          </a:prstGeom>
          <a:noFill/>
          <a:ln/>
        </p:spPr>
        <p:txBody>
          <a:bodyPr wrap="square" lIns="0" tIns="0" rIns="0" bIns="0" rtlCol="0" anchor="t"/>
          <a:lstStyle/>
          <a:p>
            <a:pPr indent="0" marL="0">
              <a:buNone/>
            </a:pPr>
            <a:r>
              <a:rPr lang="en-US" sz="5600" b="1" dirty="0">
                <a:solidFill>
                  <a:srgbClr val="1D5E40"/>
                </a:solidFill>
                <a:latin typeface="Schibsted Grotesk" pitchFamily="34" charset="0"/>
                <a:ea typeface="Schibsted Grotesk" pitchFamily="34" charset="-122"/>
                <a:cs typeface="Schibsted Grotesk" pitchFamily="34" charset="-120"/>
              </a:rPr>
              <a:t>Hours</a:t>
            </a:r>
            <a:endParaRPr lang="en-US" sz="5600" dirty="0"/>
          </a:p>
        </p:txBody>
      </p:sp>
      <p:sp>
        <p:nvSpPr>
          <p:cNvPr id="9" name="Text 7"/>
          <p:cNvSpPr txBox="1"/>
          <p:nvPr/>
        </p:nvSpPr>
        <p:spPr>
          <a:xfrm>
            <a:off x="4368698" y="2953512"/>
            <a:ext cx="3362858" cy="1234440"/>
          </a:xfrm>
          <a:prstGeom prst="rect">
            <a:avLst/>
          </a:prstGeom>
          <a:noFill/>
          <a:ln/>
        </p:spPr>
        <p:txBody>
          <a:bodyPr wrap="square" lIns="0" tIns="0" rIns="0" bIns="0" rtlCol="0" anchor="t"/>
          <a:lstStyle/>
          <a:p>
            <a:pPr indent="0" marL="0">
              <a:buNone/>
            </a:pPr>
            <a:r>
              <a:rPr lang="en-US" sz="1700" dirty="0">
                <a:solidFill>
                  <a:srgbClr val="38433C"/>
                </a:solidFill>
                <a:latin typeface="Schibsted Grotesk" pitchFamily="34" charset="0"/>
                <a:ea typeface="Schibsted Grotesk" pitchFamily="34" charset="-122"/>
                <a:cs typeface="Schibsted Grotesk" pitchFamily="34" charset="-120"/>
              </a:rPr>
              <a:t>for a week’s stock to run out at the University of Alberta’s walk-up pantry. Its food bank had a six-week waitlist.</a:t>
            </a:r>
            <a:endParaRPr lang="en-US" sz="1700" dirty="0"/>
          </a:p>
        </p:txBody>
      </p:sp>
      <p:sp>
        <p:nvSpPr>
          <p:cNvPr id="10" name="Text 8"/>
          <p:cNvSpPr txBox="1"/>
          <p:nvPr/>
        </p:nvSpPr>
        <p:spPr>
          <a:xfrm>
            <a:off x="4368698" y="4251960"/>
            <a:ext cx="3362858" cy="292608"/>
          </a:xfrm>
          <a:prstGeom prst="rect">
            <a:avLst/>
          </a:prstGeom>
          <a:noFill/>
          <a:ln/>
        </p:spPr>
        <p:txBody>
          <a:bodyPr wrap="square" lIns="0" tIns="0" rIns="0" bIns="0" rtlCol="0" anchor="t"/>
          <a:lstStyle/>
          <a:p>
            <a:pPr indent="0" marL="0">
              <a:buNone/>
            </a:pPr>
            <a:r>
              <a:rPr lang="en-US" sz="1150" dirty="0">
                <a:solidFill>
                  <a:srgbClr val="68716A"/>
                </a:solidFill>
                <a:latin typeface="Schibsted Grotesk" pitchFamily="34" charset="0"/>
                <a:ea typeface="Schibsted Grotesk" pitchFamily="34" charset="-122"/>
                <a:cs typeface="Schibsted Grotesk" pitchFamily="34" charset="-120"/>
              </a:rPr>
              <a:t>The Gateway, May 3, 2024</a:t>
            </a:r>
            <a:endParaRPr lang="en-US" sz="1150" dirty="0"/>
          </a:p>
        </p:txBody>
      </p:sp>
      <p:sp>
        <p:nvSpPr>
          <p:cNvPr id="11" name="Shape 9"/>
          <p:cNvSpPr/>
          <p:nvPr/>
        </p:nvSpPr>
        <p:spPr>
          <a:xfrm>
            <a:off x="8051597" y="1874520"/>
            <a:ext cx="3454298" cy="0"/>
          </a:xfrm>
          <a:prstGeom prst="line">
            <a:avLst/>
          </a:prstGeom>
          <a:noFill/>
          <a:ln w="15875">
            <a:solidFill>
              <a:srgbClr val="15201A"/>
            </a:solidFill>
            <a:prstDash val="solid"/>
          </a:ln>
        </p:spPr>
      </p:sp>
      <p:sp>
        <p:nvSpPr>
          <p:cNvPr id="12" name="Text 10"/>
          <p:cNvSpPr txBox="1"/>
          <p:nvPr/>
        </p:nvSpPr>
        <p:spPr>
          <a:xfrm>
            <a:off x="8051597" y="2011680"/>
            <a:ext cx="3454298" cy="868680"/>
          </a:xfrm>
          <a:prstGeom prst="rect">
            <a:avLst/>
          </a:prstGeom>
          <a:noFill/>
          <a:ln/>
        </p:spPr>
        <p:txBody>
          <a:bodyPr wrap="square" lIns="0" tIns="0" rIns="0" bIns="0" rtlCol="0" anchor="t"/>
          <a:lstStyle/>
          <a:p>
            <a:pPr indent="0" marL="0">
              <a:buNone/>
            </a:pPr>
            <a:r>
              <a:rPr lang="en-US" sz="5600" b="1" dirty="0">
                <a:solidFill>
                  <a:srgbClr val="1D5E40"/>
                </a:solidFill>
                <a:latin typeface="Schibsted Grotesk" pitchFamily="34" charset="0"/>
                <a:ea typeface="Schibsted Grotesk" pitchFamily="34" charset="-122"/>
                <a:cs typeface="Schibsted Grotesk" pitchFamily="34" charset="-120"/>
              </a:rPr>
              <a:t>48.5%</a:t>
            </a:r>
            <a:endParaRPr lang="en-US" sz="5600" dirty="0"/>
          </a:p>
        </p:txBody>
      </p:sp>
      <p:sp>
        <p:nvSpPr>
          <p:cNvPr id="13" name="Text 11"/>
          <p:cNvSpPr txBox="1"/>
          <p:nvPr/>
        </p:nvSpPr>
        <p:spPr>
          <a:xfrm>
            <a:off x="8051597" y="2953512"/>
            <a:ext cx="3362858" cy="1234440"/>
          </a:xfrm>
          <a:prstGeom prst="rect">
            <a:avLst/>
          </a:prstGeom>
          <a:noFill/>
          <a:ln/>
        </p:spPr>
        <p:txBody>
          <a:bodyPr wrap="square" lIns="0" tIns="0" rIns="0" bIns="0" rtlCol="0" anchor="t"/>
          <a:lstStyle/>
          <a:p>
            <a:pPr indent="0" marL="0">
              <a:buNone/>
            </a:pPr>
            <a:r>
              <a:rPr lang="en-US" sz="1700" dirty="0">
                <a:solidFill>
                  <a:srgbClr val="38433C"/>
                </a:solidFill>
                <a:latin typeface="Schibsted Grotesk" pitchFamily="34" charset="0"/>
                <a:ea typeface="Schibsted Grotesk" pitchFamily="34" charset="-122"/>
                <a:cs typeface="Schibsted Grotesk" pitchFamily="34" charset="-120"/>
              </a:rPr>
              <a:t>of TMU students were food insecure in the past year, but only 20% had used the campus food bank.</a:t>
            </a:r>
            <a:endParaRPr lang="en-US" sz="1700" dirty="0"/>
          </a:p>
        </p:txBody>
      </p:sp>
      <p:sp>
        <p:nvSpPr>
          <p:cNvPr id="14" name="Text 12"/>
          <p:cNvSpPr txBox="1"/>
          <p:nvPr/>
        </p:nvSpPr>
        <p:spPr>
          <a:xfrm>
            <a:off x="8051597" y="4251960"/>
            <a:ext cx="3362858" cy="292608"/>
          </a:xfrm>
          <a:prstGeom prst="rect">
            <a:avLst/>
          </a:prstGeom>
          <a:noFill/>
          <a:ln/>
        </p:spPr>
        <p:txBody>
          <a:bodyPr wrap="square" lIns="0" tIns="0" rIns="0" bIns="0" rtlCol="0" anchor="t"/>
          <a:lstStyle/>
          <a:p>
            <a:pPr indent="0" marL="0">
              <a:buNone/>
            </a:pPr>
            <a:r>
              <a:rPr lang="en-US" sz="1150" dirty="0">
                <a:solidFill>
                  <a:srgbClr val="68716A"/>
                </a:solidFill>
                <a:latin typeface="Schibsted Grotesk" pitchFamily="34" charset="0"/>
                <a:ea typeface="Schibsted Grotesk" pitchFamily="34" charset="-122"/>
                <a:cs typeface="Schibsted Grotesk" pitchFamily="34" charset="-120"/>
              </a:rPr>
              <a:t>The Eyeopener, Oct 27, 2026 (nearly 900 students)</a:t>
            </a:r>
            <a:endParaRPr lang="en-US" sz="1150" dirty="0"/>
          </a:p>
        </p:txBody>
      </p:sp>
      <p:sp>
        <p:nvSpPr>
          <p:cNvPr id="15" name="Shape 13"/>
          <p:cNvSpPr/>
          <p:nvPr/>
        </p:nvSpPr>
        <p:spPr>
          <a:xfrm>
            <a:off x="685800" y="4800600"/>
            <a:ext cx="10820095" cy="914400"/>
          </a:xfrm>
          <a:prstGeom prst="rect">
            <a:avLst/>
          </a:prstGeom>
          <a:solidFill>
            <a:srgbClr val="E1EAE1"/>
          </a:solidFill>
          <a:ln w="12700">
            <a:solidFill>
              <a:srgbClr val="E1EAE1"/>
            </a:solidFill>
            <a:prstDash val="solid"/>
          </a:ln>
        </p:spPr>
      </p:sp>
      <p:sp>
        <p:nvSpPr>
          <p:cNvPr id="16" name="Text 14"/>
          <p:cNvSpPr txBox="1"/>
          <p:nvPr/>
        </p:nvSpPr>
        <p:spPr>
          <a:xfrm>
            <a:off x="960120" y="4800600"/>
            <a:ext cx="10271455" cy="914400"/>
          </a:xfrm>
          <a:prstGeom prst="rect">
            <a:avLst/>
          </a:prstGeom>
          <a:noFill/>
          <a:ln/>
        </p:spPr>
        <p:txBody>
          <a:bodyPr wrap="square" lIns="0" tIns="0" rIns="0" bIns="0" rtlCol="0" anchor="ctr"/>
          <a:lstStyle/>
          <a:p>
            <a:pPr indent="0" marL="0">
              <a:buNone/>
            </a:pPr>
            <a:r>
              <a:rPr lang="en-US" sz="1700" b="1" dirty="0">
                <a:solidFill>
                  <a:srgbClr val="15201A"/>
                </a:solidFill>
                <a:latin typeface="Schibsted Grotesk" pitchFamily="34" charset="0"/>
                <a:ea typeface="Schibsted Grotesk" pitchFamily="34" charset="-122"/>
                <a:cs typeface="Schibsted Grotesk" pitchFamily="34" charset="-120"/>
              </a:rPr>
              <a:t>What we take from it: </a:t>
            </a:r>
            <a:pPr indent="0" marL="0">
              <a:buNone/>
            </a:pPr>
            <a:r>
              <a:rPr lang="en-US" sz="1700" dirty="0">
                <a:solidFill>
                  <a:srgbClr val="15201A"/>
                </a:solidFill>
                <a:latin typeface="Schibsted Grotesk" pitchFamily="34" charset="0"/>
                <a:ea typeface="Schibsted Grotesk" pitchFamily="34" charset="-122"/>
                <a:cs typeface="Schibsted Grotesk" pitchFamily="34" charset="-120"/>
              </a:rPr>
              <a:t>put shelves where students already go, line up supply before launch, and measure Western’s own use from day one. We have no Western usage data yet; the pilot produces it.</a:t>
            </a:r>
            <a:endParaRPr lang="en-US" sz="17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10241280" cy="1188720"/>
          </a:xfrm>
          <a:prstGeom prst="rect">
            <a:avLst/>
          </a:prstGeom>
          <a:noFill/>
          <a:ln/>
        </p:spPr>
        <p:txBody>
          <a:bodyPr wrap="square" lIns="0" tIns="0" rIns="0" bIns="0" rtlCol="0" anchor="t"/>
          <a:lstStyle/>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The $2,500 request covers only</a:t>
            </a:r>
            <a:endParaRPr lang="en-US" sz="3400" dirty="0"/>
          </a:p>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what USC Grants fund</a:t>
            </a:r>
            <a:endParaRPr lang="en-US" sz="3400" dirty="0"/>
          </a:p>
        </p:txBody>
      </p:sp>
      <p:sp>
        <p:nvSpPr>
          <p:cNvPr id="3" name="Text 1"/>
          <p:cNvSpPr txBox="1"/>
          <p:nvPr/>
        </p:nvSpPr>
        <p:spPr>
          <a:xfrm>
            <a:off x="685800" y="1874520"/>
            <a:ext cx="3657600" cy="292608"/>
          </a:xfrm>
          <a:prstGeom prst="rect">
            <a:avLst/>
          </a:prstGeom>
          <a:noFill/>
          <a:ln/>
        </p:spPr>
        <p:txBody>
          <a:bodyPr wrap="square" lIns="0" tIns="0" rIns="0" bIns="0" rtlCol="0" anchor="t"/>
          <a:lstStyle/>
          <a:p>
            <a:pPr indent="0" marL="0">
              <a:buNone/>
            </a:pPr>
            <a:r>
              <a:rPr lang="en-US" sz="1500" dirty="0">
                <a:solidFill>
                  <a:srgbClr val="68716A"/>
                </a:solidFill>
                <a:latin typeface="Schibsted Grotesk" pitchFamily="34" charset="0"/>
                <a:ea typeface="Schibsted Grotesk" pitchFamily="34" charset="-122"/>
                <a:cs typeface="Schibsted Grotesk" pitchFamily="34" charset="-120"/>
              </a:rPr>
              <a:t>USC Grant request</a:t>
            </a:r>
            <a:endParaRPr lang="en-US" sz="1500" dirty="0"/>
          </a:p>
        </p:txBody>
      </p:sp>
      <p:sp>
        <p:nvSpPr>
          <p:cNvPr id="4" name="Text 2"/>
          <p:cNvSpPr txBox="1"/>
          <p:nvPr/>
        </p:nvSpPr>
        <p:spPr>
          <a:xfrm>
            <a:off x="685800" y="2286000"/>
            <a:ext cx="2148840" cy="347472"/>
          </a:xfrm>
          <a:prstGeom prst="rect">
            <a:avLst/>
          </a:prstGeom>
          <a:noFill/>
          <a:ln/>
        </p:spPr>
        <p:txBody>
          <a:bodyPr wrap="square" lIns="0" tIns="0" rIns="0" bIns="0" rtlCol="0" anchor="ctr"/>
          <a:lstStyle/>
          <a:p>
            <a:pPr indent="0" marL="0">
              <a:buNone/>
            </a:pPr>
            <a:r>
              <a:rPr lang="en-US" sz="1700" b="1" dirty="0">
                <a:solidFill>
                  <a:srgbClr val="15201A"/>
                </a:solidFill>
                <a:latin typeface="Schibsted Grotesk" pitchFamily="34" charset="0"/>
                <a:ea typeface="Schibsted Grotesk" pitchFamily="34" charset="-122"/>
                <a:cs typeface="Schibsted Grotesk" pitchFamily="34" charset="-120"/>
              </a:rPr>
              <a:t>Food seed stock</a:t>
            </a:r>
            <a:endParaRPr lang="en-US" sz="1700" dirty="0"/>
          </a:p>
        </p:txBody>
      </p:sp>
      <p:sp>
        <p:nvSpPr>
          <p:cNvPr id="5" name="Shape 3"/>
          <p:cNvSpPr/>
          <p:nvPr/>
        </p:nvSpPr>
        <p:spPr>
          <a:xfrm>
            <a:off x="2926080" y="2377440"/>
            <a:ext cx="2148840" cy="182880"/>
          </a:xfrm>
          <a:prstGeom prst="rect">
            <a:avLst/>
          </a:prstGeom>
          <a:solidFill>
            <a:srgbClr val="1D5E40"/>
          </a:solidFill>
          <a:ln w="12700">
            <a:solidFill>
              <a:srgbClr val="1D5E40"/>
            </a:solidFill>
            <a:prstDash val="solid"/>
          </a:ln>
        </p:spPr>
      </p:sp>
      <p:sp>
        <p:nvSpPr>
          <p:cNvPr id="6" name="Text 4"/>
          <p:cNvSpPr txBox="1"/>
          <p:nvPr/>
        </p:nvSpPr>
        <p:spPr>
          <a:xfrm>
            <a:off x="5120640" y="2286000"/>
            <a:ext cx="868680" cy="347472"/>
          </a:xfrm>
          <a:prstGeom prst="rect">
            <a:avLst/>
          </a:prstGeom>
          <a:noFill/>
          <a:ln/>
        </p:spPr>
        <p:txBody>
          <a:bodyPr wrap="square" lIns="0" tIns="0" rIns="0" bIns="0" rtlCol="0" anchor="ctr"/>
          <a:lstStyle/>
          <a:p>
            <a:pPr algn="r" indent="0" marL="0">
              <a:buNone/>
            </a:pPr>
            <a:r>
              <a:rPr lang="en-US" sz="1700" b="1" dirty="0">
                <a:solidFill>
                  <a:srgbClr val="15201A"/>
                </a:solidFill>
                <a:latin typeface="Schibsted Grotesk" pitchFamily="34" charset="0"/>
                <a:ea typeface="Schibsted Grotesk" pitchFamily="34" charset="-122"/>
                <a:cs typeface="Schibsted Grotesk" pitchFamily="34" charset="-120"/>
              </a:rPr>
              <a:t>$1,050</a:t>
            </a:r>
            <a:endParaRPr lang="en-US" sz="1700" dirty="0"/>
          </a:p>
        </p:txBody>
      </p:sp>
      <p:sp>
        <p:nvSpPr>
          <p:cNvPr id="7" name="Text 5"/>
          <p:cNvSpPr txBox="1"/>
          <p:nvPr/>
        </p:nvSpPr>
        <p:spPr>
          <a:xfrm>
            <a:off x="685800" y="2688336"/>
            <a:ext cx="2148840" cy="347472"/>
          </a:xfrm>
          <a:prstGeom prst="rect">
            <a:avLst/>
          </a:prstGeom>
          <a:noFill/>
          <a:ln/>
        </p:spPr>
        <p:txBody>
          <a:bodyPr wrap="square" lIns="0" tIns="0" rIns="0" bIns="0" rtlCol="0" anchor="ctr"/>
          <a:lstStyle/>
          <a:p>
            <a:pPr indent="0" marL="0">
              <a:buNone/>
            </a:pPr>
            <a:r>
              <a:rPr lang="en-US" sz="1700" dirty="0">
                <a:solidFill>
                  <a:srgbClr val="15201A"/>
                </a:solidFill>
                <a:latin typeface="Schibsted Grotesk" pitchFamily="34" charset="0"/>
                <a:ea typeface="Schibsted Grotesk" pitchFamily="34" charset="-122"/>
                <a:cs typeface="Schibsted Grotesk" pitchFamily="34" charset="-120"/>
              </a:rPr>
              <a:t>Hygiene products</a:t>
            </a:r>
            <a:endParaRPr lang="en-US" sz="1700" dirty="0"/>
          </a:p>
        </p:txBody>
      </p:sp>
      <p:sp>
        <p:nvSpPr>
          <p:cNvPr id="8" name="Shape 6"/>
          <p:cNvSpPr/>
          <p:nvPr/>
        </p:nvSpPr>
        <p:spPr>
          <a:xfrm>
            <a:off x="2926080" y="2779776"/>
            <a:ext cx="818606" cy="182880"/>
          </a:xfrm>
          <a:prstGeom prst="rect">
            <a:avLst/>
          </a:prstGeom>
          <a:solidFill>
            <a:srgbClr val="BDC3BA"/>
          </a:solidFill>
          <a:ln w="12700">
            <a:solidFill>
              <a:srgbClr val="BDC3BA"/>
            </a:solidFill>
            <a:prstDash val="solid"/>
          </a:ln>
        </p:spPr>
      </p:sp>
      <p:sp>
        <p:nvSpPr>
          <p:cNvPr id="9" name="Text 7"/>
          <p:cNvSpPr txBox="1"/>
          <p:nvPr/>
        </p:nvSpPr>
        <p:spPr>
          <a:xfrm>
            <a:off x="5120640" y="2688336"/>
            <a:ext cx="868680" cy="347472"/>
          </a:xfrm>
          <a:prstGeom prst="rect">
            <a:avLst/>
          </a:prstGeom>
          <a:noFill/>
          <a:ln/>
        </p:spPr>
        <p:txBody>
          <a:bodyPr wrap="square" lIns="0" tIns="0" rIns="0" bIns="0" rtlCol="0" anchor="ctr"/>
          <a:lstStyle/>
          <a:p>
            <a:pPr algn="r" indent="0" marL="0">
              <a:buNone/>
            </a:pPr>
            <a:r>
              <a:rPr lang="en-US" sz="1700" b="1" dirty="0">
                <a:solidFill>
                  <a:srgbClr val="15201A"/>
                </a:solidFill>
                <a:latin typeface="Schibsted Grotesk" pitchFamily="34" charset="0"/>
                <a:ea typeface="Schibsted Grotesk" pitchFamily="34" charset="-122"/>
                <a:cs typeface="Schibsted Grotesk" pitchFamily="34" charset="-120"/>
              </a:rPr>
              <a:t>$400</a:t>
            </a:r>
            <a:endParaRPr lang="en-US" sz="1700" dirty="0"/>
          </a:p>
        </p:txBody>
      </p:sp>
      <p:sp>
        <p:nvSpPr>
          <p:cNvPr id="10" name="Text 8"/>
          <p:cNvSpPr txBox="1"/>
          <p:nvPr/>
        </p:nvSpPr>
        <p:spPr>
          <a:xfrm>
            <a:off x="685800" y="3090672"/>
            <a:ext cx="2148840" cy="347472"/>
          </a:xfrm>
          <a:prstGeom prst="rect">
            <a:avLst/>
          </a:prstGeom>
          <a:noFill/>
          <a:ln/>
        </p:spPr>
        <p:txBody>
          <a:bodyPr wrap="square" lIns="0" tIns="0" rIns="0" bIns="0" rtlCol="0" anchor="ctr"/>
          <a:lstStyle/>
          <a:p>
            <a:pPr indent="0" marL="0">
              <a:buNone/>
            </a:pPr>
            <a:r>
              <a:rPr lang="en-US" sz="1700" dirty="0">
                <a:solidFill>
                  <a:srgbClr val="15201A"/>
                </a:solidFill>
                <a:latin typeface="Schibsted Grotesk" pitchFamily="34" charset="0"/>
                <a:ea typeface="Schibsted Grotesk" pitchFamily="34" charset="-122"/>
                <a:cs typeface="Schibsted Grotesk" pitchFamily="34" charset="-120"/>
              </a:rPr>
              <a:t>Signs, labels, bins</a:t>
            </a:r>
            <a:endParaRPr lang="en-US" sz="1700" dirty="0"/>
          </a:p>
        </p:txBody>
      </p:sp>
      <p:sp>
        <p:nvSpPr>
          <p:cNvPr id="11" name="Shape 9"/>
          <p:cNvSpPr/>
          <p:nvPr/>
        </p:nvSpPr>
        <p:spPr>
          <a:xfrm>
            <a:off x="2926080" y="3182112"/>
            <a:ext cx="613954" cy="182880"/>
          </a:xfrm>
          <a:prstGeom prst="rect">
            <a:avLst/>
          </a:prstGeom>
          <a:solidFill>
            <a:srgbClr val="BDC3BA"/>
          </a:solidFill>
          <a:ln w="12700">
            <a:solidFill>
              <a:srgbClr val="BDC3BA"/>
            </a:solidFill>
            <a:prstDash val="solid"/>
          </a:ln>
        </p:spPr>
      </p:sp>
      <p:sp>
        <p:nvSpPr>
          <p:cNvPr id="12" name="Text 10"/>
          <p:cNvSpPr txBox="1"/>
          <p:nvPr/>
        </p:nvSpPr>
        <p:spPr>
          <a:xfrm>
            <a:off x="5120640" y="3090672"/>
            <a:ext cx="868680" cy="347472"/>
          </a:xfrm>
          <a:prstGeom prst="rect">
            <a:avLst/>
          </a:prstGeom>
          <a:noFill/>
          <a:ln/>
        </p:spPr>
        <p:txBody>
          <a:bodyPr wrap="square" lIns="0" tIns="0" rIns="0" bIns="0" rtlCol="0" anchor="ctr"/>
          <a:lstStyle/>
          <a:p>
            <a:pPr algn="r" indent="0" marL="0">
              <a:buNone/>
            </a:pPr>
            <a:r>
              <a:rPr lang="en-US" sz="1700" b="1" dirty="0">
                <a:solidFill>
                  <a:srgbClr val="15201A"/>
                </a:solidFill>
                <a:latin typeface="Schibsted Grotesk" pitchFamily="34" charset="0"/>
                <a:ea typeface="Schibsted Grotesk" pitchFamily="34" charset="-122"/>
                <a:cs typeface="Schibsted Grotesk" pitchFamily="34" charset="-120"/>
              </a:rPr>
              <a:t>$300</a:t>
            </a:r>
            <a:endParaRPr lang="en-US" sz="1700" dirty="0"/>
          </a:p>
        </p:txBody>
      </p:sp>
      <p:sp>
        <p:nvSpPr>
          <p:cNvPr id="13" name="Text 11"/>
          <p:cNvSpPr txBox="1"/>
          <p:nvPr/>
        </p:nvSpPr>
        <p:spPr>
          <a:xfrm>
            <a:off x="685800" y="3493008"/>
            <a:ext cx="2148840" cy="347472"/>
          </a:xfrm>
          <a:prstGeom prst="rect">
            <a:avLst/>
          </a:prstGeom>
          <a:noFill/>
          <a:ln/>
        </p:spPr>
        <p:txBody>
          <a:bodyPr wrap="square" lIns="0" tIns="0" rIns="0" bIns="0" rtlCol="0" anchor="ctr"/>
          <a:lstStyle/>
          <a:p>
            <a:pPr indent="0" marL="0">
              <a:buNone/>
            </a:pPr>
            <a:r>
              <a:rPr lang="en-US" sz="1700" dirty="0">
                <a:solidFill>
                  <a:srgbClr val="15201A"/>
                </a:solidFill>
                <a:latin typeface="Schibsted Grotesk" pitchFamily="34" charset="0"/>
                <a:ea typeface="Schibsted Grotesk" pitchFamily="34" charset="-122"/>
                <a:cs typeface="Schibsted Grotesk" pitchFamily="34" charset="-120"/>
              </a:rPr>
              <a:t>Contingency</a:t>
            </a:r>
            <a:endParaRPr lang="en-US" sz="1700" dirty="0"/>
          </a:p>
        </p:txBody>
      </p:sp>
      <p:sp>
        <p:nvSpPr>
          <p:cNvPr id="14" name="Shape 12"/>
          <p:cNvSpPr/>
          <p:nvPr/>
        </p:nvSpPr>
        <p:spPr>
          <a:xfrm>
            <a:off x="2926080" y="3584448"/>
            <a:ext cx="511629" cy="182880"/>
          </a:xfrm>
          <a:prstGeom prst="rect">
            <a:avLst/>
          </a:prstGeom>
          <a:solidFill>
            <a:srgbClr val="BDC3BA"/>
          </a:solidFill>
          <a:ln w="12700">
            <a:solidFill>
              <a:srgbClr val="BDC3BA"/>
            </a:solidFill>
            <a:prstDash val="solid"/>
          </a:ln>
        </p:spPr>
      </p:sp>
      <p:sp>
        <p:nvSpPr>
          <p:cNvPr id="15" name="Text 13"/>
          <p:cNvSpPr txBox="1"/>
          <p:nvPr/>
        </p:nvSpPr>
        <p:spPr>
          <a:xfrm>
            <a:off x="5120640" y="3493008"/>
            <a:ext cx="868680" cy="347472"/>
          </a:xfrm>
          <a:prstGeom prst="rect">
            <a:avLst/>
          </a:prstGeom>
          <a:noFill/>
          <a:ln/>
        </p:spPr>
        <p:txBody>
          <a:bodyPr wrap="square" lIns="0" tIns="0" rIns="0" bIns="0" rtlCol="0" anchor="ctr"/>
          <a:lstStyle/>
          <a:p>
            <a:pPr algn="r" indent="0" marL="0">
              <a:buNone/>
            </a:pPr>
            <a:r>
              <a:rPr lang="en-US" sz="1700" b="1" dirty="0">
                <a:solidFill>
                  <a:srgbClr val="15201A"/>
                </a:solidFill>
                <a:latin typeface="Schibsted Grotesk" pitchFamily="34" charset="0"/>
                <a:ea typeface="Schibsted Grotesk" pitchFamily="34" charset="-122"/>
                <a:cs typeface="Schibsted Grotesk" pitchFamily="34" charset="-120"/>
              </a:rPr>
              <a:t>$250</a:t>
            </a:r>
            <a:endParaRPr lang="en-US" sz="1700" dirty="0"/>
          </a:p>
        </p:txBody>
      </p:sp>
      <p:sp>
        <p:nvSpPr>
          <p:cNvPr id="16" name="Text 14"/>
          <p:cNvSpPr txBox="1"/>
          <p:nvPr/>
        </p:nvSpPr>
        <p:spPr>
          <a:xfrm>
            <a:off x="685800" y="3895344"/>
            <a:ext cx="2148840" cy="347472"/>
          </a:xfrm>
          <a:prstGeom prst="rect">
            <a:avLst/>
          </a:prstGeom>
          <a:noFill/>
          <a:ln/>
        </p:spPr>
        <p:txBody>
          <a:bodyPr wrap="square" lIns="0" tIns="0" rIns="0" bIns="0" rtlCol="0" anchor="ctr"/>
          <a:lstStyle/>
          <a:p>
            <a:pPr indent="0" marL="0">
              <a:buNone/>
            </a:pPr>
            <a:r>
              <a:rPr lang="en-US" sz="1700" dirty="0">
                <a:solidFill>
                  <a:srgbClr val="15201A"/>
                </a:solidFill>
                <a:latin typeface="Schibsted Grotesk" pitchFamily="34" charset="0"/>
                <a:ea typeface="Schibsted Grotesk" pitchFamily="34" charset="-122"/>
                <a:cs typeface="Schibsted Grotesk" pitchFamily="34" charset="-120"/>
              </a:rPr>
              <a:t>Promotion</a:t>
            </a:r>
            <a:endParaRPr lang="en-US" sz="1700" dirty="0"/>
          </a:p>
        </p:txBody>
      </p:sp>
      <p:sp>
        <p:nvSpPr>
          <p:cNvPr id="17" name="Shape 15"/>
          <p:cNvSpPr/>
          <p:nvPr/>
        </p:nvSpPr>
        <p:spPr>
          <a:xfrm>
            <a:off x="2926080" y="3986784"/>
            <a:ext cx="511629" cy="182880"/>
          </a:xfrm>
          <a:prstGeom prst="rect">
            <a:avLst/>
          </a:prstGeom>
          <a:solidFill>
            <a:srgbClr val="BDC3BA"/>
          </a:solidFill>
          <a:ln w="12700">
            <a:solidFill>
              <a:srgbClr val="BDC3BA"/>
            </a:solidFill>
            <a:prstDash val="solid"/>
          </a:ln>
        </p:spPr>
      </p:sp>
      <p:sp>
        <p:nvSpPr>
          <p:cNvPr id="18" name="Text 16"/>
          <p:cNvSpPr txBox="1"/>
          <p:nvPr/>
        </p:nvSpPr>
        <p:spPr>
          <a:xfrm>
            <a:off x="5120640" y="3895344"/>
            <a:ext cx="868680" cy="347472"/>
          </a:xfrm>
          <a:prstGeom prst="rect">
            <a:avLst/>
          </a:prstGeom>
          <a:noFill/>
          <a:ln/>
        </p:spPr>
        <p:txBody>
          <a:bodyPr wrap="square" lIns="0" tIns="0" rIns="0" bIns="0" rtlCol="0" anchor="ctr"/>
          <a:lstStyle/>
          <a:p>
            <a:pPr algn="r" indent="0" marL="0">
              <a:buNone/>
            </a:pPr>
            <a:r>
              <a:rPr lang="en-US" sz="1700" b="1" dirty="0">
                <a:solidFill>
                  <a:srgbClr val="15201A"/>
                </a:solidFill>
                <a:latin typeface="Schibsted Grotesk" pitchFamily="34" charset="0"/>
                <a:ea typeface="Schibsted Grotesk" pitchFamily="34" charset="-122"/>
                <a:cs typeface="Schibsted Grotesk" pitchFamily="34" charset="-120"/>
              </a:rPr>
              <a:t>$250</a:t>
            </a:r>
            <a:endParaRPr lang="en-US" sz="1700" dirty="0"/>
          </a:p>
        </p:txBody>
      </p:sp>
      <p:sp>
        <p:nvSpPr>
          <p:cNvPr id="19" name="Text 17"/>
          <p:cNvSpPr txBox="1"/>
          <p:nvPr/>
        </p:nvSpPr>
        <p:spPr>
          <a:xfrm>
            <a:off x="685800" y="4297680"/>
            <a:ext cx="2148840" cy="347472"/>
          </a:xfrm>
          <a:prstGeom prst="rect">
            <a:avLst/>
          </a:prstGeom>
          <a:noFill/>
          <a:ln/>
        </p:spPr>
        <p:txBody>
          <a:bodyPr wrap="square" lIns="0" tIns="0" rIns="0" bIns="0" rtlCol="0" anchor="ctr"/>
          <a:lstStyle/>
          <a:p>
            <a:pPr indent="0" marL="0">
              <a:buNone/>
            </a:pPr>
            <a:r>
              <a:rPr lang="en-US" sz="1700" dirty="0">
                <a:solidFill>
                  <a:srgbClr val="15201A"/>
                </a:solidFill>
                <a:latin typeface="Schibsted Grotesk" pitchFamily="34" charset="0"/>
                <a:ea typeface="Schibsted Grotesk" pitchFamily="34" charset="-122"/>
                <a:cs typeface="Schibsted Grotesk" pitchFamily="34" charset="-120"/>
              </a:rPr>
              <a:t>Volunteer training</a:t>
            </a:r>
            <a:endParaRPr lang="en-US" sz="1700" dirty="0"/>
          </a:p>
        </p:txBody>
      </p:sp>
      <p:sp>
        <p:nvSpPr>
          <p:cNvPr id="20" name="Shape 18"/>
          <p:cNvSpPr/>
          <p:nvPr/>
        </p:nvSpPr>
        <p:spPr>
          <a:xfrm>
            <a:off x="2926080" y="4389120"/>
            <a:ext cx="409303" cy="182880"/>
          </a:xfrm>
          <a:prstGeom prst="rect">
            <a:avLst/>
          </a:prstGeom>
          <a:solidFill>
            <a:srgbClr val="BDC3BA"/>
          </a:solidFill>
          <a:ln w="12700">
            <a:solidFill>
              <a:srgbClr val="BDC3BA"/>
            </a:solidFill>
            <a:prstDash val="solid"/>
          </a:ln>
        </p:spPr>
      </p:sp>
      <p:sp>
        <p:nvSpPr>
          <p:cNvPr id="21" name="Text 19"/>
          <p:cNvSpPr txBox="1"/>
          <p:nvPr/>
        </p:nvSpPr>
        <p:spPr>
          <a:xfrm>
            <a:off x="5120640" y="4297680"/>
            <a:ext cx="868680" cy="347472"/>
          </a:xfrm>
          <a:prstGeom prst="rect">
            <a:avLst/>
          </a:prstGeom>
          <a:noFill/>
          <a:ln/>
        </p:spPr>
        <p:txBody>
          <a:bodyPr wrap="square" lIns="0" tIns="0" rIns="0" bIns="0" rtlCol="0" anchor="ctr"/>
          <a:lstStyle/>
          <a:p>
            <a:pPr algn="r" indent="0" marL="0">
              <a:buNone/>
            </a:pPr>
            <a:r>
              <a:rPr lang="en-US" sz="1700" b="1" dirty="0">
                <a:solidFill>
                  <a:srgbClr val="15201A"/>
                </a:solidFill>
                <a:latin typeface="Schibsted Grotesk" pitchFamily="34" charset="0"/>
                <a:ea typeface="Schibsted Grotesk" pitchFamily="34" charset="-122"/>
                <a:cs typeface="Schibsted Grotesk" pitchFamily="34" charset="-120"/>
              </a:rPr>
              <a:t>$200</a:t>
            </a:r>
            <a:endParaRPr lang="en-US" sz="1700" dirty="0"/>
          </a:p>
        </p:txBody>
      </p:sp>
      <p:sp>
        <p:nvSpPr>
          <p:cNvPr id="22" name="Text 20"/>
          <p:cNvSpPr txBox="1"/>
          <p:nvPr/>
        </p:nvSpPr>
        <p:spPr>
          <a:xfrm>
            <a:off x="685800" y="4700016"/>
            <a:ext cx="2148840" cy="347472"/>
          </a:xfrm>
          <a:prstGeom prst="rect">
            <a:avLst/>
          </a:prstGeom>
          <a:noFill/>
          <a:ln/>
        </p:spPr>
        <p:txBody>
          <a:bodyPr wrap="square" lIns="0" tIns="0" rIns="0" bIns="0" rtlCol="0" anchor="ctr"/>
          <a:lstStyle/>
          <a:p>
            <a:pPr indent="0" marL="0">
              <a:buNone/>
            </a:pPr>
            <a:r>
              <a:rPr lang="en-US" sz="1700" dirty="0">
                <a:solidFill>
                  <a:srgbClr val="15201A"/>
                </a:solidFill>
                <a:latin typeface="Schibsted Grotesk" pitchFamily="34" charset="0"/>
                <a:ea typeface="Schibsted Grotesk" pitchFamily="34" charset="-122"/>
                <a:cs typeface="Schibsted Grotesk" pitchFamily="34" charset="-120"/>
              </a:rPr>
              <a:t>Hosting</a:t>
            </a:r>
            <a:endParaRPr lang="en-US" sz="1700" dirty="0"/>
          </a:p>
        </p:txBody>
      </p:sp>
      <p:sp>
        <p:nvSpPr>
          <p:cNvPr id="23" name="Shape 21"/>
          <p:cNvSpPr/>
          <p:nvPr/>
        </p:nvSpPr>
        <p:spPr>
          <a:xfrm>
            <a:off x="2926080" y="4791456"/>
            <a:ext cx="102326" cy="182880"/>
          </a:xfrm>
          <a:prstGeom prst="rect">
            <a:avLst/>
          </a:prstGeom>
          <a:solidFill>
            <a:srgbClr val="BDC3BA"/>
          </a:solidFill>
          <a:ln w="12700">
            <a:solidFill>
              <a:srgbClr val="BDC3BA"/>
            </a:solidFill>
            <a:prstDash val="solid"/>
          </a:ln>
        </p:spPr>
      </p:sp>
      <p:sp>
        <p:nvSpPr>
          <p:cNvPr id="24" name="Text 22"/>
          <p:cNvSpPr txBox="1"/>
          <p:nvPr/>
        </p:nvSpPr>
        <p:spPr>
          <a:xfrm>
            <a:off x="5120640" y="4700016"/>
            <a:ext cx="868680" cy="347472"/>
          </a:xfrm>
          <a:prstGeom prst="rect">
            <a:avLst/>
          </a:prstGeom>
          <a:noFill/>
          <a:ln/>
        </p:spPr>
        <p:txBody>
          <a:bodyPr wrap="square" lIns="0" tIns="0" rIns="0" bIns="0" rtlCol="0" anchor="ctr"/>
          <a:lstStyle/>
          <a:p>
            <a:pPr algn="r" indent="0" marL="0">
              <a:buNone/>
            </a:pPr>
            <a:r>
              <a:rPr lang="en-US" sz="1700" b="1" dirty="0">
                <a:solidFill>
                  <a:srgbClr val="15201A"/>
                </a:solidFill>
                <a:latin typeface="Schibsted Grotesk" pitchFamily="34" charset="0"/>
                <a:ea typeface="Schibsted Grotesk" pitchFamily="34" charset="-122"/>
                <a:cs typeface="Schibsted Grotesk" pitchFamily="34" charset="-120"/>
              </a:rPr>
              <a:t>$50</a:t>
            </a:r>
            <a:endParaRPr lang="en-US" sz="1700" dirty="0"/>
          </a:p>
        </p:txBody>
      </p:sp>
      <p:sp>
        <p:nvSpPr>
          <p:cNvPr id="25" name="Shape 23"/>
          <p:cNvSpPr/>
          <p:nvPr/>
        </p:nvSpPr>
        <p:spPr>
          <a:xfrm>
            <a:off x="685800" y="5175504"/>
            <a:ext cx="5303520" cy="0"/>
          </a:xfrm>
          <a:prstGeom prst="line">
            <a:avLst/>
          </a:prstGeom>
          <a:noFill/>
          <a:ln w="15875">
            <a:solidFill>
              <a:srgbClr val="15201A"/>
            </a:solidFill>
            <a:prstDash val="solid"/>
          </a:ln>
        </p:spPr>
      </p:sp>
      <p:sp>
        <p:nvSpPr>
          <p:cNvPr id="26" name="Text 24"/>
          <p:cNvSpPr txBox="1"/>
          <p:nvPr/>
        </p:nvSpPr>
        <p:spPr>
          <a:xfrm>
            <a:off x="685800" y="5266944"/>
            <a:ext cx="1828800" cy="457200"/>
          </a:xfrm>
          <a:prstGeom prst="rect">
            <a:avLst/>
          </a:prstGeom>
          <a:noFill/>
          <a:ln/>
        </p:spPr>
        <p:txBody>
          <a:bodyPr wrap="square" lIns="0" tIns="0" rIns="0" bIns="0" rtlCol="0" anchor="ctr"/>
          <a:lstStyle/>
          <a:p>
            <a:pPr indent="0" marL="0">
              <a:buNone/>
            </a:pPr>
            <a:r>
              <a:rPr lang="en-US" sz="1800" b="1" dirty="0">
                <a:solidFill>
                  <a:srgbClr val="15201A"/>
                </a:solidFill>
                <a:latin typeface="Schibsted Grotesk" pitchFamily="34" charset="0"/>
                <a:ea typeface="Schibsted Grotesk" pitchFamily="34" charset="-122"/>
                <a:cs typeface="Schibsted Grotesk" pitchFamily="34" charset="-120"/>
              </a:rPr>
              <a:t>Total</a:t>
            </a:r>
            <a:endParaRPr lang="en-US" sz="1800" dirty="0"/>
          </a:p>
        </p:txBody>
      </p:sp>
      <p:sp>
        <p:nvSpPr>
          <p:cNvPr id="27" name="Text 25"/>
          <p:cNvSpPr txBox="1"/>
          <p:nvPr/>
        </p:nvSpPr>
        <p:spPr>
          <a:xfrm>
            <a:off x="3977640" y="5230368"/>
            <a:ext cx="2011680" cy="512064"/>
          </a:xfrm>
          <a:prstGeom prst="rect">
            <a:avLst/>
          </a:prstGeom>
          <a:noFill/>
          <a:ln/>
        </p:spPr>
        <p:txBody>
          <a:bodyPr wrap="square" lIns="0" tIns="0" rIns="0" bIns="0" rtlCol="0" anchor="ctr"/>
          <a:lstStyle/>
          <a:p>
            <a:pPr algn="r" indent="0" marL="0">
              <a:buNone/>
            </a:pPr>
            <a:r>
              <a:rPr lang="en-US" sz="2800" b="1" dirty="0">
                <a:solidFill>
                  <a:srgbClr val="15201A"/>
                </a:solidFill>
                <a:latin typeface="Schibsted Grotesk" pitchFamily="34" charset="0"/>
                <a:ea typeface="Schibsted Grotesk" pitchFamily="34" charset="-122"/>
                <a:cs typeface="Schibsted Grotesk" pitchFamily="34" charset="-120"/>
              </a:rPr>
              <a:t>$2,500</a:t>
            </a:r>
            <a:endParaRPr lang="en-US" sz="2800" dirty="0"/>
          </a:p>
        </p:txBody>
      </p:sp>
      <p:sp>
        <p:nvSpPr>
          <p:cNvPr id="28" name="Shape 26"/>
          <p:cNvSpPr/>
          <p:nvPr/>
        </p:nvSpPr>
        <p:spPr>
          <a:xfrm>
            <a:off x="6438748" y="1874520"/>
            <a:ext cx="5067148" cy="3886200"/>
          </a:xfrm>
          <a:prstGeom prst="rect">
            <a:avLst/>
          </a:prstGeom>
          <a:solidFill>
            <a:srgbClr val="FFFFFF"/>
          </a:solidFill>
          <a:ln w="9525">
            <a:solidFill>
              <a:srgbClr val="D9D4C7"/>
            </a:solidFill>
            <a:prstDash val="solid"/>
          </a:ln>
        </p:spPr>
      </p:sp>
      <p:sp>
        <p:nvSpPr>
          <p:cNvPr id="29" name="Text 27"/>
          <p:cNvSpPr txBox="1"/>
          <p:nvPr/>
        </p:nvSpPr>
        <p:spPr>
          <a:xfrm>
            <a:off x="6713068" y="2148840"/>
            <a:ext cx="4518508" cy="365760"/>
          </a:xfrm>
          <a:prstGeom prst="rect">
            <a:avLst/>
          </a:prstGeom>
          <a:noFill/>
          <a:ln/>
        </p:spPr>
        <p:txBody>
          <a:bodyPr wrap="square" lIns="0" tIns="0" rIns="0" bIns="0" rtlCol="0" anchor="t"/>
          <a:lstStyle/>
          <a:p>
            <a:pPr indent="0" marL="0">
              <a:buNone/>
            </a:pPr>
            <a:r>
              <a:rPr lang="en-US" sz="1900" b="1" dirty="0">
                <a:solidFill>
                  <a:srgbClr val="15201A"/>
                </a:solidFill>
                <a:latin typeface="Schibsted Grotesk" pitchFamily="34" charset="0"/>
                <a:ea typeface="Schibsted Grotesk" pitchFamily="34" charset="-122"/>
                <a:cs typeface="Schibsted Grotesk" pitchFamily="34" charset="-120"/>
              </a:rPr>
              <a:t>How it fits the USC Grant rules</a:t>
            </a:r>
            <a:endParaRPr lang="en-US" sz="1900" dirty="0"/>
          </a:p>
        </p:txBody>
      </p:sp>
      <p:sp>
        <p:nvSpPr>
          <p:cNvPr id="30" name="Shape 28"/>
          <p:cNvSpPr/>
          <p:nvPr/>
        </p:nvSpPr>
        <p:spPr>
          <a:xfrm>
            <a:off x="6713068" y="2587752"/>
            <a:ext cx="4518508" cy="0"/>
          </a:xfrm>
          <a:prstGeom prst="line">
            <a:avLst/>
          </a:prstGeom>
          <a:noFill/>
          <a:ln w="9525">
            <a:solidFill>
              <a:srgbClr val="D9D4C7"/>
            </a:solidFill>
            <a:prstDash val="solid"/>
          </a:ln>
        </p:spPr>
      </p:sp>
      <p:sp>
        <p:nvSpPr>
          <p:cNvPr id="31" name="Text 29"/>
          <p:cNvSpPr txBox="1"/>
          <p:nvPr/>
        </p:nvSpPr>
        <p:spPr>
          <a:xfrm>
            <a:off x="6713068" y="2697480"/>
            <a:ext cx="4518508" cy="274320"/>
          </a:xfrm>
          <a:prstGeom prst="rect">
            <a:avLst/>
          </a:prstGeom>
          <a:noFill/>
          <a:ln/>
        </p:spPr>
        <p:txBody>
          <a:bodyPr wrap="square" lIns="0" tIns="0" rIns="0" bIns="0" rtlCol="0" anchor="t"/>
          <a:lstStyle/>
          <a:p>
            <a:pPr indent="0" marL="0">
              <a:buNone/>
            </a:pPr>
            <a:r>
              <a:rPr lang="en-US" sz="1500" b="1" dirty="0">
                <a:solidFill>
                  <a:srgbClr val="1D5E40"/>
                </a:solidFill>
                <a:latin typeface="Schibsted Grotesk" pitchFamily="34" charset="0"/>
                <a:ea typeface="Schibsted Grotesk" pitchFamily="34" charset="-122"/>
                <a:cs typeface="Schibsted Grotesk" pitchFamily="34" charset="-120"/>
              </a:rPr>
              <a:t>Who applies</a:t>
            </a:r>
            <a:endParaRPr lang="en-US" sz="1500" dirty="0"/>
          </a:p>
        </p:txBody>
      </p:sp>
      <p:sp>
        <p:nvSpPr>
          <p:cNvPr id="32" name="Text 30"/>
          <p:cNvSpPr txBox="1"/>
          <p:nvPr/>
        </p:nvSpPr>
        <p:spPr>
          <a:xfrm>
            <a:off x="6713068" y="2990088"/>
            <a:ext cx="4518508" cy="329184"/>
          </a:xfrm>
          <a:prstGeom prst="rect">
            <a:avLst/>
          </a:prstGeom>
          <a:noFill/>
          <a:ln/>
        </p:spPr>
        <p:txBody>
          <a:bodyPr wrap="square" lIns="0" tIns="0" rIns="0" bIns="0" rtlCol="0" anchor="t"/>
          <a:lstStyle/>
          <a:p>
            <a:pPr indent="0" marL="0">
              <a:buNone/>
            </a:pPr>
            <a:r>
              <a:rPr lang="en-US" sz="1700" dirty="0">
                <a:solidFill>
                  <a:srgbClr val="15201A"/>
                </a:solidFill>
                <a:latin typeface="Schibsted Grotesk" pitchFamily="34" charset="0"/>
                <a:ea typeface="Schibsted Grotesk" pitchFamily="34" charset="-122"/>
                <a:cs typeface="Schibsted Grotesk" pitchFamily="34" charset="-120"/>
              </a:rPr>
              <a:t>Our team; Food Support joins as a partner.</a:t>
            </a:r>
            <a:endParaRPr lang="en-US" sz="1700" dirty="0"/>
          </a:p>
        </p:txBody>
      </p:sp>
      <p:sp>
        <p:nvSpPr>
          <p:cNvPr id="33" name="Shape 31"/>
          <p:cNvSpPr/>
          <p:nvPr/>
        </p:nvSpPr>
        <p:spPr>
          <a:xfrm>
            <a:off x="6713068" y="3337560"/>
            <a:ext cx="4518508" cy="0"/>
          </a:xfrm>
          <a:prstGeom prst="line">
            <a:avLst/>
          </a:prstGeom>
          <a:noFill/>
          <a:ln w="9525">
            <a:solidFill>
              <a:srgbClr val="D9D4C7"/>
            </a:solidFill>
            <a:prstDash val="solid"/>
          </a:ln>
        </p:spPr>
      </p:sp>
      <p:sp>
        <p:nvSpPr>
          <p:cNvPr id="34" name="Text 32"/>
          <p:cNvSpPr txBox="1"/>
          <p:nvPr/>
        </p:nvSpPr>
        <p:spPr>
          <a:xfrm>
            <a:off x="6713068" y="3447288"/>
            <a:ext cx="4518508" cy="274320"/>
          </a:xfrm>
          <a:prstGeom prst="rect">
            <a:avLst/>
          </a:prstGeom>
          <a:noFill/>
          <a:ln/>
        </p:spPr>
        <p:txBody>
          <a:bodyPr wrap="square" lIns="0" tIns="0" rIns="0" bIns="0" rtlCol="0" anchor="t"/>
          <a:lstStyle/>
          <a:p>
            <a:pPr indent="0" marL="0">
              <a:buNone/>
            </a:pPr>
            <a:r>
              <a:rPr lang="en-US" sz="1500" b="1" dirty="0">
                <a:solidFill>
                  <a:srgbClr val="1D5E40"/>
                </a:solidFill>
                <a:latin typeface="Schibsted Grotesk" pitchFamily="34" charset="0"/>
                <a:ea typeface="Schibsted Grotesk" pitchFamily="34" charset="-122"/>
                <a:cs typeface="Schibsted Grotesk" pitchFamily="34" charset="-120"/>
              </a:rPr>
              <a:t>No equipment purchases</a:t>
            </a:r>
            <a:endParaRPr lang="en-US" sz="1500" dirty="0"/>
          </a:p>
        </p:txBody>
      </p:sp>
      <p:sp>
        <p:nvSpPr>
          <p:cNvPr id="35" name="Text 33"/>
          <p:cNvSpPr txBox="1"/>
          <p:nvPr/>
        </p:nvSpPr>
        <p:spPr>
          <a:xfrm>
            <a:off x="6713068" y="3739896"/>
            <a:ext cx="4518508" cy="329184"/>
          </a:xfrm>
          <a:prstGeom prst="rect">
            <a:avLst/>
          </a:prstGeom>
          <a:noFill/>
          <a:ln/>
        </p:spPr>
        <p:txBody>
          <a:bodyPr wrap="square" lIns="0" tIns="0" rIns="0" bIns="0" rtlCol="0" anchor="t"/>
          <a:lstStyle/>
          <a:p>
            <a:pPr indent="0" marL="0">
              <a:buNone/>
            </a:pPr>
            <a:r>
              <a:rPr lang="en-US" sz="1700" dirty="0">
                <a:solidFill>
                  <a:srgbClr val="15201A"/>
                </a:solidFill>
                <a:latin typeface="Schibsted Grotesk" pitchFamily="34" charset="0"/>
                <a:ea typeface="Schibsted Grotesk" pitchFamily="34" charset="-122"/>
                <a:cs typeface="Schibsted Grotesk" pitchFamily="34" charset="-120"/>
              </a:rPr>
              <a:t>Shelving is borrowed, not bought.</a:t>
            </a:r>
            <a:endParaRPr lang="en-US" sz="1700" dirty="0"/>
          </a:p>
        </p:txBody>
      </p:sp>
      <p:sp>
        <p:nvSpPr>
          <p:cNvPr id="36" name="Shape 34"/>
          <p:cNvSpPr/>
          <p:nvPr/>
        </p:nvSpPr>
        <p:spPr>
          <a:xfrm>
            <a:off x="6713068" y="4087368"/>
            <a:ext cx="4518508" cy="0"/>
          </a:xfrm>
          <a:prstGeom prst="line">
            <a:avLst/>
          </a:prstGeom>
          <a:noFill/>
          <a:ln w="9525">
            <a:solidFill>
              <a:srgbClr val="D9D4C7"/>
            </a:solidFill>
            <a:prstDash val="solid"/>
          </a:ln>
        </p:spPr>
      </p:sp>
      <p:sp>
        <p:nvSpPr>
          <p:cNvPr id="37" name="Text 35"/>
          <p:cNvSpPr txBox="1"/>
          <p:nvPr/>
        </p:nvSpPr>
        <p:spPr>
          <a:xfrm>
            <a:off x="6713068" y="4197096"/>
            <a:ext cx="4518508" cy="274320"/>
          </a:xfrm>
          <a:prstGeom prst="rect">
            <a:avLst/>
          </a:prstGeom>
          <a:noFill/>
          <a:ln/>
        </p:spPr>
        <p:txBody>
          <a:bodyPr wrap="square" lIns="0" tIns="0" rIns="0" bIns="0" rtlCol="0" anchor="t"/>
          <a:lstStyle/>
          <a:p>
            <a:pPr indent="0" marL="0">
              <a:buNone/>
            </a:pPr>
            <a:r>
              <a:rPr lang="en-US" sz="1500" b="1" dirty="0">
                <a:solidFill>
                  <a:srgbClr val="1D5E40"/>
                </a:solidFill>
                <a:latin typeface="Schibsted Grotesk" pitchFamily="34" charset="0"/>
                <a:ea typeface="Schibsted Grotesk" pitchFamily="34" charset="-122"/>
                <a:cs typeface="Schibsted Grotesk" pitchFamily="34" charset="-120"/>
              </a:rPr>
              <a:t>No ongoing costs</a:t>
            </a:r>
            <a:endParaRPr lang="en-US" sz="1500" dirty="0"/>
          </a:p>
        </p:txBody>
      </p:sp>
      <p:sp>
        <p:nvSpPr>
          <p:cNvPr id="38" name="Text 36"/>
          <p:cNvSpPr txBox="1"/>
          <p:nvPr/>
        </p:nvSpPr>
        <p:spPr>
          <a:xfrm>
            <a:off x="6713068" y="4489704"/>
            <a:ext cx="4518508" cy="329184"/>
          </a:xfrm>
          <a:prstGeom prst="rect">
            <a:avLst/>
          </a:prstGeom>
          <a:noFill/>
          <a:ln/>
        </p:spPr>
        <p:txBody>
          <a:bodyPr wrap="square" lIns="0" tIns="0" rIns="0" bIns="0" rtlCol="0" anchor="t"/>
          <a:lstStyle/>
          <a:p>
            <a:pPr indent="0" marL="0">
              <a:buNone/>
            </a:pPr>
            <a:r>
              <a:rPr lang="en-US" sz="1700" dirty="0">
                <a:solidFill>
                  <a:srgbClr val="15201A"/>
                </a:solidFill>
                <a:latin typeface="Schibsted Grotesk" pitchFamily="34" charset="0"/>
                <a:ea typeface="Schibsted Grotesk" pitchFamily="34" charset="-122"/>
                <a:cs typeface="Schibsted Grotesk" pitchFamily="34" charset="-120"/>
              </a:rPr>
              <a:t>An 11-week project with a final report.</a:t>
            </a:r>
            <a:endParaRPr lang="en-US" sz="1700" dirty="0"/>
          </a:p>
        </p:txBody>
      </p:sp>
      <p:sp>
        <p:nvSpPr>
          <p:cNvPr id="39" name="Shape 37"/>
          <p:cNvSpPr/>
          <p:nvPr/>
        </p:nvSpPr>
        <p:spPr>
          <a:xfrm>
            <a:off x="6713068" y="4837176"/>
            <a:ext cx="4518508" cy="0"/>
          </a:xfrm>
          <a:prstGeom prst="line">
            <a:avLst/>
          </a:prstGeom>
          <a:noFill/>
          <a:ln w="9525">
            <a:solidFill>
              <a:srgbClr val="D9D4C7"/>
            </a:solidFill>
            <a:prstDash val="solid"/>
          </a:ln>
        </p:spPr>
      </p:sp>
      <p:sp>
        <p:nvSpPr>
          <p:cNvPr id="40" name="Text 38"/>
          <p:cNvSpPr txBox="1"/>
          <p:nvPr/>
        </p:nvSpPr>
        <p:spPr>
          <a:xfrm>
            <a:off x="6713068" y="4946904"/>
            <a:ext cx="4518508" cy="274320"/>
          </a:xfrm>
          <a:prstGeom prst="rect">
            <a:avLst/>
          </a:prstGeom>
          <a:noFill/>
          <a:ln/>
        </p:spPr>
        <p:txBody>
          <a:bodyPr wrap="square" lIns="0" tIns="0" rIns="0" bIns="0" rtlCol="0" anchor="t"/>
          <a:lstStyle/>
          <a:p>
            <a:pPr indent="0" marL="0">
              <a:buNone/>
            </a:pPr>
            <a:r>
              <a:rPr lang="en-US" sz="1500" b="1" dirty="0">
                <a:solidFill>
                  <a:srgbClr val="1D5E40"/>
                </a:solidFill>
                <a:latin typeface="Schibsted Grotesk" pitchFamily="34" charset="0"/>
                <a:ea typeface="Schibsted Grotesk" pitchFamily="34" charset="-122"/>
                <a:cs typeface="Schibsted Grotesk" pitchFamily="34" charset="-120"/>
              </a:rPr>
              <a:t>10% match preferred</a:t>
            </a:r>
            <a:endParaRPr lang="en-US" sz="1500" dirty="0"/>
          </a:p>
        </p:txBody>
      </p:sp>
      <p:sp>
        <p:nvSpPr>
          <p:cNvPr id="41" name="Text 39"/>
          <p:cNvSpPr txBox="1"/>
          <p:nvPr/>
        </p:nvSpPr>
        <p:spPr>
          <a:xfrm>
            <a:off x="6713068" y="5239512"/>
            <a:ext cx="4518508" cy="329184"/>
          </a:xfrm>
          <a:prstGeom prst="rect">
            <a:avLst/>
          </a:prstGeom>
          <a:noFill/>
          <a:ln/>
        </p:spPr>
        <p:txBody>
          <a:bodyPr wrap="square" lIns="0" tIns="0" rIns="0" bIns="0" rtlCol="0" anchor="t"/>
          <a:lstStyle/>
          <a:p>
            <a:pPr indent="0" marL="0">
              <a:buNone/>
            </a:pPr>
            <a:r>
              <a:rPr lang="en-US" sz="1700" dirty="0">
                <a:solidFill>
                  <a:srgbClr val="15201A"/>
                </a:solidFill>
                <a:latin typeface="Schibsted Grotesk" pitchFamily="34" charset="0"/>
                <a:ea typeface="Schibsted Grotesk" pitchFamily="34" charset="-122"/>
                <a:cs typeface="Schibsted Grotesk" pitchFamily="34" charset="-120"/>
              </a:rPr>
              <a:t>Our team adds $250 of its own.</a:t>
            </a:r>
            <a:endParaRPr lang="en-US" sz="1700" dirty="0"/>
          </a:p>
        </p:txBody>
      </p:sp>
      <p:sp>
        <p:nvSpPr>
          <p:cNvPr id="42" name="Text 40"/>
          <p:cNvSpPr txBox="1"/>
          <p:nvPr/>
        </p:nvSpPr>
        <p:spPr>
          <a:xfrm>
            <a:off x="685800" y="5925312"/>
            <a:ext cx="10820095" cy="292608"/>
          </a:xfrm>
          <a:prstGeom prst="rect">
            <a:avLst/>
          </a:prstGeom>
          <a:noFill/>
          <a:ln/>
        </p:spPr>
        <p:txBody>
          <a:bodyPr wrap="square" lIns="0" tIns="0" rIns="0" bIns="0" rtlCol="0" anchor="b"/>
          <a:lstStyle/>
          <a:p>
            <a:pPr indent="0" marL="0">
              <a:buNone/>
            </a:pPr>
            <a:r>
              <a:rPr lang="en-US" sz="1100" dirty="0">
                <a:solidFill>
                  <a:srgbClr val="68716A"/>
                </a:solidFill>
                <a:latin typeface="Schibsted Grotesk" pitchFamily="34" charset="0"/>
                <a:ea typeface="Schibsted Grotesk" pitchFamily="34" charset="-122"/>
                <a:cs typeface="Schibsted Grotesk" pitchFamily="34" charset="-120"/>
              </a:rPr>
              <a:t>Source: USC Grants page, westernusc.ca, checked Oct 31, 2026. Amounts are our estimates. $2.50 per item at 1,000 items.</a:t>
            </a:r>
            <a:endParaRPr lang="en-US" sz="11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10241280" cy="1188720"/>
          </a:xfrm>
          <a:prstGeom prst="rect">
            <a:avLst/>
          </a:prstGeom>
          <a:noFill/>
          <a:ln/>
        </p:spPr>
        <p:txBody>
          <a:bodyPr wrap="square" lIns="0" tIns="0" rIns="0" bIns="0" rtlCol="0" anchor="t"/>
          <a:lstStyle/>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We will judge the pilot on five</a:t>
            </a:r>
            <a:endParaRPr lang="en-US" sz="3400" dirty="0"/>
          </a:p>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targets the app measures itself</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85800" y="1874520"/>
          <a:ext cx="6216472" cy="914400"/>
        </p:xfrm>
        <a:graphic>
          <a:graphicData uri="http://schemas.openxmlformats.org/drawingml/2006/table">
            <a:tbl>
              <a:tblPr/>
              <a:tblGrid>
                <a:gridCol w="2240280"/>
                <a:gridCol w="1188720"/>
                <a:gridCol w="2787472"/>
              </a:tblGrid>
              <a:tr h="475488">
                <a:tc>
                  <a:txBody>
                    <a:bodyPr/>
                    <a:lstStyle/>
                    <a:p>
                      <a:pPr indent="0" marL="0">
                        <a:buNone/>
                      </a:pPr>
                      <a:r>
                        <a:rPr lang="en-US" sz="1500" b="1" dirty="0">
                          <a:solidFill>
                            <a:srgbClr val="15201A"/>
                          </a:solidFill>
                          <a:latin typeface="Schibsted Grotesk" pitchFamily="34" charset="0"/>
                          <a:ea typeface="Schibsted Grotesk" pitchFamily="34" charset="-122"/>
                          <a:cs typeface="Schibsted Grotesk" pitchFamily="34" charset="-120"/>
                        </a:rPr>
                        <a:t>Target</a:t>
                      </a:r>
                      <a:endParaRPr lang="en-US" sz="15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15875" cap="flat" cmpd="sng" algn="ctr">
                      <a:solidFill>
                        <a:srgbClr val="15201A"/>
                      </a:solidFill>
                      <a:prstDash val="solid"/>
                      <a:round/>
                      <a:headEnd type="none" w="med" len="med"/>
                      <a:tailEnd type="none" w="med" len="med"/>
                    </a:lnB>
                    <a:solidFill>
                      <a:srgbClr val="F7F5EF"/>
                    </a:solidFill>
                  </a:tcPr>
                </a:tc>
                <a:tc>
                  <a:txBody>
                    <a:bodyPr/>
                    <a:lstStyle/>
                    <a:p>
                      <a:pPr indent="0" marL="0">
                        <a:buNone/>
                      </a:pPr>
                      <a:r>
                        <a:rPr lang="en-US" sz="1500" b="1" dirty="0">
                          <a:solidFill>
                            <a:srgbClr val="15201A"/>
                          </a:solidFill>
                          <a:latin typeface="Schibsted Grotesk" pitchFamily="34" charset="0"/>
                          <a:ea typeface="Schibsted Grotesk" pitchFamily="34" charset="-122"/>
                          <a:cs typeface="Schibsted Grotesk" pitchFamily="34" charset="-120"/>
                        </a:rPr>
                        <a:t>Goal</a:t>
                      </a:r>
                      <a:endParaRPr lang="en-US" sz="15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15875" cap="flat" cmpd="sng" algn="ctr">
                      <a:solidFill>
                        <a:srgbClr val="15201A"/>
                      </a:solidFill>
                      <a:prstDash val="solid"/>
                      <a:round/>
                      <a:headEnd type="none" w="med" len="med"/>
                      <a:tailEnd type="none" w="med" len="med"/>
                    </a:lnB>
                    <a:solidFill>
                      <a:srgbClr val="F7F5EF"/>
                    </a:solidFill>
                  </a:tcPr>
                </a:tc>
                <a:tc>
                  <a:txBody>
                    <a:bodyPr/>
                    <a:lstStyle/>
                    <a:p>
                      <a:pPr indent="0" marL="0">
                        <a:buNone/>
                      </a:pPr>
                      <a:r>
                        <a:rPr lang="en-US" sz="1500" b="1" dirty="0">
                          <a:solidFill>
                            <a:srgbClr val="15201A"/>
                          </a:solidFill>
                          <a:latin typeface="Schibsted Grotesk" pitchFamily="34" charset="0"/>
                          <a:ea typeface="Schibsted Grotesk" pitchFamily="34" charset="-122"/>
                          <a:cs typeface="Schibsted Grotesk" pitchFamily="34" charset="-120"/>
                        </a:rPr>
                        <a:t>How the app measures it</a:t>
                      </a:r>
                      <a:endParaRPr lang="en-US" sz="15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15875" cap="flat" cmpd="sng" algn="ctr">
                      <a:solidFill>
                        <a:srgbClr val="15201A"/>
                      </a:solidFill>
                      <a:prstDash val="solid"/>
                      <a:round/>
                      <a:headEnd type="none" w="med" len="med"/>
                      <a:tailEnd type="none" w="med" len="med"/>
                    </a:lnB>
                    <a:solidFill>
                      <a:srgbClr val="F7F5EF"/>
                    </a:solidFill>
                  </a:tcPr>
                </a:tc>
              </a:tr>
              <a:tr h="475488">
                <a:tc>
                  <a:txBody>
                    <a:bodyPr/>
                    <a:lstStyle/>
                    <a:p>
                      <a:pPr indent="0" marL="0">
                        <a:buNone/>
                      </a:pPr>
                      <a:r>
                        <a:rPr lang="en-US" sz="1600" b="1" dirty="0">
                          <a:solidFill>
                            <a:srgbClr val="15201A"/>
                          </a:solidFill>
                          <a:latin typeface="Schibsted Grotesk" pitchFamily="34" charset="0"/>
                          <a:ea typeface="Schibsted Grotesk" pitchFamily="34" charset="-122"/>
                          <a:cs typeface="Schibsted Grotesk" pitchFamily="34" charset="-120"/>
                        </a:rPr>
                        <a:t>Items taken</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1,000</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Shelf counts</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475488">
                <a:tc>
                  <a:txBody>
                    <a:bodyPr/>
                    <a:lstStyle/>
                    <a:p>
                      <a:pPr indent="0" marL="0">
                        <a:buNone/>
                      </a:pPr>
                      <a:r>
                        <a:rPr lang="en-US" sz="1600" b="1" dirty="0">
                          <a:solidFill>
                            <a:srgbClr val="15201A"/>
                          </a:solidFill>
                          <a:latin typeface="Schibsted Grotesk" pitchFamily="34" charset="0"/>
                          <a:ea typeface="Schibsted Grotesk" pitchFamily="34" charset="-122"/>
                          <a:cs typeface="Schibsted Grotesk" pitchFamily="34" charset="-120"/>
                        </a:rPr>
                        <a:t>Thrown away</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Under 5%</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Expired items removed</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475488">
                <a:tc>
                  <a:txBody>
                    <a:bodyPr/>
                    <a:lstStyle/>
                    <a:p>
                      <a:pPr indent="0" marL="0">
                        <a:buNone/>
                      </a:pPr>
                      <a:r>
                        <a:rPr lang="en-US" sz="1600" b="1" dirty="0">
                          <a:solidFill>
                            <a:srgbClr val="15201A"/>
                          </a:solidFill>
                          <a:latin typeface="Schibsted Grotesk" pitchFamily="34" charset="0"/>
                          <a:ea typeface="Schibsted Grotesk" pitchFamily="34" charset="-122"/>
                          <a:cs typeface="Schibsted Grotesk" pitchFamily="34" charset="-120"/>
                        </a:rPr>
                        <a:t>Empty to restocked</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Under 2 h</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Report-to-restock median</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475488">
                <a:tc>
                  <a:txBody>
                    <a:bodyPr/>
                    <a:lstStyle/>
                    <a:p>
                      <a:pPr indent="0" marL="0">
                        <a:buNone/>
                      </a:pPr>
                      <a:r>
                        <a:rPr lang="en-US" sz="1600" b="1" dirty="0">
                          <a:solidFill>
                            <a:srgbClr val="15201A"/>
                          </a:solidFill>
                          <a:latin typeface="Schibsted Grotesk" pitchFamily="34" charset="0"/>
                          <a:ea typeface="Schibsted Grotesk" pitchFamily="34" charset="-122"/>
                          <a:cs typeface="Schibsted Grotesk" pitchFamily="34" charset="-120"/>
                        </a:rPr>
                        <a:t>Surplus partners</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3</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Partners posting drops</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475488">
                <a:tc>
                  <a:txBody>
                    <a:bodyPr/>
                    <a:lstStyle/>
                    <a:p>
                      <a:pPr indent="0" marL="0">
                        <a:buNone/>
                      </a:pPr>
                      <a:r>
                        <a:rPr lang="en-US" sz="1600" b="1" dirty="0">
                          <a:solidFill>
                            <a:srgbClr val="15201A"/>
                          </a:solidFill>
                          <a:latin typeface="Schibsted Grotesk" pitchFamily="34" charset="0"/>
                          <a:ea typeface="Schibsted Grotesk" pitchFamily="34" charset="-122"/>
                          <a:cs typeface="Schibsted Grotesk" pitchFamily="34" charset="-120"/>
                        </a:rPr>
                        <a:t>Safety incidents</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0</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Incident log</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bl>
          </a:graphicData>
        </a:graphic>
      </p:graphicFrame>
      <p:sp>
        <p:nvSpPr>
          <p:cNvPr id="4" name="Text 1"/>
          <p:cNvSpPr txBox="1"/>
          <p:nvPr/>
        </p:nvSpPr>
        <p:spPr>
          <a:xfrm>
            <a:off x="685800" y="5074920"/>
            <a:ext cx="6216472" cy="685800"/>
          </a:xfrm>
          <a:prstGeom prst="rect">
            <a:avLst/>
          </a:prstGeom>
          <a:noFill/>
          <a:ln/>
        </p:spPr>
        <p:txBody>
          <a:bodyPr wrap="square" lIns="0" tIns="0" rIns="0" bIns="0" rtlCol="0" anchor="t"/>
          <a:lstStyle/>
          <a:p>
            <a:pPr indent="0" marL="0">
              <a:buNone/>
            </a:pPr>
            <a:r>
              <a:rPr lang="en-US" sz="1700" b="1" dirty="0">
                <a:solidFill>
                  <a:srgbClr val="15201A"/>
                </a:solidFill>
                <a:latin typeface="Schibsted Grotesk" pitchFamily="34" charset="0"/>
                <a:ea typeface="Schibsted Grotesk" pitchFamily="34" charset="-122"/>
                <a:cs typeface="Schibsted Grotesk" pitchFamily="34" charset="-120"/>
              </a:rPr>
              <a:t>Decision rule: </a:t>
            </a:r>
            <a:pPr indent="0" marL="0">
              <a:buNone/>
            </a:pPr>
            <a:r>
              <a:rPr lang="en-US" sz="1700" dirty="0">
                <a:solidFill>
                  <a:srgbClr val="38433C"/>
                </a:solidFill>
                <a:latin typeface="Schibsted Grotesk" pitchFamily="34" charset="0"/>
                <a:ea typeface="Schibsted Grotesk" pitchFamily="34" charset="-122"/>
                <a:cs typeface="Schibsted Grotesk" pitchFamily="34" charset="-120"/>
              </a:rPr>
              <a:t>continue at week 11 if four of the five targets are met. With one site, the items target is 500.</a:t>
            </a:r>
            <a:endParaRPr lang="en-US" sz="1700" dirty="0"/>
          </a:p>
        </p:txBody>
      </p:sp>
      <p:pic>
        <p:nvPicPr>
          <p:cNvPr id="5" name="Image 0" descr="/tmp/claude-0/-home-claude/cb850c95-8acd-5c96-8a28-bf7aa743d4f8/scratchpad/foodlink/deck/img3/impact-framed.png">    </p:cNvPr>
          <p:cNvPicPr>
            <a:picLocks noChangeAspect="1"/>
          </p:cNvPicPr>
          <p:nvPr/>
        </p:nvPicPr>
        <p:blipFill>
          <a:blip r:embed="rId1"/>
          <a:stretch>
            <a:fillRect/>
          </a:stretch>
        </p:blipFill>
        <p:spPr>
          <a:xfrm>
            <a:off x="7085152" y="1737360"/>
            <a:ext cx="4603623" cy="2849484"/>
          </a:xfrm>
          <a:prstGeom prst="rect">
            <a:avLst/>
          </a:prstGeom>
        </p:spPr>
      </p:pic>
      <p:sp>
        <p:nvSpPr>
          <p:cNvPr id="6" name="Shape 2"/>
          <p:cNvSpPr/>
          <p:nvPr/>
        </p:nvSpPr>
        <p:spPr>
          <a:xfrm>
            <a:off x="7450912" y="4531980"/>
            <a:ext cx="1463040" cy="310896"/>
          </a:xfrm>
          <a:prstGeom prst="rect">
            <a:avLst/>
          </a:prstGeom>
          <a:solidFill>
            <a:srgbClr val="113425"/>
          </a:solidFill>
          <a:ln w="12700">
            <a:solidFill>
              <a:srgbClr val="113425"/>
            </a:solidFill>
            <a:prstDash val="solid"/>
          </a:ln>
        </p:spPr>
      </p:sp>
      <p:sp>
        <p:nvSpPr>
          <p:cNvPr id="7" name="Text 3"/>
          <p:cNvSpPr txBox="1"/>
          <p:nvPr/>
        </p:nvSpPr>
        <p:spPr>
          <a:xfrm>
            <a:off x="7450912" y="4531980"/>
            <a:ext cx="1463040" cy="310896"/>
          </a:xfrm>
          <a:prstGeom prst="rect">
            <a:avLst/>
          </a:prstGeom>
          <a:noFill/>
          <a:ln/>
        </p:spPr>
        <p:txBody>
          <a:bodyPr wrap="square" lIns="0" tIns="0" rIns="0" bIns="0" rtlCol="0" anchor="ctr"/>
          <a:lstStyle/>
          <a:p>
            <a:pPr algn="ctr" indent="0" marL="0">
              <a:buNone/>
            </a:pPr>
            <a:r>
              <a:rPr lang="en-US" sz="1200" b="1" dirty="0">
                <a:solidFill>
                  <a:srgbClr val="F7F5EF"/>
                </a:solidFill>
                <a:latin typeface="Schibsted Grotesk" pitchFamily="34" charset="0"/>
                <a:ea typeface="Schibsted Grotesk" pitchFamily="34" charset="-122"/>
                <a:cs typeface="Schibsted Grotesk" pitchFamily="34" charset="-120"/>
              </a:rPr>
              <a:t>Simulated data</a:t>
            </a:r>
            <a:endParaRPr lang="en-US" sz="1200" dirty="0"/>
          </a:p>
        </p:txBody>
      </p:sp>
      <p:sp>
        <p:nvSpPr>
          <p:cNvPr id="8" name="Text 4"/>
          <p:cNvSpPr txBox="1"/>
          <p:nvPr/>
        </p:nvSpPr>
        <p:spPr>
          <a:xfrm>
            <a:off x="7450912" y="4934316"/>
            <a:ext cx="4054983" cy="320040"/>
          </a:xfrm>
          <a:prstGeom prst="rect">
            <a:avLst/>
          </a:prstGeom>
          <a:noFill/>
          <a:ln/>
        </p:spPr>
        <p:txBody>
          <a:bodyPr wrap="square" lIns="0" tIns="0" rIns="0" bIns="0" rtlCol="0" anchor="t"/>
          <a:lstStyle/>
          <a:p>
            <a:pPr indent="0" marL="0">
              <a:buNone/>
            </a:pPr>
            <a:r>
              <a:rPr lang="en-US" sz="1200" dirty="0">
                <a:solidFill>
                  <a:srgbClr val="68716A"/>
                </a:solidFill>
                <a:latin typeface="Schibsted Grotesk" pitchFamily="34" charset="0"/>
                <a:ea typeface="Schibsted Grotesk" pitchFamily="34" charset="-122"/>
                <a:cs typeface="Schibsted Grotesk" pitchFamily="34" charset="-120"/>
              </a:rPr>
              <a:t>The app’s dashboard. A demonstration, not results.</a:t>
            </a:r>
            <a:endParaRPr lang="en-US" sz="12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10241280" cy="1188720"/>
          </a:xfrm>
          <a:prstGeom prst="rect">
            <a:avLst/>
          </a:prstGeom>
          <a:noFill/>
          <a:ln/>
        </p:spPr>
        <p:txBody>
          <a:bodyPr wrap="square" lIns="0" tIns="0" rIns="0" bIns="0" rtlCol="0" anchor="t"/>
          <a:lstStyle/>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The pilot runs January to March,</a:t>
            </a:r>
            <a:endParaRPr lang="en-US" sz="3400" dirty="0"/>
          </a:p>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with a decision in week 11</a:t>
            </a:r>
            <a:endParaRPr lang="en-US" sz="3400" dirty="0"/>
          </a:p>
        </p:txBody>
      </p:sp>
      <p:sp>
        <p:nvSpPr>
          <p:cNvPr id="3" name="Text 1"/>
          <p:cNvSpPr txBox="1"/>
          <p:nvPr/>
        </p:nvSpPr>
        <p:spPr>
          <a:xfrm>
            <a:off x="6118708" y="1828800"/>
            <a:ext cx="868680" cy="274320"/>
          </a:xfrm>
          <a:prstGeom prst="rect">
            <a:avLst/>
          </a:prstGeom>
          <a:noFill/>
          <a:ln/>
        </p:spPr>
        <p:txBody>
          <a:bodyPr wrap="square" lIns="0" tIns="0" rIns="0" bIns="0" rtlCol="0" anchor="t"/>
          <a:lstStyle/>
          <a:p>
            <a:pPr algn="ctr" indent="0" marL="0">
              <a:buNone/>
            </a:pPr>
            <a:r>
              <a:rPr lang="en-US" sz="1300" b="1" dirty="0">
                <a:solidFill>
                  <a:srgbClr val="68716A"/>
                </a:solidFill>
                <a:latin typeface="Schibsted Grotesk" pitchFamily="34" charset="0"/>
                <a:ea typeface="Schibsted Grotesk" pitchFamily="34" charset="-122"/>
                <a:cs typeface="Schibsted Grotesk" pitchFamily="34" charset="-120"/>
              </a:rPr>
              <a:t>Nov–Dec</a:t>
            </a:r>
            <a:endParaRPr lang="en-US" sz="1300" dirty="0"/>
          </a:p>
        </p:txBody>
      </p:sp>
      <p:sp>
        <p:nvSpPr>
          <p:cNvPr id="4" name="Text 2"/>
          <p:cNvSpPr txBox="1"/>
          <p:nvPr/>
        </p:nvSpPr>
        <p:spPr>
          <a:xfrm>
            <a:off x="7023964" y="1828800"/>
            <a:ext cx="374197" cy="274320"/>
          </a:xfrm>
          <a:prstGeom prst="rect">
            <a:avLst/>
          </a:prstGeom>
          <a:noFill/>
          <a:ln/>
        </p:spPr>
        <p:txBody>
          <a:bodyPr wrap="square" lIns="0" tIns="0" rIns="0" bIns="0" rtlCol="0" anchor="t"/>
          <a:lstStyle/>
          <a:p>
            <a:pPr algn="ctr" indent="0" marL="0">
              <a:buNone/>
            </a:pPr>
            <a:r>
              <a:rPr lang="en-US" sz="1300" b="1" dirty="0">
                <a:solidFill>
                  <a:srgbClr val="68716A"/>
                </a:solidFill>
                <a:latin typeface="Schibsted Grotesk" pitchFamily="34" charset="0"/>
                <a:ea typeface="Schibsted Grotesk" pitchFamily="34" charset="-122"/>
                <a:cs typeface="Schibsted Grotesk" pitchFamily="34" charset="-120"/>
              </a:rPr>
              <a:t>W1</a:t>
            </a:r>
            <a:endParaRPr lang="en-US" sz="1300" dirty="0"/>
          </a:p>
        </p:txBody>
      </p:sp>
      <p:sp>
        <p:nvSpPr>
          <p:cNvPr id="5" name="Text 3"/>
          <p:cNvSpPr txBox="1"/>
          <p:nvPr/>
        </p:nvSpPr>
        <p:spPr>
          <a:xfrm>
            <a:off x="7434737" y="1828800"/>
            <a:ext cx="374197" cy="274320"/>
          </a:xfrm>
          <a:prstGeom prst="rect">
            <a:avLst/>
          </a:prstGeom>
          <a:noFill/>
          <a:ln/>
        </p:spPr>
        <p:txBody>
          <a:bodyPr wrap="square" lIns="0" tIns="0" rIns="0" bIns="0" rtlCol="0" anchor="t"/>
          <a:lstStyle/>
          <a:p>
            <a:pPr algn="ctr" indent="0" marL="0">
              <a:buNone/>
            </a:pPr>
            <a:r>
              <a:rPr lang="en-US" sz="1300" b="1" dirty="0">
                <a:solidFill>
                  <a:srgbClr val="68716A"/>
                </a:solidFill>
                <a:latin typeface="Schibsted Grotesk" pitchFamily="34" charset="0"/>
                <a:ea typeface="Schibsted Grotesk" pitchFamily="34" charset="-122"/>
                <a:cs typeface="Schibsted Grotesk" pitchFamily="34" charset="-120"/>
              </a:rPr>
              <a:t>W2</a:t>
            </a:r>
            <a:endParaRPr lang="en-US" sz="1300" dirty="0"/>
          </a:p>
        </p:txBody>
      </p:sp>
      <p:sp>
        <p:nvSpPr>
          <p:cNvPr id="6" name="Text 4"/>
          <p:cNvSpPr txBox="1"/>
          <p:nvPr/>
        </p:nvSpPr>
        <p:spPr>
          <a:xfrm>
            <a:off x="7845510" y="1828800"/>
            <a:ext cx="374197" cy="274320"/>
          </a:xfrm>
          <a:prstGeom prst="rect">
            <a:avLst/>
          </a:prstGeom>
          <a:noFill/>
          <a:ln/>
        </p:spPr>
        <p:txBody>
          <a:bodyPr wrap="square" lIns="0" tIns="0" rIns="0" bIns="0" rtlCol="0" anchor="t"/>
          <a:lstStyle/>
          <a:p>
            <a:pPr algn="ctr" indent="0" marL="0">
              <a:buNone/>
            </a:pPr>
            <a:r>
              <a:rPr lang="en-US" sz="1300" b="1" dirty="0">
                <a:solidFill>
                  <a:srgbClr val="68716A"/>
                </a:solidFill>
                <a:latin typeface="Schibsted Grotesk" pitchFamily="34" charset="0"/>
                <a:ea typeface="Schibsted Grotesk" pitchFamily="34" charset="-122"/>
                <a:cs typeface="Schibsted Grotesk" pitchFamily="34" charset="-120"/>
              </a:rPr>
              <a:t>W3</a:t>
            </a:r>
            <a:endParaRPr lang="en-US" sz="1300" dirty="0"/>
          </a:p>
        </p:txBody>
      </p:sp>
      <p:sp>
        <p:nvSpPr>
          <p:cNvPr id="7" name="Text 5"/>
          <p:cNvSpPr txBox="1"/>
          <p:nvPr/>
        </p:nvSpPr>
        <p:spPr>
          <a:xfrm>
            <a:off x="8256284" y="1828800"/>
            <a:ext cx="374197" cy="274320"/>
          </a:xfrm>
          <a:prstGeom prst="rect">
            <a:avLst/>
          </a:prstGeom>
          <a:noFill/>
          <a:ln/>
        </p:spPr>
        <p:txBody>
          <a:bodyPr wrap="square" lIns="0" tIns="0" rIns="0" bIns="0" rtlCol="0" anchor="t"/>
          <a:lstStyle/>
          <a:p>
            <a:pPr algn="ctr" indent="0" marL="0">
              <a:buNone/>
            </a:pPr>
            <a:r>
              <a:rPr lang="en-US" sz="1300" b="1" dirty="0">
                <a:solidFill>
                  <a:srgbClr val="68716A"/>
                </a:solidFill>
                <a:latin typeface="Schibsted Grotesk" pitchFamily="34" charset="0"/>
                <a:ea typeface="Schibsted Grotesk" pitchFamily="34" charset="-122"/>
                <a:cs typeface="Schibsted Grotesk" pitchFamily="34" charset="-120"/>
              </a:rPr>
              <a:t>W4</a:t>
            </a:r>
            <a:endParaRPr lang="en-US" sz="1300" dirty="0"/>
          </a:p>
        </p:txBody>
      </p:sp>
      <p:sp>
        <p:nvSpPr>
          <p:cNvPr id="8" name="Text 6"/>
          <p:cNvSpPr txBox="1"/>
          <p:nvPr/>
        </p:nvSpPr>
        <p:spPr>
          <a:xfrm>
            <a:off x="8667057" y="1828800"/>
            <a:ext cx="374197" cy="274320"/>
          </a:xfrm>
          <a:prstGeom prst="rect">
            <a:avLst/>
          </a:prstGeom>
          <a:noFill/>
          <a:ln/>
        </p:spPr>
        <p:txBody>
          <a:bodyPr wrap="square" lIns="0" tIns="0" rIns="0" bIns="0" rtlCol="0" anchor="t"/>
          <a:lstStyle/>
          <a:p>
            <a:pPr algn="ctr" indent="0" marL="0">
              <a:buNone/>
            </a:pPr>
            <a:r>
              <a:rPr lang="en-US" sz="1300" b="1" dirty="0">
                <a:solidFill>
                  <a:srgbClr val="68716A"/>
                </a:solidFill>
                <a:latin typeface="Schibsted Grotesk" pitchFamily="34" charset="0"/>
                <a:ea typeface="Schibsted Grotesk" pitchFamily="34" charset="-122"/>
                <a:cs typeface="Schibsted Grotesk" pitchFamily="34" charset="-120"/>
              </a:rPr>
              <a:t>W5</a:t>
            </a:r>
            <a:endParaRPr lang="en-US" sz="1300" dirty="0"/>
          </a:p>
        </p:txBody>
      </p:sp>
      <p:sp>
        <p:nvSpPr>
          <p:cNvPr id="9" name="Text 7"/>
          <p:cNvSpPr txBox="1"/>
          <p:nvPr/>
        </p:nvSpPr>
        <p:spPr>
          <a:xfrm>
            <a:off x="9077831" y="1828800"/>
            <a:ext cx="374197" cy="274320"/>
          </a:xfrm>
          <a:prstGeom prst="rect">
            <a:avLst/>
          </a:prstGeom>
          <a:noFill/>
          <a:ln/>
        </p:spPr>
        <p:txBody>
          <a:bodyPr wrap="square" lIns="0" tIns="0" rIns="0" bIns="0" rtlCol="0" anchor="t"/>
          <a:lstStyle/>
          <a:p>
            <a:pPr algn="ctr" indent="0" marL="0">
              <a:buNone/>
            </a:pPr>
            <a:r>
              <a:rPr lang="en-US" sz="1300" b="1" dirty="0">
                <a:solidFill>
                  <a:srgbClr val="68716A"/>
                </a:solidFill>
                <a:latin typeface="Schibsted Grotesk" pitchFamily="34" charset="0"/>
                <a:ea typeface="Schibsted Grotesk" pitchFamily="34" charset="-122"/>
                <a:cs typeface="Schibsted Grotesk" pitchFamily="34" charset="-120"/>
              </a:rPr>
              <a:t>W6</a:t>
            </a:r>
            <a:endParaRPr lang="en-US" sz="1300" dirty="0"/>
          </a:p>
        </p:txBody>
      </p:sp>
      <p:sp>
        <p:nvSpPr>
          <p:cNvPr id="10" name="Text 8"/>
          <p:cNvSpPr txBox="1"/>
          <p:nvPr/>
        </p:nvSpPr>
        <p:spPr>
          <a:xfrm>
            <a:off x="9488604" y="1828800"/>
            <a:ext cx="374197" cy="274320"/>
          </a:xfrm>
          <a:prstGeom prst="rect">
            <a:avLst/>
          </a:prstGeom>
          <a:noFill/>
          <a:ln/>
        </p:spPr>
        <p:txBody>
          <a:bodyPr wrap="square" lIns="0" tIns="0" rIns="0" bIns="0" rtlCol="0" anchor="t"/>
          <a:lstStyle/>
          <a:p>
            <a:pPr algn="ctr" indent="0" marL="0">
              <a:buNone/>
            </a:pPr>
            <a:r>
              <a:rPr lang="en-US" sz="1300" b="1" dirty="0">
                <a:solidFill>
                  <a:srgbClr val="68716A"/>
                </a:solidFill>
                <a:latin typeface="Schibsted Grotesk" pitchFamily="34" charset="0"/>
                <a:ea typeface="Schibsted Grotesk" pitchFamily="34" charset="-122"/>
                <a:cs typeface="Schibsted Grotesk" pitchFamily="34" charset="-120"/>
              </a:rPr>
              <a:t>W7</a:t>
            </a:r>
            <a:endParaRPr lang="en-US" sz="1300" dirty="0"/>
          </a:p>
        </p:txBody>
      </p:sp>
      <p:sp>
        <p:nvSpPr>
          <p:cNvPr id="11" name="Text 9"/>
          <p:cNvSpPr txBox="1"/>
          <p:nvPr/>
        </p:nvSpPr>
        <p:spPr>
          <a:xfrm>
            <a:off x="9899378" y="1828800"/>
            <a:ext cx="374197" cy="274320"/>
          </a:xfrm>
          <a:prstGeom prst="rect">
            <a:avLst/>
          </a:prstGeom>
          <a:noFill/>
          <a:ln/>
        </p:spPr>
        <p:txBody>
          <a:bodyPr wrap="square" lIns="0" tIns="0" rIns="0" bIns="0" rtlCol="0" anchor="t"/>
          <a:lstStyle/>
          <a:p>
            <a:pPr algn="ctr" indent="0" marL="0">
              <a:buNone/>
            </a:pPr>
            <a:r>
              <a:rPr lang="en-US" sz="1300" b="1" dirty="0">
                <a:solidFill>
                  <a:srgbClr val="68716A"/>
                </a:solidFill>
                <a:latin typeface="Schibsted Grotesk" pitchFamily="34" charset="0"/>
                <a:ea typeface="Schibsted Grotesk" pitchFamily="34" charset="-122"/>
                <a:cs typeface="Schibsted Grotesk" pitchFamily="34" charset="-120"/>
              </a:rPr>
              <a:t>W8</a:t>
            </a:r>
            <a:endParaRPr lang="en-US" sz="1300" dirty="0"/>
          </a:p>
        </p:txBody>
      </p:sp>
      <p:sp>
        <p:nvSpPr>
          <p:cNvPr id="12" name="Text 10"/>
          <p:cNvSpPr txBox="1"/>
          <p:nvPr/>
        </p:nvSpPr>
        <p:spPr>
          <a:xfrm>
            <a:off x="10310151" y="1828800"/>
            <a:ext cx="374197" cy="274320"/>
          </a:xfrm>
          <a:prstGeom prst="rect">
            <a:avLst/>
          </a:prstGeom>
          <a:noFill/>
          <a:ln/>
        </p:spPr>
        <p:txBody>
          <a:bodyPr wrap="square" lIns="0" tIns="0" rIns="0" bIns="0" rtlCol="0" anchor="t"/>
          <a:lstStyle/>
          <a:p>
            <a:pPr algn="ctr" indent="0" marL="0">
              <a:buNone/>
            </a:pPr>
            <a:r>
              <a:rPr lang="en-US" sz="1300" b="1" dirty="0">
                <a:solidFill>
                  <a:srgbClr val="68716A"/>
                </a:solidFill>
                <a:latin typeface="Schibsted Grotesk" pitchFamily="34" charset="0"/>
                <a:ea typeface="Schibsted Grotesk" pitchFamily="34" charset="-122"/>
                <a:cs typeface="Schibsted Grotesk" pitchFamily="34" charset="-120"/>
              </a:rPr>
              <a:t>W9</a:t>
            </a:r>
            <a:endParaRPr lang="en-US" sz="1300" dirty="0"/>
          </a:p>
        </p:txBody>
      </p:sp>
      <p:sp>
        <p:nvSpPr>
          <p:cNvPr id="13" name="Text 11"/>
          <p:cNvSpPr txBox="1"/>
          <p:nvPr/>
        </p:nvSpPr>
        <p:spPr>
          <a:xfrm>
            <a:off x="10720924" y="1828800"/>
            <a:ext cx="374197" cy="274320"/>
          </a:xfrm>
          <a:prstGeom prst="rect">
            <a:avLst/>
          </a:prstGeom>
          <a:noFill/>
          <a:ln/>
        </p:spPr>
        <p:txBody>
          <a:bodyPr wrap="square" lIns="0" tIns="0" rIns="0" bIns="0" rtlCol="0" anchor="t"/>
          <a:lstStyle/>
          <a:p>
            <a:pPr algn="ctr" indent="0" marL="0">
              <a:buNone/>
            </a:pPr>
            <a:r>
              <a:rPr lang="en-US" sz="1300" b="1" dirty="0">
                <a:solidFill>
                  <a:srgbClr val="68716A"/>
                </a:solidFill>
                <a:latin typeface="Schibsted Grotesk" pitchFamily="34" charset="0"/>
                <a:ea typeface="Schibsted Grotesk" pitchFamily="34" charset="-122"/>
                <a:cs typeface="Schibsted Grotesk" pitchFamily="34" charset="-120"/>
              </a:rPr>
              <a:t>W10</a:t>
            </a:r>
            <a:endParaRPr lang="en-US" sz="1300" dirty="0"/>
          </a:p>
        </p:txBody>
      </p:sp>
      <p:sp>
        <p:nvSpPr>
          <p:cNvPr id="14" name="Text 12"/>
          <p:cNvSpPr txBox="1"/>
          <p:nvPr/>
        </p:nvSpPr>
        <p:spPr>
          <a:xfrm>
            <a:off x="11131698" y="1828800"/>
            <a:ext cx="374197" cy="274320"/>
          </a:xfrm>
          <a:prstGeom prst="rect">
            <a:avLst/>
          </a:prstGeom>
          <a:noFill/>
          <a:ln/>
        </p:spPr>
        <p:txBody>
          <a:bodyPr wrap="square" lIns="0" tIns="0" rIns="0" bIns="0" rtlCol="0" anchor="t"/>
          <a:lstStyle/>
          <a:p>
            <a:pPr algn="ctr" indent="0" marL="0">
              <a:buNone/>
            </a:pPr>
            <a:r>
              <a:rPr lang="en-US" sz="1300" b="1" dirty="0">
                <a:solidFill>
                  <a:srgbClr val="68716A"/>
                </a:solidFill>
                <a:latin typeface="Schibsted Grotesk" pitchFamily="34" charset="0"/>
                <a:ea typeface="Schibsted Grotesk" pitchFamily="34" charset="-122"/>
                <a:cs typeface="Schibsted Grotesk" pitchFamily="34" charset="-120"/>
              </a:rPr>
              <a:t>W11</a:t>
            </a:r>
            <a:endParaRPr lang="en-US" sz="1300" dirty="0"/>
          </a:p>
        </p:txBody>
      </p:sp>
      <p:sp>
        <p:nvSpPr>
          <p:cNvPr id="15" name="Shape 13"/>
          <p:cNvSpPr/>
          <p:nvPr/>
        </p:nvSpPr>
        <p:spPr>
          <a:xfrm>
            <a:off x="685800" y="2203704"/>
            <a:ext cx="10820095" cy="0"/>
          </a:xfrm>
          <a:prstGeom prst="line">
            <a:avLst/>
          </a:prstGeom>
          <a:noFill/>
          <a:ln w="15875">
            <a:solidFill>
              <a:srgbClr val="15201A"/>
            </a:solidFill>
            <a:prstDash val="solid"/>
          </a:ln>
        </p:spPr>
      </p:sp>
      <p:sp>
        <p:nvSpPr>
          <p:cNvPr id="16" name="Text 14"/>
          <p:cNvSpPr txBox="1"/>
          <p:nvPr/>
        </p:nvSpPr>
        <p:spPr>
          <a:xfrm>
            <a:off x="685800" y="2258568"/>
            <a:ext cx="1234440" cy="512064"/>
          </a:xfrm>
          <a:prstGeom prst="rect">
            <a:avLst/>
          </a:prstGeom>
          <a:noFill/>
          <a:ln/>
        </p:spPr>
        <p:txBody>
          <a:bodyPr wrap="square" lIns="0" tIns="0" rIns="0" bIns="0" rtlCol="0" anchor="ctr"/>
          <a:lstStyle/>
          <a:p>
            <a:pPr indent="0" marL="0">
              <a:buNone/>
            </a:pPr>
            <a:r>
              <a:rPr lang="en-US" sz="1900" b="1" dirty="0">
                <a:solidFill>
                  <a:srgbClr val="15201A"/>
                </a:solidFill>
                <a:latin typeface="Schibsted Grotesk" pitchFamily="34" charset="0"/>
                <a:ea typeface="Schibsted Grotesk" pitchFamily="34" charset="-122"/>
                <a:cs typeface="Schibsted Grotesk" pitchFamily="34" charset="-120"/>
              </a:rPr>
              <a:t>Prepare</a:t>
            </a:r>
            <a:endParaRPr lang="en-US" sz="1900" dirty="0"/>
          </a:p>
        </p:txBody>
      </p:sp>
      <p:sp>
        <p:nvSpPr>
          <p:cNvPr id="17" name="Text 15"/>
          <p:cNvSpPr txBox="1"/>
          <p:nvPr/>
        </p:nvSpPr>
        <p:spPr>
          <a:xfrm>
            <a:off x="2011680" y="2258568"/>
            <a:ext cx="4015588" cy="512064"/>
          </a:xfrm>
          <a:prstGeom prst="rect">
            <a:avLst/>
          </a:prstGeom>
          <a:noFill/>
          <a:ln/>
        </p:spPr>
        <p:txBody>
          <a:bodyPr wrap="square" lIns="0" tIns="0" rIns="0" bIns="0" rtlCol="0" anchor="ctr"/>
          <a:lstStyle/>
          <a:p>
            <a:pPr indent="0" marL="0">
              <a:buNone/>
            </a:pPr>
            <a:r>
              <a:rPr lang="en-US" sz="1500" dirty="0">
                <a:solidFill>
                  <a:srgbClr val="38433C"/>
                </a:solidFill>
                <a:latin typeface="Schibsted Grotesk" pitchFamily="34" charset="0"/>
                <a:ea typeface="Schibsted Grotesk" pitchFamily="34" charset="-122"/>
                <a:cs typeface="Schibsted Grotesk" pitchFamily="34" charset="-120"/>
              </a:rPr>
              <a:t>Apply in Nov; site and shelving by Dec 15</a:t>
            </a:r>
            <a:endParaRPr lang="en-US" sz="1500" dirty="0"/>
          </a:p>
        </p:txBody>
      </p:sp>
      <p:sp>
        <p:nvSpPr>
          <p:cNvPr id="18" name="Shape 16"/>
          <p:cNvSpPr/>
          <p:nvPr/>
        </p:nvSpPr>
        <p:spPr>
          <a:xfrm>
            <a:off x="6118708" y="2395728"/>
            <a:ext cx="868680" cy="237744"/>
          </a:xfrm>
          <a:prstGeom prst="rect">
            <a:avLst/>
          </a:prstGeom>
          <a:solidFill>
            <a:srgbClr val="BDC3BA"/>
          </a:solidFill>
          <a:ln w="12700">
            <a:solidFill>
              <a:srgbClr val="BDC3BA"/>
            </a:solidFill>
            <a:prstDash val="solid"/>
          </a:ln>
        </p:spPr>
      </p:sp>
      <p:sp>
        <p:nvSpPr>
          <p:cNvPr id="19" name="Shape 17"/>
          <p:cNvSpPr/>
          <p:nvPr/>
        </p:nvSpPr>
        <p:spPr>
          <a:xfrm>
            <a:off x="685800" y="2807208"/>
            <a:ext cx="10820095" cy="0"/>
          </a:xfrm>
          <a:prstGeom prst="line">
            <a:avLst/>
          </a:prstGeom>
          <a:noFill/>
          <a:ln w="9525">
            <a:solidFill>
              <a:srgbClr val="D9D4C7"/>
            </a:solidFill>
            <a:prstDash val="solid"/>
          </a:ln>
        </p:spPr>
      </p:sp>
      <p:sp>
        <p:nvSpPr>
          <p:cNvPr id="20" name="Text 18"/>
          <p:cNvSpPr txBox="1"/>
          <p:nvPr/>
        </p:nvSpPr>
        <p:spPr>
          <a:xfrm>
            <a:off x="685800" y="2862072"/>
            <a:ext cx="1234440" cy="512064"/>
          </a:xfrm>
          <a:prstGeom prst="rect">
            <a:avLst/>
          </a:prstGeom>
          <a:noFill/>
          <a:ln/>
        </p:spPr>
        <p:txBody>
          <a:bodyPr wrap="square" lIns="0" tIns="0" rIns="0" bIns="0" rtlCol="0" anchor="ctr"/>
          <a:lstStyle/>
          <a:p>
            <a:pPr indent="0" marL="0">
              <a:buNone/>
            </a:pPr>
            <a:r>
              <a:rPr lang="en-US" sz="1900" b="1" dirty="0">
                <a:solidFill>
                  <a:srgbClr val="15201A"/>
                </a:solidFill>
                <a:latin typeface="Schibsted Grotesk" pitchFamily="34" charset="0"/>
                <a:ea typeface="Schibsted Grotesk" pitchFamily="34" charset="-122"/>
                <a:cs typeface="Schibsted Grotesk" pitchFamily="34" charset="-120"/>
              </a:rPr>
              <a:t>Launch</a:t>
            </a:r>
            <a:endParaRPr lang="en-US" sz="1900" dirty="0"/>
          </a:p>
        </p:txBody>
      </p:sp>
      <p:sp>
        <p:nvSpPr>
          <p:cNvPr id="21" name="Text 19"/>
          <p:cNvSpPr txBox="1"/>
          <p:nvPr/>
        </p:nvSpPr>
        <p:spPr>
          <a:xfrm>
            <a:off x="2011680" y="2862072"/>
            <a:ext cx="4015588" cy="512064"/>
          </a:xfrm>
          <a:prstGeom prst="rect">
            <a:avLst/>
          </a:prstGeom>
          <a:noFill/>
          <a:ln/>
        </p:spPr>
        <p:txBody>
          <a:bodyPr wrap="square" lIns="0" tIns="0" rIns="0" bIns="0" rtlCol="0" anchor="ctr"/>
          <a:lstStyle/>
          <a:p>
            <a:pPr indent="0" marL="0">
              <a:buNone/>
            </a:pPr>
            <a:r>
              <a:rPr lang="en-US" sz="1500" dirty="0">
                <a:solidFill>
                  <a:srgbClr val="38433C"/>
                </a:solidFill>
                <a:latin typeface="Schibsted Grotesk" pitchFamily="34" charset="0"/>
                <a:ea typeface="Schibsted Grotesk" pitchFamily="34" charset="-122"/>
                <a:cs typeface="Schibsted Grotesk" pitchFamily="34" charset="-120"/>
              </a:rPr>
              <a:t>Shelves, QR codes and posters up</a:t>
            </a:r>
            <a:endParaRPr lang="en-US" sz="1500" dirty="0"/>
          </a:p>
        </p:txBody>
      </p:sp>
      <p:sp>
        <p:nvSpPr>
          <p:cNvPr id="22" name="Shape 20"/>
          <p:cNvSpPr/>
          <p:nvPr/>
        </p:nvSpPr>
        <p:spPr>
          <a:xfrm>
            <a:off x="7023964" y="2999232"/>
            <a:ext cx="784971" cy="237744"/>
          </a:xfrm>
          <a:prstGeom prst="rect">
            <a:avLst/>
          </a:prstGeom>
          <a:solidFill>
            <a:srgbClr val="1D5E40"/>
          </a:solidFill>
          <a:ln w="12700">
            <a:solidFill>
              <a:srgbClr val="1D5E40"/>
            </a:solidFill>
            <a:prstDash val="solid"/>
          </a:ln>
        </p:spPr>
      </p:sp>
      <p:sp>
        <p:nvSpPr>
          <p:cNvPr id="23" name="Shape 21"/>
          <p:cNvSpPr/>
          <p:nvPr/>
        </p:nvSpPr>
        <p:spPr>
          <a:xfrm>
            <a:off x="685800" y="3410712"/>
            <a:ext cx="10820095" cy="0"/>
          </a:xfrm>
          <a:prstGeom prst="line">
            <a:avLst/>
          </a:prstGeom>
          <a:noFill/>
          <a:ln w="9525">
            <a:solidFill>
              <a:srgbClr val="D9D4C7"/>
            </a:solidFill>
            <a:prstDash val="solid"/>
          </a:ln>
        </p:spPr>
      </p:sp>
      <p:sp>
        <p:nvSpPr>
          <p:cNvPr id="24" name="Text 22"/>
          <p:cNvSpPr txBox="1"/>
          <p:nvPr/>
        </p:nvSpPr>
        <p:spPr>
          <a:xfrm>
            <a:off x="685800" y="3465576"/>
            <a:ext cx="1234440" cy="512064"/>
          </a:xfrm>
          <a:prstGeom prst="rect">
            <a:avLst/>
          </a:prstGeom>
          <a:noFill/>
          <a:ln/>
        </p:spPr>
        <p:txBody>
          <a:bodyPr wrap="square" lIns="0" tIns="0" rIns="0" bIns="0" rtlCol="0" anchor="ctr"/>
          <a:lstStyle/>
          <a:p>
            <a:pPr indent="0" marL="0">
              <a:buNone/>
            </a:pPr>
            <a:r>
              <a:rPr lang="en-US" sz="1900" b="1" dirty="0">
                <a:solidFill>
                  <a:srgbClr val="15201A"/>
                </a:solidFill>
                <a:latin typeface="Schibsted Grotesk" pitchFamily="34" charset="0"/>
                <a:ea typeface="Schibsted Grotesk" pitchFamily="34" charset="-122"/>
                <a:cs typeface="Schibsted Grotesk" pitchFamily="34" charset="-120"/>
              </a:rPr>
              <a:t>Run</a:t>
            </a:r>
            <a:endParaRPr lang="en-US" sz="1900" dirty="0"/>
          </a:p>
        </p:txBody>
      </p:sp>
      <p:sp>
        <p:nvSpPr>
          <p:cNvPr id="25" name="Text 23"/>
          <p:cNvSpPr txBox="1"/>
          <p:nvPr/>
        </p:nvSpPr>
        <p:spPr>
          <a:xfrm>
            <a:off x="2011680" y="3465576"/>
            <a:ext cx="4015588" cy="512064"/>
          </a:xfrm>
          <a:prstGeom prst="rect">
            <a:avLst/>
          </a:prstGeom>
          <a:noFill/>
          <a:ln/>
        </p:spPr>
        <p:txBody>
          <a:bodyPr wrap="square" lIns="0" tIns="0" rIns="0" bIns="0" rtlCol="0" anchor="ctr"/>
          <a:lstStyle/>
          <a:p>
            <a:pPr indent="0" marL="0">
              <a:buNone/>
            </a:pPr>
            <a:r>
              <a:rPr lang="en-US" sz="1500" dirty="0">
                <a:solidFill>
                  <a:srgbClr val="38433C"/>
                </a:solidFill>
                <a:latin typeface="Schibsted Grotesk" pitchFamily="34" charset="0"/>
                <a:ea typeface="Schibsted Grotesk" pitchFamily="34" charset="-122"/>
                <a:cs typeface="Schibsted Grotesk" pitchFamily="34" charset="-120"/>
              </a:rPr>
              <a:t>Restock twice a day; weekly dashboard</a:t>
            </a:r>
            <a:endParaRPr lang="en-US" sz="1500" dirty="0"/>
          </a:p>
        </p:txBody>
      </p:sp>
      <p:sp>
        <p:nvSpPr>
          <p:cNvPr id="26" name="Shape 24"/>
          <p:cNvSpPr/>
          <p:nvPr/>
        </p:nvSpPr>
        <p:spPr>
          <a:xfrm>
            <a:off x="7845510" y="3602736"/>
            <a:ext cx="3660385" cy="237744"/>
          </a:xfrm>
          <a:prstGeom prst="rect">
            <a:avLst/>
          </a:prstGeom>
          <a:solidFill>
            <a:srgbClr val="1D5E40"/>
          </a:solidFill>
          <a:ln w="12700">
            <a:solidFill>
              <a:srgbClr val="1D5E40"/>
            </a:solidFill>
            <a:prstDash val="solid"/>
          </a:ln>
        </p:spPr>
      </p:sp>
      <p:sp>
        <p:nvSpPr>
          <p:cNvPr id="27" name="Shape 25"/>
          <p:cNvSpPr/>
          <p:nvPr/>
        </p:nvSpPr>
        <p:spPr>
          <a:xfrm>
            <a:off x="685800" y="4014216"/>
            <a:ext cx="10820095" cy="0"/>
          </a:xfrm>
          <a:prstGeom prst="line">
            <a:avLst/>
          </a:prstGeom>
          <a:noFill/>
          <a:ln w="9525">
            <a:solidFill>
              <a:srgbClr val="D9D4C7"/>
            </a:solidFill>
            <a:prstDash val="solid"/>
          </a:ln>
        </p:spPr>
      </p:sp>
      <p:sp>
        <p:nvSpPr>
          <p:cNvPr id="28" name="Text 26"/>
          <p:cNvSpPr txBox="1"/>
          <p:nvPr/>
        </p:nvSpPr>
        <p:spPr>
          <a:xfrm>
            <a:off x="685800" y="4069080"/>
            <a:ext cx="1234440" cy="512064"/>
          </a:xfrm>
          <a:prstGeom prst="rect">
            <a:avLst/>
          </a:prstGeom>
          <a:noFill/>
          <a:ln/>
        </p:spPr>
        <p:txBody>
          <a:bodyPr wrap="square" lIns="0" tIns="0" rIns="0" bIns="0" rtlCol="0" anchor="ctr"/>
          <a:lstStyle/>
          <a:p>
            <a:pPr indent="0" marL="0">
              <a:buNone/>
            </a:pPr>
            <a:r>
              <a:rPr lang="en-US" sz="1900" b="1" dirty="0">
                <a:solidFill>
                  <a:srgbClr val="15201A"/>
                </a:solidFill>
                <a:latin typeface="Schibsted Grotesk" pitchFamily="34" charset="0"/>
                <a:ea typeface="Schibsted Grotesk" pitchFamily="34" charset="-122"/>
                <a:cs typeface="Schibsted Grotesk" pitchFamily="34" charset="-120"/>
              </a:rPr>
              <a:t>Adjust</a:t>
            </a:r>
            <a:endParaRPr lang="en-US" sz="1900" dirty="0"/>
          </a:p>
        </p:txBody>
      </p:sp>
      <p:sp>
        <p:nvSpPr>
          <p:cNvPr id="29" name="Text 27"/>
          <p:cNvSpPr txBox="1"/>
          <p:nvPr/>
        </p:nvSpPr>
        <p:spPr>
          <a:xfrm>
            <a:off x="2011680" y="4069080"/>
            <a:ext cx="4015588" cy="512064"/>
          </a:xfrm>
          <a:prstGeom prst="rect">
            <a:avLst/>
          </a:prstGeom>
          <a:noFill/>
          <a:ln/>
        </p:spPr>
        <p:txBody>
          <a:bodyPr wrap="square" lIns="0" tIns="0" rIns="0" bIns="0" rtlCol="0" anchor="ctr"/>
          <a:lstStyle/>
          <a:p>
            <a:pPr indent="0" marL="0">
              <a:buNone/>
            </a:pPr>
            <a:r>
              <a:rPr lang="en-US" sz="1500" dirty="0">
                <a:solidFill>
                  <a:srgbClr val="38433C"/>
                </a:solidFill>
                <a:latin typeface="Schibsted Grotesk" pitchFamily="34" charset="0"/>
                <a:ea typeface="Schibsted Grotesk" pitchFamily="34" charset="-122"/>
                <a:cs typeface="Schibsted Grotesk" pitchFamily="34" charset="-120"/>
              </a:rPr>
              <a:t>Move stock to demand; add partners</a:t>
            </a:r>
            <a:endParaRPr lang="en-US" sz="1500" dirty="0"/>
          </a:p>
        </p:txBody>
      </p:sp>
      <p:sp>
        <p:nvSpPr>
          <p:cNvPr id="30" name="Shape 28"/>
          <p:cNvSpPr/>
          <p:nvPr/>
        </p:nvSpPr>
        <p:spPr>
          <a:xfrm>
            <a:off x="9488604" y="4206240"/>
            <a:ext cx="784971" cy="237744"/>
          </a:xfrm>
          <a:prstGeom prst="rect">
            <a:avLst/>
          </a:prstGeom>
          <a:solidFill>
            <a:srgbClr val="2E5F7A"/>
          </a:solidFill>
          <a:ln w="12700">
            <a:solidFill>
              <a:srgbClr val="2E5F7A"/>
            </a:solidFill>
            <a:prstDash val="solid"/>
          </a:ln>
        </p:spPr>
      </p:sp>
      <p:sp>
        <p:nvSpPr>
          <p:cNvPr id="31" name="Shape 29"/>
          <p:cNvSpPr/>
          <p:nvPr/>
        </p:nvSpPr>
        <p:spPr>
          <a:xfrm>
            <a:off x="685800" y="4617720"/>
            <a:ext cx="10820095" cy="0"/>
          </a:xfrm>
          <a:prstGeom prst="line">
            <a:avLst/>
          </a:prstGeom>
          <a:noFill/>
          <a:ln w="9525">
            <a:solidFill>
              <a:srgbClr val="D9D4C7"/>
            </a:solidFill>
            <a:prstDash val="solid"/>
          </a:ln>
        </p:spPr>
      </p:sp>
      <p:sp>
        <p:nvSpPr>
          <p:cNvPr id="32" name="Text 30"/>
          <p:cNvSpPr txBox="1"/>
          <p:nvPr/>
        </p:nvSpPr>
        <p:spPr>
          <a:xfrm>
            <a:off x="685800" y="4672584"/>
            <a:ext cx="1234440" cy="512064"/>
          </a:xfrm>
          <a:prstGeom prst="rect">
            <a:avLst/>
          </a:prstGeom>
          <a:noFill/>
          <a:ln/>
        </p:spPr>
        <p:txBody>
          <a:bodyPr wrap="square" lIns="0" tIns="0" rIns="0" bIns="0" rtlCol="0" anchor="ctr"/>
          <a:lstStyle/>
          <a:p>
            <a:pPr indent="0" marL="0">
              <a:buNone/>
            </a:pPr>
            <a:r>
              <a:rPr lang="en-US" sz="1900" b="1" dirty="0">
                <a:solidFill>
                  <a:srgbClr val="15201A"/>
                </a:solidFill>
                <a:latin typeface="Schibsted Grotesk" pitchFamily="34" charset="0"/>
                <a:ea typeface="Schibsted Grotesk" pitchFamily="34" charset="-122"/>
                <a:cs typeface="Schibsted Grotesk" pitchFamily="34" charset="-120"/>
              </a:rPr>
              <a:t>Survey</a:t>
            </a:r>
            <a:endParaRPr lang="en-US" sz="1900" dirty="0"/>
          </a:p>
        </p:txBody>
      </p:sp>
      <p:sp>
        <p:nvSpPr>
          <p:cNvPr id="33" name="Text 31"/>
          <p:cNvSpPr txBox="1"/>
          <p:nvPr/>
        </p:nvSpPr>
        <p:spPr>
          <a:xfrm>
            <a:off x="2011680" y="4672584"/>
            <a:ext cx="4015588" cy="512064"/>
          </a:xfrm>
          <a:prstGeom prst="rect">
            <a:avLst/>
          </a:prstGeom>
          <a:noFill/>
          <a:ln/>
        </p:spPr>
        <p:txBody>
          <a:bodyPr wrap="square" lIns="0" tIns="0" rIns="0" bIns="0" rtlCol="0" anchor="ctr"/>
          <a:lstStyle/>
          <a:p>
            <a:pPr indent="0" marL="0">
              <a:buNone/>
            </a:pPr>
            <a:r>
              <a:rPr lang="en-US" sz="1500" dirty="0">
                <a:solidFill>
                  <a:srgbClr val="38433C"/>
                </a:solidFill>
                <a:latin typeface="Schibsted Grotesk" pitchFamily="34" charset="0"/>
                <a:ea typeface="Schibsted Grotesk" pitchFamily="34" charset="-122"/>
                <a:cs typeface="Schibsted Grotesk" pitchFamily="34" charset="-120"/>
              </a:rPr>
              <a:t>Two-question survey at the shelves</a:t>
            </a:r>
            <a:endParaRPr lang="en-US" sz="1500" dirty="0"/>
          </a:p>
        </p:txBody>
      </p:sp>
      <p:sp>
        <p:nvSpPr>
          <p:cNvPr id="34" name="Shape 32"/>
          <p:cNvSpPr/>
          <p:nvPr/>
        </p:nvSpPr>
        <p:spPr>
          <a:xfrm>
            <a:off x="10720924" y="4809744"/>
            <a:ext cx="374197" cy="237744"/>
          </a:xfrm>
          <a:prstGeom prst="rect">
            <a:avLst/>
          </a:prstGeom>
          <a:solidFill>
            <a:srgbClr val="2E5F7A"/>
          </a:solidFill>
          <a:ln w="12700">
            <a:solidFill>
              <a:srgbClr val="2E5F7A"/>
            </a:solidFill>
            <a:prstDash val="solid"/>
          </a:ln>
        </p:spPr>
      </p:sp>
      <p:sp>
        <p:nvSpPr>
          <p:cNvPr id="35" name="Shape 33"/>
          <p:cNvSpPr/>
          <p:nvPr/>
        </p:nvSpPr>
        <p:spPr>
          <a:xfrm>
            <a:off x="685800" y="5221224"/>
            <a:ext cx="10820095" cy="0"/>
          </a:xfrm>
          <a:prstGeom prst="line">
            <a:avLst/>
          </a:prstGeom>
          <a:noFill/>
          <a:ln w="9525">
            <a:solidFill>
              <a:srgbClr val="D9D4C7"/>
            </a:solidFill>
            <a:prstDash val="solid"/>
          </a:ln>
        </p:spPr>
      </p:sp>
      <p:sp>
        <p:nvSpPr>
          <p:cNvPr id="36" name="Text 34"/>
          <p:cNvSpPr txBox="1"/>
          <p:nvPr/>
        </p:nvSpPr>
        <p:spPr>
          <a:xfrm>
            <a:off x="685800" y="5276088"/>
            <a:ext cx="1234440" cy="512064"/>
          </a:xfrm>
          <a:prstGeom prst="rect">
            <a:avLst/>
          </a:prstGeom>
          <a:noFill/>
          <a:ln/>
        </p:spPr>
        <p:txBody>
          <a:bodyPr wrap="square" lIns="0" tIns="0" rIns="0" bIns="0" rtlCol="0" anchor="ctr"/>
          <a:lstStyle/>
          <a:p>
            <a:pPr indent="0" marL="0">
              <a:buNone/>
            </a:pPr>
            <a:r>
              <a:rPr lang="en-US" sz="1900" b="1" dirty="0">
                <a:solidFill>
                  <a:srgbClr val="15201A"/>
                </a:solidFill>
                <a:latin typeface="Schibsted Grotesk" pitchFamily="34" charset="0"/>
                <a:ea typeface="Schibsted Grotesk" pitchFamily="34" charset="-122"/>
                <a:cs typeface="Schibsted Grotesk" pitchFamily="34" charset="-120"/>
              </a:rPr>
              <a:t>Decide</a:t>
            </a:r>
            <a:endParaRPr lang="en-US" sz="1900" dirty="0"/>
          </a:p>
        </p:txBody>
      </p:sp>
      <p:sp>
        <p:nvSpPr>
          <p:cNvPr id="37" name="Text 35"/>
          <p:cNvSpPr txBox="1"/>
          <p:nvPr/>
        </p:nvSpPr>
        <p:spPr>
          <a:xfrm>
            <a:off x="2011680" y="5276088"/>
            <a:ext cx="4015588" cy="512064"/>
          </a:xfrm>
          <a:prstGeom prst="rect">
            <a:avLst/>
          </a:prstGeom>
          <a:noFill/>
          <a:ln/>
        </p:spPr>
        <p:txBody>
          <a:bodyPr wrap="square" lIns="0" tIns="0" rIns="0" bIns="0" rtlCol="0" anchor="ctr"/>
          <a:lstStyle/>
          <a:p>
            <a:pPr indent="0" marL="0">
              <a:buNone/>
            </a:pPr>
            <a:r>
              <a:rPr lang="en-US" sz="1500" dirty="0">
                <a:solidFill>
                  <a:srgbClr val="38433C"/>
                </a:solidFill>
                <a:latin typeface="Schibsted Grotesk" pitchFamily="34" charset="0"/>
                <a:ea typeface="Schibsted Grotesk" pitchFamily="34" charset="-122"/>
                <a:cs typeface="Schibsted Grotesk" pitchFamily="34" charset="-120"/>
              </a:rPr>
              <a:t>Continue if four of five targets are met</a:t>
            </a:r>
            <a:endParaRPr lang="en-US" sz="1500" dirty="0"/>
          </a:p>
        </p:txBody>
      </p:sp>
      <p:sp>
        <p:nvSpPr>
          <p:cNvPr id="38" name="Shape 36"/>
          <p:cNvSpPr/>
          <p:nvPr/>
        </p:nvSpPr>
        <p:spPr>
          <a:xfrm>
            <a:off x="11131698" y="5413248"/>
            <a:ext cx="374197" cy="237744"/>
          </a:xfrm>
          <a:prstGeom prst="rect">
            <a:avLst/>
          </a:prstGeom>
          <a:solidFill>
            <a:srgbClr val="A97A2F"/>
          </a:solidFill>
          <a:ln w="12700">
            <a:solidFill>
              <a:srgbClr val="A97A2F"/>
            </a:solidFill>
            <a:prstDash val="solid"/>
          </a:ln>
        </p:spPr>
      </p:sp>
      <p:sp>
        <p:nvSpPr>
          <p:cNvPr id="39" name="Shape 37"/>
          <p:cNvSpPr/>
          <p:nvPr/>
        </p:nvSpPr>
        <p:spPr>
          <a:xfrm>
            <a:off x="685800" y="5824728"/>
            <a:ext cx="10820095" cy="0"/>
          </a:xfrm>
          <a:prstGeom prst="line">
            <a:avLst/>
          </a:prstGeom>
          <a:noFill/>
          <a:ln w="9525">
            <a:solidFill>
              <a:srgbClr val="D9D4C7"/>
            </a:solidFill>
            <a:prstDash val="solid"/>
          </a:ln>
        </p:spPr>
      </p:sp>
      <p:sp>
        <p:nvSpPr>
          <p:cNvPr id="40" name="Text 38"/>
          <p:cNvSpPr txBox="1"/>
          <p:nvPr/>
        </p:nvSpPr>
        <p:spPr>
          <a:xfrm>
            <a:off x="685800" y="5925312"/>
            <a:ext cx="10820095" cy="292608"/>
          </a:xfrm>
          <a:prstGeom prst="rect">
            <a:avLst/>
          </a:prstGeom>
          <a:noFill/>
          <a:ln/>
        </p:spPr>
        <p:txBody>
          <a:bodyPr wrap="square" lIns="0" tIns="0" rIns="0" bIns="0" rtlCol="0" anchor="b"/>
          <a:lstStyle/>
          <a:p>
            <a:pPr indent="0" marL="0">
              <a:buNone/>
            </a:pPr>
            <a:r>
              <a:rPr lang="en-US" sz="1100" dirty="0">
                <a:solidFill>
                  <a:srgbClr val="68716A"/>
                </a:solidFill>
                <a:latin typeface="Schibsted Grotesk" pitchFamily="34" charset="0"/>
                <a:ea typeface="Schibsted Grotesk" pitchFamily="34" charset="-122"/>
                <a:cs typeface="Schibsted Grotesk" pitchFamily="34" charset="-120"/>
              </a:rPr>
              <a:t>USC Grants decide in about 20 business days and fund projects run between Oct 30 and Apr 4. Winter term starts in January 2027.</a:t>
            </a:r>
            <a:endParaRPr lang="en-US" sz="11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10241280" cy="1188720"/>
          </a:xfrm>
          <a:prstGeom prst="rect">
            <a:avLst/>
          </a:prstGeom>
          <a:noFill/>
          <a:ln/>
        </p:spPr>
        <p:txBody>
          <a:bodyPr wrap="square" lIns="0" tIns="0" rIns="0" bIns="0" rtlCol="0" anchor="t"/>
          <a:lstStyle/>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Each of the six main risks has</a:t>
            </a:r>
            <a:endParaRPr lang="en-US" sz="3400" dirty="0"/>
          </a:p>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a control built into the plan</a:t>
            </a:r>
            <a:endParaRPr lang="en-US" sz="3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 y="1828800"/>
          <a:ext cx="10820095" cy="914400"/>
        </p:xfrm>
        <a:graphic>
          <a:graphicData uri="http://schemas.openxmlformats.org/drawingml/2006/table">
            <a:tbl>
              <a:tblPr/>
              <a:tblGrid>
                <a:gridCol w="3108960"/>
                <a:gridCol w="7711135"/>
              </a:tblGrid>
              <a:tr h="402336">
                <a:tc>
                  <a:txBody>
                    <a:bodyPr/>
                    <a:lstStyle/>
                    <a:p>
                      <a:pPr indent="0" marL="0">
                        <a:buNone/>
                      </a:pPr>
                      <a:r>
                        <a:rPr lang="en-US" sz="1500" b="1" dirty="0">
                          <a:solidFill>
                            <a:srgbClr val="15201A"/>
                          </a:solidFill>
                          <a:latin typeface="Schibsted Grotesk" pitchFamily="34" charset="0"/>
                          <a:ea typeface="Schibsted Grotesk" pitchFamily="34" charset="-122"/>
                          <a:cs typeface="Schibsted Grotesk" pitchFamily="34" charset="-120"/>
                        </a:rPr>
                        <a:t>Risk</a:t>
                      </a:r>
                      <a:endParaRPr lang="en-US" sz="15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15875" cap="flat" cmpd="sng" algn="ctr">
                      <a:solidFill>
                        <a:srgbClr val="15201A"/>
                      </a:solidFill>
                      <a:prstDash val="solid"/>
                      <a:round/>
                      <a:headEnd type="none" w="med" len="med"/>
                      <a:tailEnd type="none" w="med" len="med"/>
                    </a:lnB>
                    <a:solidFill>
                      <a:srgbClr val="F7F5EF"/>
                    </a:solidFill>
                  </a:tcPr>
                </a:tc>
                <a:tc>
                  <a:txBody>
                    <a:bodyPr/>
                    <a:lstStyle/>
                    <a:p>
                      <a:pPr indent="0" marL="0">
                        <a:buNone/>
                      </a:pPr>
                      <a:r>
                        <a:rPr lang="en-US" sz="1500" b="1" dirty="0">
                          <a:solidFill>
                            <a:srgbClr val="15201A"/>
                          </a:solidFill>
                          <a:latin typeface="Schibsted Grotesk" pitchFamily="34" charset="0"/>
                          <a:ea typeface="Schibsted Grotesk" pitchFamily="34" charset="-122"/>
                          <a:cs typeface="Schibsted Grotesk" pitchFamily="34" charset="-120"/>
                        </a:rPr>
                        <a:t>Control</a:t>
                      </a:r>
                      <a:endParaRPr lang="en-US" sz="15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15875" cap="flat" cmpd="sng" algn="ctr">
                      <a:solidFill>
                        <a:srgbClr val="15201A"/>
                      </a:solidFill>
                      <a:prstDash val="solid"/>
                      <a:round/>
                      <a:headEnd type="none" w="med" len="med"/>
                      <a:tailEnd type="none" w="med" len="med"/>
                    </a:lnB>
                    <a:solidFill>
                      <a:srgbClr val="F7F5EF"/>
                    </a:solidFill>
                  </a:tcPr>
                </a:tc>
              </a:tr>
              <a:tr h="786384">
                <a:tc>
                  <a:txBody>
                    <a:bodyPr/>
                    <a:lstStyle/>
                    <a:p>
                      <a:pPr indent="0" marL="0">
                        <a:buNone/>
                      </a:pPr>
                      <a:r>
                        <a:rPr lang="en-US" sz="1700" b="1" dirty="0">
                          <a:solidFill>
                            <a:srgbClr val="15201A"/>
                          </a:solidFill>
                          <a:latin typeface="Schibsted Grotesk" pitchFamily="34" charset="0"/>
                          <a:ea typeface="Schibsted Grotesk" pitchFamily="34" charset="-122"/>
                          <a:cs typeface="Schibsted Grotesk" pitchFamily="34" charset="-120"/>
                        </a:rPr>
                        <a:t>Food safety</a:t>
                      </a:r>
                      <a:endParaRPr lang="en-US" sz="17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700" dirty="0">
                          <a:solidFill>
                            <a:srgbClr val="38433C"/>
                          </a:solidFill>
                          <a:latin typeface="Schibsted Grotesk" pitchFamily="34" charset="0"/>
                          <a:ea typeface="Schibsted Grotesk" pitchFamily="34" charset="-122"/>
                          <a:cs typeface="Schibsted Grotesk" pitchFamily="34" charset="-120"/>
                        </a:rPr>
                        <a:t>Shelves hold sealed, shelf-stable items. Perishables only through Drops, picked up within two hours. Ontario’s Donation of Food Act protects good-faith donors.</a:t>
                      </a:r>
                      <a:endParaRPr lang="en-US" sz="17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512064">
                <a:tc>
                  <a:txBody>
                    <a:bodyPr/>
                    <a:lstStyle/>
                    <a:p>
                      <a:pPr indent="0" marL="0">
                        <a:buNone/>
                      </a:pPr>
                      <a:r>
                        <a:rPr lang="en-US" sz="1700" b="1" dirty="0">
                          <a:solidFill>
                            <a:srgbClr val="15201A"/>
                          </a:solidFill>
                          <a:latin typeface="Schibsted Grotesk" pitchFamily="34" charset="0"/>
                          <a:ea typeface="Schibsted Grotesk" pitchFamily="34" charset="-122"/>
                          <a:cs typeface="Schibsted Grotesk" pitchFamily="34" charset="-120"/>
                        </a:rPr>
                        <a:t>One person empties a shelf</a:t>
                      </a:r>
                      <a:endParaRPr lang="en-US" sz="17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700" dirty="0">
                          <a:solidFill>
                            <a:srgbClr val="38433C"/>
                          </a:solidFill>
                          <a:latin typeface="Schibsted Grotesk" pitchFamily="34" charset="0"/>
                          <a:ea typeface="Schibsted Grotesk" pitchFamily="34" charset="-122"/>
                          <a:cs typeface="Schibsted Grotesk" pitchFamily="34" charset="-120"/>
                        </a:rPr>
                        <a:t>A posted guide asks for enough for today; live counts show rushes.</a:t>
                      </a:r>
                      <a:endParaRPr lang="en-US" sz="17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512064">
                <a:tc>
                  <a:txBody>
                    <a:bodyPr/>
                    <a:lstStyle/>
                    <a:p>
                      <a:pPr indent="0" marL="0">
                        <a:buNone/>
                      </a:pPr>
                      <a:r>
                        <a:rPr lang="en-US" sz="1700" b="1" dirty="0">
                          <a:solidFill>
                            <a:srgbClr val="15201A"/>
                          </a:solidFill>
                          <a:latin typeface="Schibsted Grotesk" pitchFamily="34" charset="0"/>
                          <a:ea typeface="Schibsted Grotesk" pitchFamily="34" charset="-122"/>
                          <a:cs typeface="Schibsted Grotesk" pitchFamily="34" charset="-120"/>
                        </a:rPr>
                        <a:t>Volunteers drop off</a:t>
                      </a:r>
                      <a:endParaRPr lang="en-US" sz="17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700" dirty="0">
                          <a:solidFill>
                            <a:srgbClr val="38433C"/>
                          </a:solidFill>
                          <a:latin typeface="Schibsted Grotesk" pitchFamily="34" charset="0"/>
                          <a:ea typeface="Schibsted Grotesk" pitchFamily="34" charset="-122"/>
                          <a:cs typeface="Schibsted Grotesk" pitchFamily="34" charset="-120"/>
                        </a:rPr>
                        <a:t>15-minute check-ins; Food Support staff cover gaps.</a:t>
                      </a:r>
                      <a:endParaRPr lang="en-US" sz="17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512064">
                <a:tc>
                  <a:txBody>
                    <a:bodyPr/>
                    <a:lstStyle/>
                    <a:p>
                      <a:pPr indent="0" marL="0">
                        <a:buNone/>
                      </a:pPr>
                      <a:r>
                        <a:rPr lang="en-US" sz="1700" b="1" dirty="0">
                          <a:solidFill>
                            <a:srgbClr val="15201A"/>
                          </a:solidFill>
                          <a:latin typeface="Schibsted Grotesk" pitchFamily="34" charset="0"/>
                          <a:ea typeface="Schibsted Grotesk" pitchFamily="34" charset="-122"/>
                          <a:cs typeface="Schibsted Grotesk" pitchFamily="34" charset="-120"/>
                        </a:rPr>
                        <a:t>No second site by Dec 15</a:t>
                      </a:r>
                      <a:endParaRPr lang="en-US" sz="17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700" dirty="0">
                          <a:solidFill>
                            <a:srgbClr val="38433C"/>
                          </a:solidFill>
                          <a:latin typeface="Schibsted Grotesk" pitchFamily="34" charset="0"/>
                          <a:ea typeface="Schibsted Grotesk" pitchFamily="34" charset="-122"/>
                          <a:cs typeface="Schibsted Grotesk" pitchFamily="34" charset="-120"/>
                        </a:rPr>
                        <a:t>Run the UCC alone and halve the items target.</a:t>
                      </a:r>
                      <a:endParaRPr lang="en-US" sz="17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512064">
                <a:tc>
                  <a:txBody>
                    <a:bodyPr/>
                    <a:lstStyle/>
                    <a:p>
                      <a:pPr indent="0" marL="0">
                        <a:buNone/>
                      </a:pPr>
                      <a:r>
                        <a:rPr lang="en-US" sz="1700" b="1" dirty="0">
                          <a:solidFill>
                            <a:srgbClr val="15201A"/>
                          </a:solidFill>
                          <a:latin typeface="Schibsted Grotesk" pitchFamily="34" charset="0"/>
                          <a:ea typeface="Schibsted Grotesk" pitchFamily="34" charset="-122"/>
                          <a:cs typeface="Schibsted Grotesk" pitchFamily="34" charset="-120"/>
                        </a:rPr>
                        <a:t>Grant cut or partly funded</a:t>
                      </a:r>
                      <a:endParaRPr lang="en-US" sz="17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700" dirty="0">
                          <a:solidFill>
                            <a:srgbClr val="38433C"/>
                          </a:solidFill>
                          <a:latin typeface="Schibsted Grotesk" pitchFamily="34" charset="0"/>
                          <a:ea typeface="Schibsted Grotesk" pitchFamily="34" charset="-122"/>
                          <a:cs typeface="Schibsted Grotesk" pitchFamily="34" charset="-120"/>
                        </a:rPr>
                        <a:t>Run one site with the same rules and reporting.</a:t>
                      </a:r>
                      <a:endParaRPr lang="en-US" sz="17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512064">
                <a:tc>
                  <a:txBody>
                    <a:bodyPr/>
                    <a:lstStyle/>
                    <a:p>
                      <a:pPr indent="0" marL="0">
                        <a:buNone/>
                      </a:pPr>
                      <a:r>
                        <a:rPr lang="en-US" sz="1700" b="1" dirty="0">
                          <a:solidFill>
                            <a:srgbClr val="15201A"/>
                          </a:solidFill>
                          <a:latin typeface="Schibsted Grotesk" pitchFamily="34" charset="0"/>
                          <a:ea typeface="Schibsted Grotesk" pitchFamily="34" charset="-122"/>
                          <a:cs typeface="Schibsted Grotesk" pitchFamily="34" charset="-120"/>
                        </a:rPr>
                        <a:t>Privacy and stigma</a:t>
                      </a:r>
                      <a:endParaRPr lang="en-US" sz="17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700" dirty="0">
                          <a:solidFill>
                            <a:srgbClr val="38433C"/>
                          </a:solidFill>
                          <a:latin typeface="Schibsted Grotesk" pitchFamily="34" charset="0"/>
                          <a:ea typeface="Schibsted Grotesk" pitchFamily="34" charset="-122"/>
                          <a:cs typeface="Schibsted Grotesk" pitchFamily="34" charset="-120"/>
                        </a:rPr>
                        <a:t>No accounts or names; pickup codes only; busy, neutral spots.</a:t>
                      </a:r>
                      <a:endParaRPr lang="en-US" sz="17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bl>
          </a:graphicData>
        </a:graphic>
      </p:graphicFrame>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7"/>
          <p:cNvSpPr/>
          <p:nvPr>
            <p:ph idx="107" type="title" hasCustomPrompt="1"/>
          </p:nvPr>
        </p:nvSpPr>
        <p:spPr>
          <a:xfrm>
            <a:off x="685800" y="502920"/>
            <a:ext cx="10241280" cy="1188720"/>
          </a:xfrm>
          <a:prstGeom prst="rect">
            <a:avLst/>
          </a:prstGeom>
          <a:noFill/>
          <a:ln/>
        </p:spPr>
        <p:txBody>
          <a:bodyPr wrap="square" lIns="0" tIns="0" rIns="0" bIns="0" rtlCol="0" anchor="t"/>
          <a:lstStyle/>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SWOT: strongest on cost and</a:t>
            </a:r>
            <a:endParaRPr lang="en-US" sz="3400" dirty="0"/>
          </a:p>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accountability, weakest on proof of use</a:t>
            </a:r>
            <a:endParaRPr lang="en-US" sz="3400" dirty="0"/>
          </a:p>
        </p:txBody>
      </p:sp>
      <p:sp>
        <p:nvSpPr>
          <p:cNvPr id="3" name="Shape 1"/>
          <p:cNvSpPr/>
          <p:nvPr/>
        </p:nvSpPr>
        <p:spPr>
          <a:xfrm>
            <a:off x="685800" y="1828800"/>
            <a:ext cx="5295748" cy="1901952"/>
          </a:xfrm>
          <a:prstGeom prst="rect">
            <a:avLst/>
          </a:prstGeom>
          <a:solidFill>
            <a:srgbClr val="FFFFFF"/>
          </a:solidFill>
          <a:ln w="9525">
            <a:solidFill>
              <a:srgbClr val="D9D4C7"/>
            </a:solidFill>
            <a:prstDash val="solid"/>
          </a:ln>
        </p:spPr>
      </p:sp>
      <p:sp>
        <p:nvSpPr>
          <p:cNvPr id="4" name="Text 2"/>
          <p:cNvSpPr txBox="1"/>
          <p:nvPr/>
        </p:nvSpPr>
        <p:spPr>
          <a:xfrm>
            <a:off x="960120" y="2029968"/>
            <a:ext cx="4747108" cy="411480"/>
          </a:xfrm>
          <a:prstGeom prst="rect">
            <a:avLst/>
          </a:prstGeom>
          <a:noFill/>
          <a:ln/>
        </p:spPr>
        <p:txBody>
          <a:bodyPr wrap="square" lIns="0" tIns="0" rIns="0" bIns="0" rtlCol="0" anchor="t"/>
          <a:lstStyle/>
          <a:p>
            <a:pPr indent="0" marL="0">
              <a:buNone/>
            </a:pPr>
            <a:r>
              <a:rPr lang="en-US" sz="2400" b="1" dirty="0">
                <a:solidFill>
                  <a:srgbClr val="1D5E40"/>
                </a:solidFill>
                <a:latin typeface="Schibsted Grotesk" pitchFamily="34" charset="0"/>
                <a:ea typeface="Schibsted Grotesk" pitchFamily="34" charset="-122"/>
                <a:cs typeface="Schibsted Grotesk" pitchFamily="34" charset="-120"/>
              </a:rPr>
              <a:t>Strengths</a:t>
            </a:r>
            <a:endParaRPr lang="en-US" sz="2400" dirty="0"/>
          </a:p>
        </p:txBody>
      </p:sp>
      <p:sp>
        <p:nvSpPr>
          <p:cNvPr id="5" name="Text 3"/>
          <p:cNvSpPr txBox="1"/>
          <p:nvPr/>
        </p:nvSpPr>
        <p:spPr>
          <a:xfrm>
            <a:off x="960120" y="2542032"/>
            <a:ext cx="4747108" cy="1115568"/>
          </a:xfrm>
          <a:prstGeom prst="rect">
            <a:avLst/>
          </a:prstGeom>
          <a:noFill/>
          <a:ln/>
        </p:spPr>
        <p:txBody>
          <a:bodyPr wrap="square" lIns="0" tIns="0" rIns="0" bIns="0" rtlCol="0" anchor="t"/>
          <a:lstStyle/>
          <a:p>
            <a:pPr marL="203200" indent="-203200">
              <a:spcAft>
                <a:spcPts val="200"/>
              </a:spcAft>
              <a:buSzPct val="100000"/>
              <a:buChar char="•"/>
            </a:pPr>
            <a:r>
              <a:rPr lang="en-US" sz="1700" dirty="0">
                <a:solidFill>
                  <a:srgbClr val="15201A"/>
                </a:solidFill>
                <a:latin typeface="Schibsted Grotesk" pitchFamily="34" charset="0"/>
                <a:ea typeface="Schibsted Grotesk" pitchFamily="34" charset="-122"/>
                <a:cs typeface="Schibsted Grotesk" pitchFamily="34" charset="-120"/>
              </a:rPr>
              <a:t>Built and working today</a:t>
            </a:r>
            <a:endParaRPr lang="en-US" sz="1700" dirty="0"/>
          </a:p>
          <a:p>
            <a:pPr marL="203200" indent="-203200">
              <a:spcAft>
                <a:spcPts val="200"/>
              </a:spcAft>
              <a:buSzPct val="100000"/>
              <a:buChar char="•"/>
            </a:pPr>
            <a:r>
              <a:rPr lang="en-US" sz="1700" dirty="0">
                <a:solidFill>
                  <a:srgbClr val="15201A"/>
                </a:solidFill>
                <a:latin typeface="Schibsted Grotesk" pitchFamily="34" charset="0"/>
                <a:ea typeface="Schibsted Grotesk" pitchFamily="34" charset="-122"/>
                <a:cs typeface="Schibsted Grotesk" pitchFamily="34" charset="-120"/>
              </a:rPr>
              <a:t>Anonymous, walk-up access</a:t>
            </a:r>
            <a:endParaRPr lang="en-US" sz="1700" dirty="0"/>
          </a:p>
          <a:p>
            <a:pPr marL="203200" indent="-203200">
              <a:spcAft>
                <a:spcPts val="200"/>
              </a:spcAft>
              <a:buSzPct val="100000"/>
              <a:buChar char="•"/>
            </a:pPr>
            <a:r>
              <a:rPr lang="en-US" sz="1700" dirty="0">
                <a:solidFill>
                  <a:srgbClr val="15201A"/>
                </a:solidFill>
                <a:latin typeface="Schibsted Grotesk" pitchFamily="34" charset="0"/>
                <a:ea typeface="Schibsted Grotesk" pitchFamily="34" charset="-122"/>
                <a:cs typeface="Schibsted Grotesk" pitchFamily="34" charset="-120"/>
              </a:rPr>
              <a:t>Measures itself at every check-in</a:t>
            </a:r>
            <a:endParaRPr lang="en-US" sz="1700" dirty="0"/>
          </a:p>
          <a:p>
            <a:pPr marL="203200" indent="-203200">
              <a:spcAft>
                <a:spcPts val="200"/>
              </a:spcAft>
              <a:buSzPct val="100000"/>
              <a:buChar char="•"/>
            </a:pPr>
            <a:r>
              <a:rPr lang="en-US" sz="1700" dirty="0">
                <a:solidFill>
                  <a:srgbClr val="15201A"/>
                </a:solidFill>
                <a:latin typeface="Schibsted Grotesk" pitchFamily="34" charset="0"/>
                <a:ea typeface="Schibsted Grotesk" pitchFamily="34" charset="-122"/>
                <a:cs typeface="Schibsted Grotesk" pitchFamily="34" charset="-120"/>
              </a:rPr>
              <a:t>$2,500 for 11 weeks</a:t>
            </a:r>
            <a:endParaRPr lang="en-US" sz="1700" dirty="0"/>
          </a:p>
        </p:txBody>
      </p:sp>
      <p:sp>
        <p:nvSpPr>
          <p:cNvPr id="6" name="Shape 4"/>
          <p:cNvSpPr/>
          <p:nvPr/>
        </p:nvSpPr>
        <p:spPr>
          <a:xfrm>
            <a:off x="6210148" y="1828800"/>
            <a:ext cx="5295748" cy="1901952"/>
          </a:xfrm>
          <a:prstGeom prst="rect">
            <a:avLst/>
          </a:prstGeom>
          <a:solidFill>
            <a:srgbClr val="EEEADF"/>
          </a:solidFill>
          <a:ln w="9525">
            <a:solidFill>
              <a:srgbClr val="D9D4C7"/>
            </a:solidFill>
            <a:prstDash val="solid"/>
          </a:ln>
        </p:spPr>
      </p:sp>
      <p:sp>
        <p:nvSpPr>
          <p:cNvPr id="7" name="Text 5"/>
          <p:cNvSpPr txBox="1"/>
          <p:nvPr/>
        </p:nvSpPr>
        <p:spPr>
          <a:xfrm>
            <a:off x="6484468" y="2029968"/>
            <a:ext cx="4747108" cy="411480"/>
          </a:xfrm>
          <a:prstGeom prst="rect">
            <a:avLst/>
          </a:prstGeom>
          <a:noFill/>
          <a:ln/>
        </p:spPr>
        <p:txBody>
          <a:bodyPr wrap="square" lIns="0" tIns="0" rIns="0" bIns="0" rtlCol="0" anchor="t"/>
          <a:lstStyle/>
          <a:p>
            <a:pPr indent="0" marL="0">
              <a:buNone/>
            </a:pPr>
            <a:r>
              <a:rPr lang="en-US" sz="2400" b="1" dirty="0">
                <a:solidFill>
                  <a:srgbClr val="1D5E40"/>
                </a:solidFill>
                <a:latin typeface="Schibsted Grotesk" pitchFamily="34" charset="0"/>
                <a:ea typeface="Schibsted Grotesk" pitchFamily="34" charset="-122"/>
                <a:cs typeface="Schibsted Grotesk" pitchFamily="34" charset="-120"/>
              </a:rPr>
              <a:t>Weaknesses</a:t>
            </a:r>
            <a:endParaRPr lang="en-US" sz="2400" dirty="0"/>
          </a:p>
        </p:txBody>
      </p:sp>
      <p:sp>
        <p:nvSpPr>
          <p:cNvPr id="8" name="Text 6"/>
          <p:cNvSpPr txBox="1"/>
          <p:nvPr/>
        </p:nvSpPr>
        <p:spPr>
          <a:xfrm>
            <a:off x="6484468" y="2542032"/>
            <a:ext cx="4747108" cy="1115568"/>
          </a:xfrm>
          <a:prstGeom prst="rect">
            <a:avLst/>
          </a:prstGeom>
          <a:noFill/>
          <a:ln/>
        </p:spPr>
        <p:txBody>
          <a:bodyPr wrap="square" lIns="0" tIns="0" rIns="0" bIns="0" rtlCol="0" anchor="t"/>
          <a:lstStyle/>
          <a:p>
            <a:pPr marL="203200" indent="-203200">
              <a:spcAft>
                <a:spcPts val="200"/>
              </a:spcAft>
              <a:buSzPct val="100000"/>
              <a:buChar char="•"/>
            </a:pPr>
            <a:r>
              <a:rPr lang="en-US" sz="1700" dirty="0">
                <a:solidFill>
                  <a:srgbClr val="15201A"/>
                </a:solidFill>
                <a:latin typeface="Schibsted Grotesk" pitchFamily="34" charset="0"/>
                <a:ea typeface="Schibsted Grotesk" pitchFamily="34" charset="-122"/>
                <a:cs typeface="Schibsted Grotesk" pitchFamily="34" charset="-120"/>
              </a:rPr>
              <a:t>Shelf-stable food only</a:t>
            </a:r>
            <a:endParaRPr lang="en-US" sz="1700" dirty="0"/>
          </a:p>
          <a:p>
            <a:pPr marL="203200" indent="-203200">
              <a:spcAft>
                <a:spcPts val="200"/>
              </a:spcAft>
              <a:buSzPct val="100000"/>
              <a:buChar char="•"/>
            </a:pPr>
            <a:r>
              <a:rPr lang="en-US" sz="1700" dirty="0">
                <a:solidFill>
                  <a:srgbClr val="15201A"/>
                </a:solidFill>
                <a:latin typeface="Schibsted Grotesk" pitchFamily="34" charset="0"/>
                <a:ea typeface="Schibsted Grotesk" pitchFamily="34" charset="-122"/>
                <a:cs typeface="Schibsted Grotesk" pitchFamily="34" charset="-120"/>
              </a:rPr>
              <a:t>Depends on volunteers</a:t>
            </a:r>
            <a:endParaRPr lang="en-US" sz="1700" dirty="0"/>
          </a:p>
          <a:p>
            <a:pPr marL="203200" indent="-203200">
              <a:spcAft>
                <a:spcPts val="200"/>
              </a:spcAft>
              <a:buSzPct val="100000"/>
              <a:buChar char="•"/>
            </a:pPr>
            <a:r>
              <a:rPr lang="en-US" sz="1700" dirty="0">
                <a:solidFill>
                  <a:srgbClr val="15201A"/>
                </a:solidFill>
                <a:latin typeface="Schibsted Grotesk" pitchFamily="34" charset="0"/>
                <a:ea typeface="Schibsted Grotesk" pitchFamily="34" charset="-122"/>
                <a:cs typeface="Schibsted Grotesk" pitchFamily="34" charset="-120"/>
              </a:rPr>
              <a:t>No per-person limit</a:t>
            </a:r>
            <a:endParaRPr lang="en-US" sz="1700" dirty="0"/>
          </a:p>
          <a:p>
            <a:pPr marL="203200" indent="-203200">
              <a:spcAft>
                <a:spcPts val="200"/>
              </a:spcAft>
              <a:buSzPct val="100000"/>
              <a:buChar char="•"/>
            </a:pPr>
            <a:r>
              <a:rPr lang="en-US" sz="1700" dirty="0">
                <a:solidFill>
                  <a:srgbClr val="15201A"/>
                </a:solidFill>
                <a:latin typeface="Schibsted Grotesk" pitchFamily="34" charset="0"/>
                <a:ea typeface="Schibsted Grotesk" pitchFamily="34" charset="-122"/>
                <a:cs typeface="Schibsted Grotesk" pitchFamily="34" charset="-120"/>
              </a:rPr>
              <a:t>No usage data of our own yet</a:t>
            </a:r>
            <a:endParaRPr lang="en-US" sz="1700" dirty="0"/>
          </a:p>
        </p:txBody>
      </p:sp>
      <p:sp>
        <p:nvSpPr>
          <p:cNvPr id="9" name="Shape 7"/>
          <p:cNvSpPr/>
          <p:nvPr/>
        </p:nvSpPr>
        <p:spPr>
          <a:xfrm>
            <a:off x="685800" y="3931920"/>
            <a:ext cx="5295748" cy="1901952"/>
          </a:xfrm>
          <a:prstGeom prst="rect">
            <a:avLst/>
          </a:prstGeom>
          <a:solidFill>
            <a:srgbClr val="FFFFFF"/>
          </a:solidFill>
          <a:ln w="9525">
            <a:solidFill>
              <a:srgbClr val="D9D4C7"/>
            </a:solidFill>
            <a:prstDash val="solid"/>
          </a:ln>
        </p:spPr>
      </p:sp>
      <p:sp>
        <p:nvSpPr>
          <p:cNvPr id="10" name="Text 8"/>
          <p:cNvSpPr txBox="1"/>
          <p:nvPr/>
        </p:nvSpPr>
        <p:spPr>
          <a:xfrm>
            <a:off x="960120" y="4133088"/>
            <a:ext cx="4747108" cy="411480"/>
          </a:xfrm>
          <a:prstGeom prst="rect">
            <a:avLst/>
          </a:prstGeom>
          <a:noFill/>
          <a:ln/>
        </p:spPr>
        <p:txBody>
          <a:bodyPr wrap="square" lIns="0" tIns="0" rIns="0" bIns="0" rtlCol="0" anchor="t"/>
          <a:lstStyle/>
          <a:p>
            <a:pPr indent="0" marL="0">
              <a:buNone/>
            </a:pPr>
            <a:r>
              <a:rPr lang="en-US" sz="2400" b="1" dirty="0">
                <a:solidFill>
                  <a:srgbClr val="1D5E40"/>
                </a:solidFill>
                <a:latin typeface="Schibsted Grotesk" pitchFamily="34" charset="0"/>
                <a:ea typeface="Schibsted Grotesk" pitchFamily="34" charset="-122"/>
                <a:cs typeface="Schibsted Grotesk" pitchFamily="34" charset="-120"/>
              </a:rPr>
              <a:t>Opportunities</a:t>
            </a:r>
            <a:endParaRPr lang="en-US" sz="2400" dirty="0"/>
          </a:p>
        </p:txBody>
      </p:sp>
      <p:sp>
        <p:nvSpPr>
          <p:cNvPr id="11" name="Text 9"/>
          <p:cNvSpPr txBox="1"/>
          <p:nvPr/>
        </p:nvSpPr>
        <p:spPr>
          <a:xfrm>
            <a:off x="960120" y="4645152"/>
            <a:ext cx="4747108" cy="1115568"/>
          </a:xfrm>
          <a:prstGeom prst="rect">
            <a:avLst/>
          </a:prstGeom>
          <a:noFill/>
          <a:ln/>
        </p:spPr>
        <p:txBody>
          <a:bodyPr wrap="square" lIns="0" tIns="0" rIns="0" bIns="0" rtlCol="0" anchor="t"/>
          <a:lstStyle/>
          <a:p>
            <a:pPr marL="203200" indent="-203200">
              <a:spcAft>
                <a:spcPts val="200"/>
              </a:spcAft>
              <a:buSzPct val="100000"/>
              <a:buChar char="•"/>
            </a:pPr>
            <a:r>
              <a:rPr lang="en-US" sz="1700" dirty="0">
                <a:solidFill>
                  <a:srgbClr val="15201A"/>
                </a:solidFill>
                <a:latin typeface="Schibsted Grotesk" pitchFamily="34" charset="0"/>
                <a:ea typeface="Schibsted Grotesk" pitchFamily="34" charset="-122"/>
                <a:cs typeface="Schibsted Grotesk" pitchFamily="34" charset="-120"/>
              </a:rPr>
              <a:t>USC Grant Fund open until March</a:t>
            </a:r>
            <a:endParaRPr lang="en-US" sz="1700" dirty="0"/>
          </a:p>
          <a:p>
            <a:pPr marL="203200" indent="-203200">
              <a:spcAft>
                <a:spcPts val="200"/>
              </a:spcAft>
              <a:buSzPct val="100000"/>
              <a:buChar char="•"/>
            </a:pPr>
            <a:r>
              <a:rPr lang="en-US" sz="1700" dirty="0">
                <a:solidFill>
                  <a:srgbClr val="15201A"/>
                </a:solidFill>
                <a:latin typeface="Schibsted Grotesk" pitchFamily="34" charset="0"/>
                <a:ea typeface="Schibsted Grotesk" pitchFamily="34" charset="-122"/>
                <a:cs typeface="Schibsted Grotesk" pitchFamily="34" charset="-120"/>
              </a:rPr>
              <a:t>FoodRescue.ca surplus</a:t>
            </a:r>
            <a:endParaRPr lang="en-US" sz="1700" dirty="0"/>
          </a:p>
          <a:p>
            <a:pPr marL="203200" indent="-203200">
              <a:spcAft>
                <a:spcPts val="200"/>
              </a:spcAft>
              <a:buSzPct val="100000"/>
              <a:buChar char="•"/>
            </a:pPr>
            <a:r>
              <a:rPr lang="en-US" sz="1700" dirty="0">
                <a:solidFill>
                  <a:srgbClr val="15201A"/>
                </a:solidFill>
                <a:latin typeface="Schibsted Grotesk" pitchFamily="34" charset="0"/>
                <a:ea typeface="Schibsted Grotesk" pitchFamily="34" charset="-122"/>
                <a:cs typeface="Schibsted Grotesk" pitchFamily="34" charset="-120"/>
              </a:rPr>
              <a:t>Event and catering leftovers</a:t>
            </a:r>
            <a:endParaRPr lang="en-US" sz="1700" dirty="0"/>
          </a:p>
          <a:p>
            <a:pPr marL="203200" indent="-203200">
              <a:spcAft>
                <a:spcPts val="200"/>
              </a:spcAft>
              <a:buSzPct val="100000"/>
              <a:buChar char="•"/>
            </a:pPr>
            <a:r>
              <a:rPr lang="en-US" sz="1700" dirty="0">
                <a:solidFill>
                  <a:srgbClr val="15201A"/>
                </a:solidFill>
                <a:latin typeface="Schibsted Grotesk" pitchFamily="34" charset="0"/>
                <a:ea typeface="Schibsted Grotesk" pitchFamily="34" charset="-122"/>
                <a:cs typeface="Schibsted Grotesk" pitchFamily="34" charset="-120"/>
              </a:rPr>
              <a:t>Residences next</a:t>
            </a:r>
            <a:endParaRPr lang="en-US" sz="1700" dirty="0"/>
          </a:p>
        </p:txBody>
      </p:sp>
      <p:sp>
        <p:nvSpPr>
          <p:cNvPr id="12" name="Shape 10"/>
          <p:cNvSpPr/>
          <p:nvPr/>
        </p:nvSpPr>
        <p:spPr>
          <a:xfrm>
            <a:off x="6210148" y="3931920"/>
            <a:ext cx="5295748" cy="1901952"/>
          </a:xfrm>
          <a:prstGeom prst="rect">
            <a:avLst/>
          </a:prstGeom>
          <a:solidFill>
            <a:srgbClr val="EEEADF"/>
          </a:solidFill>
          <a:ln w="9525">
            <a:solidFill>
              <a:srgbClr val="D9D4C7"/>
            </a:solidFill>
            <a:prstDash val="solid"/>
          </a:ln>
        </p:spPr>
      </p:sp>
      <p:sp>
        <p:nvSpPr>
          <p:cNvPr id="13" name="Text 11"/>
          <p:cNvSpPr txBox="1"/>
          <p:nvPr/>
        </p:nvSpPr>
        <p:spPr>
          <a:xfrm>
            <a:off x="6484468" y="4133088"/>
            <a:ext cx="4747108" cy="411480"/>
          </a:xfrm>
          <a:prstGeom prst="rect">
            <a:avLst/>
          </a:prstGeom>
          <a:noFill/>
          <a:ln/>
        </p:spPr>
        <p:txBody>
          <a:bodyPr wrap="square" lIns="0" tIns="0" rIns="0" bIns="0" rtlCol="0" anchor="t"/>
          <a:lstStyle/>
          <a:p>
            <a:pPr indent="0" marL="0">
              <a:buNone/>
            </a:pPr>
            <a:r>
              <a:rPr lang="en-US" sz="2400" b="1" dirty="0">
                <a:solidFill>
                  <a:srgbClr val="1D5E40"/>
                </a:solidFill>
                <a:latin typeface="Schibsted Grotesk" pitchFamily="34" charset="0"/>
                <a:ea typeface="Schibsted Grotesk" pitchFamily="34" charset="-122"/>
                <a:cs typeface="Schibsted Grotesk" pitchFamily="34" charset="-120"/>
              </a:rPr>
              <a:t>Threats</a:t>
            </a:r>
            <a:endParaRPr lang="en-US" sz="2400" dirty="0"/>
          </a:p>
        </p:txBody>
      </p:sp>
      <p:sp>
        <p:nvSpPr>
          <p:cNvPr id="14" name="Text 12"/>
          <p:cNvSpPr txBox="1"/>
          <p:nvPr/>
        </p:nvSpPr>
        <p:spPr>
          <a:xfrm>
            <a:off x="6484468" y="4645152"/>
            <a:ext cx="4747108" cy="1115568"/>
          </a:xfrm>
          <a:prstGeom prst="rect">
            <a:avLst/>
          </a:prstGeom>
          <a:noFill/>
          <a:ln/>
        </p:spPr>
        <p:txBody>
          <a:bodyPr wrap="square" lIns="0" tIns="0" rIns="0" bIns="0" rtlCol="0" anchor="t"/>
          <a:lstStyle/>
          <a:p>
            <a:pPr marL="203200" indent="-203200">
              <a:spcAft>
                <a:spcPts val="200"/>
              </a:spcAft>
              <a:buSzPct val="100000"/>
              <a:buChar char="•"/>
            </a:pPr>
            <a:r>
              <a:rPr lang="en-US" sz="1700" dirty="0">
                <a:solidFill>
                  <a:srgbClr val="15201A"/>
                </a:solidFill>
                <a:latin typeface="Schibsted Grotesk" pitchFamily="34" charset="0"/>
                <a:ea typeface="Schibsted Grotesk" pitchFamily="34" charset="-122"/>
                <a:cs typeface="Schibsted Grotesk" pitchFamily="34" charset="-120"/>
              </a:rPr>
              <a:t>A food-safety incident</a:t>
            </a:r>
            <a:endParaRPr lang="en-US" sz="1700" dirty="0"/>
          </a:p>
          <a:p>
            <a:pPr marL="203200" indent="-203200">
              <a:spcAft>
                <a:spcPts val="200"/>
              </a:spcAft>
              <a:buSzPct val="100000"/>
              <a:buChar char="•"/>
            </a:pPr>
            <a:r>
              <a:rPr lang="en-US" sz="1700" dirty="0">
                <a:solidFill>
                  <a:srgbClr val="15201A"/>
                </a:solidFill>
                <a:latin typeface="Schibsted Grotesk" pitchFamily="34" charset="0"/>
                <a:ea typeface="Schibsted Grotesk" pitchFamily="34" charset="-122"/>
                <a:cs typeface="Schibsted Grotesk" pitchFamily="34" charset="-120"/>
              </a:rPr>
              <a:t>Theft or vandalism</a:t>
            </a:r>
            <a:endParaRPr lang="en-US" sz="1700" dirty="0"/>
          </a:p>
          <a:p>
            <a:pPr marL="203200" indent="-203200">
              <a:spcAft>
                <a:spcPts val="200"/>
              </a:spcAft>
              <a:buSzPct val="100000"/>
              <a:buChar char="•"/>
            </a:pPr>
            <a:r>
              <a:rPr lang="en-US" sz="1700" dirty="0">
                <a:solidFill>
                  <a:srgbClr val="15201A"/>
                </a:solidFill>
                <a:latin typeface="Schibsted Grotesk" pitchFamily="34" charset="0"/>
                <a:ea typeface="Schibsted Grotesk" pitchFamily="34" charset="-122"/>
                <a:cs typeface="Schibsted Grotesk" pitchFamily="34" charset="-120"/>
              </a:rPr>
              <a:t>Volunteer burnout in exams</a:t>
            </a:r>
            <a:endParaRPr lang="en-US" sz="1700" dirty="0"/>
          </a:p>
          <a:p>
            <a:pPr marL="203200" indent="-203200">
              <a:spcAft>
                <a:spcPts val="200"/>
              </a:spcAft>
              <a:buSzPct val="100000"/>
              <a:buChar char="•"/>
            </a:pPr>
            <a:r>
              <a:rPr lang="en-US" sz="1700" dirty="0">
                <a:solidFill>
                  <a:srgbClr val="15201A"/>
                </a:solidFill>
                <a:latin typeface="Schibsted Grotesk" pitchFamily="34" charset="0"/>
                <a:ea typeface="Schibsted Grotesk" pitchFamily="34" charset="-122"/>
                <a:cs typeface="Schibsted Grotesk" pitchFamily="34" charset="-120"/>
              </a:rPr>
              <a:t>Second site not approved</a:t>
            </a:r>
            <a:endParaRPr lang="en-US" sz="17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6"/>
          <p:cNvSpPr/>
          <p:nvPr>
            <p:ph idx="106" type="title" hasCustomPrompt="1"/>
          </p:nvPr>
        </p:nvSpPr>
        <p:spPr>
          <a:xfrm>
            <a:off x="685800" y="502920"/>
            <a:ext cx="10241280" cy="1188720"/>
          </a:xfrm>
          <a:prstGeom prst="rect">
            <a:avLst/>
          </a:prstGeom>
          <a:noFill/>
          <a:ln/>
        </p:spPr>
        <p:txBody>
          <a:bodyPr wrap="square" lIns="0" tIns="0" rIns="0" bIns="0" rtlCol="0" anchor="t"/>
          <a:lstStyle/>
          <a:p>
            <a:pPr algn="l" indent="0" marL="0">
              <a:lnSpc>
                <a:spcPct val="95000"/>
              </a:lnSpc>
              <a:buNone/>
            </a:pPr>
            <a:r>
              <a:rPr lang="en-US" sz="3400" b="1" dirty="0">
                <a:solidFill>
                  <a:srgbClr val="F7F5EF"/>
                </a:solidFill>
                <a:latin typeface="Schibsted Grotesk" pitchFamily="34" charset="0"/>
                <a:ea typeface="Schibsted Grotesk" pitchFamily="34" charset="-122"/>
                <a:cs typeface="Schibsted Grotesk" pitchFamily="34" charset="-120"/>
              </a:rPr>
              <a:t>Our ask: fund the FoodLink pilot</a:t>
            </a:r>
            <a:endParaRPr lang="en-US" sz="3400" dirty="0"/>
          </a:p>
        </p:txBody>
      </p:sp>
      <p:sp>
        <p:nvSpPr>
          <p:cNvPr id="3" name="Shape 1"/>
          <p:cNvSpPr/>
          <p:nvPr/>
        </p:nvSpPr>
        <p:spPr>
          <a:xfrm>
            <a:off x="685800" y="1783080"/>
            <a:ext cx="3454298" cy="0"/>
          </a:xfrm>
          <a:prstGeom prst="line">
            <a:avLst/>
          </a:prstGeom>
          <a:noFill/>
          <a:ln w="9525">
            <a:solidFill>
              <a:srgbClr val="2F5444"/>
            </a:solidFill>
            <a:prstDash val="solid"/>
          </a:ln>
        </p:spPr>
      </p:sp>
      <p:sp>
        <p:nvSpPr>
          <p:cNvPr id="4" name="Text 2"/>
          <p:cNvSpPr txBox="1"/>
          <p:nvPr/>
        </p:nvSpPr>
        <p:spPr>
          <a:xfrm>
            <a:off x="685800" y="1901952"/>
            <a:ext cx="3454298" cy="1051560"/>
          </a:xfrm>
          <a:prstGeom prst="rect">
            <a:avLst/>
          </a:prstGeom>
          <a:noFill/>
          <a:ln/>
        </p:spPr>
        <p:txBody>
          <a:bodyPr wrap="square" lIns="0" tIns="0" rIns="0" bIns="0" rtlCol="0" anchor="t"/>
          <a:lstStyle/>
          <a:p>
            <a:pPr indent="0" marL="0">
              <a:buNone/>
            </a:pPr>
            <a:r>
              <a:rPr lang="en-US" sz="7200" b="1" dirty="0">
                <a:solidFill>
                  <a:srgbClr val="D9B26E"/>
                </a:solidFill>
                <a:latin typeface="Schibsted Grotesk" pitchFamily="34" charset="0"/>
                <a:ea typeface="Schibsted Grotesk" pitchFamily="34" charset="-122"/>
                <a:cs typeface="Schibsted Grotesk" pitchFamily="34" charset="-120"/>
              </a:rPr>
              <a:t>$2,500</a:t>
            </a:r>
            <a:endParaRPr lang="en-US" sz="7200" dirty="0"/>
          </a:p>
        </p:txBody>
      </p:sp>
      <p:sp>
        <p:nvSpPr>
          <p:cNvPr id="5" name="Text 3"/>
          <p:cNvSpPr txBox="1"/>
          <p:nvPr/>
        </p:nvSpPr>
        <p:spPr>
          <a:xfrm>
            <a:off x="685800" y="2999232"/>
            <a:ext cx="3271418" cy="640080"/>
          </a:xfrm>
          <a:prstGeom prst="rect">
            <a:avLst/>
          </a:prstGeom>
          <a:noFill/>
          <a:ln/>
        </p:spPr>
        <p:txBody>
          <a:bodyPr wrap="square" lIns="0" tIns="0" rIns="0" bIns="0" rtlCol="0" anchor="t"/>
          <a:lstStyle/>
          <a:p>
            <a:pPr indent="0" marL="0">
              <a:buNone/>
            </a:pPr>
            <a:r>
              <a:rPr lang="en-US" sz="1800" dirty="0">
                <a:solidFill>
                  <a:srgbClr val="CBD9CE"/>
                </a:solidFill>
                <a:latin typeface="Schibsted Grotesk" pitchFamily="34" charset="0"/>
                <a:ea typeface="Schibsted Grotesk" pitchFamily="34" charset="-122"/>
                <a:cs typeface="Schibsted Grotesk" pitchFamily="34" charset="-120"/>
              </a:rPr>
              <a:t>from the USC Grant Fund</a:t>
            </a:r>
            <a:endParaRPr lang="en-US" sz="1800" dirty="0"/>
          </a:p>
        </p:txBody>
      </p:sp>
      <p:sp>
        <p:nvSpPr>
          <p:cNvPr id="6" name="Shape 4"/>
          <p:cNvSpPr/>
          <p:nvPr/>
        </p:nvSpPr>
        <p:spPr>
          <a:xfrm>
            <a:off x="4368698" y="1783080"/>
            <a:ext cx="3454298" cy="0"/>
          </a:xfrm>
          <a:prstGeom prst="line">
            <a:avLst/>
          </a:prstGeom>
          <a:noFill/>
          <a:ln w="9525">
            <a:solidFill>
              <a:srgbClr val="2F5444"/>
            </a:solidFill>
            <a:prstDash val="solid"/>
          </a:ln>
        </p:spPr>
      </p:sp>
      <p:sp>
        <p:nvSpPr>
          <p:cNvPr id="7" name="Text 5"/>
          <p:cNvSpPr txBox="1"/>
          <p:nvPr/>
        </p:nvSpPr>
        <p:spPr>
          <a:xfrm>
            <a:off x="4368698" y="1901952"/>
            <a:ext cx="3454298" cy="1051560"/>
          </a:xfrm>
          <a:prstGeom prst="rect">
            <a:avLst/>
          </a:prstGeom>
          <a:noFill/>
          <a:ln/>
        </p:spPr>
        <p:txBody>
          <a:bodyPr wrap="square" lIns="0" tIns="0" rIns="0" bIns="0" rtlCol="0" anchor="t"/>
          <a:lstStyle/>
          <a:p>
            <a:pPr indent="0" marL="0">
              <a:buNone/>
            </a:pPr>
            <a:r>
              <a:rPr lang="en-US" sz="7200" b="1" dirty="0">
                <a:solidFill>
                  <a:srgbClr val="D9B26E"/>
                </a:solidFill>
                <a:latin typeface="Schibsted Grotesk" pitchFamily="34" charset="0"/>
                <a:ea typeface="Schibsted Grotesk" pitchFamily="34" charset="-122"/>
                <a:cs typeface="Schibsted Grotesk" pitchFamily="34" charset="-120"/>
              </a:rPr>
              <a:t>2</a:t>
            </a:r>
            <a:endParaRPr lang="en-US" sz="7200" dirty="0"/>
          </a:p>
        </p:txBody>
      </p:sp>
      <p:sp>
        <p:nvSpPr>
          <p:cNvPr id="8" name="Text 6"/>
          <p:cNvSpPr txBox="1"/>
          <p:nvPr/>
        </p:nvSpPr>
        <p:spPr>
          <a:xfrm>
            <a:off x="4368698" y="2999232"/>
            <a:ext cx="3271418" cy="640080"/>
          </a:xfrm>
          <a:prstGeom prst="rect">
            <a:avLst/>
          </a:prstGeom>
          <a:noFill/>
          <a:ln/>
        </p:spPr>
        <p:txBody>
          <a:bodyPr wrap="square" lIns="0" tIns="0" rIns="0" bIns="0" rtlCol="0" anchor="t"/>
          <a:lstStyle/>
          <a:p>
            <a:pPr indent="0" marL="0">
              <a:buNone/>
            </a:pPr>
            <a:r>
              <a:rPr lang="en-US" sz="1800" dirty="0">
                <a:solidFill>
                  <a:srgbClr val="CBD9CE"/>
                </a:solidFill>
                <a:latin typeface="Schibsted Grotesk" pitchFamily="34" charset="0"/>
                <a:ea typeface="Schibsted Grotesk" pitchFamily="34" charset="-122"/>
                <a:cs typeface="Schibsted Grotesk" pitchFamily="34" charset="-120"/>
              </a:rPr>
              <a:t>shelf locations: the UCC plus one more building</a:t>
            </a:r>
            <a:endParaRPr lang="en-US" sz="1800" dirty="0"/>
          </a:p>
        </p:txBody>
      </p:sp>
      <p:sp>
        <p:nvSpPr>
          <p:cNvPr id="9" name="Shape 7"/>
          <p:cNvSpPr/>
          <p:nvPr/>
        </p:nvSpPr>
        <p:spPr>
          <a:xfrm>
            <a:off x="8051597" y="1783080"/>
            <a:ext cx="3454298" cy="0"/>
          </a:xfrm>
          <a:prstGeom prst="line">
            <a:avLst/>
          </a:prstGeom>
          <a:noFill/>
          <a:ln w="9525">
            <a:solidFill>
              <a:srgbClr val="2F5444"/>
            </a:solidFill>
            <a:prstDash val="solid"/>
          </a:ln>
        </p:spPr>
      </p:sp>
      <p:sp>
        <p:nvSpPr>
          <p:cNvPr id="10" name="Text 8"/>
          <p:cNvSpPr txBox="1"/>
          <p:nvPr/>
        </p:nvSpPr>
        <p:spPr>
          <a:xfrm>
            <a:off x="8051597" y="1901952"/>
            <a:ext cx="3454298" cy="1051560"/>
          </a:xfrm>
          <a:prstGeom prst="rect">
            <a:avLst/>
          </a:prstGeom>
          <a:noFill/>
          <a:ln/>
        </p:spPr>
        <p:txBody>
          <a:bodyPr wrap="square" lIns="0" tIns="0" rIns="0" bIns="0" rtlCol="0" anchor="t"/>
          <a:lstStyle/>
          <a:p>
            <a:pPr indent="0" marL="0">
              <a:buNone/>
            </a:pPr>
            <a:r>
              <a:rPr lang="en-US" sz="7200" b="1" dirty="0">
                <a:solidFill>
                  <a:srgbClr val="D9B26E"/>
                </a:solidFill>
                <a:latin typeface="Schibsted Grotesk" pitchFamily="34" charset="0"/>
                <a:ea typeface="Schibsted Grotesk" pitchFamily="34" charset="-122"/>
                <a:cs typeface="Schibsted Grotesk" pitchFamily="34" charset="-120"/>
              </a:rPr>
              <a:t>11</a:t>
            </a:r>
            <a:endParaRPr lang="en-US" sz="7200" dirty="0"/>
          </a:p>
        </p:txBody>
      </p:sp>
      <p:sp>
        <p:nvSpPr>
          <p:cNvPr id="11" name="Text 9"/>
          <p:cNvSpPr txBox="1"/>
          <p:nvPr/>
        </p:nvSpPr>
        <p:spPr>
          <a:xfrm>
            <a:off x="8051597" y="2999232"/>
            <a:ext cx="3271418" cy="640080"/>
          </a:xfrm>
          <a:prstGeom prst="rect">
            <a:avLst/>
          </a:prstGeom>
          <a:noFill/>
          <a:ln/>
        </p:spPr>
        <p:txBody>
          <a:bodyPr wrap="square" lIns="0" tIns="0" rIns="0" bIns="0" rtlCol="0" anchor="t"/>
          <a:lstStyle/>
          <a:p>
            <a:pPr indent="0" marL="0">
              <a:buNone/>
            </a:pPr>
            <a:r>
              <a:rPr lang="en-US" sz="1800" dirty="0">
                <a:solidFill>
                  <a:srgbClr val="CBD9CE"/>
                </a:solidFill>
                <a:latin typeface="Schibsted Grotesk" pitchFamily="34" charset="0"/>
                <a:ea typeface="Schibsted Grotesk" pitchFamily="34" charset="-122"/>
                <a:cs typeface="Schibsted Grotesk" pitchFamily="34" charset="-120"/>
              </a:rPr>
              <a:t>weeks, January to March 2027</a:t>
            </a:r>
            <a:endParaRPr lang="en-US" sz="1800" dirty="0"/>
          </a:p>
        </p:txBody>
      </p:sp>
      <p:sp>
        <p:nvSpPr>
          <p:cNvPr id="12" name="Text 10"/>
          <p:cNvSpPr txBox="1"/>
          <p:nvPr/>
        </p:nvSpPr>
        <p:spPr>
          <a:xfrm>
            <a:off x="685800" y="3931920"/>
            <a:ext cx="10820095" cy="868680"/>
          </a:xfrm>
          <a:prstGeom prst="rect">
            <a:avLst/>
          </a:prstGeom>
          <a:noFill/>
          <a:ln/>
        </p:spPr>
        <p:txBody>
          <a:bodyPr wrap="square" lIns="0" tIns="0" rIns="0" bIns="0" rtlCol="0" anchor="t"/>
          <a:lstStyle/>
          <a:p>
            <a:pPr indent="0" marL="0">
              <a:buNone/>
            </a:pPr>
            <a:r>
              <a:rPr lang="en-US" sz="2000" dirty="0">
                <a:solidFill>
                  <a:srgbClr val="F7F5EF"/>
                </a:solidFill>
                <a:latin typeface="Schibsted Grotesk" pitchFamily="34" charset="0"/>
                <a:ea typeface="Schibsted Grotesk" pitchFamily="34" charset="-122"/>
                <a:cs typeface="Schibsted Grotesk" pitchFamily="34" charset="-120"/>
              </a:rPr>
              <a:t>FoodLink keeps the USC’s food bank and hampers, and adds walk-up shelves in busy buildings with the accountability the USC asked for. The app is already built.</a:t>
            </a:r>
            <a:endParaRPr lang="en-US" sz="2000" dirty="0"/>
          </a:p>
        </p:txBody>
      </p:sp>
      <p:sp>
        <p:nvSpPr>
          <p:cNvPr id="13" name="Shape 11"/>
          <p:cNvSpPr/>
          <p:nvPr/>
        </p:nvSpPr>
        <p:spPr>
          <a:xfrm>
            <a:off x="685800" y="5029200"/>
            <a:ext cx="10820095" cy="0"/>
          </a:xfrm>
          <a:prstGeom prst="line">
            <a:avLst/>
          </a:prstGeom>
          <a:noFill/>
          <a:ln w="9525">
            <a:solidFill>
              <a:srgbClr val="2F5444"/>
            </a:solidFill>
            <a:prstDash val="solid"/>
          </a:ln>
        </p:spPr>
      </p:sp>
      <p:sp>
        <p:nvSpPr>
          <p:cNvPr id="14" name="Text 12"/>
          <p:cNvSpPr txBox="1"/>
          <p:nvPr/>
        </p:nvSpPr>
        <p:spPr>
          <a:xfrm>
            <a:off x="685800" y="5175504"/>
            <a:ext cx="8229600" cy="457200"/>
          </a:xfrm>
          <a:prstGeom prst="rect">
            <a:avLst/>
          </a:prstGeom>
          <a:noFill/>
          <a:ln/>
        </p:spPr>
        <p:txBody>
          <a:bodyPr wrap="square" lIns="0" tIns="0" rIns="0" bIns="0" rtlCol="0" anchor="t"/>
          <a:lstStyle/>
          <a:p>
            <a:pPr indent="0" marL="0">
              <a:buNone/>
            </a:pPr>
            <a:r>
              <a:rPr lang="en-US" sz="2600" b="1" dirty="0">
                <a:solidFill>
                  <a:srgbClr val="F7F5EF"/>
                </a:solidFill>
                <a:latin typeface="Schibsted Grotesk" pitchFamily="34" charset="0"/>
                <a:ea typeface="Schibsted Grotesk" pitchFamily="34" charset="-122"/>
                <a:cs typeface="Schibsted Grotesk" pitchFamily="34" charset="-120"/>
              </a:rPr>
              <a:t>Thank you. We’re happy to take questions.</a:t>
            </a:r>
            <a:endParaRPr lang="en-US" sz="2600" dirty="0"/>
          </a:p>
        </p:txBody>
      </p:sp>
      <p:sp>
        <p:nvSpPr>
          <p:cNvPr id="15" name="Text 13"/>
          <p:cNvSpPr txBox="1"/>
          <p:nvPr/>
        </p:nvSpPr>
        <p:spPr>
          <a:xfrm>
            <a:off x="685800" y="5687568"/>
            <a:ext cx="10820095" cy="329184"/>
          </a:xfrm>
          <a:prstGeom prst="rect">
            <a:avLst/>
          </a:prstGeom>
          <a:noFill/>
          <a:ln/>
        </p:spPr>
        <p:txBody>
          <a:bodyPr wrap="square" lIns="0" tIns="0" rIns="0" bIns="0" rtlCol="0" anchor="t"/>
          <a:lstStyle/>
          <a:p>
            <a:pPr indent="0" marL="0">
              <a:buNone/>
            </a:pPr>
            <a:r>
              <a:rPr lang="en-US" sz="1500" dirty="0">
                <a:solidFill>
                  <a:srgbClr val="93AE9C"/>
                </a:solidFill>
                <a:latin typeface="Schibsted Grotesk" pitchFamily="34" charset="0"/>
                <a:ea typeface="Schibsted Grotesk" pitchFamily="34" charset="-122"/>
                <a:cs typeface="Schibsted Grotesk" pitchFamily="34" charset="-120"/>
              </a:rPr>
              <a:t>Xinge Xu (Zinger)   ·   Nuo Zhang   ·   Zohra Khawaja   ·   Ahana Gehlot</a:t>
            </a:r>
            <a:endParaRPr lang="en-US" sz="15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93AE9C"/>
                </a:solidFill>
                <a:latin typeface="Schibsted Grotesk"/>
                <a:ea typeface="Schibsted Grotesk"/>
                <a:cs typeface="Schibsted Grotesk"/>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4" type="title" hasCustomPrompt="1"/>
          </p:nvPr>
        </p:nvSpPr>
        <p:spPr>
          <a:xfrm>
            <a:off x="685800" y="502920"/>
            <a:ext cx="10241280" cy="1188720"/>
          </a:xfrm>
          <a:prstGeom prst="rect">
            <a:avLst/>
          </a:prstGeom>
          <a:noFill/>
          <a:ln/>
        </p:spPr>
        <p:txBody>
          <a:bodyPr wrap="square" lIns="0" tIns="0" rIns="0" bIns="0" rtlCol="0" anchor="t"/>
          <a:lstStyle/>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A1. Sources</a:t>
            </a:r>
            <a:endParaRPr lang="en-US" sz="3400" dirty="0"/>
          </a:p>
        </p:txBody>
      </p:sp>
      <p:sp>
        <p:nvSpPr>
          <p:cNvPr id="3" name="Text 1"/>
          <p:cNvSpPr txBox="1"/>
          <p:nvPr/>
        </p:nvSpPr>
        <p:spPr>
          <a:xfrm>
            <a:off x="685800" y="1463040"/>
            <a:ext cx="5295748" cy="256032"/>
          </a:xfrm>
          <a:prstGeom prst="rect">
            <a:avLst/>
          </a:prstGeom>
          <a:noFill/>
          <a:ln/>
        </p:spPr>
        <p:txBody>
          <a:bodyPr wrap="square" lIns="0" tIns="0" rIns="0" bIns="0" rtlCol="0" anchor="t"/>
          <a:lstStyle/>
          <a:p>
            <a:pPr indent="0" marL="0">
              <a:buNone/>
            </a:pPr>
            <a:r>
              <a:rPr lang="en-US" sz="1300" b="1" dirty="0">
                <a:solidFill>
                  <a:srgbClr val="15201A"/>
                </a:solidFill>
                <a:latin typeface="Schibsted Grotesk" pitchFamily="34" charset="0"/>
                <a:ea typeface="Schibsted Grotesk" pitchFamily="34" charset="-122"/>
                <a:cs typeface="Schibsted Grotesk" pitchFamily="34" charset="-120"/>
              </a:rPr>
              <a:t>Global News, Mar 15, 2024</a:t>
            </a:r>
            <a:endParaRPr lang="en-US" sz="1300" dirty="0"/>
          </a:p>
        </p:txBody>
      </p:sp>
      <p:sp>
        <p:nvSpPr>
          <p:cNvPr id="4" name="Text 2"/>
          <p:cNvSpPr txBox="1"/>
          <p:nvPr/>
        </p:nvSpPr>
        <p:spPr>
          <a:xfrm>
            <a:off x="685800" y="1719072"/>
            <a:ext cx="5295748" cy="384048"/>
          </a:xfrm>
          <a:prstGeom prst="rect">
            <a:avLst/>
          </a:prstGeom>
          <a:noFill/>
          <a:ln/>
        </p:spPr>
        <p:txBody>
          <a:bodyPr wrap="square" lIns="0" tIns="0" rIns="0" bIns="0" rtlCol="0" anchor="t"/>
          <a:lstStyle/>
          <a:p>
            <a:pPr indent="0" marL="0">
              <a:buNone/>
            </a:pPr>
            <a:r>
              <a:rPr lang="en-US" sz="1150" dirty="0">
                <a:solidFill>
                  <a:srgbClr val="38433C"/>
                </a:solidFill>
                <a:latin typeface="Schibsted Grotesk" pitchFamily="34" charset="0"/>
                <a:ea typeface="Schibsted Grotesk" pitchFamily="34" charset="-122"/>
                <a:cs typeface="Schibsted Grotesk" pitchFamily="34" charset="-120"/>
              </a:rPr>
              <a:t>1,700+ hampers since September 2023; about 750 in all of 2022–23.</a:t>
            </a:r>
            <a:endParaRPr lang="en-US" sz="1150" dirty="0"/>
          </a:p>
        </p:txBody>
      </p:sp>
      <p:sp>
        <p:nvSpPr>
          <p:cNvPr id="5" name="Text 3"/>
          <p:cNvSpPr txBox="1"/>
          <p:nvPr/>
        </p:nvSpPr>
        <p:spPr>
          <a:xfrm>
            <a:off x="685800" y="2121408"/>
            <a:ext cx="5295748" cy="256032"/>
          </a:xfrm>
          <a:prstGeom prst="rect">
            <a:avLst/>
          </a:prstGeom>
          <a:noFill/>
          <a:ln/>
        </p:spPr>
        <p:txBody>
          <a:bodyPr wrap="square" lIns="0" tIns="0" rIns="0" bIns="0" rtlCol="0" anchor="t"/>
          <a:lstStyle/>
          <a:p>
            <a:pPr indent="0" marL="0">
              <a:buNone/>
            </a:pPr>
            <a:r>
              <a:rPr lang="en-US" sz="1300" b="1" dirty="0">
                <a:solidFill>
                  <a:srgbClr val="15201A"/>
                </a:solidFill>
                <a:latin typeface="Schibsted Grotesk" pitchFamily="34" charset="0"/>
                <a:ea typeface="Schibsted Grotesk" pitchFamily="34" charset="-122"/>
                <a:cs typeface="Schibsted Grotesk" pitchFamily="34" charset="-120"/>
              </a:rPr>
              <a:t>The Gazette, Oct 4, 2024</a:t>
            </a:r>
            <a:endParaRPr lang="en-US" sz="1300" dirty="0"/>
          </a:p>
        </p:txBody>
      </p:sp>
      <p:sp>
        <p:nvSpPr>
          <p:cNvPr id="6" name="Text 4"/>
          <p:cNvSpPr txBox="1"/>
          <p:nvPr/>
        </p:nvSpPr>
        <p:spPr>
          <a:xfrm>
            <a:off x="685800" y="2377440"/>
            <a:ext cx="5295748" cy="384048"/>
          </a:xfrm>
          <a:prstGeom prst="rect">
            <a:avLst/>
          </a:prstGeom>
          <a:noFill/>
          <a:ln/>
        </p:spPr>
        <p:txBody>
          <a:bodyPr wrap="square" lIns="0" tIns="0" rIns="0" bIns="0" rtlCol="0" anchor="t"/>
          <a:lstStyle/>
          <a:p>
            <a:pPr indent="0" marL="0">
              <a:buNone/>
            </a:pPr>
            <a:r>
              <a:rPr lang="en-US" sz="1150" dirty="0">
                <a:solidFill>
                  <a:srgbClr val="38433C"/>
                </a:solidFill>
                <a:latin typeface="Schibsted Grotesk" pitchFamily="34" charset="0"/>
                <a:ea typeface="Schibsted Grotesk" pitchFamily="34" charset="-122"/>
                <a:cs typeface="Schibsted Grotesk" pitchFamily="34" charset="-120"/>
              </a:rPr>
              <a:t>Walk-ins closed Sept 2023 after a 600% rise in demand; hamper-only; 40 volunteers to six part-time staff; “incredibly difficult.”</a:t>
            </a:r>
            <a:endParaRPr lang="en-US" sz="1150" dirty="0"/>
          </a:p>
        </p:txBody>
      </p:sp>
      <p:sp>
        <p:nvSpPr>
          <p:cNvPr id="7" name="Text 5"/>
          <p:cNvSpPr txBox="1"/>
          <p:nvPr/>
        </p:nvSpPr>
        <p:spPr>
          <a:xfrm>
            <a:off x="685800" y="2779776"/>
            <a:ext cx="5295748" cy="256032"/>
          </a:xfrm>
          <a:prstGeom prst="rect">
            <a:avLst/>
          </a:prstGeom>
          <a:noFill/>
          <a:ln/>
        </p:spPr>
        <p:txBody>
          <a:bodyPr wrap="square" lIns="0" tIns="0" rIns="0" bIns="0" rtlCol="0" anchor="t"/>
          <a:lstStyle/>
          <a:p>
            <a:pPr indent="0" marL="0">
              <a:buNone/>
            </a:pPr>
            <a:r>
              <a:rPr lang="en-US" sz="1300" b="1" dirty="0">
                <a:solidFill>
                  <a:srgbClr val="15201A"/>
                </a:solidFill>
                <a:latin typeface="Schibsted Grotesk" pitchFamily="34" charset="0"/>
                <a:ea typeface="Schibsted Grotesk" pitchFamily="34" charset="-122"/>
                <a:cs typeface="Schibsted Grotesk" pitchFamily="34" charset="-120"/>
              </a:rPr>
              <a:t>The Gazette, Feb 2025</a:t>
            </a:r>
            <a:endParaRPr lang="en-US" sz="1300" dirty="0"/>
          </a:p>
        </p:txBody>
      </p:sp>
      <p:sp>
        <p:nvSpPr>
          <p:cNvPr id="8" name="Text 6"/>
          <p:cNvSpPr txBox="1"/>
          <p:nvPr/>
        </p:nvSpPr>
        <p:spPr>
          <a:xfrm>
            <a:off x="685800" y="3035808"/>
            <a:ext cx="5295748" cy="384048"/>
          </a:xfrm>
          <a:prstGeom prst="rect">
            <a:avLst/>
          </a:prstGeom>
          <a:noFill/>
          <a:ln/>
        </p:spPr>
        <p:txBody>
          <a:bodyPr wrap="square" lIns="0" tIns="0" rIns="0" bIns="0" rtlCol="0" anchor="t"/>
          <a:lstStyle/>
          <a:p>
            <a:pPr indent="0" marL="0">
              <a:buNone/>
            </a:pPr>
            <a:r>
              <a:rPr lang="en-US" sz="1150" dirty="0">
                <a:solidFill>
                  <a:srgbClr val="38433C"/>
                </a:solidFill>
                <a:latin typeface="Schibsted Grotesk" pitchFamily="34" charset="0"/>
                <a:ea typeface="Schibsted Grotesk" pitchFamily="34" charset="-122"/>
                <a:cs typeface="Schibsted Grotesk" pitchFamily="34" charset="-120"/>
              </a:rPr>
              <a:t>Proposed 2025–26 USC budget drops the Food Support Coordinator role.</a:t>
            </a:r>
            <a:endParaRPr lang="en-US" sz="1150" dirty="0"/>
          </a:p>
        </p:txBody>
      </p:sp>
      <p:sp>
        <p:nvSpPr>
          <p:cNvPr id="9" name="Text 7"/>
          <p:cNvSpPr txBox="1"/>
          <p:nvPr/>
        </p:nvSpPr>
        <p:spPr>
          <a:xfrm>
            <a:off x="685800" y="3438144"/>
            <a:ext cx="5295748" cy="256032"/>
          </a:xfrm>
          <a:prstGeom prst="rect">
            <a:avLst/>
          </a:prstGeom>
          <a:noFill/>
          <a:ln/>
        </p:spPr>
        <p:txBody>
          <a:bodyPr wrap="square" lIns="0" tIns="0" rIns="0" bIns="0" rtlCol="0" anchor="t"/>
          <a:lstStyle/>
          <a:p>
            <a:pPr indent="0" marL="0">
              <a:buNone/>
            </a:pPr>
            <a:r>
              <a:rPr lang="en-US" sz="1300" b="1" dirty="0">
                <a:solidFill>
                  <a:srgbClr val="15201A"/>
                </a:solidFill>
                <a:latin typeface="Schibsted Grotesk" pitchFamily="34" charset="0"/>
                <a:ea typeface="Schibsted Grotesk" pitchFamily="34" charset="-122"/>
                <a:cs typeface="Schibsted Grotesk" pitchFamily="34" charset="-120"/>
              </a:rPr>
              <a:t>USC Food Support page, checked Oct 31, 2026</a:t>
            </a:r>
            <a:endParaRPr lang="en-US" sz="1300" dirty="0"/>
          </a:p>
        </p:txBody>
      </p:sp>
      <p:sp>
        <p:nvSpPr>
          <p:cNvPr id="10" name="Text 8"/>
          <p:cNvSpPr txBox="1"/>
          <p:nvPr/>
        </p:nvSpPr>
        <p:spPr>
          <a:xfrm>
            <a:off x="685800" y="3694176"/>
            <a:ext cx="5295748" cy="384048"/>
          </a:xfrm>
          <a:prstGeom prst="rect">
            <a:avLst/>
          </a:prstGeom>
          <a:noFill/>
          <a:ln/>
        </p:spPr>
        <p:txBody>
          <a:bodyPr wrap="square" lIns="0" tIns="0" rIns="0" bIns="0" rtlCol="0" anchor="t"/>
          <a:lstStyle/>
          <a:p>
            <a:pPr indent="0" marL="0">
              <a:buNone/>
            </a:pPr>
            <a:r>
              <a:rPr lang="en-US" sz="1150" dirty="0">
                <a:solidFill>
                  <a:srgbClr val="38433C"/>
                </a:solidFill>
                <a:latin typeface="Schibsted Grotesk" pitchFamily="34" charset="0"/>
                <a:ea typeface="Schibsted Grotesk" pitchFamily="34" charset="-122"/>
                <a:cs typeface="Schibsted Grotesk" pitchFamily="34" charset="-120"/>
              </a:rPr>
              <a:t>Walk-in food bank in UCC 40F, Mon–Thu 10–4; hampers “as soon as 48 hours”; donations only; “Requests reopen Sept 8, 2025.”</a:t>
            </a:r>
            <a:endParaRPr lang="en-US" sz="1150" dirty="0"/>
          </a:p>
        </p:txBody>
      </p:sp>
      <p:sp>
        <p:nvSpPr>
          <p:cNvPr id="11" name="Text 9"/>
          <p:cNvSpPr txBox="1"/>
          <p:nvPr/>
        </p:nvSpPr>
        <p:spPr>
          <a:xfrm>
            <a:off x="685800" y="4096512"/>
            <a:ext cx="5295748" cy="256032"/>
          </a:xfrm>
          <a:prstGeom prst="rect">
            <a:avLst/>
          </a:prstGeom>
          <a:noFill/>
          <a:ln/>
        </p:spPr>
        <p:txBody>
          <a:bodyPr wrap="square" lIns="0" tIns="0" rIns="0" bIns="0" rtlCol="0" anchor="t"/>
          <a:lstStyle/>
          <a:p>
            <a:pPr indent="0" marL="0">
              <a:buNone/>
            </a:pPr>
            <a:r>
              <a:rPr lang="en-US" sz="1300" b="1" dirty="0">
                <a:solidFill>
                  <a:srgbClr val="15201A"/>
                </a:solidFill>
                <a:latin typeface="Schibsted Grotesk" pitchFamily="34" charset="0"/>
                <a:ea typeface="Schibsted Grotesk" pitchFamily="34" charset="-122"/>
                <a:cs typeface="Schibsted Grotesk" pitchFamily="34" charset="-120"/>
              </a:rPr>
              <a:t>Western 2026–27 fee schedule</a:t>
            </a:r>
            <a:endParaRPr lang="en-US" sz="1300" dirty="0"/>
          </a:p>
        </p:txBody>
      </p:sp>
      <p:sp>
        <p:nvSpPr>
          <p:cNvPr id="12" name="Text 10"/>
          <p:cNvSpPr txBox="1"/>
          <p:nvPr/>
        </p:nvSpPr>
        <p:spPr>
          <a:xfrm>
            <a:off x="685800" y="4352544"/>
            <a:ext cx="5295748" cy="384048"/>
          </a:xfrm>
          <a:prstGeom prst="rect">
            <a:avLst/>
          </a:prstGeom>
          <a:noFill/>
          <a:ln/>
        </p:spPr>
        <p:txBody>
          <a:bodyPr wrap="square" lIns="0" tIns="0" rIns="0" bIns="0" rtlCol="0" anchor="t"/>
          <a:lstStyle/>
          <a:p>
            <a:pPr indent="0" marL="0">
              <a:buNone/>
            </a:pPr>
            <a:r>
              <a:rPr lang="en-US" sz="1150" dirty="0">
                <a:solidFill>
                  <a:srgbClr val="38433C"/>
                </a:solidFill>
                <a:latin typeface="Schibsted Grotesk" pitchFamily="34" charset="0"/>
                <a:ea typeface="Schibsted Grotesk" pitchFamily="34" charset="-122"/>
                <a:cs typeface="Schibsted Grotesk" pitchFamily="34" charset="-120"/>
              </a:rPr>
              <a:t>None of the 21 USC fee lines funds food support.</a:t>
            </a:r>
            <a:endParaRPr lang="en-US" sz="1150" dirty="0"/>
          </a:p>
        </p:txBody>
      </p:sp>
      <p:sp>
        <p:nvSpPr>
          <p:cNvPr id="13" name="Text 11"/>
          <p:cNvSpPr txBox="1"/>
          <p:nvPr/>
        </p:nvSpPr>
        <p:spPr>
          <a:xfrm>
            <a:off x="685800" y="4754880"/>
            <a:ext cx="5295748" cy="256032"/>
          </a:xfrm>
          <a:prstGeom prst="rect">
            <a:avLst/>
          </a:prstGeom>
          <a:noFill/>
          <a:ln/>
        </p:spPr>
        <p:txBody>
          <a:bodyPr wrap="square" lIns="0" tIns="0" rIns="0" bIns="0" rtlCol="0" anchor="t"/>
          <a:lstStyle/>
          <a:p>
            <a:pPr indent="0" marL="0">
              <a:buNone/>
            </a:pPr>
            <a:r>
              <a:rPr lang="en-US" sz="1300" b="1" dirty="0">
                <a:solidFill>
                  <a:srgbClr val="15201A"/>
                </a:solidFill>
                <a:latin typeface="Schibsted Grotesk" pitchFamily="34" charset="0"/>
                <a:ea typeface="Schibsted Grotesk" pitchFamily="34" charset="-122"/>
                <a:cs typeface="Schibsted Grotesk" pitchFamily="34" charset="-120"/>
              </a:rPr>
              <a:t>USC Grants page, checked Oct 31, 2026</a:t>
            </a:r>
            <a:endParaRPr lang="en-US" sz="1300" dirty="0"/>
          </a:p>
        </p:txBody>
      </p:sp>
      <p:sp>
        <p:nvSpPr>
          <p:cNvPr id="14" name="Text 12"/>
          <p:cNvSpPr txBox="1"/>
          <p:nvPr/>
        </p:nvSpPr>
        <p:spPr>
          <a:xfrm>
            <a:off x="685800" y="5010912"/>
            <a:ext cx="5295748" cy="384048"/>
          </a:xfrm>
          <a:prstGeom prst="rect">
            <a:avLst/>
          </a:prstGeom>
          <a:noFill/>
          <a:ln/>
        </p:spPr>
        <p:txBody>
          <a:bodyPr wrap="square" lIns="0" tIns="0" rIns="0" bIns="0" rtlCol="0" anchor="t"/>
          <a:lstStyle/>
          <a:p>
            <a:pPr indent="0" marL="0">
              <a:buNone/>
            </a:pPr>
            <a:r>
              <a:rPr lang="en-US" sz="1150" dirty="0">
                <a:solidFill>
                  <a:srgbClr val="38433C"/>
                </a:solidFill>
                <a:latin typeface="Schibsted Grotesk" pitchFamily="34" charset="0"/>
                <a:ea typeface="Schibsted Grotesk" pitchFamily="34" charset="-122"/>
                <a:cs typeface="Schibsted Grotesk" pitchFamily="34" charset="-120"/>
              </a:rPr>
              <a:t>About $100,000 a year, rolling to March. No equipment purchases or ongoing costs. 10% match preferred. Collaboratives may include ineligible partners.</a:t>
            </a:r>
            <a:endParaRPr lang="en-US" sz="1150" dirty="0"/>
          </a:p>
        </p:txBody>
      </p:sp>
      <p:sp>
        <p:nvSpPr>
          <p:cNvPr id="15" name="Text 13"/>
          <p:cNvSpPr txBox="1"/>
          <p:nvPr/>
        </p:nvSpPr>
        <p:spPr>
          <a:xfrm>
            <a:off x="685800" y="5413248"/>
            <a:ext cx="5295748" cy="256032"/>
          </a:xfrm>
          <a:prstGeom prst="rect">
            <a:avLst/>
          </a:prstGeom>
          <a:noFill/>
          <a:ln/>
        </p:spPr>
        <p:txBody>
          <a:bodyPr wrap="square" lIns="0" tIns="0" rIns="0" bIns="0" rtlCol="0" anchor="t"/>
          <a:lstStyle/>
          <a:p>
            <a:pPr indent="0" marL="0">
              <a:buNone/>
            </a:pPr>
            <a:r>
              <a:rPr lang="en-US" sz="1300" b="1" dirty="0">
                <a:solidFill>
                  <a:srgbClr val="15201A"/>
                </a:solidFill>
                <a:latin typeface="Schibsted Grotesk" pitchFamily="34" charset="0"/>
                <a:ea typeface="Schibsted Grotesk" pitchFamily="34" charset="-122"/>
                <a:cs typeface="Schibsted Grotesk" pitchFamily="34" charset="-120"/>
              </a:rPr>
              <a:t>CASA, Walking the Tightrope, Mar 2025</a:t>
            </a:r>
            <a:endParaRPr lang="en-US" sz="1300" dirty="0"/>
          </a:p>
        </p:txBody>
      </p:sp>
      <p:sp>
        <p:nvSpPr>
          <p:cNvPr id="16" name="Text 14"/>
          <p:cNvSpPr txBox="1"/>
          <p:nvPr/>
        </p:nvSpPr>
        <p:spPr>
          <a:xfrm>
            <a:off x="685800" y="5669280"/>
            <a:ext cx="5295748" cy="384048"/>
          </a:xfrm>
          <a:prstGeom prst="rect">
            <a:avLst/>
          </a:prstGeom>
          <a:noFill/>
          <a:ln/>
        </p:spPr>
        <p:txBody>
          <a:bodyPr wrap="square" lIns="0" tIns="0" rIns="0" bIns="0" rtlCol="0" anchor="t"/>
          <a:lstStyle/>
          <a:p>
            <a:pPr indent="0" marL="0">
              <a:buNone/>
            </a:pPr>
            <a:r>
              <a:rPr lang="en-US" sz="1150" dirty="0">
                <a:solidFill>
                  <a:srgbClr val="38433C"/>
                </a:solidFill>
                <a:latin typeface="Schibsted Grotesk" pitchFamily="34" charset="0"/>
                <a:ea typeface="Schibsted Grotesk" pitchFamily="34" charset="-122"/>
                <a:cs typeface="Schibsted Grotesk" pitchFamily="34" charset="-120"/>
              </a:rPr>
              <a:t>Abacus Data survey of 1,500 students, May 2024: 40% skipped meals because of cost.</a:t>
            </a:r>
            <a:endParaRPr lang="en-US" sz="1150" dirty="0"/>
          </a:p>
        </p:txBody>
      </p:sp>
      <p:sp>
        <p:nvSpPr>
          <p:cNvPr id="17" name="Text 15"/>
          <p:cNvSpPr txBox="1"/>
          <p:nvPr/>
        </p:nvSpPr>
        <p:spPr>
          <a:xfrm>
            <a:off x="6210148" y="1463040"/>
            <a:ext cx="5295748" cy="256032"/>
          </a:xfrm>
          <a:prstGeom prst="rect">
            <a:avLst/>
          </a:prstGeom>
          <a:noFill/>
          <a:ln/>
        </p:spPr>
        <p:txBody>
          <a:bodyPr wrap="square" lIns="0" tIns="0" rIns="0" bIns="0" rtlCol="0" anchor="t"/>
          <a:lstStyle/>
          <a:p>
            <a:pPr indent="0" marL="0">
              <a:buNone/>
            </a:pPr>
            <a:r>
              <a:rPr lang="en-US" sz="1300" b="1" dirty="0">
                <a:solidFill>
                  <a:srgbClr val="15201A"/>
                </a:solidFill>
                <a:latin typeface="Schibsted Grotesk" pitchFamily="34" charset="0"/>
                <a:ea typeface="Schibsted Grotesk" pitchFamily="34" charset="-122"/>
                <a:cs typeface="Schibsted Grotesk" pitchFamily="34" charset="-120"/>
              </a:rPr>
              <a:t>Jones et al., JAFSCD 13(3), 2024; corrected Apr 16, 2025</a:t>
            </a:r>
            <a:endParaRPr lang="en-US" sz="1300" dirty="0"/>
          </a:p>
        </p:txBody>
      </p:sp>
      <p:sp>
        <p:nvSpPr>
          <p:cNvPr id="18" name="Text 16"/>
          <p:cNvSpPr txBox="1"/>
          <p:nvPr/>
        </p:nvSpPr>
        <p:spPr>
          <a:xfrm>
            <a:off x="6210148" y="1719072"/>
            <a:ext cx="5295748" cy="384048"/>
          </a:xfrm>
          <a:prstGeom prst="rect">
            <a:avLst/>
          </a:prstGeom>
          <a:noFill/>
          <a:ln/>
        </p:spPr>
        <p:txBody>
          <a:bodyPr wrap="square" lIns="0" tIns="0" rIns="0" bIns="0" rtlCol="0" anchor="t"/>
          <a:lstStyle/>
          <a:p>
            <a:pPr indent="0" marL="0">
              <a:buNone/>
            </a:pPr>
            <a:r>
              <a:rPr lang="en-US" sz="1150" dirty="0">
                <a:solidFill>
                  <a:srgbClr val="38433C"/>
                </a:solidFill>
                <a:latin typeface="Schibsted Grotesk" pitchFamily="34" charset="0"/>
                <a:ea typeface="Schibsted Grotesk" pitchFamily="34" charset="-122"/>
                <a:cs typeface="Schibsted Grotesk" pitchFamily="34" charset="-120"/>
              </a:rPr>
              <a:t>Anonymous mini-pantries at VCU: 5,263 door openings in 2022–23; busiest at the gym and main library; vandalism rare.</a:t>
            </a:r>
            <a:endParaRPr lang="en-US" sz="1150" dirty="0"/>
          </a:p>
        </p:txBody>
      </p:sp>
      <p:sp>
        <p:nvSpPr>
          <p:cNvPr id="19" name="Text 17"/>
          <p:cNvSpPr txBox="1"/>
          <p:nvPr/>
        </p:nvSpPr>
        <p:spPr>
          <a:xfrm>
            <a:off x="6210148" y="2121408"/>
            <a:ext cx="5295748" cy="256032"/>
          </a:xfrm>
          <a:prstGeom prst="rect">
            <a:avLst/>
          </a:prstGeom>
          <a:noFill/>
          <a:ln/>
        </p:spPr>
        <p:txBody>
          <a:bodyPr wrap="square" lIns="0" tIns="0" rIns="0" bIns="0" rtlCol="0" anchor="t"/>
          <a:lstStyle/>
          <a:p>
            <a:pPr indent="0" marL="0">
              <a:buNone/>
            </a:pPr>
            <a:r>
              <a:rPr lang="en-US" sz="1300" b="1" dirty="0">
                <a:solidFill>
                  <a:srgbClr val="15201A"/>
                </a:solidFill>
                <a:latin typeface="Schibsted Grotesk" pitchFamily="34" charset="0"/>
                <a:ea typeface="Schibsted Grotesk" pitchFamily="34" charset="-122"/>
                <a:cs typeface="Schibsted Grotesk" pitchFamily="34" charset="-120"/>
              </a:rPr>
              <a:t>The Gateway, May 3, 2024</a:t>
            </a:r>
            <a:endParaRPr lang="en-US" sz="1300" dirty="0"/>
          </a:p>
        </p:txBody>
      </p:sp>
      <p:sp>
        <p:nvSpPr>
          <p:cNvPr id="20" name="Text 18"/>
          <p:cNvSpPr txBox="1"/>
          <p:nvPr/>
        </p:nvSpPr>
        <p:spPr>
          <a:xfrm>
            <a:off x="6210148" y="2377440"/>
            <a:ext cx="5295748" cy="384048"/>
          </a:xfrm>
          <a:prstGeom prst="rect">
            <a:avLst/>
          </a:prstGeom>
          <a:noFill/>
          <a:ln/>
        </p:spPr>
        <p:txBody>
          <a:bodyPr wrap="square" lIns="0" tIns="0" rIns="0" bIns="0" rtlCol="0" anchor="t"/>
          <a:lstStyle/>
          <a:p>
            <a:pPr indent="0" marL="0">
              <a:buNone/>
            </a:pPr>
            <a:r>
              <a:rPr lang="en-US" sz="1150" dirty="0">
                <a:solidFill>
                  <a:srgbClr val="38433C"/>
                </a:solidFill>
                <a:latin typeface="Schibsted Grotesk" pitchFamily="34" charset="0"/>
                <a:ea typeface="Schibsted Grotesk" pitchFamily="34" charset="-122"/>
                <a:cs typeface="Schibsted Grotesk" pitchFamily="34" charset="-120"/>
              </a:rPr>
              <a:t>University of Alberta: walk-up pantry empty after a few hours; campus food bank waitlist about six weeks.</a:t>
            </a:r>
            <a:endParaRPr lang="en-US" sz="1150" dirty="0"/>
          </a:p>
        </p:txBody>
      </p:sp>
      <p:sp>
        <p:nvSpPr>
          <p:cNvPr id="21" name="Text 19"/>
          <p:cNvSpPr txBox="1"/>
          <p:nvPr/>
        </p:nvSpPr>
        <p:spPr>
          <a:xfrm>
            <a:off x="6210148" y="2779776"/>
            <a:ext cx="5295748" cy="256032"/>
          </a:xfrm>
          <a:prstGeom prst="rect">
            <a:avLst/>
          </a:prstGeom>
          <a:noFill/>
          <a:ln/>
        </p:spPr>
        <p:txBody>
          <a:bodyPr wrap="square" lIns="0" tIns="0" rIns="0" bIns="0" rtlCol="0" anchor="t"/>
          <a:lstStyle/>
          <a:p>
            <a:pPr indent="0" marL="0">
              <a:buNone/>
            </a:pPr>
            <a:r>
              <a:rPr lang="en-US" sz="1300" b="1" dirty="0">
                <a:solidFill>
                  <a:srgbClr val="15201A"/>
                </a:solidFill>
                <a:latin typeface="Schibsted Grotesk" pitchFamily="34" charset="0"/>
                <a:ea typeface="Schibsted Grotesk" pitchFamily="34" charset="-122"/>
                <a:cs typeface="Schibsted Grotesk" pitchFamily="34" charset="-120"/>
              </a:rPr>
              <a:t>The Eyeopener, Oct 27, 2026</a:t>
            </a:r>
            <a:endParaRPr lang="en-US" sz="1300" dirty="0"/>
          </a:p>
        </p:txBody>
      </p:sp>
      <p:sp>
        <p:nvSpPr>
          <p:cNvPr id="22" name="Text 20"/>
          <p:cNvSpPr txBox="1"/>
          <p:nvPr/>
        </p:nvSpPr>
        <p:spPr>
          <a:xfrm>
            <a:off x="6210148" y="3035808"/>
            <a:ext cx="5295748" cy="384048"/>
          </a:xfrm>
          <a:prstGeom prst="rect">
            <a:avLst/>
          </a:prstGeom>
          <a:noFill/>
          <a:ln/>
        </p:spPr>
        <p:txBody>
          <a:bodyPr wrap="square" lIns="0" tIns="0" rIns="0" bIns="0" rtlCol="0" anchor="t"/>
          <a:lstStyle/>
          <a:p>
            <a:pPr indent="0" marL="0">
              <a:buNone/>
            </a:pPr>
            <a:r>
              <a:rPr lang="en-US" sz="1150" dirty="0">
                <a:solidFill>
                  <a:srgbClr val="38433C"/>
                </a:solidFill>
                <a:latin typeface="Schibsted Grotesk" pitchFamily="34" charset="0"/>
                <a:ea typeface="Schibsted Grotesk" pitchFamily="34" charset="-122"/>
                <a:cs typeface="Schibsted Grotesk" pitchFamily="34" charset="-120"/>
              </a:rPr>
              <a:t>TMU: 48.5% food insecure; 20% had visited the food bank; 92.6% support more free on-campus food programs.</a:t>
            </a:r>
            <a:endParaRPr lang="en-US" sz="1150" dirty="0"/>
          </a:p>
        </p:txBody>
      </p:sp>
      <p:sp>
        <p:nvSpPr>
          <p:cNvPr id="23" name="Text 21"/>
          <p:cNvSpPr txBox="1"/>
          <p:nvPr/>
        </p:nvSpPr>
        <p:spPr>
          <a:xfrm>
            <a:off x="6210148" y="3438144"/>
            <a:ext cx="5295748" cy="256032"/>
          </a:xfrm>
          <a:prstGeom prst="rect">
            <a:avLst/>
          </a:prstGeom>
          <a:noFill/>
          <a:ln/>
        </p:spPr>
        <p:txBody>
          <a:bodyPr wrap="square" lIns="0" tIns="0" rIns="0" bIns="0" rtlCol="0" anchor="t"/>
          <a:lstStyle/>
          <a:p>
            <a:pPr indent="0" marL="0">
              <a:buNone/>
            </a:pPr>
            <a:r>
              <a:rPr lang="en-US" sz="1300" b="1" dirty="0">
                <a:solidFill>
                  <a:srgbClr val="15201A"/>
                </a:solidFill>
                <a:latin typeface="Schibsted Grotesk" pitchFamily="34" charset="0"/>
                <a:ea typeface="Schibsted Grotesk" pitchFamily="34" charset="-122"/>
                <a:cs typeface="Schibsted Grotesk" pitchFamily="34" charset="-120"/>
              </a:rPr>
              <a:t>Western News, Oct 25, 2024</a:t>
            </a:r>
            <a:endParaRPr lang="en-US" sz="1300" dirty="0"/>
          </a:p>
        </p:txBody>
      </p:sp>
      <p:sp>
        <p:nvSpPr>
          <p:cNvPr id="24" name="Text 22"/>
          <p:cNvSpPr txBox="1"/>
          <p:nvPr/>
        </p:nvSpPr>
        <p:spPr>
          <a:xfrm>
            <a:off x="6210148" y="3694176"/>
            <a:ext cx="5295748" cy="384048"/>
          </a:xfrm>
          <a:prstGeom prst="rect">
            <a:avLst/>
          </a:prstGeom>
          <a:noFill/>
          <a:ln/>
        </p:spPr>
        <p:txBody>
          <a:bodyPr wrap="square" lIns="0" tIns="0" rIns="0" bIns="0" rtlCol="0" anchor="t"/>
          <a:lstStyle/>
          <a:p>
            <a:pPr indent="0" marL="0">
              <a:buNone/>
            </a:pPr>
            <a:r>
              <a:rPr lang="en-US" sz="1150" dirty="0">
                <a:solidFill>
                  <a:srgbClr val="38433C"/>
                </a:solidFill>
                <a:latin typeface="Schibsted Grotesk" pitchFamily="34" charset="0"/>
                <a:ea typeface="Schibsted Grotesk" pitchFamily="34" charset="-122"/>
                <a:cs typeface="Schibsted Grotesk" pitchFamily="34" charset="-120"/>
              </a:rPr>
              <a:t>Over 7,500 surplus meals from campus dining to 19 off-campus agencies since May 2024.</a:t>
            </a:r>
            <a:endParaRPr lang="en-US" sz="1150" dirty="0"/>
          </a:p>
        </p:txBody>
      </p:sp>
      <p:sp>
        <p:nvSpPr>
          <p:cNvPr id="25" name="Text 23"/>
          <p:cNvSpPr txBox="1"/>
          <p:nvPr/>
        </p:nvSpPr>
        <p:spPr>
          <a:xfrm>
            <a:off x="6210148" y="4096512"/>
            <a:ext cx="5295748" cy="256032"/>
          </a:xfrm>
          <a:prstGeom prst="rect">
            <a:avLst/>
          </a:prstGeom>
          <a:noFill/>
          <a:ln/>
        </p:spPr>
        <p:txBody>
          <a:bodyPr wrap="square" lIns="0" tIns="0" rIns="0" bIns="0" rtlCol="0" anchor="t"/>
          <a:lstStyle/>
          <a:p>
            <a:pPr indent="0" marL="0">
              <a:buNone/>
            </a:pPr>
            <a:r>
              <a:rPr lang="en-US" sz="1300" b="1" dirty="0">
                <a:solidFill>
                  <a:srgbClr val="15201A"/>
                </a:solidFill>
                <a:latin typeface="Schibsted Grotesk" pitchFamily="34" charset="0"/>
                <a:ea typeface="Schibsted Grotesk" pitchFamily="34" charset="-122"/>
                <a:cs typeface="Schibsted Grotesk" pitchFamily="34" charset="-120"/>
              </a:rPr>
              <a:t>Donation of Food Act, 1994 (Ontario)</a:t>
            </a:r>
            <a:endParaRPr lang="en-US" sz="1300" dirty="0"/>
          </a:p>
        </p:txBody>
      </p:sp>
      <p:sp>
        <p:nvSpPr>
          <p:cNvPr id="26" name="Text 24"/>
          <p:cNvSpPr txBox="1"/>
          <p:nvPr/>
        </p:nvSpPr>
        <p:spPr>
          <a:xfrm>
            <a:off x="6210148" y="4352544"/>
            <a:ext cx="5295748" cy="384048"/>
          </a:xfrm>
          <a:prstGeom prst="rect">
            <a:avLst/>
          </a:prstGeom>
          <a:noFill/>
          <a:ln/>
        </p:spPr>
        <p:txBody>
          <a:bodyPr wrap="square" lIns="0" tIns="0" rIns="0" bIns="0" rtlCol="0" anchor="t"/>
          <a:lstStyle/>
          <a:p>
            <a:pPr indent="0" marL="0">
              <a:buNone/>
            </a:pPr>
            <a:r>
              <a:rPr lang="en-US" sz="1150" dirty="0">
                <a:solidFill>
                  <a:srgbClr val="38433C"/>
                </a:solidFill>
                <a:latin typeface="Schibsted Grotesk" pitchFamily="34" charset="0"/>
                <a:ea typeface="Schibsted Grotesk" pitchFamily="34" charset="-122"/>
                <a:cs typeface="Schibsted Grotesk" pitchFamily="34" charset="-120"/>
              </a:rPr>
              <a:t>Donors and distributors are not liable unless food was unfit and they acted with intent or reckless disregard.</a:t>
            </a:r>
            <a:endParaRPr lang="en-US" sz="1150" dirty="0"/>
          </a:p>
        </p:txBody>
      </p:sp>
      <p:sp>
        <p:nvSpPr>
          <p:cNvPr id="27" name="Text 25"/>
          <p:cNvSpPr txBox="1"/>
          <p:nvPr/>
        </p:nvSpPr>
        <p:spPr>
          <a:xfrm>
            <a:off x="6210148" y="4754880"/>
            <a:ext cx="5295748" cy="256032"/>
          </a:xfrm>
          <a:prstGeom prst="rect">
            <a:avLst/>
          </a:prstGeom>
          <a:noFill/>
          <a:ln/>
        </p:spPr>
        <p:txBody>
          <a:bodyPr wrap="square" lIns="0" tIns="0" rIns="0" bIns="0" rtlCol="0" anchor="t"/>
          <a:lstStyle/>
          <a:p>
            <a:pPr indent="0" marL="0">
              <a:buNone/>
            </a:pPr>
            <a:r>
              <a:rPr lang="en-US" sz="1300" b="1" dirty="0">
                <a:solidFill>
                  <a:srgbClr val="15201A"/>
                </a:solidFill>
                <a:latin typeface="Schibsted Grotesk" pitchFamily="34" charset="0"/>
                <a:ea typeface="Schibsted Grotesk" pitchFamily="34" charset="-122"/>
                <a:cs typeface="Schibsted Grotesk" pitchFamily="34" charset="-120"/>
              </a:rPr>
              <a:t>Second Harvest, FoodRescue.ca</a:t>
            </a:r>
            <a:endParaRPr lang="en-US" sz="1300" dirty="0"/>
          </a:p>
        </p:txBody>
      </p:sp>
      <p:sp>
        <p:nvSpPr>
          <p:cNvPr id="28" name="Text 26"/>
          <p:cNvSpPr txBox="1"/>
          <p:nvPr/>
        </p:nvSpPr>
        <p:spPr>
          <a:xfrm>
            <a:off x="6210148" y="5010912"/>
            <a:ext cx="5295748" cy="384048"/>
          </a:xfrm>
          <a:prstGeom prst="rect">
            <a:avLst/>
          </a:prstGeom>
          <a:noFill/>
          <a:ln/>
        </p:spPr>
        <p:txBody>
          <a:bodyPr wrap="square" lIns="0" tIns="0" rIns="0" bIns="0" rtlCol="0" anchor="t"/>
          <a:lstStyle/>
          <a:p>
            <a:pPr indent="0" marL="0">
              <a:buNone/>
            </a:pPr>
            <a:r>
              <a:rPr lang="en-US" sz="1150" dirty="0">
                <a:solidFill>
                  <a:srgbClr val="38433C"/>
                </a:solidFill>
                <a:latin typeface="Schibsted Grotesk" pitchFamily="34" charset="0"/>
                <a:ea typeface="Schibsted Grotesk" pitchFamily="34" charset="-122"/>
                <a:cs typeface="Schibsted Grotesk" pitchFamily="34" charset="-120"/>
              </a:rPr>
              <a:t>Free surplus-food platform for charities and non-profits.</a:t>
            </a:r>
            <a:endParaRPr lang="en-US" sz="1150" dirty="0"/>
          </a:p>
        </p:txBody>
      </p:sp>
      <p:sp>
        <p:nvSpPr>
          <p:cNvPr id="29" name="Text 27"/>
          <p:cNvSpPr txBox="1"/>
          <p:nvPr/>
        </p:nvSpPr>
        <p:spPr>
          <a:xfrm>
            <a:off x="6210148" y="5413248"/>
            <a:ext cx="5295748" cy="256032"/>
          </a:xfrm>
          <a:prstGeom prst="rect">
            <a:avLst/>
          </a:prstGeom>
          <a:noFill/>
          <a:ln/>
        </p:spPr>
        <p:txBody>
          <a:bodyPr wrap="square" lIns="0" tIns="0" rIns="0" bIns="0" rtlCol="0" anchor="t"/>
          <a:lstStyle/>
          <a:p>
            <a:pPr indent="0" marL="0">
              <a:buNone/>
            </a:pPr>
            <a:r>
              <a:rPr lang="en-US" sz="1300" b="1" dirty="0">
                <a:solidFill>
                  <a:srgbClr val="15201A"/>
                </a:solidFill>
                <a:latin typeface="Schibsted Grotesk" pitchFamily="34" charset="0"/>
                <a:ea typeface="Schibsted Grotesk" pitchFamily="34" charset="-122"/>
                <a:cs typeface="Schibsted Grotesk" pitchFamily="34" charset="-120"/>
              </a:rPr>
              <a:t>Western Libraries, Weldon Displays Policy</a:t>
            </a:r>
            <a:endParaRPr lang="en-US" sz="1300" dirty="0"/>
          </a:p>
        </p:txBody>
      </p:sp>
      <p:sp>
        <p:nvSpPr>
          <p:cNvPr id="30" name="Text 28"/>
          <p:cNvSpPr txBox="1"/>
          <p:nvPr/>
        </p:nvSpPr>
        <p:spPr>
          <a:xfrm>
            <a:off x="6210148" y="5669280"/>
            <a:ext cx="5295748" cy="384048"/>
          </a:xfrm>
          <a:prstGeom prst="rect">
            <a:avLst/>
          </a:prstGeom>
          <a:noFill/>
          <a:ln/>
        </p:spPr>
        <p:txBody>
          <a:bodyPr wrap="square" lIns="0" tIns="0" rIns="0" bIns="0" rtlCol="0" anchor="t"/>
          <a:lstStyle/>
          <a:p>
            <a:pPr indent="0" marL="0">
              <a:buNone/>
            </a:pPr>
            <a:r>
              <a:rPr lang="en-US" sz="1150" dirty="0">
                <a:solidFill>
                  <a:srgbClr val="38433C"/>
                </a:solidFill>
                <a:latin typeface="Schibsted Grotesk" pitchFamily="34" charset="0"/>
                <a:ea typeface="Schibsted Grotesk" pitchFamily="34" charset="-122"/>
                <a:cs typeface="Schibsted Grotesk" pitchFamily="34" charset="-120"/>
              </a:rPr>
              <a:t>Displays in Weldon are selected and authorized by Western Libraries.</a:t>
            </a:r>
            <a:endParaRPr lang="en-US" sz="115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4" type="title" hasCustomPrompt="1"/>
          </p:nvPr>
        </p:nvSpPr>
        <p:spPr>
          <a:xfrm>
            <a:off x="685800" y="502920"/>
            <a:ext cx="10241280" cy="1188720"/>
          </a:xfrm>
          <a:prstGeom prst="rect">
            <a:avLst/>
          </a:prstGeom>
          <a:noFill/>
          <a:ln/>
        </p:spPr>
        <p:txBody>
          <a:bodyPr wrap="square" lIns="0" tIns="0" rIns="0" bIns="0" rtlCol="0" anchor="t"/>
          <a:lstStyle/>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A2. Budget assumptions</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85800" y="1463040"/>
          <a:ext cx="10820095" cy="914400"/>
        </p:xfrm>
        <a:graphic>
          <a:graphicData uri="http://schemas.openxmlformats.org/drawingml/2006/table">
            <a:tbl>
              <a:tblPr/>
              <a:tblGrid>
                <a:gridCol w="2788920"/>
                <a:gridCol w="1051560"/>
                <a:gridCol w="6979615"/>
              </a:tblGrid>
              <a:tr h="384048">
                <a:tc>
                  <a:txBody>
                    <a:bodyPr/>
                    <a:lstStyle/>
                    <a:p>
                      <a:pPr indent="0" marL="0">
                        <a:buNone/>
                      </a:pPr>
                      <a:r>
                        <a:rPr lang="en-US" sz="1400" b="1" dirty="0">
                          <a:solidFill>
                            <a:srgbClr val="15201A"/>
                          </a:solidFill>
                          <a:latin typeface="Schibsted Grotesk" pitchFamily="34" charset="0"/>
                          <a:ea typeface="Schibsted Grotesk" pitchFamily="34" charset="-122"/>
                          <a:cs typeface="Schibsted Grotesk" pitchFamily="34" charset="-120"/>
                        </a:rPr>
                        <a:t>Line</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15875" cap="flat" cmpd="sng" algn="ctr">
                      <a:solidFill>
                        <a:srgbClr val="15201A"/>
                      </a:solidFill>
                      <a:prstDash val="solid"/>
                      <a:round/>
                      <a:headEnd type="none" w="med" len="med"/>
                      <a:tailEnd type="none" w="med" len="med"/>
                    </a:lnB>
                    <a:solidFill>
                      <a:srgbClr val="F7F5EF"/>
                    </a:solidFill>
                  </a:tcPr>
                </a:tc>
                <a:tc>
                  <a:txBody>
                    <a:bodyPr/>
                    <a:lstStyle/>
                    <a:p>
                      <a:pPr indent="0" marL="0">
                        <a:buNone/>
                      </a:pPr>
                      <a:r>
                        <a:rPr lang="en-US" sz="1400" b="1" dirty="0">
                          <a:solidFill>
                            <a:srgbClr val="15201A"/>
                          </a:solidFill>
                          <a:latin typeface="Schibsted Grotesk" pitchFamily="34" charset="0"/>
                          <a:ea typeface="Schibsted Grotesk" pitchFamily="34" charset="-122"/>
                          <a:cs typeface="Schibsted Grotesk" pitchFamily="34" charset="-120"/>
                        </a:rPr>
                        <a:t>Amount</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15875" cap="flat" cmpd="sng" algn="ctr">
                      <a:solidFill>
                        <a:srgbClr val="15201A"/>
                      </a:solidFill>
                      <a:prstDash val="solid"/>
                      <a:round/>
                      <a:headEnd type="none" w="med" len="med"/>
                      <a:tailEnd type="none" w="med" len="med"/>
                    </a:lnB>
                    <a:solidFill>
                      <a:srgbClr val="F7F5EF"/>
                    </a:solidFill>
                  </a:tcPr>
                </a:tc>
                <a:tc>
                  <a:txBody>
                    <a:bodyPr/>
                    <a:lstStyle/>
                    <a:p>
                      <a:pPr indent="0" marL="0">
                        <a:buNone/>
                      </a:pPr>
                      <a:r>
                        <a:rPr lang="en-US" sz="1400" b="1" dirty="0">
                          <a:solidFill>
                            <a:srgbClr val="15201A"/>
                          </a:solidFill>
                          <a:latin typeface="Schibsted Grotesk" pitchFamily="34" charset="0"/>
                          <a:ea typeface="Schibsted Grotesk" pitchFamily="34" charset="-122"/>
                          <a:cs typeface="Schibsted Grotesk" pitchFamily="34" charset="-120"/>
                        </a:rPr>
                        <a:t>Basis</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15875" cap="flat" cmpd="sng" algn="ctr">
                      <a:solidFill>
                        <a:srgbClr val="15201A"/>
                      </a:solidFill>
                      <a:prstDash val="solid"/>
                      <a:round/>
                      <a:headEnd type="none" w="med" len="med"/>
                      <a:tailEnd type="none" w="med" len="med"/>
                    </a:lnB>
                    <a:solidFill>
                      <a:srgbClr val="F7F5EF"/>
                    </a:solidFill>
                  </a:tcPr>
                </a:tc>
              </a:tr>
              <a:tr h="384048">
                <a:tc>
                  <a:txBody>
                    <a:bodyPr/>
                    <a:lstStyle/>
                    <a:p>
                      <a:pPr indent="0" marL="0">
                        <a:buNone/>
                      </a:pPr>
                      <a:r>
                        <a:rPr lang="en-US" sz="1400" b="1" dirty="0">
                          <a:solidFill>
                            <a:srgbClr val="15201A"/>
                          </a:solidFill>
                          <a:latin typeface="Schibsted Grotesk" pitchFamily="34" charset="0"/>
                          <a:ea typeface="Schibsted Grotesk" pitchFamily="34" charset="-122"/>
                          <a:cs typeface="Schibsted Grotesk" pitchFamily="34" charset="-120"/>
                        </a:rPr>
                        <a:t>Food seed stock</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$1,050</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About 420 shelf-stable items at $2.50, bought only after approval.</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384048">
                <a:tc>
                  <a:txBody>
                    <a:bodyPr/>
                    <a:lstStyle/>
                    <a:p>
                      <a:pPr indent="0" marL="0">
                        <a:buNone/>
                      </a:pPr>
                      <a:r>
                        <a:rPr lang="en-US" sz="1400" b="1" dirty="0">
                          <a:solidFill>
                            <a:srgbClr val="15201A"/>
                          </a:solidFill>
                          <a:latin typeface="Schibsted Grotesk" pitchFamily="34" charset="0"/>
                          <a:ea typeface="Schibsted Grotesk" pitchFamily="34" charset="-122"/>
                          <a:cs typeface="Schibsted Grotesk" pitchFamily="34" charset="-120"/>
                        </a:rPr>
                        <a:t>Hygiene products</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$400</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Period products, first on the USC most-needed list, plus soap and toothpaste.</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384048">
                <a:tc>
                  <a:txBody>
                    <a:bodyPr/>
                    <a:lstStyle/>
                    <a:p>
                      <a:pPr indent="0" marL="0">
                        <a:buNone/>
                      </a:pPr>
                      <a:r>
                        <a:rPr lang="en-US" sz="1400" b="1" dirty="0">
                          <a:solidFill>
                            <a:srgbClr val="15201A"/>
                          </a:solidFill>
                          <a:latin typeface="Schibsted Grotesk" pitchFamily="34" charset="0"/>
                          <a:ea typeface="Schibsted Grotesk" pitchFamily="34" charset="-122"/>
                          <a:cs typeface="Schibsted Grotesk" pitchFamily="34" charset="-120"/>
                        </a:rPr>
                        <a:t>Signs, labels, bins</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$300</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Shelf signs, QR labels and stock bins for two sites.</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384048">
                <a:tc>
                  <a:txBody>
                    <a:bodyPr/>
                    <a:lstStyle/>
                    <a:p>
                      <a:pPr indent="0" marL="0">
                        <a:buNone/>
                      </a:pPr>
                      <a:r>
                        <a:rPr lang="en-US" sz="1400" b="1" dirty="0">
                          <a:solidFill>
                            <a:srgbClr val="15201A"/>
                          </a:solidFill>
                          <a:latin typeface="Schibsted Grotesk" pitchFamily="34" charset="0"/>
                          <a:ea typeface="Schibsted Grotesk" pitchFamily="34" charset="-122"/>
                          <a:cs typeface="Schibsted Grotesk" pitchFamily="34" charset="-120"/>
                        </a:rPr>
                        <a:t>Contingency</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$250</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10% of the request.</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384048">
                <a:tc>
                  <a:txBody>
                    <a:bodyPr/>
                    <a:lstStyle/>
                    <a:p>
                      <a:pPr indent="0" marL="0">
                        <a:buNone/>
                      </a:pPr>
                      <a:r>
                        <a:rPr lang="en-US" sz="1400" b="1" dirty="0">
                          <a:solidFill>
                            <a:srgbClr val="15201A"/>
                          </a:solidFill>
                          <a:latin typeface="Schibsted Grotesk" pitchFamily="34" charset="0"/>
                          <a:ea typeface="Schibsted Grotesk" pitchFamily="34" charset="-122"/>
                          <a:cs typeface="Schibsted Grotesk" pitchFamily="34" charset="-120"/>
                        </a:rPr>
                        <a:t>Promotion</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$250</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Posters, QR stickers and social posts.</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384048">
                <a:tc>
                  <a:txBody>
                    <a:bodyPr/>
                    <a:lstStyle/>
                    <a:p>
                      <a:pPr indent="0" marL="0">
                        <a:buNone/>
                      </a:pPr>
                      <a:r>
                        <a:rPr lang="en-US" sz="1400" b="1" dirty="0">
                          <a:solidFill>
                            <a:srgbClr val="15201A"/>
                          </a:solidFill>
                          <a:latin typeface="Schibsted Grotesk" pitchFamily="34" charset="0"/>
                          <a:ea typeface="Schibsted Grotesk" pitchFamily="34" charset="-122"/>
                          <a:cs typeface="Schibsted Grotesk" pitchFamily="34" charset="-120"/>
                        </a:rPr>
                        <a:t>Volunteer training</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$200</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Online food-handler certification for six volunteers.</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384048">
                <a:tc>
                  <a:txBody>
                    <a:bodyPr/>
                    <a:lstStyle/>
                    <a:p>
                      <a:pPr indent="0" marL="0">
                        <a:buNone/>
                      </a:pPr>
                      <a:r>
                        <a:rPr lang="en-US" sz="1400" b="1" dirty="0">
                          <a:solidFill>
                            <a:srgbClr val="15201A"/>
                          </a:solidFill>
                          <a:latin typeface="Schibsted Grotesk" pitchFamily="34" charset="0"/>
                          <a:ea typeface="Schibsted Grotesk" pitchFamily="34" charset="-122"/>
                          <a:cs typeface="Schibsted Grotesk" pitchFamily="34" charset="-120"/>
                        </a:rPr>
                        <a:t>Hosting</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$50</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Free hosting tiers and one year of a domain.</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384048">
                <a:tc>
                  <a:txBody>
                    <a:bodyPr/>
                    <a:lstStyle/>
                    <a:p>
                      <a:pPr indent="0" marL="0">
                        <a:buNone/>
                      </a:pPr>
                      <a:r>
                        <a:rPr lang="en-US" sz="1400" b="1" dirty="0">
                          <a:solidFill>
                            <a:srgbClr val="15201A"/>
                          </a:solidFill>
                          <a:latin typeface="Schibsted Grotesk" pitchFamily="34" charset="0"/>
                          <a:ea typeface="Schibsted Grotesk" pitchFamily="34" charset="-122"/>
                          <a:cs typeface="Schibsted Grotesk" pitchFamily="34" charset="-120"/>
                        </a:rPr>
                        <a:t>Shelving (not requested)</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In kind</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Borrowed from Food Support or the host building.</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384048">
                <a:tc>
                  <a:txBody>
                    <a:bodyPr/>
                    <a:lstStyle/>
                    <a:p>
                      <a:pPr indent="0" marL="0">
                        <a:buNone/>
                      </a:pPr>
                      <a:r>
                        <a:rPr lang="en-US" sz="1400" b="1" dirty="0">
                          <a:solidFill>
                            <a:srgbClr val="15201A"/>
                          </a:solidFill>
                          <a:latin typeface="Schibsted Grotesk" pitchFamily="34" charset="0"/>
                          <a:ea typeface="Schibsted Grotesk" pitchFamily="34" charset="-122"/>
                          <a:cs typeface="Schibsted Grotesk" pitchFamily="34" charset="-120"/>
                        </a:rPr>
                        <a:t>Team match (not requested)</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$250</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10% from our team, which the committee prefers.</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bl>
          </a:graphicData>
        </a:graphic>
      </p:graphicFrame>
      <p:sp>
        <p:nvSpPr>
          <p:cNvPr id="4" name="Text 1"/>
          <p:cNvSpPr txBox="1"/>
          <p:nvPr/>
        </p:nvSpPr>
        <p:spPr>
          <a:xfrm>
            <a:off x="685800" y="5760720"/>
            <a:ext cx="10820095" cy="320040"/>
          </a:xfrm>
          <a:prstGeom prst="rect">
            <a:avLst/>
          </a:prstGeom>
          <a:noFill/>
          <a:ln/>
        </p:spPr>
        <p:txBody>
          <a:bodyPr wrap="square" lIns="0" tIns="0" rIns="0" bIns="0" rtlCol="0" anchor="t"/>
          <a:lstStyle/>
          <a:p>
            <a:pPr indent="0" marL="0">
              <a:buNone/>
            </a:pPr>
            <a:r>
              <a:rPr lang="en-US" sz="1400" dirty="0">
                <a:solidFill>
                  <a:srgbClr val="15201A"/>
                </a:solidFill>
                <a:latin typeface="Schibsted Grotesk" pitchFamily="34" charset="0"/>
                <a:ea typeface="Schibsted Grotesk" pitchFamily="34" charset="-122"/>
                <a:cs typeface="Schibsted Grotesk" pitchFamily="34" charset="-120"/>
              </a:rPr>
              <a:t>To reach 1,000 items: about 420 bought, about 100 hygiene items, and the rest from partners, food drives and Food Support.</a:t>
            </a:r>
            <a:endParaRPr lang="en-US" sz="14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4"/>
          <p:cNvSpPr/>
          <p:nvPr>
            <p:ph idx="104" type="title" hasCustomPrompt="1"/>
          </p:nvPr>
        </p:nvSpPr>
        <p:spPr>
          <a:xfrm>
            <a:off x="685800" y="502920"/>
            <a:ext cx="10241280" cy="1188720"/>
          </a:xfrm>
          <a:prstGeom prst="rect">
            <a:avLst/>
          </a:prstGeom>
          <a:noFill/>
          <a:ln/>
        </p:spPr>
        <p:txBody>
          <a:bodyPr wrap="square" lIns="0" tIns="0" rIns="0" bIns="0" rtlCol="0" anchor="t"/>
          <a:lstStyle/>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A3. Options we ruled out</a:t>
            </a:r>
            <a:endParaRPr lang="en-US" sz="3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85800" y="1463040"/>
          <a:ext cx="10820095" cy="914400"/>
        </p:xfrm>
        <a:graphic>
          <a:graphicData uri="http://schemas.openxmlformats.org/drawingml/2006/table">
            <a:tbl>
              <a:tblPr/>
              <a:tblGrid>
                <a:gridCol w="3200400"/>
                <a:gridCol w="2194560"/>
                <a:gridCol w="5425135"/>
              </a:tblGrid>
              <a:tr h="658368">
                <a:tc>
                  <a:txBody>
                    <a:bodyPr/>
                    <a:lstStyle/>
                    <a:p>
                      <a:pPr indent="0" marL="0">
                        <a:buNone/>
                      </a:pPr>
                      <a:r>
                        <a:rPr lang="en-US" sz="1400" b="1" dirty="0">
                          <a:solidFill>
                            <a:srgbClr val="15201A"/>
                          </a:solidFill>
                          <a:latin typeface="Schibsted Grotesk" pitchFamily="34" charset="0"/>
                          <a:ea typeface="Schibsted Grotesk" pitchFamily="34" charset="-122"/>
                          <a:cs typeface="Schibsted Grotesk" pitchFamily="34" charset="-120"/>
                        </a:rPr>
                        <a:t>Option</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15875" cap="flat" cmpd="sng" algn="ctr">
                      <a:solidFill>
                        <a:srgbClr val="15201A"/>
                      </a:solidFill>
                      <a:prstDash val="solid"/>
                      <a:round/>
                      <a:headEnd type="none" w="med" len="med"/>
                      <a:tailEnd type="none" w="med" len="med"/>
                    </a:lnB>
                    <a:solidFill>
                      <a:srgbClr val="F7F5EF"/>
                    </a:solidFill>
                  </a:tcPr>
                </a:tc>
                <a:tc>
                  <a:txBody>
                    <a:bodyPr/>
                    <a:lstStyle/>
                    <a:p>
                      <a:pPr indent="0" marL="0">
                        <a:buNone/>
                      </a:pPr>
                      <a:r>
                        <a:rPr lang="en-US" sz="1400" b="1" dirty="0">
                          <a:solidFill>
                            <a:srgbClr val="15201A"/>
                          </a:solidFill>
                          <a:latin typeface="Schibsted Grotesk" pitchFamily="34" charset="0"/>
                          <a:ea typeface="Schibsted Grotesk" pitchFamily="34" charset="-122"/>
                          <a:cs typeface="Schibsted Grotesk" pitchFamily="34" charset="-120"/>
                        </a:rPr>
                        <a:t>What it offers</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15875" cap="flat" cmpd="sng" algn="ctr">
                      <a:solidFill>
                        <a:srgbClr val="15201A"/>
                      </a:solidFill>
                      <a:prstDash val="solid"/>
                      <a:round/>
                      <a:headEnd type="none" w="med" len="med"/>
                      <a:tailEnd type="none" w="med" len="med"/>
                    </a:lnB>
                    <a:solidFill>
                      <a:srgbClr val="F7F5EF"/>
                    </a:solidFill>
                  </a:tcPr>
                </a:tc>
                <a:tc>
                  <a:txBody>
                    <a:bodyPr/>
                    <a:lstStyle/>
                    <a:p>
                      <a:pPr indent="0" marL="0">
                        <a:buNone/>
                      </a:pPr>
                      <a:r>
                        <a:rPr lang="en-US" sz="1400" b="1" dirty="0">
                          <a:solidFill>
                            <a:srgbClr val="15201A"/>
                          </a:solidFill>
                          <a:latin typeface="Schibsted Grotesk" pitchFamily="34" charset="0"/>
                          <a:ea typeface="Schibsted Grotesk" pitchFamily="34" charset="-122"/>
                          <a:cs typeface="Schibsted Grotesk" pitchFamily="34" charset="-120"/>
                        </a:rPr>
                        <a:t>Why not on its own</a:t>
                      </a:r>
                      <a:endParaRPr lang="en-US" sz="14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15875" cap="flat" cmpd="sng" algn="ctr">
                      <a:solidFill>
                        <a:srgbClr val="15201A"/>
                      </a:solidFill>
                      <a:prstDash val="solid"/>
                      <a:round/>
                      <a:headEnd type="none" w="med" len="med"/>
                      <a:tailEnd type="none" w="med" len="med"/>
                    </a:lnB>
                    <a:solidFill>
                      <a:srgbClr val="F7F5EF"/>
                    </a:solidFill>
                  </a:tcPr>
                </a:tc>
              </a:tr>
              <a:tr h="658368">
                <a:tc>
                  <a:txBody>
                    <a:bodyPr/>
                    <a:lstStyle/>
                    <a:p>
                      <a:pPr indent="0" marL="0">
                        <a:buNone/>
                      </a:pPr>
                      <a:r>
                        <a:rPr lang="en-US" sz="1600" b="1" dirty="0">
                          <a:solidFill>
                            <a:srgbClr val="15201A"/>
                          </a:solidFill>
                          <a:latin typeface="Schibsted Grotesk" pitchFamily="34" charset="0"/>
                          <a:ea typeface="Schibsted Grotesk" pitchFamily="34" charset="-122"/>
                          <a:cs typeface="Schibsted Grotesk" pitchFamily="34" charset="-120"/>
                        </a:rPr>
                        <a:t>Longer walk-in hours at UCC 40F</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Familiar, staffed</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Still one basement room; every extra hour needs paid staff. No live stock or counts.</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658368">
                <a:tc>
                  <a:txBody>
                    <a:bodyPr/>
                    <a:lstStyle/>
                    <a:p>
                      <a:pPr indent="0" marL="0">
                        <a:buNone/>
                      </a:pPr>
                      <a:r>
                        <a:rPr lang="en-US" sz="1600" b="1" dirty="0">
                          <a:solidFill>
                            <a:srgbClr val="15201A"/>
                          </a:solidFill>
                          <a:latin typeface="Schibsted Grotesk" pitchFamily="34" charset="0"/>
                          <a:ea typeface="Schibsted Grotesk" pitchFamily="34" charset="-122"/>
                          <a:cs typeface="Schibsted Grotesk" pitchFamily="34" charset="-120"/>
                        </a:rPr>
                        <a:t>More hampers</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Proven, private</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Still a form and at least 48 hours. FoodLink lists hampers next to the shelves.</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658368">
                <a:tc>
                  <a:txBody>
                    <a:bodyPr/>
                    <a:lstStyle/>
                    <a:p>
                      <a:pPr indent="0" marL="0">
                        <a:buNone/>
                      </a:pPr>
                      <a:r>
                        <a:rPr lang="en-US" sz="1600" b="1" dirty="0">
                          <a:solidFill>
                            <a:srgbClr val="15201A"/>
                          </a:solidFill>
                          <a:latin typeface="Schibsted Grotesk" pitchFamily="34" charset="0"/>
                          <a:ea typeface="Schibsted Grotesk" pitchFamily="34" charset="-122"/>
                          <a:cs typeface="Schibsted Grotesk" pitchFamily="34" charset="-120"/>
                        </a:rPr>
                        <a:t>Community fridge</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Fresh food</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Needs temperature logs, cleaning and public-health rules. A phase-two option.</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658368">
                <a:tc>
                  <a:txBody>
                    <a:bodyPr/>
                    <a:lstStyle/>
                    <a:p>
                      <a:pPr indent="0" marL="0">
                        <a:buNone/>
                      </a:pPr>
                      <a:r>
                        <a:rPr lang="en-US" sz="1600" b="1" dirty="0">
                          <a:solidFill>
                            <a:srgbClr val="15201A"/>
                          </a:solidFill>
                          <a:latin typeface="Schibsted Grotesk" pitchFamily="34" charset="0"/>
                          <a:ea typeface="Schibsted Grotesk" pitchFamily="34" charset="-122"/>
                          <a:cs typeface="Schibsted Grotesk" pitchFamily="34" charset="-120"/>
                        </a:rPr>
                        <a:t>FoodRescue.ca alone</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Free surplus</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Built for agencies collecting in bulk, not students. Food Support can join it.</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r h="658368">
                <a:tc>
                  <a:txBody>
                    <a:bodyPr/>
                    <a:lstStyle/>
                    <a:p>
                      <a:pPr indent="0" marL="0">
                        <a:buNone/>
                      </a:pPr>
                      <a:r>
                        <a:rPr lang="en-US" sz="1600" b="1" dirty="0">
                          <a:solidFill>
                            <a:srgbClr val="15201A"/>
                          </a:solidFill>
                          <a:latin typeface="Schibsted Grotesk" pitchFamily="34" charset="0"/>
                          <a:ea typeface="Schibsted Grotesk" pitchFamily="34" charset="-122"/>
                          <a:cs typeface="Schibsted Grotesk" pitchFamily="34" charset="-120"/>
                        </a:rPr>
                        <a:t>Too Good To Go</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Cheap surplus bags</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c>
                  <a:txBody>
                    <a:bodyPr/>
                    <a:lstStyle/>
                    <a:p>
                      <a:pPr indent="0" marL="0">
                        <a:buNone/>
                      </a:pPr>
                      <a:r>
                        <a:rPr lang="en-US" sz="1600" dirty="0">
                          <a:solidFill>
                            <a:srgbClr val="38433C"/>
                          </a:solidFill>
                          <a:latin typeface="Schibsted Grotesk" pitchFamily="34" charset="0"/>
                          <a:ea typeface="Schibsted Grotesk" pitchFamily="34" charset="-122"/>
                          <a:cs typeface="Schibsted Grotesk" pitchFamily="34" charset="-120"/>
                        </a:rPr>
                        <a:t>Costs money and is mostly off campus.</a:t>
                      </a:r>
                      <a:endParaRPr lang="en-US" sz="1600" dirty="0">
                        <a:latin typeface="Schibsted Grotesk" charset="0"/>
                        <a:ea typeface="Schibsted Grotesk" charset="0"/>
                        <a:cs typeface="Schibsted Grotesk" charset="0"/>
                      </a:endParaRPr>
                    </a:p>
                  </a:txBody>
                  <a:tcPr marL="0" marR="177800" marT="76200" marB="76200"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solidFill>
                      <a:srgbClr val="F7F5EF"/>
                    </a:solidFill>
                  </a:tcPr>
                </a:tc>
              </a:tr>
            </a:tbl>
          </a:graphicData>
        </a:graphic>
      </p:graphicFrame>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4" type="title" hasCustomPrompt="1"/>
          </p:nvPr>
        </p:nvSpPr>
        <p:spPr>
          <a:xfrm>
            <a:off x="685800" y="502920"/>
            <a:ext cx="10241280" cy="1188720"/>
          </a:xfrm>
          <a:prstGeom prst="rect">
            <a:avLst/>
          </a:prstGeom>
          <a:noFill/>
          <a:ln/>
        </p:spPr>
        <p:txBody>
          <a:bodyPr wrap="square" lIns="0" tIns="0" rIns="0" bIns="0" rtlCol="0" anchor="t"/>
          <a:lstStyle/>
          <a:p>
            <a:pPr algn="l" indent="0" marL="0">
              <a:lnSpc>
                <a:spcPct val="95000"/>
              </a:lnSpc>
              <a:buNone/>
            </a:pPr>
            <a:r>
              <a:rPr lang="en-US" sz="3400" b="1" dirty="0">
                <a:solidFill>
                  <a:srgbClr val="15201A"/>
                </a:solidFill>
                <a:latin typeface="Schibsted Grotesk" pitchFamily="34" charset="0"/>
                <a:ea typeface="Schibsted Grotesk" pitchFamily="34" charset="-122"/>
                <a:cs typeface="Schibsted Grotesk" pitchFamily="34" charset="-120"/>
              </a:rPr>
              <a:t>A4. Questions we expect</a:t>
            </a:r>
            <a:endParaRPr lang="en-US" sz="3400" dirty="0"/>
          </a:p>
        </p:txBody>
      </p:sp>
      <p:sp>
        <p:nvSpPr>
          <p:cNvPr id="3" name="Shape 1"/>
          <p:cNvSpPr/>
          <p:nvPr/>
        </p:nvSpPr>
        <p:spPr>
          <a:xfrm>
            <a:off x="685800" y="1353312"/>
            <a:ext cx="5295748" cy="0"/>
          </a:xfrm>
          <a:prstGeom prst="line">
            <a:avLst/>
          </a:prstGeom>
          <a:noFill/>
          <a:ln w="9525">
            <a:solidFill>
              <a:srgbClr val="D9D4C7"/>
            </a:solidFill>
            <a:prstDash val="solid"/>
          </a:ln>
        </p:spPr>
      </p:sp>
      <p:sp>
        <p:nvSpPr>
          <p:cNvPr id="4" name="Text 2"/>
          <p:cNvSpPr txBox="1"/>
          <p:nvPr/>
        </p:nvSpPr>
        <p:spPr>
          <a:xfrm>
            <a:off x="685800" y="1444752"/>
            <a:ext cx="5295748" cy="329184"/>
          </a:xfrm>
          <a:prstGeom prst="rect">
            <a:avLst/>
          </a:prstGeom>
          <a:noFill/>
          <a:ln/>
        </p:spPr>
        <p:txBody>
          <a:bodyPr wrap="square" lIns="0" tIns="0" rIns="0" bIns="0" rtlCol="0" anchor="t"/>
          <a:lstStyle/>
          <a:p>
            <a:pPr indent="0" marL="0">
              <a:buNone/>
            </a:pPr>
            <a:r>
              <a:rPr lang="en-US" sz="1600" b="1" dirty="0">
                <a:solidFill>
                  <a:srgbClr val="15201A"/>
                </a:solidFill>
                <a:latin typeface="Schibsted Grotesk" pitchFamily="34" charset="0"/>
                <a:ea typeface="Schibsted Grotesk" pitchFamily="34" charset="-122"/>
                <a:cs typeface="Schibsted Grotesk" pitchFamily="34" charset="-120"/>
              </a:rPr>
              <a:t>Isn’t this just walk-ins again?</a:t>
            </a:r>
            <a:endParaRPr lang="en-US" sz="1600" dirty="0"/>
          </a:p>
        </p:txBody>
      </p:sp>
      <p:sp>
        <p:nvSpPr>
          <p:cNvPr id="5" name="Text 3"/>
          <p:cNvSpPr txBox="1"/>
          <p:nvPr/>
        </p:nvSpPr>
        <p:spPr>
          <a:xfrm>
            <a:off x="685800" y="1810512"/>
            <a:ext cx="5295748" cy="713232"/>
          </a:xfrm>
          <a:prstGeom prst="rect">
            <a:avLst/>
          </a:prstGeom>
          <a:noFill/>
          <a:ln/>
        </p:spPr>
        <p:txBody>
          <a:bodyPr wrap="square" lIns="0" tIns="0" rIns="0" bIns="0" rtlCol="0" anchor="t"/>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Walk-up access, but every restock is counted and logged: the accountability the USC said walk-ins lacked.</a:t>
            </a:r>
            <a:endParaRPr lang="en-US" sz="1400" dirty="0"/>
          </a:p>
        </p:txBody>
      </p:sp>
      <p:sp>
        <p:nvSpPr>
          <p:cNvPr id="6" name="Shape 4"/>
          <p:cNvSpPr/>
          <p:nvPr/>
        </p:nvSpPr>
        <p:spPr>
          <a:xfrm>
            <a:off x="6210148" y="1353312"/>
            <a:ext cx="5295748" cy="0"/>
          </a:xfrm>
          <a:prstGeom prst="line">
            <a:avLst/>
          </a:prstGeom>
          <a:noFill/>
          <a:ln w="9525">
            <a:solidFill>
              <a:srgbClr val="D9D4C7"/>
            </a:solidFill>
            <a:prstDash val="solid"/>
          </a:ln>
        </p:spPr>
      </p:sp>
      <p:sp>
        <p:nvSpPr>
          <p:cNvPr id="7" name="Text 5"/>
          <p:cNvSpPr txBox="1"/>
          <p:nvPr/>
        </p:nvSpPr>
        <p:spPr>
          <a:xfrm>
            <a:off x="6210148" y="1444752"/>
            <a:ext cx="5295748" cy="329184"/>
          </a:xfrm>
          <a:prstGeom prst="rect">
            <a:avLst/>
          </a:prstGeom>
          <a:noFill/>
          <a:ln/>
        </p:spPr>
        <p:txBody>
          <a:bodyPr wrap="square" lIns="0" tIns="0" rIns="0" bIns="0" rtlCol="0" anchor="t"/>
          <a:lstStyle/>
          <a:p>
            <a:pPr indent="0" marL="0">
              <a:buNone/>
            </a:pPr>
            <a:r>
              <a:rPr lang="en-US" sz="1600" b="1" dirty="0">
                <a:solidFill>
                  <a:srgbClr val="15201A"/>
                </a:solidFill>
                <a:latin typeface="Schibsted Grotesk" pitchFamily="34" charset="0"/>
                <a:ea typeface="Schibsted Grotesk" pitchFamily="34" charset="-122"/>
                <a:cs typeface="Schibsted Grotesk" pitchFamily="34" charset="-120"/>
              </a:rPr>
              <a:t>The USC already lists walk-in hours. Why shelves?</a:t>
            </a:r>
            <a:endParaRPr lang="en-US" sz="1600" dirty="0"/>
          </a:p>
        </p:txBody>
      </p:sp>
      <p:sp>
        <p:nvSpPr>
          <p:cNvPr id="8" name="Text 6"/>
          <p:cNvSpPr txBox="1"/>
          <p:nvPr/>
        </p:nvSpPr>
        <p:spPr>
          <a:xfrm>
            <a:off x="6210148" y="1810512"/>
            <a:ext cx="5295748" cy="713232"/>
          </a:xfrm>
          <a:prstGeom prst="rect">
            <a:avLst/>
          </a:prstGeom>
          <a:noFill/>
          <a:ln/>
        </p:spPr>
        <p:txBody>
          <a:bodyPr wrap="square" lIns="0" tIns="0" rIns="0" bIns="0" rtlCol="0" anchor="t"/>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UCC 40F is one basement room open 24 hours a week. Shelves in busy buildings reach students evenings and weekends.</a:t>
            </a:r>
            <a:endParaRPr lang="en-US" sz="1400" dirty="0"/>
          </a:p>
        </p:txBody>
      </p:sp>
      <p:sp>
        <p:nvSpPr>
          <p:cNvPr id="9" name="Shape 7"/>
          <p:cNvSpPr/>
          <p:nvPr/>
        </p:nvSpPr>
        <p:spPr>
          <a:xfrm>
            <a:off x="685800" y="2514600"/>
            <a:ext cx="5295748" cy="0"/>
          </a:xfrm>
          <a:prstGeom prst="line">
            <a:avLst/>
          </a:prstGeom>
          <a:noFill/>
          <a:ln w="9525">
            <a:solidFill>
              <a:srgbClr val="D9D4C7"/>
            </a:solidFill>
            <a:prstDash val="solid"/>
          </a:ln>
        </p:spPr>
      </p:sp>
      <p:sp>
        <p:nvSpPr>
          <p:cNvPr id="10" name="Text 8"/>
          <p:cNvSpPr txBox="1"/>
          <p:nvPr/>
        </p:nvSpPr>
        <p:spPr>
          <a:xfrm>
            <a:off x="685800" y="2606040"/>
            <a:ext cx="5295748" cy="329184"/>
          </a:xfrm>
          <a:prstGeom prst="rect">
            <a:avLst/>
          </a:prstGeom>
          <a:noFill/>
          <a:ln/>
        </p:spPr>
        <p:txBody>
          <a:bodyPr wrap="square" lIns="0" tIns="0" rIns="0" bIns="0" rtlCol="0" anchor="t"/>
          <a:lstStyle/>
          <a:p>
            <a:pPr indent="0" marL="0">
              <a:buNone/>
            </a:pPr>
            <a:r>
              <a:rPr lang="en-US" sz="1600" b="1" dirty="0">
                <a:solidFill>
                  <a:srgbClr val="15201A"/>
                </a:solidFill>
                <a:latin typeface="Schibsted Grotesk" pitchFamily="34" charset="0"/>
                <a:ea typeface="Schibsted Grotesk" pitchFamily="34" charset="-122"/>
                <a:cs typeface="Schibsted Grotesk" pitchFamily="34" charset="-120"/>
              </a:rPr>
              <a:t>What stops one person emptying a shelf?</a:t>
            </a:r>
            <a:endParaRPr lang="en-US" sz="1600" dirty="0"/>
          </a:p>
        </p:txBody>
      </p:sp>
      <p:sp>
        <p:nvSpPr>
          <p:cNvPr id="11" name="Text 9"/>
          <p:cNvSpPr txBox="1"/>
          <p:nvPr/>
        </p:nvSpPr>
        <p:spPr>
          <a:xfrm>
            <a:off x="685800" y="2971800"/>
            <a:ext cx="5295748" cy="713232"/>
          </a:xfrm>
          <a:prstGeom prst="rect">
            <a:avLst/>
          </a:prstGeom>
          <a:noFill/>
          <a:ln/>
        </p:spPr>
        <p:txBody>
          <a:bodyPr wrap="square" lIns="0" tIns="0" rIns="0" bIns="0" rtlCol="0" anchor="t"/>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A posted guide, two restocks a day, and live counts that show rushes so stock can move.</a:t>
            </a:r>
            <a:endParaRPr lang="en-US" sz="1400" dirty="0"/>
          </a:p>
        </p:txBody>
      </p:sp>
      <p:sp>
        <p:nvSpPr>
          <p:cNvPr id="12" name="Shape 10"/>
          <p:cNvSpPr/>
          <p:nvPr/>
        </p:nvSpPr>
        <p:spPr>
          <a:xfrm>
            <a:off x="6210148" y="2514600"/>
            <a:ext cx="5295748" cy="0"/>
          </a:xfrm>
          <a:prstGeom prst="line">
            <a:avLst/>
          </a:prstGeom>
          <a:noFill/>
          <a:ln w="9525">
            <a:solidFill>
              <a:srgbClr val="D9D4C7"/>
            </a:solidFill>
            <a:prstDash val="solid"/>
          </a:ln>
        </p:spPr>
      </p:sp>
      <p:sp>
        <p:nvSpPr>
          <p:cNvPr id="13" name="Text 11"/>
          <p:cNvSpPr txBox="1"/>
          <p:nvPr/>
        </p:nvSpPr>
        <p:spPr>
          <a:xfrm>
            <a:off x="6210148" y="2606040"/>
            <a:ext cx="5295748" cy="329184"/>
          </a:xfrm>
          <a:prstGeom prst="rect">
            <a:avLst/>
          </a:prstGeom>
          <a:noFill/>
          <a:ln/>
        </p:spPr>
        <p:txBody>
          <a:bodyPr wrap="square" lIns="0" tIns="0" rIns="0" bIns="0" rtlCol="0" anchor="t"/>
          <a:lstStyle/>
          <a:p>
            <a:pPr indent="0" marL="0">
              <a:buNone/>
            </a:pPr>
            <a:r>
              <a:rPr lang="en-US" sz="1600" b="1" dirty="0">
                <a:solidFill>
                  <a:srgbClr val="15201A"/>
                </a:solidFill>
                <a:latin typeface="Schibsted Grotesk" pitchFamily="34" charset="0"/>
                <a:ea typeface="Schibsted Grotesk" pitchFamily="34" charset="-122"/>
                <a:cs typeface="Schibsted Grotesk" pitchFamily="34" charset="-120"/>
              </a:rPr>
              <a:t>Who restocks?</a:t>
            </a:r>
            <a:endParaRPr lang="en-US" sz="1600" dirty="0"/>
          </a:p>
        </p:txBody>
      </p:sp>
      <p:sp>
        <p:nvSpPr>
          <p:cNvPr id="14" name="Text 12"/>
          <p:cNvSpPr txBox="1"/>
          <p:nvPr/>
        </p:nvSpPr>
        <p:spPr>
          <a:xfrm>
            <a:off x="6210148" y="2971800"/>
            <a:ext cx="5295748" cy="713232"/>
          </a:xfrm>
          <a:prstGeom prst="rect">
            <a:avLst/>
          </a:prstGeom>
          <a:noFill/>
          <a:ln/>
        </p:spPr>
        <p:txBody>
          <a:bodyPr wrap="square" lIns="0" tIns="0" rIns="0" bIns="0" rtlCol="0" anchor="t"/>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Six certified volunteers on 15-minute check-ins, with Food Support staff covering gaps.</a:t>
            </a:r>
            <a:endParaRPr lang="en-US" sz="1400" dirty="0"/>
          </a:p>
        </p:txBody>
      </p:sp>
      <p:sp>
        <p:nvSpPr>
          <p:cNvPr id="15" name="Shape 13"/>
          <p:cNvSpPr/>
          <p:nvPr/>
        </p:nvSpPr>
        <p:spPr>
          <a:xfrm>
            <a:off x="685800" y="3675888"/>
            <a:ext cx="5295748" cy="0"/>
          </a:xfrm>
          <a:prstGeom prst="line">
            <a:avLst/>
          </a:prstGeom>
          <a:noFill/>
          <a:ln w="9525">
            <a:solidFill>
              <a:srgbClr val="D9D4C7"/>
            </a:solidFill>
            <a:prstDash val="solid"/>
          </a:ln>
        </p:spPr>
      </p:sp>
      <p:sp>
        <p:nvSpPr>
          <p:cNvPr id="16" name="Text 14"/>
          <p:cNvSpPr txBox="1"/>
          <p:nvPr/>
        </p:nvSpPr>
        <p:spPr>
          <a:xfrm>
            <a:off x="685800" y="3767328"/>
            <a:ext cx="5295748" cy="329184"/>
          </a:xfrm>
          <a:prstGeom prst="rect">
            <a:avLst/>
          </a:prstGeom>
          <a:noFill/>
          <a:ln/>
        </p:spPr>
        <p:txBody>
          <a:bodyPr wrap="square" lIns="0" tIns="0" rIns="0" bIns="0" rtlCol="0" anchor="t"/>
          <a:lstStyle/>
          <a:p>
            <a:pPr indent="0" marL="0">
              <a:buNone/>
            </a:pPr>
            <a:r>
              <a:rPr lang="en-US" sz="1600" b="1" dirty="0">
                <a:solidFill>
                  <a:srgbClr val="15201A"/>
                </a:solidFill>
                <a:latin typeface="Schibsted Grotesk" pitchFamily="34" charset="0"/>
                <a:ea typeface="Schibsted Grotesk" pitchFamily="34" charset="-122"/>
                <a:cs typeface="Schibsted Grotesk" pitchFamily="34" charset="-120"/>
              </a:rPr>
              <a:t>Is handing out donated food safe and legal?</a:t>
            </a:r>
            <a:endParaRPr lang="en-US" sz="1600" dirty="0"/>
          </a:p>
        </p:txBody>
      </p:sp>
      <p:sp>
        <p:nvSpPr>
          <p:cNvPr id="17" name="Text 15"/>
          <p:cNvSpPr txBox="1"/>
          <p:nvPr/>
        </p:nvSpPr>
        <p:spPr>
          <a:xfrm>
            <a:off x="685800" y="4133088"/>
            <a:ext cx="5295748" cy="713232"/>
          </a:xfrm>
          <a:prstGeom prst="rect">
            <a:avLst/>
          </a:prstGeom>
          <a:noFill/>
          <a:ln/>
        </p:spPr>
        <p:txBody>
          <a:bodyPr wrap="square" lIns="0" tIns="0" rIns="0" bIns="0" rtlCol="0" anchor="t"/>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Sealed, labelled, in-date food only, enforced in the app. Ontario’s Donation of Food Act protects good-faith donors.</a:t>
            </a:r>
            <a:endParaRPr lang="en-US" sz="1400" dirty="0"/>
          </a:p>
        </p:txBody>
      </p:sp>
      <p:sp>
        <p:nvSpPr>
          <p:cNvPr id="18" name="Shape 16"/>
          <p:cNvSpPr/>
          <p:nvPr/>
        </p:nvSpPr>
        <p:spPr>
          <a:xfrm>
            <a:off x="6210148" y="3675888"/>
            <a:ext cx="5295748" cy="0"/>
          </a:xfrm>
          <a:prstGeom prst="line">
            <a:avLst/>
          </a:prstGeom>
          <a:noFill/>
          <a:ln w="9525">
            <a:solidFill>
              <a:srgbClr val="D9D4C7"/>
            </a:solidFill>
            <a:prstDash val="solid"/>
          </a:ln>
        </p:spPr>
      </p:sp>
      <p:sp>
        <p:nvSpPr>
          <p:cNvPr id="19" name="Text 17"/>
          <p:cNvSpPr txBox="1"/>
          <p:nvPr/>
        </p:nvSpPr>
        <p:spPr>
          <a:xfrm>
            <a:off x="6210148" y="3767328"/>
            <a:ext cx="5295748" cy="329184"/>
          </a:xfrm>
          <a:prstGeom prst="rect">
            <a:avLst/>
          </a:prstGeom>
          <a:noFill/>
          <a:ln/>
        </p:spPr>
        <p:txBody>
          <a:bodyPr wrap="square" lIns="0" tIns="0" rIns="0" bIns="0" rtlCol="0" anchor="t"/>
          <a:lstStyle/>
          <a:p>
            <a:pPr indent="0" marL="0">
              <a:buNone/>
            </a:pPr>
            <a:r>
              <a:rPr lang="en-US" sz="1600" b="1" dirty="0">
                <a:solidFill>
                  <a:srgbClr val="15201A"/>
                </a:solidFill>
                <a:latin typeface="Schibsted Grotesk" pitchFamily="34" charset="0"/>
                <a:ea typeface="Schibsted Grotesk" pitchFamily="34" charset="-122"/>
                <a:cs typeface="Schibsted Grotesk" pitchFamily="34" charset="-120"/>
              </a:rPr>
              <a:t>Can a USC Grant include Food Support?</a:t>
            </a:r>
            <a:endParaRPr lang="en-US" sz="1600" dirty="0"/>
          </a:p>
        </p:txBody>
      </p:sp>
      <p:sp>
        <p:nvSpPr>
          <p:cNvPr id="20" name="Text 18"/>
          <p:cNvSpPr txBox="1"/>
          <p:nvPr/>
        </p:nvSpPr>
        <p:spPr>
          <a:xfrm>
            <a:off x="6210148" y="4133088"/>
            <a:ext cx="5295748" cy="713232"/>
          </a:xfrm>
          <a:prstGeom prst="rect">
            <a:avLst/>
          </a:prstGeom>
          <a:noFill/>
          <a:ln/>
        </p:spPr>
        <p:txBody>
          <a:bodyPr wrap="square" lIns="0" tIns="0" rIns="0" bIns="0" rtlCol="0" anchor="t"/>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Yes. Our team applies as enrolled undergraduates, and USC Grants allow a collaborative to include ineligible partners.</a:t>
            </a:r>
            <a:endParaRPr lang="en-US" sz="1400" dirty="0"/>
          </a:p>
        </p:txBody>
      </p:sp>
      <p:sp>
        <p:nvSpPr>
          <p:cNvPr id="21" name="Shape 19"/>
          <p:cNvSpPr/>
          <p:nvPr/>
        </p:nvSpPr>
        <p:spPr>
          <a:xfrm>
            <a:off x="685800" y="4837176"/>
            <a:ext cx="5295748" cy="0"/>
          </a:xfrm>
          <a:prstGeom prst="line">
            <a:avLst/>
          </a:prstGeom>
          <a:noFill/>
          <a:ln w="9525">
            <a:solidFill>
              <a:srgbClr val="D9D4C7"/>
            </a:solidFill>
            <a:prstDash val="solid"/>
          </a:ln>
        </p:spPr>
      </p:sp>
      <p:sp>
        <p:nvSpPr>
          <p:cNvPr id="22" name="Text 20"/>
          <p:cNvSpPr txBox="1"/>
          <p:nvPr/>
        </p:nvSpPr>
        <p:spPr>
          <a:xfrm>
            <a:off x="685800" y="4928616"/>
            <a:ext cx="5295748" cy="329184"/>
          </a:xfrm>
          <a:prstGeom prst="rect">
            <a:avLst/>
          </a:prstGeom>
          <a:noFill/>
          <a:ln/>
        </p:spPr>
        <p:txBody>
          <a:bodyPr wrap="square" lIns="0" tIns="0" rIns="0" bIns="0" rtlCol="0" anchor="t"/>
          <a:lstStyle/>
          <a:p>
            <a:pPr indent="0" marL="0">
              <a:buNone/>
            </a:pPr>
            <a:r>
              <a:rPr lang="en-US" sz="1600" b="1" dirty="0">
                <a:solidFill>
                  <a:srgbClr val="15201A"/>
                </a:solidFill>
                <a:latin typeface="Schibsted Grotesk" pitchFamily="34" charset="0"/>
                <a:ea typeface="Schibsted Grotesk" pitchFamily="34" charset="-122"/>
                <a:cs typeface="Schibsted Grotesk" pitchFamily="34" charset="-120"/>
              </a:rPr>
              <a:t>How do you know students will use it?</a:t>
            </a:r>
            <a:endParaRPr lang="en-US" sz="1600" dirty="0"/>
          </a:p>
        </p:txBody>
      </p:sp>
      <p:sp>
        <p:nvSpPr>
          <p:cNvPr id="23" name="Text 21"/>
          <p:cNvSpPr txBox="1"/>
          <p:nvPr/>
        </p:nvSpPr>
        <p:spPr>
          <a:xfrm>
            <a:off x="685800" y="5294376"/>
            <a:ext cx="5295748" cy="713232"/>
          </a:xfrm>
          <a:prstGeom prst="rect">
            <a:avLst/>
          </a:prstGeom>
          <a:noFill/>
          <a:ln/>
        </p:spPr>
        <p:txBody>
          <a:bodyPr wrap="square" lIns="0" tIns="0" rIns="0" bIns="0" rtlCol="0" anchor="t"/>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Comparable walk-up pantries are used heavily (VCU, Alberta). We have no Western data yet; the pilot measures it.</a:t>
            </a:r>
            <a:endParaRPr lang="en-US" sz="1400" dirty="0"/>
          </a:p>
        </p:txBody>
      </p:sp>
      <p:sp>
        <p:nvSpPr>
          <p:cNvPr id="24" name="Shape 22"/>
          <p:cNvSpPr/>
          <p:nvPr/>
        </p:nvSpPr>
        <p:spPr>
          <a:xfrm>
            <a:off x="6210148" y="4837176"/>
            <a:ext cx="5295748" cy="0"/>
          </a:xfrm>
          <a:prstGeom prst="line">
            <a:avLst/>
          </a:prstGeom>
          <a:noFill/>
          <a:ln w="9525">
            <a:solidFill>
              <a:srgbClr val="D9D4C7"/>
            </a:solidFill>
            <a:prstDash val="solid"/>
          </a:ln>
        </p:spPr>
      </p:sp>
      <p:sp>
        <p:nvSpPr>
          <p:cNvPr id="25" name="Text 23"/>
          <p:cNvSpPr txBox="1"/>
          <p:nvPr/>
        </p:nvSpPr>
        <p:spPr>
          <a:xfrm>
            <a:off x="6210148" y="4928616"/>
            <a:ext cx="5295748" cy="329184"/>
          </a:xfrm>
          <a:prstGeom prst="rect">
            <a:avLst/>
          </a:prstGeom>
          <a:noFill/>
          <a:ln/>
        </p:spPr>
        <p:txBody>
          <a:bodyPr wrap="square" lIns="0" tIns="0" rIns="0" bIns="0" rtlCol="0" anchor="t"/>
          <a:lstStyle/>
          <a:p>
            <a:pPr indent="0" marL="0">
              <a:buNone/>
            </a:pPr>
            <a:r>
              <a:rPr lang="en-US" sz="1600" b="1" dirty="0">
                <a:solidFill>
                  <a:srgbClr val="15201A"/>
                </a:solidFill>
                <a:latin typeface="Schibsted Grotesk" pitchFamily="34" charset="0"/>
                <a:ea typeface="Schibsted Grotesk" pitchFamily="34" charset="-122"/>
                <a:cs typeface="Schibsted Grotesk" pitchFamily="34" charset="-120"/>
              </a:rPr>
              <a:t>What happens after week 11?</a:t>
            </a:r>
            <a:endParaRPr lang="en-US" sz="1600" dirty="0"/>
          </a:p>
        </p:txBody>
      </p:sp>
      <p:sp>
        <p:nvSpPr>
          <p:cNvPr id="26" name="Text 24"/>
          <p:cNvSpPr txBox="1"/>
          <p:nvPr/>
        </p:nvSpPr>
        <p:spPr>
          <a:xfrm>
            <a:off x="6210148" y="5294376"/>
            <a:ext cx="5295748" cy="713232"/>
          </a:xfrm>
          <a:prstGeom prst="rect">
            <a:avLst/>
          </a:prstGeom>
          <a:noFill/>
          <a:ln/>
        </p:spPr>
        <p:txBody>
          <a:bodyPr wrap="square" lIns="0" tIns="0" rIns="0" bIns="0" rtlCol="0" anchor="t"/>
          <a:lstStyle/>
          <a:p>
            <a:pPr indent="0" marL="0">
              <a:buNone/>
            </a:pPr>
            <a:r>
              <a:rPr lang="en-US" sz="1400" dirty="0">
                <a:solidFill>
                  <a:srgbClr val="38433C"/>
                </a:solidFill>
                <a:latin typeface="Schibsted Grotesk" pitchFamily="34" charset="0"/>
                <a:ea typeface="Schibsted Grotesk" pitchFamily="34" charset="-122"/>
                <a:cs typeface="Schibsted Grotesk" pitchFamily="34" charset="-120"/>
              </a:rPr>
              <a:t>If four of five targets are met, add two shelves and hand daily running to Food Support. If not, stop and publish what we learned.</a:t>
            </a:r>
            <a:endParaRPr lang="en-US" sz="1400" dirty="0"/>
          </a:p>
        </p:txBody>
      </p:sp>
      <p:sp>
        <p:nvSpPr>
          <p:cNvPr id="25" name="Slide Number Placeholder 0"/>
          <p:cNvSpPr>
            <a:spLocks noGrp="1"/>
          </p:cNvSpPr>
          <p:nvPr>
            <p:ph type="sldNum" sz="quarter" idx="4294967295"/>
          </p:nvPr>
        </p:nvSpPr>
        <p:spPr>
          <a:xfrm>
            <a:off x="10774375" y="6455664"/>
            <a:ext cx="731520"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100">
                <a:solidFill>
                  <a:srgbClr val="68716A"/>
                </a:solidFill>
                <a:latin typeface="Schibsted Grotesk"/>
                <a:ea typeface="Schibsted Grotesk"/>
                <a:cs typeface="Schibsted Grotesk"/>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FoodLink">
  <a:themeElements>
    <a:clrScheme name="FoodLink">
      <a:dk1>
        <a:srgbClr val="15201A"/>
      </a:dk1>
      <a:lt1>
        <a:srgbClr val="FFFFFF"/>
      </a:lt1>
      <a:dk2>
        <a:srgbClr val="113425"/>
      </a:dk2>
      <a:lt2>
        <a:srgbClr val="F7F5EF"/>
      </a:lt2>
      <a:accent1>
        <a:srgbClr val="1D5E40"/>
      </a:accent1>
      <a:accent2>
        <a:srgbClr val="A97A2F"/>
      </a:accent2>
      <a:accent3>
        <a:srgbClr val="2E5F7A"/>
      </a:accent3>
      <a:accent4>
        <a:srgbClr val="9C3B2E"/>
      </a:accent4>
      <a:accent5>
        <a:srgbClr val="68716A"/>
      </a:accent5>
      <a:accent6>
        <a:srgbClr val="E1EAE1"/>
      </a:accent6>
      <a:hlink>
        <a:srgbClr val="1D5E40"/>
      </a:hlink>
      <a:folHlink>
        <a:srgbClr val="113425"/>
      </a:folHlink>
    </a:clrScheme>
    <a:fontScheme name="FoodLink">
      <a:majorFont>
        <a:latin typeface="Schibsted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chibsted Grotes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PBSN ASPIRE: FoodLink</dc:title>
  <dc:subject>PptxGenJS Presentation</dc:subject>
  <dc:creator>PBSN ASPIRE team</dc:creator>
  <cp:lastModifiedBy>PBSN ASPIRE team</cp:lastModifiedBy>
  <cp:revision>1</cp:revision>
  <dcterms:created xsi:type="dcterms:W3CDTF">2026-10-31T13:27:05Z</dcterms:created>
  <dcterms:modified xsi:type="dcterms:W3CDTF">2026-10-31T13:27:05Z</dcterms:modified>
</cp:coreProperties>
</file>