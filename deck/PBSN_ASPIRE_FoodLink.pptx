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[0:00–0:10] Good morning. We’re Xinge, Nuo, Zohra and Ahana, and this is FoodLink.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[0:10–0:30] Demand for USC Food Support more than doubled, but walk-in help is one basement room, 24 hours a week. FoodLink adds walk-up shelves, partner surplus and one app, and counts every restock. We ask for $2,500, two shelf spots and one Food Support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[0:30–0:52] In 2022–23 the USC handed out about 750 hampers all year. From September 2023 to mid-March 2024: more than 1,700, in about half the time. Demand rose 600% in 2023, and walk-ins closed that September. Nationally, 40% of students skipped meals because of cost in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[0:52–1:17] Walk-ins closed in September 2023, and in October 2024 the food bank went hamper-only, with six part-time staff replacing forty volunteers. Today the USC page lists walk-in hours again: one basement room, Monday to Thursday, ten to four. It still says requests reopen September 2025. Otherwise it’s an online form and at least 48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[1:17–1:42] Access: one basement room, Monday to Thursday, ten to four, and hampers that take at least 48 hours. Supply: the service runs entirely on donations, none of the 21 USC fee lines funds it, and special requests often go unmet. Information: five services with their own hours and rules, and a page that contradicts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[1:42–2:05] This shaped our design. In 2023 the USC said walk-ins made it incredibly difficult to get food out in an organized way. So FoodLink adds walk-up access with the controls walk-ins lacked: counted restocks, live stock, one-tap reports, and a food-safety checklist at every check-in.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[2:05–2:30] FoodLink has three parts. Points: two walk-up shelves of sealed, shelf-stable food and hygiene products, with no forms and no ID. Drops: campus partners post sealed surplus that students reserve with an anonymous code. And the app shows live stock, live drops and every other option. All three feed one dashboard the USC can audit, published weekly.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[2:30–2:50] Open FoodLink and see what is on each shelf and when it was last counted. Walk up and take what you need: no form, no name. If a shelf is empty, tap once; the volunteer on shift is told. Let me show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[2:50–4:05] LIVE DEMO, 75 seconds. Open the app’s Live demo page and press Reset demo first. Step 1: on the phone, a student reports the UCC canned protein empty, with no login. Step 2: the volunteer logs a restock; the phone updates and the dashboard records what was taken since the last check. Step 3: a café posts twelve sealed sandwiches; the app checks the food-safety rules before it goes live. Step 4: the student reserves one and gets an anonymous code. Step 5: switch the screen to USC dashboard; every number we just created is there, and the history behind it is simulated. If the network fails, narrate the five steps from this screenshot.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[4:05–4:30] We have no usage data of our own yet, so here is the closest evidence. Anonymous, unstaffed pantries at Virginia Commonwealth University saw 5,263 door openings in one school year, with little misuse. Alberta’s walk-up pantry ran out of a week’s stock in hours. At TMU, half of students are food insecure, but only one in five used the food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[4:30–4:58] We built the budget around the USC Grant rules. The fund doesn’t pay for equipment or ongoing costs, so we borrow the shelving and ask only for one-time pilot costs: $2,500, mostly food and hygiene stock. Our team adds a 10% match, which the committee prefers. At 1,000 items that is $2.50 an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[4:58–5:18] We will judge the pilot on five targets the app measures itself: 1,000 items taken, under five percent thrown away, empty shelves restocked within two hours, three surplus partners, and zero food-safety incidents. At week eleven we continue if four of the five are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[5:18–5:38] We apply in November and hear back in about twenty business days. By December 15 we confirm the second site and the shelving. We launch in weeks one and two, adjust in weeks seven and eight, survey in week ten, and decide in week eleven.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[5:38–6:05] Each risk has a control. Food safety: sealed, shelf-stable food on the shelves; perishables only through Drops, picked up within two hours. Emptied shelves: a posted guide and live counts. Volunteer drop-off: fifteen-minute check-ins with staff backup. If no second site is approved, we run the UCC alone and halve the target. If the grant is cut, we run one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[6:05–6:25] Strengths: it’s built, anonymous, measures itself and costs $2,500. Weaknesses: shelf-stable food only, reliance on volunteers, and no usage data of our own yet, which the pilot exists to produce. Opportunities: the Grant Fund, FoodRescue.ca and residences next. Threats: a safety incident, vandalism and burnout.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[6:25–7:00] Our ask is $2,500 from the USC Grant Fund for one-time pilot costs, a spot in the UCC plus one more building, and one Food Support contact for eleven weeks. FoodLink keeps the USC’s food bank and hampers and adds walk-up shelves in busy buildings, with the accountability the USC asked for, and the app is already built.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Use only if a judge asks where a number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Bases for each budget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Why not something simpler.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Short answers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13425"/>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685800" y="6382512"/>
            <a:ext cx="10820095" cy="0"/>
          </a:xfrm>
          <a:prstGeom prst="line">
            <a:avLst/>
          </a:prstGeom>
          <a:noFill/>
          <a:ln w="9525">
            <a:solidFill>
              <a:srgbClr val="D9D4C7"/>
            </a:solidFill>
            <a:prstDash val="solid"/>
          </a:ln>
        </p:spPr>
      </p:sp>
      <p:sp>
        <p:nvSpPr>
          <p:cNvPr id="3" name="Text 1"/>
          <p:cNvSpPr/>
          <p:nvPr/>
        </p:nvSpPr>
        <p:spPr>
          <a:xfrm>
            <a:off x="685800" y="6455664"/>
            <a:ext cx="1463040" cy="274320"/>
          </a:xfrm>
          <a:prstGeom prst="rect">
            <a:avLst/>
          </a:prstGeom>
          <a:noFill/>
          <a:ln/>
        </p:spPr>
        <p:txBody>
          <a:bodyPr wrap="square" lIns="0" tIns="0" rIns="0" bIns="0" rtlCol="0" anchor="ctr"/>
          <a:lstStyle/>
          <a:p>
            <a:pPr indent="0" marL="0">
              <a:buNone/>
            </a:pPr>
            <a:r>
              <a:rPr lang="en-US" sz="1200" dirty="0">
                <a:solidFill>
                  <a:srgbClr val="15201A"/>
                </a:solidFill>
                <a:latin typeface="Source Serif 4" pitchFamily="34" charset="0"/>
                <a:ea typeface="Source Serif 4" pitchFamily="34" charset="-122"/>
                <a:cs typeface="Source Serif 4" pitchFamily="34" charset="-120"/>
              </a:rPr>
              <a:t>FoodLink</a:t>
            </a:r>
            <a:endParaRPr lang="en-US" sz="1200" dirty="0"/>
          </a:p>
        </p:txBody>
      </p:sp>
      <p:sp>
        <p:nvSpPr>
          <p:cNvPr id="4" name="Text 2"/>
          <p:cNvSpPr/>
          <p:nvPr/>
        </p:nvSpPr>
        <p:spPr>
          <a:xfrm>
            <a:off x="3736696" y="6455664"/>
            <a:ext cx="1097280" cy="274320"/>
          </a:xfrm>
          <a:prstGeom prst="rect">
            <a:avLst/>
          </a:prstGeom>
          <a:noFill/>
          <a:ln/>
        </p:spPr>
        <p:txBody>
          <a:bodyPr wrap="square" lIns="0" tIns="0" rIns="0" bIns="0" rtlCol="0" anchor="ctr"/>
          <a:lstStyle/>
          <a:p>
            <a:pPr algn="ctr" indent="0" marL="0">
              <a:buNone/>
            </a:pPr>
            <a:r>
              <a:rPr lang="en-US" sz="1050" dirty="0">
                <a:solidFill>
                  <a:srgbClr val="6B746D"/>
                </a:solidFill>
                <a:latin typeface="Source Sans 3" pitchFamily="34" charset="0"/>
                <a:ea typeface="Source Sans 3" pitchFamily="34" charset="-122"/>
                <a:cs typeface="Source Sans 3" pitchFamily="34" charset="-120"/>
              </a:rPr>
              <a:t>Problem</a:t>
            </a:r>
            <a:endParaRPr lang="en-US" sz="1050" dirty="0"/>
          </a:p>
        </p:txBody>
      </p:sp>
      <p:sp>
        <p:nvSpPr>
          <p:cNvPr id="5" name="Text 3"/>
          <p:cNvSpPr/>
          <p:nvPr/>
        </p:nvSpPr>
        <p:spPr>
          <a:xfrm>
            <a:off x="4943704" y="6455664"/>
            <a:ext cx="1097280" cy="274320"/>
          </a:xfrm>
          <a:prstGeom prst="rect">
            <a:avLst/>
          </a:prstGeom>
          <a:noFill/>
          <a:ln/>
        </p:spPr>
        <p:txBody>
          <a:bodyPr wrap="square" lIns="0" tIns="0" rIns="0" bIns="0" rtlCol="0" anchor="ctr"/>
          <a:lstStyle/>
          <a:p>
            <a:pPr algn="ctr" indent="0" marL="0">
              <a:buNone/>
            </a:pPr>
            <a:r>
              <a:rPr lang="en-US" sz="1050" dirty="0">
                <a:solidFill>
                  <a:srgbClr val="6B746D"/>
                </a:solidFill>
                <a:latin typeface="Source Sans 3" pitchFamily="34" charset="0"/>
                <a:ea typeface="Source Sans 3" pitchFamily="34" charset="-122"/>
                <a:cs typeface="Source Sans 3" pitchFamily="34" charset="-120"/>
              </a:rPr>
              <a:t>Solution</a:t>
            </a:r>
            <a:endParaRPr lang="en-US" sz="1050" dirty="0"/>
          </a:p>
        </p:txBody>
      </p:sp>
      <p:sp>
        <p:nvSpPr>
          <p:cNvPr id="6" name="Text 4"/>
          <p:cNvSpPr/>
          <p:nvPr/>
        </p:nvSpPr>
        <p:spPr>
          <a:xfrm>
            <a:off x="6150712" y="6455664"/>
            <a:ext cx="1097280" cy="274320"/>
          </a:xfrm>
          <a:prstGeom prst="rect">
            <a:avLst/>
          </a:prstGeom>
          <a:noFill/>
          <a:ln/>
        </p:spPr>
        <p:txBody>
          <a:bodyPr wrap="square" lIns="0" tIns="0" rIns="0" bIns="0" rtlCol="0" anchor="ctr"/>
          <a:lstStyle/>
          <a:p>
            <a:pPr algn="ctr" indent="0" marL="0">
              <a:buNone/>
            </a:pPr>
            <a:r>
              <a:rPr lang="en-US" sz="1050" dirty="0">
                <a:solidFill>
                  <a:srgbClr val="6B746D"/>
                </a:solidFill>
                <a:latin typeface="Source Sans 3" pitchFamily="34" charset="0"/>
                <a:ea typeface="Source Sans 3" pitchFamily="34" charset="-122"/>
                <a:cs typeface="Source Sans 3" pitchFamily="34" charset="-120"/>
              </a:rPr>
              <a:t>Model</a:t>
            </a:r>
            <a:endParaRPr lang="en-US" sz="1050" dirty="0"/>
          </a:p>
        </p:txBody>
      </p:sp>
      <p:sp>
        <p:nvSpPr>
          <p:cNvPr id="7" name="Text 5"/>
          <p:cNvSpPr/>
          <p:nvPr/>
        </p:nvSpPr>
        <p:spPr>
          <a:xfrm>
            <a:off x="7357720" y="6455664"/>
            <a:ext cx="1097280" cy="274320"/>
          </a:xfrm>
          <a:prstGeom prst="rect">
            <a:avLst/>
          </a:prstGeom>
          <a:noFill/>
          <a:ln/>
        </p:spPr>
        <p:txBody>
          <a:bodyPr wrap="square" lIns="0" tIns="0" rIns="0" bIns="0" rtlCol="0" anchor="ctr"/>
          <a:lstStyle/>
          <a:p>
            <a:pPr algn="ctr" indent="0" marL="0">
              <a:buNone/>
            </a:pPr>
            <a:r>
              <a:rPr lang="en-US" sz="1050" dirty="0">
                <a:solidFill>
                  <a:srgbClr val="6B746D"/>
                </a:solidFill>
                <a:latin typeface="Source Sans 3" pitchFamily="34" charset="0"/>
                <a:ea typeface="Source Sans 3" pitchFamily="34" charset="-122"/>
                <a:cs typeface="Source Sans 3" pitchFamily="34" charset="-120"/>
              </a:rPr>
              <a:t>Execution</a:t>
            </a:r>
            <a:endParaRPr lang="en-US" sz="1050" dirty="0"/>
          </a:p>
        </p:txBody>
      </p:sp>
      <p:sp>
        <p:nvSpPr>
          <p:cNvPr id="8" name="Text 6"/>
          <p:cNvSpPr/>
          <p:nvPr>
            <p:ph idx="106" type="title" hasCustomPrompt="1"/>
          </p:nvPr>
        </p:nvSpPr>
        <p:spPr>
          <a:xfrm>
            <a:off x="685800" y="502920"/>
            <a:ext cx="9692640" cy="1143000"/>
          </a:xfrm>
          <a:prstGeom prst="rect">
            <a:avLst/>
          </a:prstGeom>
          <a:noFill/>
          <a:ln/>
        </p:spPr>
        <p:txBody>
          <a:bodyPr wrap="square" rtlCol="0"/>
          <a:lstStyle>
            <a:lvl1pPr algn="l" indent="0" marL="0">
              <a:lnSpc>
                <a:spcPct val="98000"/>
              </a:lnSpc>
              <a:buNone/>
              <a:defRPr lang="en-US" sz="3000" dirty="0">
                <a:solidFill>
                  <a:srgbClr val="15201A"/>
                </a:solidFill>
                <a:latin typeface="Source Serif 4" pitchFamily="34" charset="0"/>
                <a:ea typeface="Source Serif 4" pitchFamily="34" charset="-122"/>
                <a:cs typeface="Source Serif 4" pitchFamily="34" charset="-120"/>
              </a:defRPr>
            </a:lvl1pPr>
          </a:lstStyle>
          <a:p>
            <a:pPr algn="l" indent="0" marL="0">
              <a:lnSpc>
                <a:spcPct val="98000"/>
              </a:lnSpc>
              <a:buNone/>
            </a:pPr>
            <a:endParaRPr lang="en-US" sz="30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rgbClr val="6B746D"/>
                </a:solidFill>
                <a:latin typeface="Source Sans 3"/>
                <a:ea typeface="Source Sans 3"/>
                <a:cs typeface="Source Sans 3"/>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ROBLEM">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685800" y="6382512"/>
            <a:ext cx="10820095" cy="0"/>
          </a:xfrm>
          <a:prstGeom prst="line">
            <a:avLst/>
          </a:prstGeom>
          <a:noFill/>
          <a:ln w="9525">
            <a:solidFill>
              <a:srgbClr val="D9D4C7"/>
            </a:solidFill>
            <a:prstDash val="solid"/>
          </a:ln>
        </p:spPr>
      </p:sp>
      <p:sp>
        <p:nvSpPr>
          <p:cNvPr id="3" name="Text 1"/>
          <p:cNvSpPr/>
          <p:nvPr/>
        </p:nvSpPr>
        <p:spPr>
          <a:xfrm>
            <a:off x="685800" y="6455664"/>
            <a:ext cx="1463040" cy="274320"/>
          </a:xfrm>
          <a:prstGeom prst="rect">
            <a:avLst/>
          </a:prstGeom>
          <a:noFill/>
          <a:ln/>
        </p:spPr>
        <p:txBody>
          <a:bodyPr wrap="square" lIns="0" tIns="0" rIns="0" bIns="0" rtlCol="0" anchor="ctr"/>
          <a:lstStyle/>
          <a:p>
            <a:pPr indent="0" marL="0">
              <a:buNone/>
            </a:pPr>
            <a:r>
              <a:rPr lang="en-US" sz="1200" dirty="0">
                <a:solidFill>
                  <a:srgbClr val="15201A"/>
                </a:solidFill>
                <a:latin typeface="Source Serif 4" pitchFamily="34" charset="0"/>
                <a:ea typeface="Source Serif 4" pitchFamily="34" charset="-122"/>
                <a:cs typeface="Source Serif 4" pitchFamily="34" charset="-120"/>
              </a:rPr>
              <a:t>FoodLink</a:t>
            </a:r>
            <a:endParaRPr lang="en-US" sz="1200" dirty="0"/>
          </a:p>
        </p:txBody>
      </p:sp>
      <p:sp>
        <p:nvSpPr>
          <p:cNvPr id="4" name="Shape 2"/>
          <p:cNvSpPr/>
          <p:nvPr/>
        </p:nvSpPr>
        <p:spPr>
          <a:xfrm>
            <a:off x="3919576" y="6359652"/>
            <a:ext cx="731520" cy="45720"/>
          </a:xfrm>
          <a:prstGeom prst="rect">
            <a:avLst/>
          </a:prstGeom>
          <a:solidFill>
            <a:srgbClr val="A97A2F"/>
          </a:solidFill>
          <a:ln w="12700">
            <a:solidFill>
              <a:srgbClr val="A97A2F"/>
            </a:solidFill>
            <a:prstDash val="solid"/>
          </a:ln>
        </p:spPr>
      </p:sp>
      <p:sp>
        <p:nvSpPr>
          <p:cNvPr id="5" name="Text 3"/>
          <p:cNvSpPr/>
          <p:nvPr/>
        </p:nvSpPr>
        <p:spPr>
          <a:xfrm>
            <a:off x="3736696" y="6455664"/>
            <a:ext cx="1097280" cy="274320"/>
          </a:xfrm>
          <a:prstGeom prst="rect">
            <a:avLst/>
          </a:prstGeom>
          <a:noFill/>
          <a:ln/>
        </p:spPr>
        <p:txBody>
          <a:bodyPr wrap="square" lIns="0" tIns="0" rIns="0" bIns="0" rtlCol="0" anchor="ctr"/>
          <a:lstStyle/>
          <a:p>
            <a:pPr algn="ctr" indent="0" marL="0">
              <a:buNone/>
            </a:pPr>
            <a:r>
              <a:rPr lang="en-US" sz="1050" b="1" dirty="0">
                <a:solidFill>
                  <a:srgbClr val="15201A"/>
                </a:solidFill>
                <a:latin typeface="Source Sans 3" pitchFamily="34" charset="0"/>
                <a:ea typeface="Source Sans 3" pitchFamily="34" charset="-122"/>
                <a:cs typeface="Source Sans 3" pitchFamily="34" charset="-120"/>
              </a:rPr>
              <a:t>Problem</a:t>
            </a:r>
            <a:endParaRPr lang="en-US" sz="1050" dirty="0"/>
          </a:p>
        </p:txBody>
      </p:sp>
      <p:sp>
        <p:nvSpPr>
          <p:cNvPr id="6" name="Text 4"/>
          <p:cNvSpPr/>
          <p:nvPr/>
        </p:nvSpPr>
        <p:spPr>
          <a:xfrm>
            <a:off x="4943704" y="6455664"/>
            <a:ext cx="1097280" cy="274320"/>
          </a:xfrm>
          <a:prstGeom prst="rect">
            <a:avLst/>
          </a:prstGeom>
          <a:noFill/>
          <a:ln/>
        </p:spPr>
        <p:txBody>
          <a:bodyPr wrap="square" lIns="0" tIns="0" rIns="0" bIns="0" rtlCol="0" anchor="ctr"/>
          <a:lstStyle/>
          <a:p>
            <a:pPr algn="ctr" indent="0" marL="0">
              <a:buNone/>
            </a:pPr>
            <a:r>
              <a:rPr lang="en-US" sz="1050" dirty="0">
                <a:solidFill>
                  <a:srgbClr val="6B746D"/>
                </a:solidFill>
                <a:latin typeface="Source Sans 3" pitchFamily="34" charset="0"/>
                <a:ea typeface="Source Sans 3" pitchFamily="34" charset="-122"/>
                <a:cs typeface="Source Sans 3" pitchFamily="34" charset="-120"/>
              </a:rPr>
              <a:t>Solution</a:t>
            </a:r>
            <a:endParaRPr lang="en-US" sz="1050" dirty="0"/>
          </a:p>
        </p:txBody>
      </p:sp>
      <p:sp>
        <p:nvSpPr>
          <p:cNvPr id="7" name="Text 5"/>
          <p:cNvSpPr/>
          <p:nvPr/>
        </p:nvSpPr>
        <p:spPr>
          <a:xfrm>
            <a:off x="6150712" y="6455664"/>
            <a:ext cx="1097280" cy="274320"/>
          </a:xfrm>
          <a:prstGeom prst="rect">
            <a:avLst/>
          </a:prstGeom>
          <a:noFill/>
          <a:ln/>
        </p:spPr>
        <p:txBody>
          <a:bodyPr wrap="square" lIns="0" tIns="0" rIns="0" bIns="0" rtlCol="0" anchor="ctr"/>
          <a:lstStyle/>
          <a:p>
            <a:pPr algn="ctr" indent="0" marL="0">
              <a:buNone/>
            </a:pPr>
            <a:r>
              <a:rPr lang="en-US" sz="1050" dirty="0">
                <a:solidFill>
                  <a:srgbClr val="6B746D"/>
                </a:solidFill>
                <a:latin typeface="Source Sans 3" pitchFamily="34" charset="0"/>
                <a:ea typeface="Source Sans 3" pitchFamily="34" charset="-122"/>
                <a:cs typeface="Source Sans 3" pitchFamily="34" charset="-120"/>
              </a:rPr>
              <a:t>Model</a:t>
            </a:r>
            <a:endParaRPr lang="en-US" sz="1050" dirty="0"/>
          </a:p>
        </p:txBody>
      </p:sp>
      <p:sp>
        <p:nvSpPr>
          <p:cNvPr id="8" name="Text 6"/>
          <p:cNvSpPr/>
          <p:nvPr/>
        </p:nvSpPr>
        <p:spPr>
          <a:xfrm>
            <a:off x="7357720" y="6455664"/>
            <a:ext cx="1097280" cy="274320"/>
          </a:xfrm>
          <a:prstGeom prst="rect">
            <a:avLst/>
          </a:prstGeom>
          <a:noFill/>
          <a:ln/>
        </p:spPr>
        <p:txBody>
          <a:bodyPr wrap="square" lIns="0" tIns="0" rIns="0" bIns="0" rtlCol="0" anchor="ctr"/>
          <a:lstStyle/>
          <a:p>
            <a:pPr algn="ctr" indent="0" marL="0">
              <a:buNone/>
            </a:pPr>
            <a:r>
              <a:rPr lang="en-US" sz="1050" dirty="0">
                <a:solidFill>
                  <a:srgbClr val="6B746D"/>
                </a:solidFill>
                <a:latin typeface="Source Sans 3" pitchFamily="34" charset="0"/>
                <a:ea typeface="Source Sans 3" pitchFamily="34" charset="-122"/>
                <a:cs typeface="Source Sans 3" pitchFamily="34" charset="-120"/>
              </a:rPr>
              <a:t>Execution</a:t>
            </a:r>
            <a:endParaRPr lang="en-US" sz="1050" dirty="0"/>
          </a:p>
        </p:txBody>
      </p:sp>
      <p:sp>
        <p:nvSpPr>
          <p:cNvPr id="9" name="Text 7"/>
          <p:cNvSpPr/>
          <p:nvPr>
            <p:ph idx="107" type="title" hasCustomPrompt="1"/>
          </p:nvPr>
        </p:nvSpPr>
        <p:spPr>
          <a:xfrm>
            <a:off x="685800" y="502920"/>
            <a:ext cx="9692640" cy="1143000"/>
          </a:xfrm>
          <a:prstGeom prst="rect">
            <a:avLst/>
          </a:prstGeom>
          <a:noFill/>
          <a:ln/>
        </p:spPr>
        <p:txBody>
          <a:bodyPr wrap="square" rtlCol="0"/>
          <a:lstStyle>
            <a:lvl1pPr algn="l" indent="0" marL="0">
              <a:lnSpc>
                <a:spcPct val="98000"/>
              </a:lnSpc>
              <a:buNone/>
              <a:defRPr lang="en-US" sz="3000" dirty="0">
                <a:solidFill>
                  <a:srgbClr val="15201A"/>
                </a:solidFill>
                <a:latin typeface="Source Serif 4" pitchFamily="34" charset="0"/>
                <a:ea typeface="Source Serif 4" pitchFamily="34" charset="-122"/>
                <a:cs typeface="Source Serif 4" pitchFamily="34" charset="-120"/>
              </a:defRPr>
            </a:lvl1pPr>
          </a:lstStyle>
          <a:p>
            <a:pPr algn="l" indent="0" marL="0">
              <a:lnSpc>
                <a:spcPct val="98000"/>
              </a:lnSpc>
              <a:buNone/>
            </a:pPr>
            <a:endParaRPr lang="en-US" sz="30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rgbClr val="6B746D"/>
                </a:solidFill>
                <a:latin typeface="Source Sans 3"/>
                <a:ea typeface="Source Sans 3"/>
                <a:cs typeface="Source Sans 3"/>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OLUTION">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685800" y="6382512"/>
            <a:ext cx="10820095" cy="0"/>
          </a:xfrm>
          <a:prstGeom prst="line">
            <a:avLst/>
          </a:prstGeom>
          <a:noFill/>
          <a:ln w="9525">
            <a:solidFill>
              <a:srgbClr val="D9D4C7"/>
            </a:solidFill>
            <a:prstDash val="solid"/>
          </a:ln>
        </p:spPr>
      </p:sp>
      <p:sp>
        <p:nvSpPr>
          <p:cNvPr id="3" name="Text 1"/>
          <p:cNvSpPr/>
          <p:nvPr/>
        </p:nvSpPr>
        <p:spPr>
          <a:xfrm>
            <a:off x="685800" y="6455664"/>
            <a:ext cx="1463040" cy="274320"/>
          </a:xfrm>
          <a:prstGeom prst="rect">
            <a:avLst/>
          </a:prstGeom>
          <a:noFill/>
          <a:ln/>
        </p:spPr>
        <p:txBody>
          <a:bodyPr wrap="square" lIns="0" tIns="0" rIns="0" bIns="0" rtlCol="0" anchor="ctr"/>
          <a:lstStyle/>
          <a:p>
            <a:pPr indent="0" marL="0">
              <a:buNone/>
            </a:pPr>
            <a:r>
              <a:rPr lang="en-US" sz="1200" dirty="0">
                <a:solidFill>
                  <a:srgbClr val="15201A"/>
                </a:solidFill>
                <a:latin typeface="Source Serif 4" pitchFamily="34" charset="0"/>
                <a:ea typeface="Source Serif 4" pitchFamily="34" charset="-122"/>
                <a:cs typeface="Source Serif 4" pitchFamily="34" charset="-120"/>
              </a:rPr>
              <a:t>FoodLink</a:t>
            </a:r>
            <a:endParaRPr lang="en-US" sz="1200" dirty="0"/>
          </a:p>
        </p:txBody>
      </p:sp>
      <p:sp>
        <p:nvSpPr>
          <p:cNvPr id="4" name="Text 2"/>
          <p:cNvSpPr/>
          <p:nvPr/>
        </p:nvSpPr>
        <p:spPr>
          <a:xfrm>
            <a:off x="3736696" y="6455664"/>
            <a:ext cx="1097280" cy="274320"/>
          </a:xfrm>
          <a:prstGeom prst="rect">
            <a:avLst/>
          </a:prstGeom>
          <a:noFill/>
          <a:ln/>
        </p:spPr>
        <p:txBody>
          <a:bodyPr wrap="square" lIns="0" tIns="0" rIns="0" bIns="0" rtlCol="0" anchor="ctr"/>
          <a:lstStyle/>
          <a:p>
            <a:pPr algn="ctr" indent="0" marL="0">
              <a:buNone/>
            </a:pPr>
            <a:r>
              <a:rPr lang="en-US" sz="1050" dirty="0">
                <a:solidFill>
                  <a:srgbClr val="6B746D"/>
                </a:solidFill>
                <a:latin typeface="Source Sans 3" pitchFamily="34" charset="0"/>
                <a:ea typeface="Source Sans 3" pitchFamily="34" charset="-122"/>
                <a:cs typeface="Source Sans 3" pitchFamily="34" charset="-120"/>
              </a:rPr>
              <a:t>Problem</a:t>
            </a:r>
            <a:endParaRPr lang="en-US" sz="1050" dirty="0"/>
          </a:p>
        </p:txBody>
      </p:sp>
      <p:sp>
        <p:nvSpPr>
          <p:cNvPr id="5" name="Shape 3"/>
          <p:cNvSpPr/>
          <p:nvPr/>
        </p:nvSpPr>
        <p:spPr>
          <a:xfrm>
            <a:off x="5126584" y="6359652"/>
            <a:ext cx="731520" cy="45720"/>
          </a:xfrm>
          <a:prstGeom prst="rect">
            <a:avLst/>
          </a:prstGeom>
          <a:solidFill>
            <a:srgbClr val="A97A2F"/>
          </a:solidFill>
          <a:ln w="12700">
            <a:solidFill>
              <a:srgbClr val="A97A2F"/>
            </a:solidFill>
            <a:prstDash val="solid"/>
          </a:ln>
        </p:spPr>
      </p:sp>
      <p:sp>
        <p:nvSpPr>
          <p:cNvPr id="6" name="Text 4"/>
          <p:cNvSpPr/>
          <p:nvPr/>
        </p:nvSpPr>
        <p:spPr>
          <a:xfrm>
            <a:off x="4943704" y="6455664"/>
            <a:ext cx="1097280" cy="274320"/>
          </a:xfrm>
          <a:prstGeom prst="rect">
            <a:avLst/>
          </a:prstGeom>
          <a:noFill/>
          <a:ln/>
        </p:spPr>
        <p:txBody>
          <a:bodyPr wrap="square" lIns="0" tIns="0" rIns="0" bIns="0" rtlCol="0" anchor="ctr"/>
          <a:lstStyle/>
          <a:p>
            <a:pPr algn="ctr" indent="0" marL="0">
              <a:buNone/>
            </a:pPr>
            <a:r>
              <a:rPr lang="en-US" sz="1050" b="1" dirty="0">
                <a:solidFill>
                  <a:srgbClr val="15201A"/>
                </a:solidFill>
                <a:latin typeface="Source Sans 3" pitchFamily="34" charset="0"/>
                <a:ea typeface="Source Sans 3" pitchFamily="34" charset="-122"/>
                <a:cs typeface="Source Sans 3" pitchFamily="34" charset="-120"/>
              </a:rPr>
              <a:t>Solution</a:t>
            </a:r>
            <a:endParaRPr lang="en-US" sz="1050" dirty="0"/>
          </a:p>
        </p:txBody>
      </p:sp>
      <p:sp>
        <p:nvSpPr>
          <p:cNvPr id="7" name="Text 5"/>
          <p:cNvSpPr/>
          <p:nvPr/>
        </p:nvSpPr>
        <p:spPr>
          <a:xfrm>
            <a:off x="6150712" y="6455664"/>
            <a:ext cx="1097280" cy="274320"/>
          </a:xfrm>
          <a:prstGeom prst="rect">
            <a:avLst/>
          </a:prstGeom>
          <a:noFill/>
          <a:ln/>
        </p:spPr>
        <p:txBody>
          <a:bodyPr wrap="square" lIns="0" tIns="0" rIns="0" bIns="0" rtlCol="0" anchor="ctr"/>
          <a:lstStyle/>
          <a:p>
            <a:pPr algn="ctr" indent="0" marL="0">
              <a:buNone/>
            </a:pPr>
            <a:r>
              <a:rPr lang="en-US" sz="1050" dirty="0">
                <a:solidFill>
                  <a:srgbClr val="6B746D"/>
                </a:solidFill>
                <a:latin typeface="Source Sans 3" pitchFamily="34" charset="0"/>
                <a:ea typeface="Source Sans 3" pitchFamily="34" charset="-122"/>
                <a:cs typeface="Source Sans 3" pitchFamily="34" charset="-120"/>
              </a:rPr>
              <a:t>Model</a:t>
            </a:r>
            <a:endParaRPr lang="en-US" sz="1050" dirty="0"/>
          </a:p>
        </p:txBody>
      </p:sp>
      <p:sp>
        <p:nvSpPr>
          <p:cNvPr id="8" name="Text 6"/>
          <p:cNvSpPr/>
          <p:nvPr/>
        </p:nvSpPr>
        <p:spPr>
          <a:xfrm>
            <a:off x="7357720" y="6455664"/>
            <a:ext cx="1097280" cy="274320"/>
          </a:xfrm>
          <a:prstGeom prst="rect">
            <a:avLst/>
          </a:prstGeom>
          <a:noFill/>
          <a:ln/>
        </p:spPr>
        <p:txBody>
          <a:bodyPr wrap="square" lIns="0" tIns="0" rIns="0" bIns="0" rtlCol="0" anchor="ctr"/>
          <a:lstStyle/>
          <a:p>
            <a:pPr algn="ctr" indent="0" marL="0">
              <a:buNone/>
            </a:pPr>
            <a:r>
              <a:rPr lang="en-US" sz="1050" dirty="0">
                <a:solidFill>
                  <a:srgbClr val="6B746D"/>
                </a:solidFill>
                <a:latin typeface="Source Sans 3" pitchFamily="34" charset="0"/>
                <a:ea typeface="Source Sans 3" pitchFamily="34" charset="-122"/>
                <a:cs typeface="Source Sans 3" pitchFamily="34" charset="-120"/>
              </a:rPr>
              <a:t>Execution</a:t>
            </a:r>
            <a:endParaRPr lang="en-US" sz="1050" dirty="0"/>
          </a:p>
        </p:txBody>
      </p:sp>
      <p:sp>
        <p:nvSpPr>
          <p:cNvPr id="9" name="Text 7"/>
          <p:cNvSpPr/>
          <p:nvPr>
            <p:ph idx="107" type="title" hasCustomPrompt="1"/>
          </p:nvPr>
        </p:nvSpPr>
        <p:spPr>
          <a:xfrm>
            <a:off x="685800" y="502920"/>
            <a:ext cx="9692640" cy="1143000"/>
          </a:xfrm>
          <a:prstGeom prst="rect">
            <a:avLst/>
          </a:prstGeom>
          <a:noFill/>
          <a:ln/>
        </p:spPr>
        <p:txBody>
          <a:bodyPr wrap="square" rtlCol="0"/>
          <a:lstStyle>
            <a:lvl1pPr algn="l" indent="0" marL="0">
              <a:lnSpc>
                <a:spcPct val="98000"/>
              </a:lnSpc>
              <a:buNone/>
              <a:defRPr lang="en-US" sz="3000" dirty="0">
                <a:solidFill>
                  <a:srgbClr val="15201A"/>
                </a:solidFill>
                <a:latin typeface="Source Serif 4" pitchFamily="34" charset="0"/>
                <a:ea typeface="Source Serif 4" pitchFamily="34" charset="-122"/>
                <a:cs typeface="Source Serif 4" pitchFamily="34" charset="-120"/>
              </a:defRPr>
            </a:lvl1pPr>
          </a:lstStyle>
          <a:p>
            <a:pPr algn="l" indent="0" marL="0">
              <a:lnSpc>
                <a:spcPct val="98000"/>
              </a:lnSpc>
              <a:buNone/>
            </a:pPr>
            <a:endParaRPr lang="en-US" sz="30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rgbClr val="6B746D"/>
                </a:solidFill>
                <a:latin typeface="Source Sans 3"/>
                <a:ea typeface="Source Sans 3"/>
                <a:cs typeface="Source Sans 3"/>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MODEL">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685800" y="6382512"/>
            <a:ext cx="10820095" cy="0"/>
          </a:xfrm>
          <a:prstGeom prst="line">
            <a:avLst/>
          </a:prstGeom>
          <a:noFill/>
          <a:ln w="9525">
            <a:solidFill>
              <a:srgbClr val="D9D4C7"/>
            </a:solidFill>
            <a:prstDash val="solid"/>
          </a:ln>
        </p:spPr>
      </p:sp>
      <p:sp>
        <p:nvSpPr>
          <p:cNvPr id="3" name="Text 1"/>
          <p:cNvSpPr/>
          <p:nvPr/>
        </p:nvSpPr>
        <p:spPr>
          <a:xfrm>
            <a:off x="685800" y="6455664"/>
            <a:ext cx="1463040" cy="274320"/>
          </a:xfrm>
          <a:prstGeom prst="rect">
            <a:avLst/>
          </a:prstGeom>
          <a:noFill/>
          <a:ln/>
        </p:spPr>
        <p:txBody>
          <a:bodyPr wrap="square" lIns="0" tIns="0" rIns="0" bIns="0" rtlCol="0" anchor="ctr"/>
          <a:lstStyle/>
          <a:p>
            <a:pPr indent="0" marL="0">
              <a:buNone/>
            </a:pPr>
            <a:r>
              <a:rPr lang="en-US" sz="1200" dirty="0">
                <a:solidFill>
                  <a:srgbClr val="15201A"/>
                </a:solidFill>
                <a:latin typeface="Source Serif 4" pitchFamily="34" charset="0"/>
                <a:ea typeface="Source Serif 4" pitchFamily="34" charset="-122"/>
                <a:cs typeface="Source Serif 4" pitchFamily="34" charset="-120"/>
              </a:rPr>
              <a:t>FoodLink</a:t>
            </a:r>
            <a:endParaRPr lang="en-US" sz="1200" dirty="0"/>
          </a:p>
        </p:txBody>
      </p:sp>
      <p:sp>
        <p:nvSpPr>
          <p:cNvPr id="4" name="Text 2"/>
          <p:cNvSpPr/>
          <p:nvPr/>
        </p:nvSpPr>
        <p:spPr>
          <a:xfrm>
            <a:off x="3736696" y="6455664"/>
            <a:ext cx="1097280" cy="274320"/>
          </a:xfrm>
          <a:prstGeom prst="rect">
            <a:avLst/>
          </a:prstGeom>
          <a:noFill/>
          <a:ln/>
        </p:spPr>
        <p:txBody>
          <a:bodyPr wrap="square" lIns="0" tIns="0" rIns="0" bIns="0" rtlCol="0" anchor="ctr"/>
          <a:lstStyle/>
          <a:p>
            <a:pPr algn="ctr" indent="0" marL="0">
              <a:buNone/>
            </a:pPr>
            <a:r>
              <a:rPr lang="en-US" sz="1050" dirty="0">
                <a:solidFill>
                  <a:srgbClr val="6B746D"/>
                </a:solidFill>
                <a:latin typeface="Source Sans 3" pitchFamily="34" charset="0"/>
                <a:ea typeface="Source Sans 3" pitchFamily="34" charset="-122"/>
                <a:cs typeface="Source Sans 3" pitchFamily="34" charset="-120"/>
              </a:rPr>
              <a:t>Problem</a:t>
            </a:r>
            <a:endParaRPr lang="en-US" sz="1050" dirty="0"/>
          </a:p>
        </p:txBody>
      </p:sp>
      <p:sp>
        <p:nvSpPr>
          <p:cNvPr id="5" name="Text 3"/>
          <p:cNvSpPr/>
          <p:nvPr/>
        </p:nvSpPr>
        <p:spPr>
          <a:xfrm>
            <a:off x="4943704" y="6455664"/>
            <a:ext cx="1097280" cy="274320"/>
          </a:xfrm>
          <a:prstGeom prst="rect">
            <a:avLst/>
          </a:prstGeom>
          <a:noFill/>
          <a:ln/>
        </p:spPr>
        <p:txBody>
          <a:bodyPr wrap="square" lIns="0" tIns="0" rIns="0" bIns="0" rtlCol="0" anchor="ctr"/>
          <a:lstStyle/>
          <a:p>
            <a:pPr algn="ctr" indent="0" marL="0">
              <a:buNone/>
            </a:pPr>
            <a:r>
              <a:rPr lang="en-US" sz="1050" dirty="0">
                <a:solidFill>
                  <a:srgbClr val="6B746D"/>
                </a:solidFill>
                <a:latin typeface="Source Sans 3" pitchFamily="34" charset="0"/>
                <a:ea typeface="Source Sans 3" pitchFamily="34" charset="-122"/>
                <a:cs typeface="Source Sans 3" pitchFamily="34" charset="-120"/>
              </a:rPr>
              <a:t>Solution</a:t>
            </a:r>
            <a:endParaRPr lang="en-US" sz="1050" dirty="0"/>
          </a:p>
        </p:txBody>
      </p:sp>
      <p:sp>
        <p:nvSpPr>
          <p:cNvPr id="6" name="Shape 4"/>
          <p:cNvSpPr/>
          <p:nvPr/>
        </p:nvSpPr>
        <p:spPr>
          <a:xfrm>
            <a:off x="6333592" y="6359652"/>
            <a:ext cx="731520" cy="45720"/>
          </a:xfrm>
          <a:prstGeom prst="rect">
            <a:avLst/>
          </a:prstGeom>
          <a:solidFill>
            <a:srgbClr val="A97A2F"/>
          </a:solidFill>
          <a:ln w="12700">
            <a:solidFill>
              <a:srgbClr val="A97A2F"/>
            </a:solidFill>
            <a:prstDash val="solid"/>
          </a:ln>
        </p:spPr>
      </p:sp>
      <p:sp>
        <p:nvSpPr>
          <p:cNvPr id="7" name="Text 5"/>
          <p:cNvSpPr/>
          <p:nvPr/>
        </p:nvSpPr>
        <p:spPr>
          <a:xfrm>
            <a:off x="6150712" y="6455664"/>
            <a:ext cx="1097280" cy="274320"/>
          </a:xfrm>
          <a:prstGeom prst="rect">
            <a:avLst/>
          </a:prstGeom>
          <a:noFill/>
          <a:ln/>
        </p:spPr>
        <p:txBody>
          <a:bodyPr wrap="square" lIns="0" tIns="0" rIns="0" bIns="0" rtlCol="0" anchor="ctr"/>
          <a:lstStyle/>
          <a:p>
            <a:pPr algn="ctr" indent="0" marL="0">
              <a:buNone/>
            </a:pPr>
            <a:r>
              <a:rPr lang="en-US" sz="1050" b="1" dirty="0">
                <a:solidFill>
                  <a:srgbClr val="15201A"/>
                </a:solidFill>
                <a:latin typeface="Source Sans 3" pitchFamily="34" charset="0"/>
                <a:ea typeface="Source Sans 3" pitchFamily="34" charset="-122"/>
                <a:cs typeface="Source Sans 3" pitchFamily="34" charset="-120"/>
              </a:rPr>
              <a:t>Model</a:t>
            </a:r>
            <a:endParaRPr lang="en-US" sz="1050" dirty="0"/>
          </a:p>
        </p:txBody>
      </p:sp>
      <p:sp>
        <p:nvSpPr>
          <p:cNvPr id="8" name="Text 6"/>
          <p:cNvSpPr/>
          <p:nvPr/>
        </p:nvSpPr>
        <p:spPr>
          <a:xfrm>
            <a:off x="7357720" y="6455664"/>
            <a:ext cx="1097280" cy="274320"/>
          </a:xfrm>
          <a:prstGeom prst="rect">
            <a:avLst/>
          </a:prstGeom>
          <a:noFill/>
          <a:ln/>
        </p:spPr>
        <p:txBody>
          <a:bodyPr wrap="square" lIns="0" tIns="0" rIns="0" bIns="0" rtlCol="0" anchor="ctr"/>
          <a:lstStyle/>
          <a:p>
            <a:pPr algn="ctr" indent="0" marL="0">
              <a:buNone/>
            </a:pPr>
            <a:r>
              <a:rPr lang="en-US" sz="1050" dirty="0">
                <a:solidFill>
                  <a:srgbClr val="6B746D"/>
                </a:solidFill>
                <a:latin typeface="Source Sans 3" pitchFamily="34" charset="0"/>
                <a:ea typeface="Source Sans 3" pitchFamily="34" charset="-122"/>
                <a:cs typeface="Source Sans 3" pitchFamily="34" charset="-120"/>
              </a:rPr>
              <a:t>Execution</a:t>
            </a:r>
            <a:endParaRPr lang="en-US" sz="1050" dirty="0"/>
          </a:p>
        </p:txBody>
      </p:sp>
      <p:sp>
        <p:nvSpPr>
          <p:cNvPr id="9" name="Text 7"/>
          <p:cNvSpPr/>
          <p:nvPr>
            <p:ph idx="107" type="title" hasCustomPrompt="1"/>
          </p:nvPr>
        </p:nvSpPr>
        <p:spPr>
          <a:xfrm>
            <a:off x="685800" y="502920"/>
            <a:ext cx="9692640" cy="1143000"/>
          </a:xfrm>
          <a:prstGeom prst="rect">
            <a:avLst/>
          </a:prstGeom>
          <a:noFill/>
          <a:ln/>
        </p:spPr>
        <p:txBody>
          <a:bodyPr wrap="square" rtlCol="0"/>
          <a:lstStyle>
            <a:lvl1pPr algn="l" indent="0" marL="0">
              <a:lnSpc>
                <a:spcPct val="98000"/>
              </a:lnSpc>
              <a:buNone/>
              <a:defRPr lang="en-US" sz="3000" dirty="0">
                <a:solidFill>
                  <a:srgbClr val="15201A"/>
                </a:solidFill>
                <a:latin typeface="Source Serif 4" pitchFamily="34" charset="0"/>
                <a:ea typeface="Source Serif 4" pitchFamily="34" charset="-122"/>
                <a:cs typeface="Source Serif 4" pitchFamily="34" charset="-120"/>
              </a:defRPr>
            </a:lvl1pPr>
          </a:lstStyle>
          <a:p>
            <a:pPr algn="l" indent="0" marL="0">
              <a:lnSpc>
                <a:spcPct val="98000"/>
              </a:lnSpc>
              <a:buNone/>
            </a:pPr>
            <a:endParaRPr lang="en-US" sz="30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rgbClr val="6B746D"/>
                </a:solidFill>
                <a:latin typeface="Source Sans 3"/>
                <a:ea typeface="Source Sans 3"/>
                <a:cs typeface="Source Sans 3"/>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EXECUTION">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685800" y="6382512"/>
            <a:ext cx="10820095" cy="0"/>
          </a:xfrm>
          <a:prstGeom prst="line">
            <a:avLst/>
          </a:prstGeom>
          <a:noFill/>
          <a:ln w="9525">
            <a:solidFill>
              <a:srgbClr val="D9D4C7"/>
            </a:solidFill>
            <a:prstDash val="solid"/>
          </a:ln>
        </p:spPr>
      </p:sp>
      <p:sp>
        <p:nvSpPr>
          <p:cNvPr id="3" name="Text 1"/>
          <p:cNvSpPr/>
          <p:nvPr/>
        </p:nvSpPr>
        <p:spPr>
          <a:xfrm>
            <a:off x="685800" y="6455664"/>
            <a:ext cx="1463040" cy="274320"/>
          </a:xfrm>
          <a:prstGeom prst="rect">
            <a:avLst/>
          </a:prstGeom>
          <a:noFill/>
          <a:ln/>
        </p:spPr>
        <p:txBody>
          <a:bodyPr wrap="square" lIns="0" tIns="0" rIns="0" bIns="0" rtlCol="0" anchor="ctr"/>
          <a:lstStyle/>
          <a:p>
            <a:pPr indent="0" marL="0">
              <a:buNone/>
            </a:pPr>
            <a:r>
              <a:rPr lang="en-US" sz="1200" dirty="0">
                <a:solidFill>
                  <a:srgbClr val="15201A"/>
                </a:solidFill>
                <a:latin typeface="Source Serif 4" pitchFamily="34" charset="0"/>
                <a:ea typeface="Source Serif 4" pitchFamily="34" charset="-122"/>
                <a:cs typeface="Source Serif 4" pitchFamily="34" charset="-120"/>
              </a:rPr>
              <a:t>FoodLink</a:t>
            </a:r>
            <a:endParaRPr lang="en-US" sz="1200" dirty="0"/>
          </a:p>
        </p:txBody>
      </p:sp>
      <p:sp>
        <p:nvSpPr>
          <p:cNvPr id="4" name="Text 2"/>
          <p:cNvSpPr/>
          <p:nvPr/>
        </p:nvSpPr>
        <p:spPr>
          <a:xfrm>
            <a:off x="3736696" y="6455664"/>
            <a:ext cx="1097280" cy="274320"/>
          </a:xfrm>
          <a:prstGeom prst="rect">
            <a:avLst/>
          </a:prstGeom>
          <a:noFill/>
          <a:ln/>
        </p:spPr>
        <p:txBody>
          <a:bodyPr wrap="square" lIns="0" tIns="0" rIns="0" bIns="0" rtlCol="0" anchor="ctr"/>
          <a:lstStyle/>
          <a:p>
            <a:pPr algn="ctr" indent="0" marL="0">
              <a:buNone/>
            </a:pPr>
            <a:r>
              <a:rPr lang="en-US" sz="1050" dirty="0">
                <a:solidFill>
                  <a:srgbClr val="6B746D"/>
                </a:solidFill>
                <a:latin typeface="Source Sans 3" pitchFamily="34" charset="0"/>
                <a:ea typeface="Source Sans 3" pitchFamily="34" charset="-122"/>
                <a:cs typeface="Source Sans 3" pitchFamily="34" charset="-120"/>
              </a:rPr>
              <a:t>Problem</a:t>
            </a:r>
            <a:endParaRPr lang="en-US" sz="1050" dirty="0"/>
          </a:p>
        </p:txBody>
      </p:sp>
      <p:sp>
        <p:nvSpPr>
          <p:cNvPr id="5" name="Text 3"/>
          <p:cNvSpPr/>
          <p:nvPr/>
        </p:nvSpPr>
        <p:spPr>
          <a:xfrm>
            <a:off x="4943704" y="6455664"/>
            <a:ext cx="1097280" cy="274320"/>
          </a:xfrm>
          <a:prstGeom prst="rect">
            <a:avLst/>
          </a:prstGeom>
          <a:noFill/>
          <a:ln/>
        </p:spPr>
        <p:txBody>
          <a:bodyPr wrap="square" lIns="0" tIns="0" rIns="0" bIns="0" rtlCol="0" anchor="ctr"/>
          <a:lstStyle/>
          <a:p>
            <a:pPr algn="ctr" indent="0" marL="0">
              <a:buNone/>
            </a:pPr>
            <a:r>
              <a:rPr lang="en-US" sz="1050" dirty="0">
                <a:solidFill>
                  <a:srgbClr val="6B746D"/>
                </a:solidFill>
                <a:latin typeface="Source Sans 3" pitchFamily="34" charset="0"/>
                <a:ea typeface="Source Sans 3" pitchFamily="34" charset="-122"/>
                <a:cs typeface="Source Sans 3" pitchFamily="34" charset="-120"/>
              </a:rPr>
              <a:t>Solution</a:t>
            </a:r>
            <a:endParaRPr lang="en-US" sz="1050" dirty="0"/>
          </a:p>
        </p:txBody>
      </p:sp>
      <p:sp>
        <p:nvSpPr>
          <p:cNvPr id="6" name="Text 4"/>
          <p:cNvSpPr/>
          <p:nvPr/>
        </p:nvSpPr>
        <p:spPr>
          <a:xfrm>
            <a:off x="6150712" y="6455664"/>
            <a:ext cx="1097280" cy="274320"/>
          </a:xfrm>
          <a:prstGeom prst="rect">
            <a:avLst/>
          </a:prstGeom>
          <a:noFill/>
          <a:ln/>
        </p:spPr>
        <p:txBody>
          <a:bodyPr wrap="square" lIns="0" tIns="0" rIns="0" bIns="0" rtlCol="0" anchor="ctr"/>
          <a:lstStyle/>
          <a:p>
            <a:pPr algn="ctr" indent="0" marL="0">
              <a:buNone/>
            </a:pPr>
            <a:r>
              <a:rPr lang="en-US" sz="1050" dirty="0">
                <a:solidFill>
                  <a:srgbClr val="6B746D"/>
                </a:solidFill>
                <a:latin typeface="Source Sans 3" pitchFamily="34" charset="0"/>
                <a:ea typeface="Source Sans 3" pitchFamily="34" charset="-122"/>
                <a:cs typeface="Source Sans 3" pitchFamily="34" charset="-120"/>
              </a:rPr>
              <a:t>Model</a:t>
            </a:r>
            <a:endParaRPr lang="en-US" sz="1050" dirty="0"/>
          </a:p>
        </p:txBody>
      </p:sp>
      <p:sp>
        <p:nvSpPr>
          <p:cNvPr id="7" name="Shape 5"/>
          <p:cNvSpPr/>
          <p:nvPr/>
        </p:nvSpPr>
        <p:spPr>
          <a:xfrm>
            <a:off x="7540600" y="6359652"/>
            <a:ext cx="731520" cy="45720"/>
          </a:xfrm>
          <a:prstGeom prst="rect">
            <a:avLst/>
          </a:prstGeom>
          <a:solidFill>
            <a:srgbClr val="A97A2F"/>
          </a:solidFill>
          <a:ln w="12700">
            <a:solidFill>
              <a:srgbClr val="A97A2F"/>
            </a:solidFill>
            <a:prstDash val="solid"/>
          </a:ln>
        </p:spPr>
      </p:sp>
      <p:sp>
        <p:nvSpPr>
          <p:cNvPr id="8" name="Text 6"/>
          <p:cNvSpPr/>
          <p:nvPr/>
        </p:nvSpPr>
        <p:spPr>
          <a:xfrm>
            <a:off x="7357720" y="6455664"/>
            <a:ext cx="1097280" cy="274320"/>
          </a:xfrm>
          <a:prstGeom prst="rect">
            <a:avLst/>
          </a:prstGeom>
          <a:noFill/>
          <a:ln/>
        </p:spPr>
        <p:txBody>
          <a:bodyPr wrap="square" lIns="0" tIns="0" rIns="0" bIns="0" rtlCol="0" anchor="ctr"/>
          <a:lstStyle/>
          <a:p>
            <a:pPr algn="ctr" indent="0" marL="0">
              <a:buNone/>
            </a:pPr>
            <a:r>
              <a:rPr lang="en-US" sz="1050" b="1" dirty="0">
                <a:solidFill>
                  <a:srgbClr val="15201A"/>
                </a:solidFill>
                <a:latin typeface="Source Sans 3" pitchFamily="34" charset="0"/>
                <a:ea typeface="Source Sans 3" pitchFamily="34" charset="-122"/>
                <a:cs typeface="Source Sans 3" pitchFamily="34" charset="-120"/>
              </a:rPr>
              <a:t>Execution</a:t>
            </a:r>
            <a:endParaRPr lang="en-US" sz="1050" dirty="0"/>
          </a:p>
        </p:txBody>
      </p:sp>
      <p:sp>
        <p:nvSpPr>
          <p:cNvPr id="9" name="Text 7"/>
          <p:cNvSpPr/>
          <p:nvPr>
            <p:ph idx="107" type="title" hasCustomPrompt="1"/>
          </p:nvPr>
        </p:nvSpPr>
        <p:spPr>
          <a:xfrm>
            <a:off x="685800" y="502920"/>
            <a:ext cx="9692640" cy="1143000"/>
          </a:xfrm>
          <a:prstGeom prst="rect">
            <a:avLst/>
          </a:prstGeom>
          <a:noFill/>
          <a:ln/>
        </p:spPr>
        <p:txBody>
          <a:bodyPr wrap="square" rtlCol="0"/>
          <a:lstStyle>
            <a:lvl1pPr algn="l" indent="0" marL="0">
              <a:lnSpc>
                <a:spcPct val="98000"/>
              </a:lnSpc>
              <a:buNone/>
              <a:defRPr lang="en-US" sz="3000" dirty="0">
                <a:solidFill>
                  <a:srgbClr val="15201A"/>
                </a:solidFill>
                <a:latin typeface="Source Serif 4" pitchFamily="34" charset="0"/>
                <a:ea typeface="Source Serif 4" pitchFamily="34" charset="-122"/>
                <a:cs typeface="Source Serif 4" pitchFamily="34" charset="-120"/>
              </a:defRPr>
            </a:lvl1pPr>
          </a:lstStyle>
          <a:p>
            <a:pPr algn="l" indent="0" marL="0">
              <a:lnSpc>
                <a:spcPct val="98000"/>
              </a:lnSpc>
              <a:buNone/>
            </a:pPr>
            <a:endParaRPr lang="en-US" sz="30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rgbClr val="6B746D"/>
                </a:solidFill>
                <a:latin typeface="Source Sans 3"/>
                <a:ea typeface="Source Sans 3"/>
                <a:cs typeface="Source Sans 3"/>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LOSE">
    <p:bg>
      <p:bgPr>
        <a:solidFill>
          <a:srgbClr val="113425"/>
        </a:solidFill>
      </p:bgPr>
    </p:bg>
    <p:spTree>
      <p:nvGrpSpPr>
        <p:cNvPr id="1" name=""/>
        <p:cNvGrpSpPr/>
        <p:nvPr/>
      </p:nvGrpSpPr>
      <p:grpSpPr>
        <a:xfrm>
          <a:off x="0" y="0"/>
          <a:ext cx="0" cy="0"/>
          <a:chOff x="0" y="0"/>
          <a:chExt cx="0" cy="0"/>
        </a:xfrm>
      </p:grpSpPr>
      <p:sp>
        <p:nvSpPr>
          <p:cNvPr id="2" name="Shape 0"/>
          <p:cNvSpPr/>
          <p:nvPr/>
        </p:nvSpPr>
        <p:spPr>
          <a:xfrm>
            <a:off x="685800" y="6382512"/>
            <a:ext cx="10820095" cy="0"/>
          </a:xfrm>
          <a:prstGeom prst="line">
            <a:avLst/>
          </a:prstGeom>
          <a:noFill/>
          <a:ln w="9525">
            <a:solidFill>
              <a:srgbClr val="2F5444"/>
            </a:solidFill>
            <a:prstDash val="solid"/>
          </a:ln>
        </p:spPr>
      </p:sp>
      <p:sp>
        <p:nvSpPr>
          <p:cNvPr id="3" name="Text 1"/>
          <p:cNvSpPr/>
          <p:nvPr/>
        </p:nvSpPr>
        <p:spPr>
          <a:xfrm>
            <a:off x="685800" y="6455664"/>
            <a:ext cx="1463040" cy="274320"/>
          </a:xfrm>
          <a:prstGeom prst="rect">
            <a:avLst/>
          </a:prstGeom>
          <a:noFill/>
          <a:ln/>
        </p:spPr>
        <p:txBody>
          <a:bodyPr wrap="square" lIns="0" tIns="0" rIns="0" bIns="0" rtlCol="0" anchor="ctr"/>
          <a:lstStyle/>
          <a:p>
            <a:pPr indent="0" marL="0">
              <a:buNone/>
            </a:pPr>
            <a:r>
              <a:rPr lang="en-US" sz="1200" dirty="0">
                <a:solidFill>
                  <a:srgbClr val="F7F5EF"/>
                </a:solidFill>
                <a:latin typeface="Source Serif 4" pitchFamily="34" charset="0"/>
                <a:ea typeface="Source Serif 4" pitchFamily="34" charset="-122"/>
                <a:cs typeface="Source Serif 4" pitchFamily="34" charset="-120"/>
              </a:rPr>
              <a:t>FoodLink</a:t>
            </a:r>
            <a:endParaRPr lang="en-US" sz="1200" dirty="0"/>
          </a:p>
        </p:txBody>
      </p:sp>
      <p:sp>
        <p:nvSpPr>
          <p:cNvPr id="4" name="Text 2"/>
          <p:cNvSpPr/>
          <p:nvPr/>
        </p:nvSpPr>
        <p:spPr>
          <a:xfrm>
            <a:off x="3736696" y="6455664"/>
            <a:ext cx="1097280" cy="274320"/>
          </a:xfrm>
          <a:prstGeom prst="rect">
            <a:avLst/>
          </a:prstGeom>
          <a:noFill/>
          <a:ln/>
        </p:spPr>
        <p:txBody>
          <a:bodyPr wrap="square" lIns="0" tIns="0" rIns="0" bIns="0" rtlCol="0" anchor="ctr"/>
          <a:lstStyle/>
          <a:p>
            <a:pPr algn="ctr" indent="0" marL="0">
              <a:buNone/>
            </a:pPr>
            <a:r>
              <a:rPr lang="en-US" sz="1050" dirty="0">
                <a:solidFill>
                  <a:srgbClr val="93AE9C"/>
                </a:solidFill>
                <a:latin typeface="Source Sans 3" pitchFamily="34" charset="0"/>
                <a:ea typeface="Source Sans 3" pitchFamily="34" charset="-122"/>
                <a:cs typeface="Source Sans 3" pitchFamily="34" charset="-120"/>
              </a:rPr>
              <a:t>Problem</a:t>
            </a:r>
            <a:endParaRPr lang="en-US" sz="1050" dirty="0"/>
          </a:p>
        </p:txBody>
      </p:sp>
      <p:sp>
        <p:nvSpPr>
          <p:cNvPr id="5" name="Text 3"/>
          <p:cNvSpPr/>
          <p:nvPr/>
        </p:nvSpPr>
        <p:spPr>
          <a:xfrm>
            <a:off x="4943704" y="6455664"/>
            <a:ext cx="1097280" cy="274320"/>
          </a:xfrm>
          <a:prstGeom prst="rect">
            <a:avLst/>
          </a:prstGeom>
          <a:noFill/>
          <a:ln/>
        </p:spPr>
        <p:txBody>
          <a:bodyPr wrap="square" lIns="0" tIns="0" rIns="0" bIns="0" rtlCol="0" anchor="ctr"/>
          <a:lstStyle/>
          <a:p>
            <a:pPr algn="ctr" indent="0" marL="0">
              <a:buNone/>
            </a:pPr>
            <a:r>
              <a:rPr lang="en-US" sz="1050" dirty="0">
                <a:solidFill>
                  <a:srgbClr val="93AE9C"/>
                </a:solidFill>
                <a:latin typeface="Source Sans 3" pitchFamily="34" charset="0"/>
                <a:ea typeface="Source Sans 3" pitchFamily="34" charset="-122"/>
                <a:cs typeface="Source Sans 3" pitchFamily="34" charset="-120"/>
              </a:rPr>
              <a:t>Solution</a:t>
            </a:r>
            <a:endParaRPr lang="en-US" sz="1050" dirty="0"/>
          </a:p>
        </p:txBody>
      </p:sp>
      <p:sp>
        <p:nvSpPr>
          <p:cNvPr id="6" name="Text 4"/>
          <p:cNvSpPr/>
          <p:nvPr/>
        </p:nvSpPr>
        <p:spPr>
          <a:xfrm>
            <a:off x="6150712" y="6455664"/>
            <a:ext cx="1097280" cy="274320"/>
          </a:xfrm>
          <a:prstGeom prst="rect">
            <a:avLst/>
          </a:prstGeom>
          <a:noFill/>
          <a:ln/>
        </p:spPr>
        <p:txBody>
          <a:bodyPr wrap="square" lIns="0" tIns="0" rIns="0" bIns="0" rtlCol="0" anchor="ctr"/>
          <a:lstStyle/>
          <a:p>
            <a:pPr algn="ctr" indent="0" marL="0">
              <a:buNone/>
            </a:pPr>
            <a:r>
              <a:rPr lang="en-US" sz="1050" dirty="0">
                <a:solidFill>
                  <a:srgbClr val="93AE9C"/>
                </a:solidFill>
                <a:latin typeface="Source Sans 3" pitchFamily="34" charset="0"/>
                <a:ea typeface="Source Sans 3" pitchFamily="34" charset="-122"/>
                <a:cs typeface="Source Sans 3" pitchFamily="34" charset="-120"/>
              </a:rPr>
              <a:t>Model</a:t>
            </a:r>
            <a:endParaRPr lang="en-US" sz="1050" dirty="0"/>
          </a:p>
        </p:txBody>
      </p:sp>
      <p:sp>
        <p:nvSpPr>
          <p:cNvPr id="7" name="Text 5"/>
          <p:cNvSpPr/>
          <p:nvPr/>
        </p:nvSpPr>
        <p:spPr>
          <a:xfrm>
            <a:off x="7357720" y="6455664"/>
            <a:ext cx="1097280" cy="274320"/>
          </a:xfrm>
          <a:prstGeom prst="rect">
            <a:avLst/>
          </a:prstGeom>
          <a:noFill/>
          <a:ln/>
        </p:spPr>
        <p:txBody>
          <a:bodyPr wrap="square" lIns="0" tIns="0" rIns="0" bIns="0" rtlCol="0" anchor="ctr"/>
          <a:lstStyle/>
          <a:p>
            <a:pPr algn="ctr" indent="0" marL="0">
              <a:buNone/>
            </a:pPr>
            <a:r>
              <a:rPr lang="en-US" sz="1050" dirty="0">
                <a:solidFill>
                  <a:srgbClr val="93AE9C"/>
                </a:solidFill>
                <a:latin typeface="Source Sans 3" pitchFamily="34" charset="0"/>
                <a:ea typeface="Source Sans 3" pitchFamily="34" charset="-122"/>
                <a:cs typeface="Source Sans 3" pitchFamily="34" charset="-120"/>
              </a:rPr>
              <a:t>Execution</a:t>
            </a:r>
            <a:endParaRPr lang="en-US" sz="1050" dirty="0"/>
          </a:p>
        </p:txBody>
      </p:sp>
      <p:sp>
        <p:nvSpPr>
          <p:cNvPr id="8" name="Text 6"/>
          <p:cNvSpPr/>
          <p:nvPr>
            <p:ph idx="106" type="title" hasCustomPrompt="1"/>
          </p:nvPr>
        </p:nvSpPr>
        <p:spPr>
          <a:xfrm>
            <a:off x="685800" y="502920"/>
            <a:ext cx="9692640" cy="1143000"/>
          </a:xfrm>
          <a:prstGeom prst="rect">
            <a:avLst/>
          </a:prstGeom>
          <a:noFill/>
          <a:ln/>
        </p:spPr>
        <p:txBody>
          <a:bodyPr wrap="square" rtlCol="0"/>
          <a:lstStyle>
            <a:lvl1pPr algn="l" indent="0" marL="0">
              <a:lnSpc>
                <a:spcPct val="98000"/>
              </a:lnSpc>
              <a:buNone/>
              <a:defRPr lang="en-US" sz="3000" dirty="0">
                <a:solidFill>
                  <a:srgbClr val="F7F5EF"/>
                </a:solidFill>
                <a:latin typeface="Source Serif 4" pitchFamily="34" charset="0"/>
                <a:ea typeface="Source Serif 4" pitchFamily="34" charset="-122"/>
                <a:cs typeface="Source Serif 4" pitchFamily="34" charset="-120"/>
              </a:defRPr>
            </a:lvl1pPr>
          </a:lstStyle>
          <a:p>
            <a:pPr algn="l" indent="0" marL="0">
              <a:lnSpc>
                <a:spcPct val="98000"/>
              </a:lnSpc>
              <a:buNone/>
            </a:pPr>
            <a:endParaRPr lang="en-US" sz="30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rgbClr val="93AE9C"/>
                </a:solidFill>
                <a:latin typeface="Source Sans 3"/>
                <a:ea typeface="Source Sans 3"/>
                <a:cs typeface="Source Sans 3"/>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APPENDIX">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685800" y="6382512"/>
            <a:ext cx="10820095" cy="0"/>
          </a:xfrm>
          <a:prstGeom prst="line">
            <a:avLst/>
          </a:prstGeom>
          <a:noFill/>
          <a:ln w="9525">
            <a:solidFill>
              <a:srgbClr val="D9D4C7"/>
            </a:solidFill>
            <a:prstDash val="solid"/>
          </a:ln>
        </p:spPr>
      </p:sp>
      <p:sp>
        <p:nvSpPr>
          <p:cNvPr id="3" name="Text 1"/>
          <p:cNvSpPr/>
          <p:nvPr/>
        </p:nvSpPr>
        <p:spPr>
          <a:xfrm>
            <a:off x="685800" y="6455664"/>
            <a:ext cx="1463040" cy="274320"/>
          </a:xfrm>
          <a:prstGeom prst="rect">
            <a:avLst/>
          </a:prstGeom>
          <a:noFill/>
          <a:ln/>
        </p:spPr>
        <p:txBody>
          <a:bodyPr wrap="square" lIns="0" tIns="0" rIns="0" bIns="0" rtlCol="0" anchor="ctr"/>
          <a:lstStyle/>
          <a:p>
            <a:pPr indent="0" marL="0">
              <a:buNone/>
            </a:pPr>
            <a:r>
              <a:rPr lang="en-US" sz="1200" dirty="0">
                <a:solidFill>
                  <a:srgbClr val="15201A"/>
                </a:solidFill>
                <a:latin typeface="Source Serif 4" pitchFamily="34" charset="0"/>
                <a:ea typeface="Source Serif 4" pitchFamily="34" charset="-122"/>
                <a:cs typeface="Source Serif 4" pitchFamily="34" charset="-120"/>
              </a:rPr>
              <a:t>FoodLink</a:t>
            </a:r>
            <a:endParaRPr lang="en-US" sz="1200" dirty="0"/>
          </a:p>
        </p:txBody>
      </p:sp>
      <p:sp>
        <p:nvSpPr>
          <p:cNvPr id="4" name="Shape 2"/>
          <p:cNvSpPr/>
          <p:nvPr/>
        </p:nvSpPr>
        <p:spPr>
          <a:xfrm>
            <a:off x="5730088" y="6359652"/>
            <a:ext cx="731520" cy="45720"/>
          </a:xfrm>
          <a:prstGeom prst="rect">
            <a:avLst/>
          </a:prstGeom>
          <a:solidFill>
            <a:srgbClr val="A97A2F"/>
          </a:solidFill>
          <a:ln w="12700">
            <a:solidFill>
              <a:srgbClr val="A97A2F"/>
            </a:solidFill>
            <a:prstDash val="solid"/>
          </a:ln>
        </p:spPr>
      </p:sp>
      <p:sp>
        <p:nvSpPr>
          <p:cNvPr id="5" name="Text 3"/>
          <p:cNvSpPr/>
          <p:nvPr/>
        </p:nvSpPr>
        <p:spPr>
          <a:xfrm>
            <a:off x="5547208" y="6455664"/>
            <a:ext cx="1097280" cy="274320"/>
          </a:xfrm>
          <a:prstGeom prst="rect">
            <a:avLst/>
          </a:prstGeom>
          <a:noFill/>
          <a:ln/>
        </p:spPr>
        <p:txBody>
          <a:bodyPr wrap="square" lIns="0" tIns="0" rIns="0" bIns="0" rtlCol="0" anchor="ctr"/>
          <a:lstStyle/>
          <a:p>
            <a:pPr algn="ctr" indent="0" marL="0">
              <a:buNone/>
            </a:pPr>
            <a:r>
              <a:rPr lang="en-US" sz="1050" b="1" dirty="0">
                <a:solidFill>
                  <a:srgbClr val="15201A"/>
                </a:solidFill>
                <a:latin typeface="Source Sans 3" pitchFamily="34" charset="0"/>
                <a:ea typeface="Source Sans 3" pitchFamily="34" charset="-122"/>
                <a:cs typeface="Source Sans 3" pitchFamily="34" charset="-120"/>
              </a:rPr>
              <a:t>Appendix</a:t>
            </a:r>
            <a:endParaRPr lang="en-US" sz="1050" dirty="0"/>
          </a:p>
        </p:txBody>
      </p:sp>
      <p:sp>
        <p:nvSpPr>
          <p:cNvPr id="6" name="Text 4"/>
          <p:cNvSpPr/>
          <p:nvPr>
            <p:ph idx="104" type="title" hasCustomPrompt="1"/>
          </p:nvPr>
        </p:nvSpPr>
        <p:spPr>
          <a:xfrm>
            <a:off x="685800" y="502920"/>
            <a:ext cx="9692640" cy="1143000"/>
          </a:xfrm>
          <a:prstGeom prst="rect">
            <a:avLst/>
          </a:prstGeom>
          <a:noFill/>
          <a:ln/>
        </p:spPr>
        <p:txBody>
          <a:bodyPr wrap="square" rtlCol="0"/>
          <a:lstStyle>
            <a:lvl1pPr algn="l" indent="0" marL="0">
              <a:lnSpc>
                <a:spcPct val="98000"/>
              </a:lnSpc>
              <a:buNone/>
              <a:defRPr lang="en-US" sz="3000" dirty="0">
                <a:solidFill>
                  <a:srgbClr val="15201A"/>
                </a:solidFill>
                <a:latin typeface="Source Serif 4" pitchFamily="34" charset="0"/>
                <a:ea typeface="Source Serif 4" pitchFamily="34" charset="-122"/>
                <a:cs typeface="Source Serif 4" pitchFamily="34" charset="-120"/>
              </a:defRPr>
            </a:lvl1pPr>
          </a:lstStyle>
          <a:p>
            <a:pPr algn="l" indent="0" marL="0">
              <a:lnSpc>
                <a:spcPct val="98000"/>
              </a:lnSpc>
              <a:buNone/>
            </a:pPr>
            <a:endParaRPr lang="en-US" sz="30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rgbClr val="6B746D"/>
                </a:solidFill>
                <a:latin typeface="Source Sans 3"/>
                <a:ea typeface="Source Sans 3"/>
                <a:cs typeface="Source Sans 3"/>
              </a:defRPr>
            </a:lvl1pPr>
          </a:lstStyle>
          <a:p>
            <a:pPr algn="r"/>
            <a:fld id="{F7021451-1387-4CA6-816F-3879F97B5CBC}" type="slidenum">
              <a:rPr b="0" lang="en-US"/>
              <a:t>1009</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rgbClr val="6B746D"/>
                </a:solidFill>
                <a:latin typeface="Source Sans 3"/>
                <a:ea typeface="Source Sans 3"/>
                <a:cs typeface="Source Sans 3"/>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5.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6.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85800" y="658368"/>
            <a:ext cx="6766560" cy="320040"/>
          </a:xfrm>
          <a:prstGeom prst="rect">
            <a:avLst/>
          </a:prstGeom>
          <a:noFill/>
          <a:ln/>
        </p:spPr>
        <p:txBody>
          <a:bodyPr wrap="square" lIns="0" tIns="0" rIns="0" bIns="0" rtlCol="0" anchor="t"/>
          <a:lstStyle/>
          <a:p>
            <a:pPr indent="0" marL="0">
              <a:buNone/>
            </a:pPr>
            <a:r>
              <a:rPr lang="en-US" sz="1300" dirty="0">
                <a:solidFill>
                  <a:srgbClr val="93AE9C"/>
                </a:solidFill>
                <a:latin typeface="Source Sans 3" pitchFamily="34" charset="0"/>
                <a:ea typeface="Source Sans 3" pitchFamily="34" charset="-122"/>
                <a:cs typeface="Source Sans 3" pitchFamily="34" charset="-120"/>
              </a:rPr>
              <a:t>A proposal to the University Students’ Council, Western University</a:t>
            </a:r>
            <a:endParaRPr lang="en-US" sz="1300" dirty="0"/>
          </a:p>
        </p:txBody>
      </p:sp>
      <p:sp>
        <p:nvSpPr>
          <p:cNvPr id="3" name="Shape 1"/>
          <p:cNvSpPr/>
          <p:nvPr/>
        </p:nvSpPr>
        <p:spPr>
          <a:xfrm>
            <a:off x="685800" y="1664208"/>
            <a:ext cx="548640" cy="41148"/>
          </a:xfrm>
          <a:prstGeom prst="rect">
            <a:avLst/>
          </a:prstGeom>
          <a:solidFill>
            <a:srgbClr val="A97A2F"/>
          </a:solidFill>
          <a:ln w="12700">
            <a:solidFill>
              <a:srgbClr val="A97A2F"/>
            </a:solidFill>
            <a:prstDash val="solid"/>
          </a:ln>
        </p:spPr>
      </p:sp>
      <p:sp>
        <p:nvSpPr>
          <p:cNvPr id="4" name="Text 2"/>
          <p:cNvSpPr txBox="1"/>
          <p:nvPr/>
        </p:nvSpPr>
        <p:spPr>
          <a:xfrm>
            <a:off x="685800" y="1874520"/>
            <a:ext cx="6766560" cy="640080"/>
          </a:xfrm>
          <a:prstGeom prst="rect">
            <a:avLst/>
          </a:prstGeom>
          <a:noFill/>
          <a:ln/>
        </p:spPr>
        <p:txBody>
          <a:bodyPr wrap="square" lIns="0" tIns="0" rIns="0" bIns="0" rtlCol="0" anchor="t"/>
          <a:lstStyle/>
          <a:p>
            <a:pPr indent="0" marL="0">
              <a:buNone/>
            </a:pPr>
            <a:r>
              <a:rPr lang="en-US" sz="3600" dirty="0">
                <a:solidFill>
                  <a:srgbClr val="CBD9CE"/>
                </a:solidFill>
                <a:latin typeface="Source Serif 4" pitchFamily="34" charset="0"/>
                <a:ea typeface="Source Serif 4" pitchFamily="34" charset="-122"/>
                <a:cs typeface="Source Serif 4" pitchFamily="34" charset="-120"/>
              </a:rPr>
              <a:t>PBSN ASPIRE:</a:t>
            </a:r>
            <a:endParaRPr lang="en-US" sz="3600" dirty="0"/>
          </a:p>
        </p:txBody>
      </p:sp>
      <p:sp>
        <p:nvSpPr>
          <p:cNvPr id="5" name="Text 3"/>
          <p:cNvSpPr txBox="1"/>
          <p:nvPr/>
        </p:nvSpPr>
        <p:spPr>
          <a:xfrm>
            <a:off x="685800" y="2450592"/>
            <a:ext cx="6766560" cy="1325880"/>
          </a:xfrm>
          <a:prstGeom prst="rect">
            <a:avLst/>
          </a:prstGeom>
          <a:noFill/>
          <a:ln/>
        </p:spPr>
        <p:txBody>
          <a:bodyPr wrap="square" lIns="0" tIns="0" rIns="0" bIns="0" rtlCol="0" anchor="t"/>
          <a:lstStyle/>
          <a:p>
            <a:pPr indent="0" marL="0">
              <a:buNone/>
            </a:pPr>
            <a:r>
              <a:rPr lang="en-US" sz="9600" dirty="0">
                <a:solidFill>
                  <a:srgbClr val="F7F5EF"/>
                </a:solidFill>
                <a:latin typeface="Source Serif 4" pitchFamily="34" charset="0"/>
                <a:ea typeface="Source Serif 4" pitchFamily="34" charset="-122"/>
                <a:cs typeface="Source Serif 4" pitchFamily="34" charset="-120"/>
              </a:rPr>
              <a:t>FoodLink</a:t>
            </a:r>
            <a:endParaRPr lang="en-US" sz="9600" dirty="0"/>
          </a:p>
        </p:txBody>
      </p:sp>
      <p:sp>
        <p:nvSpPr>
          <p:cNvPr id="6" name="Text 4"/>
          <p:cNvSpPr txBox="1"/>
          <p:nvPr/>
        </p:nvSpPr>
        <p:spPr>
          <a:xfrm>
            <a:off x="685800" y="3931920"/>
            <a:ext cx="5943600" cy="731520"/>
          </a:xfrm>
          <a:prstGeom prst="rect">
            <a:avLst/>
          </a:prstGeom>
          <a:noFill/>
          <a:ln/>
        </p:spPr>
        <p:txBody>
          <a:bodyPr wrap="square" lIns="0" tIns="0" rIns="0" bIns="0" rtlCol="0" anchor="t"/>
          <a:lstStyle/>
          <a:p>
            <a:pPr indent="0" marL="0">
              <a:buNone/>
            </a:pPr>
            <a:r>
              <a:rPr lang="en-US" sz="2000" dirty="0">
                <a:solidFill>
                  <a:srgbClr val="CBD9CE"/>
                </a:solidFill>
                <a:latin typeface="Source Sans 3" pitchFamily="34" charset="0"/>
                <a:ea typeface="Source Sans 3" pitchFamily="34" charset="-122"/>
                <a:cs typeface="Source Sans 3" pitchFamily="34" charset="-120"/>
              </a:rPr>
              <a:t>Walk-up food access for Western students, with every restock counted.</a:t>
            </a:r>
            <a:endParaRPr lang="en-US" sz="2000" dirty="0"/>
          </a:p>
        </p:txBody>
      </p:sp>
      <p:sp>
        <p:nvSpPr>
          <p:cNvPr id="7" name="Shape 5"/>
          <p:cNvSpPr/>
          <p:nvPr/>
        </p:nvSpPr>
        <p:spPr>
          <a:xfrm>
            <a:off x="685800" y="5138928"/>
            <a:ext cx="6309360" cy="0"/>
          </a:xfrm>
          <a:prstGeom prst="line">
            <a:avLst/>
          </a:prstGeom>
          <a:noFill/>
          <a:ln w="9525">
            <a:solidFill>
              <a:srgbClr val="2F5444"/>
            </a:solidFill>
            <a:prstDash val="solid"/>
          </a:ln>
        </p:spPr>
      </p:sp>
      <p:sp>
        <p:nvSpPr>
          <p:cNvPr id="8" name="Text 6"/>
          <p:cNvSpPr txBox="1"/>
          <p:nvPr/>
        </p:nvSpPr>
        <p:spPr>
          <a:xfrm>
            <a:off x="685800" y="5285232"/>
            <a:ext cx="2743200" cy="274320"/>
          </a:xfrm>
          <a:prstGeom prst="rect">
            <a:avLst/>
          </a:prstGeom>
          <a:noFill/>
          <a:ln/>
        </p:spPr>
        <p:txBody>
          <a:bodyPr wrap="square" lIns="0" tIns="0" rIns="0" bIns="0" rtlCol="0" anchor="t"/>
          <a:lstStyle/>
          <a:p>
            <a:pPr indent="0" marL="0">
              <a:buNone/>
            </a:pPr>
            <a:r>
              <a:rPr lang="en-US" sz="1100" dirty="0">
                <a:solidFill>
                  <a:srgbClr val="93AE9C"/>
                </a:solidFill>
                <a:latin typeface="Source Sans 3" pitchFamily="34" charset="0"/>
                <a:ea typeface="Source Sans 3" pitchFamily="34" charset="-122"/>
                <a:cs typeface="Source Sans 3" pitchFamily="34" charset="-120"/>
              </a:rPr>
              <a:t>Team</a:t>
            </a:r>
            <a:endParaRPr lang="en-US" sz="1100" dirty="0"/>
          </a:p>
        </p:txBody>
      </p:sp>
      <p:sp>
        <p:nvSpPr>
          <p:cNvPr id="9" name="Text 7"/>
          <p:cNvSpPr txBox="1"/>
          <p:nvPr/>
        </p:nvSpPr>
        <p:spPr>
          <a:xfrm>
            <a:off x="685800" y="5559552"/>
            <a:ext cx="6766560" cy="365760"/>
          </a:xfrm>
          <a:prstGeom prst="rect">
            <a:avLst/>
          </a:prstGeom>
          <a:noFill/>
          <a:ln/>
        </p:spPr>
        <p:txBody>
          <a:bodyPr wrap="square" lIns="0" tIns="0" rIns="0" bIns="0" rtlCol="0" anchor="t"/>
          <a:lstStyle/>
          <a:p>
            <a:pPr indent="0" marL="0">
              <a:buNone/>
            </a:pPr>
            <a:r>
              <a:rPr lang="en-US" sz="1500" dirty="0">
                <a:solidFill>
                  <a:srgbClr val="F7F5EF"/>
                </a:solidFill>
                <a:latin typeface="Source Sans 3" pitchFamily="34" charset="0"/>
                <a:ea typeface="Source Sans 3" pitchFamily="34" charset="-122"/>
                <a:cs typeface="Source Sans 3" pitchFamily="34" charset="-120"/>
              </a:rPr>
              <a:t>Xinge Xu (Zinger)   ·   Nuo Zhang   ·   Zohra Khawaja   ·   Ahana Gehlot</a:t>
            </a:r>
            <a:endParaRPr lang="en-US" sz="1500" dirty="0"/>
          </a:p>
        </p:txBody>
      </p:sp>
      <p:pic>
        <p:nvPicPr>
          <p:cNvPr id="10" name="Image 0" descr="/tmp/claude-0/-home-claude/cb850c95-8acd-5c96-8a28-bf7aa743d4f8/scratchpad/foodlink/deck/img3/cover-phone.png">    </p:cNvPr>
          <p:cNvPicPr>
            <a:picLocks noChangeAspect="1"/>
          </p:cNvPicPr>
          <p:nvPr/>
        </p:nvPicPr>
        <p:blipFill>
          <a:blip r:embed="rId1"/>
          <a:stretch>
            <a:fillRect/>
          </a:stretch>
        </p:blipFill>
        <p:spPr>
          <a:xfrm>
            <a:off x="8001000" y="1208503"/>
            <a:ext cx="3246120" cy="564949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6"/>
          <p:cNvSpPr/>
          <p:nvPr>
            <p:ph idx="106" type="title" hasCustomPrompt="1"/>
          </p:nvPr>
        </p:nvSpPr>
        <p:spPr>
          <a:xfrm>
            <a:off x="685800" y="502920"/>
            <a:ext cx="9692640" cy="1143000"/>
          </a:xfrm>
          <a:prstGeom prst="rect">
            <a:avLst/>
          </a:prstGeom>
          <a:noFill/>
          <a:ln/>
        </p:spPr>
        <p:txBody>
          <a:bodyPr wrap="square" lIns="0" tIns="0" rIns="0" bIns="0" rtlCol="0" anchor="t"/>
          <a:lstStyle/>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We ask the USC to fund an 11-week</a:t>
            </a:r>
            <a:endParaRPr lang="en-US" sz="3000" dirty="0"/>
          </a:p>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FoodLink pilot for $2,500</a:t>
            </a:r>
            <a:endParaRPr lang="en-US" sz="3000" dirty="0"/>
          </a:p>
        </p:txBody>
      </p:sp>
      <p:sp>
        <p:nvSpPr>
          <p:cNvPr id="3" name="Shape 1"/>
          <p:cNvSpPr/>
          <p:nvPr/>
        </p:nvSpPr>
        <p:spPr>
          <a:xfrm>
            <a:off x="685800" y="1737360"/>
            <a:ext cx="10820095" cy="0"/>
          </a:xfrm>
          <a:prstGeom prst="line">
            <a:avLst/>
          </a:prstGeom>
          <a:noFill/>
          <a:ln w="12700">
            <a:solidFill>
              <a:srgbClr val="15201A"/>
            </a:solidFill>
            <a:prstDash val="solid"/>
          </a:ln>
        </p:spPr>
      </p:sp>
      <p:sp>
        <p:nvSpPr>
          <p:cNvPr id="4" name="Text 2"/>
          <p:cNvSpPr txBox="1"/>
          <p:nvPr/>
        </p:nvSpPr>
        <p:spPr>
          <a:xfrm>
            <a:off x="685800" y="2011680"/>
            <a:ext cx="2194560" cy="457200"/>
          </a:xfrm>
          <a:prstGeom prst="rect">
            <a:avLst/>
          </a:prstGeom>
          <a:noFill/>
          <a:ln/>
        </p:spPr>
        <p:txBody>
          <a:bodyPr wrap="square" lIns="0" tIns="0" rIns="0" bIns="0" rtlCol="0" anchor="t"/>
          <a:lstStyle/>
          <a:p>
            <a:pPr indent="0" marL="0">
              <a:buNone/>
            </a:pPr>
            <a:r>
              <a:rPr lang="en-US" sz="2200" dirty="0">
                <a:solidFill>
                  <a:srgbClr val="1D5E40"/>
                </a:solidFill>
                <a:latin typeface="Source Serif 4" pitchFamily="34" charset="0"/>
                <a:ea typeface="Source Serif 4" pitchFamily="34" charset="-122"/>
                <a:cs typeface="Source Serif 4" pitchFamily="34" charset="-120"/>
              </a:rPr>
              <a:t>Problem</a:t>
            </a:r>
            <a:endParaRPr lang="en-US" sz="2200" dirty="0"/>
          </a:p>
        </p:txBody>
      </p:sp>
      <p:sp>
        <p:nvSpPr>
          <p:cNvPr id="5" name="Text 3"/>
          <p:cNvSpPr txBox="1"/>
          <p:nvPr/>
        </p:nvSpPr>
        <p:spPr>
          <a:xfrm>
            <a:off x="3063240" y="2029968"/>
            <a:ext cx="8442655" cy="868680"/>
          </a:xfrm>
          <a:prstGeom prst="rect">
            <a:avLst/>
          </a:prstGeom>
          <a:noFill/>
          <a:ln/>
        </p:spPr>
        <p:txBody>
          <a:bodyPr wrap="square" lIns="0" tIns="0" rIns="0" bIns="0" rtlCol="0" anchor="t"/>
          <a:lstStyle/>
          <a:p>
            <a:pPr indent="0" marL="0">
              <a:buNone/>
            </a:pPr>
            <a:r>
              <a:rPr lang="en-US" sz="1900" dirty="0">
                <a:solidFill>
                  <a:srgbClr val="15201A"/>
                </a:solidFill>
                <a:latin typeface="Source Sans 3" pitchFamily="34" charset="0"/>
                <a:ea typeface="Source Sans 3" pitchFamily="34" charset="-122"/>
                <a:cs typeface="Source Sans 3" pitchFamily="34" charset="-120"/>
              </a:rPr>
              <a:t>Hamper demand more than doubled. Walk-in help is one basement room open 24 hours a week, and hampers take at least 48 hours.</a:t>
            </a:r>
            <a:endParaRPr lang="en-US" sz="1900" dirty="0"/>
          </a:p>
        </p:txBody>
      </p:sp>
      <p:sp>
        <p:nvSpPr>
          <p:cNvPr id="6" name="Shape 4"/>
          <p:cNvSpPr/>
          <p:nvPr/>
        </p:nvSpPr>
        <p:spPr>
          <a:xfrm>
            <a:off x="685800" y="3200400"/>
            <a:ext cx="10820095" cy="0"/>
          </a:xfrm>
          <a:prstGeom prst="line">
            <a:avLst/>
          </a:prstGeom>
          <a:noFill/>
          <a:ln w="9525">
            <a:solidFill>
              <a:srgbClr val="D9D4C7"/>
            </a:solidFill>
            <a:prstDash val="solid"/>
          </a:ln>
        </p:spPr>
      </p:sp>
      <p:sp>
        <p:nvSpPr>
          <p:cNvPr id="7" name="Text 5"/>
          <p:cNvSpPr txBox="1"/>
          <p:nvPr/>
        </p:nvSpPr>
        <p:spPr>
          <a:xfrm>
            <a:off x="685800" y="3474720"/>
            <a:ext cx="2194560" cy="457200"/>
          </a:xfrm>
          <a:prstGeom prst="rect">
            <a:avLst/>
          </a:prstGeom>
          <a:noFill/>
          <a:ln/>
        </p:spPr>
        <p:txBody>
          <a:bodyPr wrap="square" lIns="0" tIns="0" rIns="0" bIns="0" rtlCol="0" anchor="t"/>
          <a:lstStyle/>
          <a:p>
            <a:pPr indent="0" marL="0">
              <a:buNone/>
            </a:pPr>
            <a:r>
              <a:rPr lang="en-US" sz="2200" dirty="0">
                <a:solidFill>
                  <a:srgbClr val="1D5E40"/>
                </a:solidFill>
                <a:latin typeface="Source Serif 4" pitchFamily="34" charset="0"/>
                <a:ea typeface="Source Serif 4" pitchFamily="34" charset="-122"/>
                <a:cs typeface="Source Serif 4" pitchFamily="34" charset="-120"/>
              </a:rPr>
              <a:t>Solution</a:t>
            </a:r>
            <a:endParaRPr lang="en-US" sz="2200" dirty="0"/>
          </a:p>
        </p:txBody>
      </p:sp>
      <p:sp>
        <p:nvSpPr>
          <p:cNvPr id="8" name="Text 6"/>
          <p:cNvSpPr txBox="1"/>
          <p:nvPr/>
        </p:nvSpPr>
        <p:spPr>
          <a:xfrm>
            <a:off x="3063240" y="3493008"/>
            <a:ext cx="8442655" cy="868680"/>
          </a:xfrm>
          <a:prstGeom prst="rect">
            <a:avLst/>
          </a:prstGeom>
          <a:noFill/>
          <a:ln/>
        </p:spPr>
        <p:txBody>
          <a:bodyPr wrap="square" lIns="0" tIns="0" rIns="0" bIns="0" rtlCol="0" anchor="t"/>
          <a:lstStyle/>
          <a:p>
            <a:pPr indent="0" marL="0">
              <a:buNone/>
            </a:pPr>
            <a:r>
              <a:rPr lang="en-US" sz="1900" dirty="0">
                <a:solidFill>
                  <a:srgbClr val="15201A"/>
                </a:solidFill>
                <a:latin typeface="Source Sans 3" pitchFamily="34" charset="0"/>
                <a:ea typeface="Source Sans 3" pitchFamily="34" charset="-122"/>
                <a:cs typeface="Source Sans 3" pitchFamily="34" charset="-120"/>
              </a:rPr>
              <a:t>FoodLink: walk-up shelves with live stock in busy buildings, sealed surplus from campus partners, and one app that lists every option. Every restock is counted.</a:t>
            </a:r>
            <a:endParaRPr lang="en-US" sz="1900" dirty="0"/>
          </a:p>
        </p:txBody>
      </p:sp>
      <p:sp>
        <p:nvSpPr>
          <p:cNvPr id="9" name="Shape 7"/>
          <p:cNvSpPr/>
          <p:nvPr/>
        </p:nvSpPr>
        <p:spPr>
          <a:xfrm>
            <a:off x="685800" y="4663440"/>
            <a:ext cx="10820095" cy="0"/>
          </a:xfrm>
          <a:prstGeom prst="line">
            <a:avLst/>
          </a:prstGeom>
          <a:noFill/>
          <a:ln w="9525">
            <a:solidFill>
              <a:srgbClr val="D9D4C7"/>
            </a:solidFill>
            <a:prstDash val="solid"/>
          </a:ln>
        </p:spPr>
      </p:sp>
      <p:sp>
        <p:nvSpPr>
          <p:cNvPr id="10" name="Text 8"/>
          <p:cNvSpPr txBox="1"/>
          <p:nvPr/>
        </p:nvSpPr>
        <p:spPr>
          <a:xfrm>
            <a:off x="685800" y="4937760"/>
            <a:ext cx="2194560" cy="457200"/>
          </a:xfrm>
          <a:prstGeom prst="rect">
            <a:avLst/>
          </a:prstGeom>
          <a:noFill/>
          <a:ln/>
        </p:spPr>
        <p:txBody>
          <a:bodyPr wrap="square" lIns="0" tIns="0" rIns="0" bIns="0" rtlCol="0" anchor="t"/>
          <a:lstStyle/>
          <a:p>
            <a:pPr indent="0" marL="0">
              <a:buNone/>
            </a:pPr>
            <a:r>
              <a:rPr lang="en-US" sz="2200" dirty="0">
                <a:solidFill>
                  <a:srgbClr val="1D5E40"/>
                </a:solidFill>
                <a:latin typeface="Source Serif 4" pitchFamily="34" charset="0"/>
                <a:ea typeface="Source Serif 4" pitchFamily="34" charset="-122"/>
                <a:cs typeface="Source Serif 4" pitchFamily="34" charset="-120"/>
              </a:rPr>
              <a:t>Ask</a:t>
            </a:r>
            <a:endParaRPr lang="en-US" sz="2200" dirty="0"/>
          </a:p>
        </p:txBody>
      </p:sp>
      <p:sp>
        <p:nvSpPr>
          <p:cNvPr id="11" name="Text 9"/>
          <p:cNvSpPr txBox="1"/>
          <p:nvPr/>
        </p:nvSpPr>
        <p:spPr>
          <a:xfrm>
            <a:off x="3063240" y="4956048"/>
            <a:ext cx="8442655" cy="868680"/>
          </a:xfrm>
          <a:prstGeom prst="rect">
            <a:avLst/>
          </a:prstGeom>
          <a:noFill/>
          <a:ln/>
        </p:spPr>
        <p:txBody>
          <a:bodyPr wrap="square" lIns="0" tIns="0" rIns="0" bIns="0" rtlCol="0" anchor="t"/>
          <a:lstStyle/>
          <a:p>
            <a:pPr indent="0" marL="0">
              <a:buNone/>
            </a:pPr>
            <a:r>
              <a:rPr lang="en-US" sz="1900" dirty="0">
                <a:solidFill>
                  <a:srgbClr val="15201A"/>
                </a:solidFill>
                <a:latin typeface="Source Sans 3" pitchFamily="34" charset="0"/>
                <a:ea typeface="Source Sans 3" pitchFamily="34" charset="-122"/>
                <a:cs typeface="Source Sans 3" pitchFamily="34" charset="-120"/>
              </a:rPr>
              <a:t>$2,500 from the USC Grant Fund for one-time pilot costs, a spot in the UCC plus one more building, and one Food Support contact, January to March 2027.</a:t>
            </a:r>
            <a:endParaRPr lang="en-US" sz="19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rgbClr val="6B746D"/>
                </a:solidFill>
                <a:latin typeface="Source Sans 3"/>
                <a:ea typeface="Source Sans 3"/>
                <a:cs typeface="Source Sans 3"/>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7"/>
          <p:cNvSpPr/>
          <p:nvPr>
            <p:ph idx="107" type="title" hasCustomPrompt="1"/>
          </p:nvPr>
        </p:nvSpPr>
        <p:spPr>
          <a:xfrm>
            <a:off x="685800" y="502920"/>
            <a:ext cx="9692640" cy="1143000"/>
          </a:xfrm>
          <a:prstGeom prst="rect">
            <a:avLst/>
          </a:prstGeom>
          <a:noFill/>
          <a:ln/>
        </p:spPr>
        <p:txBody>
          <a:bodyPr wrap="square" lIns="0" tIns="0" rIns="0" bIns="0" rtlCol="0" anchor="t"/>
          <a:lstStyle/>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Hamper demand more than doubled</a:t>
            </a:r>
            <a:endParaRPr lang="en-US" sz="3000" dirty="0"/>
          </a:p>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in about half the time</a:t>
            </a:r>
            <a:endParaRPr lang="en-US" sz="3000" dirty="0"/>
          </a:p>
        </p:txBody>
      </p:sp>
      <p:sp>
        <p:nvSpPr>
          <p:cNvPr id="3" name="Text 1"/>
          <p:cNvSpPr txBox="1"/>
          <p:nvPr/>
        </p:nvSpPr>
        <p:spPr>
          <a:xfrm>
            <a:off x="685800" y="1874520"/>
            <a:ext cx="6035040" cy="274320"/>
          </a:xfrm>
          <a:prstGeom prst="rect">
            <a:avLst/>
          </a:prstGeom>
          <a:noFill/>
          <a:ln/>
        </p:spPr>
        <p:txBody>
          <a:bodyPr wrap="square" lIns="0" tIns="0" rIns="0" bIns="0" rtlCol="0" anchor="t"/>
          <a:lstStyle/>
          <a:p>
            <a:pPr indent="0" marL="0">
              <a:buNone/>
            </a:pPr>
            <a:r>
              <a:rPr lang="en-US" sz="1300" dirty="0">
                <a:solidFill>
                  <a:srgbClr val="6B746D"/>
                </a:solidFill>
                <a:latin typeface="Source Sans 3" pitchFamily="34" charset="0"/>
                <a:ea typeface="Source Sans 3" pitchFamily="34" charset="-122"/>
                <a:cs typeface="Source Sans 3" pitchFamily="34" charset="-120"/>
              </a:rPr>
              <a:t>Hampers handed out by USC Food Support</a:t>
            </a:r>
            <a:endParaRPr lang="en-US" sz="1300" dirty="0"/>
          </a:p>
        </p:txBody>
      </p:sp>
      <p:sp>
        <p:nvSpPr>
          <p:cNvPr id="4" name="Shape 2"/>
          <p:cNvSpPr/>
          <p:nvPr/>
        </p:nvSpPr>
        <p:spPr>
          <a:xfrm>
            <a:off x="685800" y="5257800"/>
            <a:ext cx="6126480" cy="0"/>
          </a:xfrm>
          <a:prstGeom prst="line">
            <a:avLst/>
          </a:prstGeom>
          <a:noFill/>
          <a:ln w="12700">
            <a:solidFill>
              <a:srgbClr val="15201A"/>
            </a:solidFill>
            <a:prstDash val="solid"/>
          </a:ln>
        </p:spPr>
      </p:sp>
      <p:sp>
        <p:nvSpPr>
          <p:cNvPr id="5" name="Shape 3"/>
          <p:cNvSpPr/>
          <p:nvPr/>
        </p:nvSpPr>
        <p:spPr>
          <a:xfrm>
            <a:off x="1234440" y="4148418"/>
            <a:ext cx="1600200" cy="1109382"/>
          </a:xfrm>
          <a:prstGeom prst="rect">
            <a:avLst/>
          </a:prstGeom>
          <a:solidFill>
            <a:srgbClr val="BDC3BA"/>
          </a:solidFill>
          <a:ln w="12700">
            <a:solidFill>
              <a:srgbClr val="BDC3BA"/>
            </a:solidFill>
            <a:prstDash val="solid"/>
          </a:ln>
        </p:spPr>
      </p:sp>
      <p:sp>
        <p:nvSpPr>
          <p:cNvPr id="6" name="Text 4"/>
          <p:cNvSpPr txBox="1"/>
          <p:nvPr/>
        </p:nvSpPr>
        <p:spPr>
          <a:xfrm>
            <a:off x="868680" y="3526626"/>
            <a:ext cx="2331720" cy="548640"/>
          </a:xfrm>
          <a:prstGeom prst="rect">
            <a:avLst/>
          </a:prstGeom>
          <a:noFill/>
          <a:ln/>
        </p:spPr>
        <p:txBody>
          <a:bodyPr wrap="square" lIns="0" tIns="0" rIns="0" bIns="0" rtlCol="0" anchor="b"/>
          <a:lstStyle/>
          <a:p>
            <a:pPr algn="ctr" indent="0" marL="0">
              <a:buNone/>
            </a:pPr>
            <a:r>
              <a:rPr lang="en-US" sz="3400" dirty="0">
                <a:solidFill>
                  <a:srgbClr val="15201A"/>
                </a:solidFill>
                <a:latin typeface="Source Serif 4" pitchFamily="34" charset="0"/>
                <a:ea typeface="Source Serif 4" pitchFamily="34" charset="-122"/>
                <a:cs typeface="Source Serif 4" pitchFamily="34" charset="-120"/>
              </a:rPr>
              <a:t>750</a:t>
            </a:r>
            <a:endParaRPr lang="en-US" sz="3400" dirty="0"/>
          </a:p>
        </p:txBody>
      </p:sp>
      <p:sp>
        <p:nvSpPr>
          <p:cNvPr id="7" name="Text 5"/>
          <p:cNvSpPr txBox="1"/>
          <p:nvPr/>
        </p:nvSpPr>
        <p:spPr>
          <a:xfrm>
            <a:off x="594360" y="5367528"/>
            <a:ext cx="2880360" cy="274320"/>
          </a:xfrm>
          <a:prstGeom prst="rect">
            <a:avLst/>
          </a:prstGeom>
          <a:noFill/>
          <a:ln/>
        </p:spPr>
        <p:txBody>
          <a:bodyPr wrap="square" lIns="0" tIns="0" rIns="0" bIns="0" rtlCol="0" anchor="t"/>
          <a:lstStyle/>
          <a:p>
            <a:pPr algn="ctr" indent="0" marL="0">
              <a:buNone/>
            </a:pPr>
            <a:r>
              <a:rPr lang="en-US" sz="1400" b="1" dirty="0">
                <a:solidFill>
                  <a:srgbClr val="15201A"/>
                </a:solidFill>
                <a:latin typeface="Source Sans 3" pitchFamily="34" charset="0"/>
                <a:ea typeface="Source Sans 3" pitchFamily="34" charset="-122"/>
                <a:cs typeface="Source Sans 3" pitchFamily="34" charset="-120"/>
              </a:rPr>
              <a:t>2022–23</a:t>
            </a:r>
            <a:endParaRPr lang="en-US" sz="1400" dirty="0"/>
          </a:p>
        </p:txBody>
      </p:sp>
      <p:sp>
        <p:nvSpPr>
          <p:cNvPr id="8" name="Text 6"/>
          <p:cNvSpPr txBox="1"/>
          <p:nvPr/>
        </p:nvSpPr>
        <p:spPr>
          <a:xfrm>
            <a:off x="594360" y="5641848"/>
            <a:ext cx="2880360" cy="274320"/>
          </a:xfrm>
          <a:prstGeom prst="rect">
            <a:avLst/>
          </a:prstGeom>
          <a:noFill/>
          <a:ln/>
        </p:spPr>
        <p:txBody>
          <a:bodyPr wrap="square" lIns="0" tIns="0" rIns="0" bIns="0" rtlCol="0" anchor="t"/>
          <a:lstStyle/>
          <a:p>
            <a:pPr algn="ctr" indent="0" marL="0">
              <a:buNone/>
            </a:pPr>
            <a:r>
              <a:rPr lang="en-US" sz="1300" dirty="0">
                <a:solidFill>
                  <a:srgbClr val="6B746D"/>
                </a:solidFill>
                <a:latin typeface="Source Sans 3" pitchFamily="34" charset="0"/>
                <a:ea typeface="Source Sans 3" pitchFamily="34" charset="-122"/>
                <a:cs typeface="Source Sans 3" pitchFamily="34" charset="-120"/>
              </a:rPr>
              <a:t>Full year, 12 months</a:t>
            </a:r>
            <a:endParaRPr lang="en-US" sz="1300" dirty="0"/>
          </a:p>
        </p:txBody>
      </p:sp>
      <p:sp>
        <p:nvSpPr>
          <p:cNvPr id="9" name="Shape 7"/>
          <p:cNvSpPr/>
          <p:nvPr/>
        </p:nvSpPr>
        <p:spPr>
          <a:xfrm>
            <a:off x="3840480" y="2743200"/>
            <a:ext cx="1600200" cy="2514600"/>
          </a:xfrm>
          <a:prstGeom prst="rect">
            <a:avLst/>
          </a:prstGeom>
          <a:solidFill>
            <a:srgbClr val="1D5E40"/>
          </a:solidFill>
          <a:ln w="12700">
            <a:solidFill>
              <a:srgbClr val="1D5E40"/>
            </a:solidFill>
            <a:prstDash val="solid"/>
          </a:ln>
        </p:spPr>
      </p:sp>
      <p:sp>
        <p:nvSpPr>
          <p:cNvPr id="10" name="Text 8"/>
          <p:cNvSpPr txBox="1"/>
          <p:nvPr/>
        </p:nvSpPr>
        <p:spPr>
          <a:xfrm>
            <a:off x="3474720" y="2121408"/>
            <a:ext cx="2331720" cy="548640"/>
          </a:xfrm>
          <a:prstGeom prst="rect">
            <a:avLst/>
          </a:prstGeom>
          <a:noFill/>
          <a:ln/>
        </p:spPr>
        <p:txBody>
          <a:bodyPr wrap="square" lIns="0" tIns="0" rIns="0" bIns="0" rtlCol="0" anchor="b"/>
          <a:lstStyle/>
          <a:p>
            <a:pPr algn="ctr" indent="0" marL="0">
              <a:buNone/>
            </a:pPr>
            <a:r>
              <a:rPr lang="en-US" sz="3400" dirty="0">
                <a:solidFill>
                  <a:srgbClr val="15201A"/>
                </a:solidFill>
                <a:latin typeface="Source Serif 4" pitchFamily="34" charset="0"/>
                <a:ea typeface="Source Serif 4" pitchFamily="34" charset="-122"/>
                <a:cs typeface="Source Serif 4" pitchFamily="34" charset="-120"/>
              </a:rPr>
              <a:t>1,700+</a:t>
            </a:r>
            <a:endParaRPr lang="en-US" sz="3400" dirty="0"/>
          </a:p>
        </p:txBody>
      </p:sp>
      <p:sp>
        <p:nvSpPr>
          <p:cNvPr id="11" name="Text 9"/>
          <p:cNvSpPr txBox="1"/>
          <p:nvPr/>
        </p:nvSpPr>
        <p:spPr>
          <a:xfrm>
            <a:off x="3200400" y="5367528"/>
            <a:ext cx="2880360" cy="274320"/>
          </a:xfrm>
          <a:prstGeom prst="rect">
            <a:avLst/>
          </a:prstGeom>
          <a:noFill/>
          <a:ln/>
        </p:spPr>
        <p:txBody>
          <a:bodyPr wrap="square" lIns="0" tIns="0" rIns="0" bIns="0" rtlCol="0" anchor="t"/>
          <a:lstStyle/>
          <a:p>
            <a:pPr algn="ctr" indent="0" marL="0">
              <a:buNone/>
            </a:pPr>
            <a:r>
              <a:rPr lang="en-US" sz="1400" b="1" dirty="0">
                <a:solidFill>
                  <a:srgbClr val="15201A"/>
                </a:solidFill>
                <a:latin typeface="Source Sans 3" pitchFamily="34" charset="0"/>
                <a:ea typeface="Source Sans 3" pitchFamily="34" charset="-122"/>
                <a:cs typeface="Source Sans 3" pitchFamily="34" charset="-120"/>
              </a:rPr>
              <a:t>Sept 2023 – mid-March 2024</a:t>
            </a:r>
            <a:endParaRPr lang="en-US" sz="1400" dirty="0"/>
          </a:p>
        </p:txBody>
      </p:sp>
      <p:sp>
        <p:nvSpPr>
          <p:cNvPr id="12" name="Text 10"/>
          <p:cNvSpPr txBox="1"/>
          <p:nvPr/>
        </p:nvSpPr>
        <p:spPr>
          <a:xfrm>
            <a:off x="3200400" y="5641848"/>
            <a:ext cx="2880360" cy="274320"/>
          </a:xfrm>
          <a:prstGeom prst="rect">
            <a:avLst/>
          </a:prstGeom>
          <a:noFill/>
          <a:ln/>
        </p:spPr>
        <p:txBody>
          <a:bodyPr wrap="square" lIns="0" tIns="0" rIns="0" bIns="0" rtlCol="0" anchor="t"/>
          <a:lstStyle/>
          <a:p>
            <a:pPr algn="ctr" indent="0" marL="0">
              <a:buNone/>
            </a:pPr>
            <a:r>
              <a:rPr lang="en-US" sz="1300" dirty="0">
                <a:solidFill>
                  <a:srgbClr val="6B746D"/>
                </a:solidFill>
                <a:latin typeface="Source Sans 3" pitchFamily="34" charset="0"/>
                <a:ea typeface="Source Sans 3" pitchFamily="34" charset="-122"/>
                <a:cs typeface="Source Sans 3" pitchFamily="34" charset="-120"/>
              </a:rPr>
              <a:t>6.5 months</a:t>
            </a:r>
            <a:endParaRPr lang="en-US" sz="1300" dirty="0"/>
          </a:p>
        </p:txBody>
      </p:sp>
      <p:sp>
        <p:nvSpPr>
          <p:cNvPr id="13" name="Text 11"/>
          <p:cNvSpPr txBox="1"/>
          <p:nvPr/>
        </p:nvSpPr>
        <p:spPr>
          <a:xfrm>
            <a:off x="7635240" y="1828800"/>
            <a:ext cx="3870655" cy="566928"/>
          </a:xfrm>
          <a:prstGeom prst="rect">
            <a:avLst/>
          </a:prstGeom>
          <a:noFill/>
          <a:ln/>
        </p:spPr>
        <p:txBody>
          <a:bodyPr wrap="square" lIns="0" tIns="0" rIns="0" bIns="0" rtlCol="0" anchor="t"/>
          <a:lstStyle/>
          <a:p>
            <a:pPr indent="0" marL="0">
              <a:buNone/>
            </a:pPr>
            <a:r>
              <a:rPr lang="en-US" sz="3600" dirty="0">
                <a:solidFill>
                  <a:srgbClr val="1D5E40"/>
                </a:solidFill>
                <a:latin typeface="Source Serif 4" pitchFamily="34" charset="0"/>
                <a:ea typeface="Source Serif 4" pitchFamily="34" charset="-122"/>
                <a:cs typeface="Source Serif 4" pitchFamily="34" charset="-120"/>
              </a:rPr>
              <a:t>+600%</a:t>
            </a:r>
            <a:endParaRPr lang="en-US" sz="3600" dirty="0"/>
          </a:p>
        </p:txBody>
      </p:sp>
      <p:sp>
        <p:nvSpPr>
          <p:cNvPr id="14" name="Text 12"/>
          <p:cNvSpPr txBox="1"/>
          <p:nvPr/>
        </p:nvSpPr>
        <p:spPr>
          <a:xfrm>
            <a:off x="7635240" y="2432304"/>
            <a:ext cx="3870655" cy="502920"/>
          </a:xfrm>
          <a:prstGeom prst="rect">
            <a:avLst/>
          </a:prstGeom>
          <a:noFill/>
          <a:ln/>
        </p:spPr>
        <p:txBody>
          <a:bodyPr wrap="square" lIns="0" tIns="0" rIns="0" bIns="0" rtlCol="0" anchor="t"/>
          <a:lstStyle/>
          <a:p>
            <a:pPr indent="0" marL="0">
              <a:buNone/>
            </a:pPr>
            <a:r>
              <a:rPr lang="en-US" sz="1500" dirty="0">
                <a:solidFill>
                  <a:srgbClr val="3A453E"/>
                </a:solidFill>
                <a:latin typeface="Source Sans 3" pitchFamily="34" charset="0"/>
                <a:ea typeface="Source Sans 3" pitchFamily="34" charset="-122"/>
                <a:cs typeface="Source Sans 3" pitchFamily="34" charset="-120"/>
              </a:rPr>
              <a:t>rise in demand the USC reported for 2023</a:t>
            </a:r>
            <a:endParaRPr lang="en-US" sz="1500" dirty="0"/>
          </a:p>
        </p:txBody>
      </p:sp>
      <p:sp>
        <p:nvSpPr>
          <p:cNvPr id="15" name="Shape 13"/>
          <p:cNvSpPr/>
          <p:nvPr/>
        </p:nvSpPr>
        <p:spPr>
          <a:xfrm>
            <a:off x="7635240" y="2944368"/>
            <a:ext cx="3870655" cy="0"/>
          </a:xfrm>
          <a:prstGeom prst="line">
            <a:avLst/>
          </a:prstGeom>
          <a:noFill/>
          <a:ln w="9525">
            <a:solidFill>
              <a:srgbClr val="D9D4C7"/>
            </a:solidFill>
            <a:prstDash val="solid"/>
          </a:ln>
        </p:spPr>
      </p:sp>
      <p:sp>
        <p:nvSpPr>
          <p:cNvPr id="16" name="Text 14"/>
          <p:cNvSpPr txBox="1"/>
          <p:nvPr/>
        </p:nvSpPr>
        <p:spPr>
          <a:xfrm>
            <a:off x="7635240" y="3127248"/>
            <a:ext cx="3870655" cy="566928"/>
          </a:xfrm>
          <a:prstGeom prst="rect">
            <a:avLst/>
          </a:prstGeom>
          <a:noFill/>
          <a:ln/>
        </p:spPr>
        <p:txBody>
          <a:bodyPr wrap="square" lIns="0" tIns="0" rIns="0" bIns="0" rtlCol="0" anchor="t"/>
          <a:lstStyle/>
          <a:p>
            <a:pPr indent="0" marL="0">
              <a:buNone/>
            </a:pPr>
            <a:r>
              <a:rPr lang="en-US" sz="3600" dirty="0">
                <a:solidFill>
                  <a:srgbClr val="1D5E40"/>
                </a:solidFill>
                <a:latin typeface="Source Serif 4" pitchFamily="34" charset="0"/>
                <a:ea typeface="Source Serif 4" pitchFamily="34" charset="-122"/>
                <a:cs typeface="Source Serif 4" pitchFamily="34" charset="-120"/>
              </a:rPr>
              <a:t>Sept 2023</a:t>
            </a:r>
            <a:endParaRPr lang="en-US" sz="3600" dirty="0"/>
          </a:p>
        </p:txBody>
      </p:sp>
      <p:sp>
        <p:nvSpPr>
          <p:cNvPr id="17" name="Text 15"/>
          <p:cNvSpPr txBox="1"/>
          <p:nvPr/>
        </p:nvSpPr>
        <p:spPr>
          <a:xfrm>
            <a:off x="7635240" y="3730752"/>
            <a:ext cx="3870655" cy="502920"/>
          </a:xfrm>
          <a:prstGeom prst="rect">
            <a:avLst/>
          </a:prstGeom>
          <a:noFill/>
          <a:ln/>
        </p:spPr>
        <p:txBody>
          <a:bodyPr wrap="square" lIns="0" tIns="0" rIns="0" bIns="0" rtlCol="0" anchor="t"/>
          <a:lstStyle/>
          <a:p>
            <a:pPr indent="0" marL="0">
              <a:buNone/>
            </a:pPr>
            <a:r>
              <a:rPr lang="en-US" sz="1500" dirty="0">
                <a:solidFill>
                  <a:srgbClr val="3A453E"/>
                </a:solidFill>
                <a:latin typeface="Source Sans 3" pitchFamily="34" charset="0"/>
                <a:ea typeface="Source Sans 3" pitchFamily="34" charset="-122"/>
                <a:cs typeface="Source Sans 3" pitchFamily="34" charset="-120"/>
              </a:rPr>
              <a:t>walk-ins closed because of that rise</a:t>
            </a:r>
            <a:endParaRPr lang="en-US" sz="1500" dirty="0"/>
          </a:p>
        </p:txBody>
      </p:sp>
      <p:sp>
        <p:nvSpPr>
          <p:cNvPr id="18" name="Shape 16"/>
          <p:cNvSpPr/>
          <p:nvPr/>
        </p:nvSpPr>
        <p:spPr>
          <a:xfrm>
            <a:off x="7635240" y="4242816"/>
            <a:ext cx="3870655" cy="0"/>
          </a:xfrm>
          <a:prstGeom prst="line">
            <a:avLst/>
          </a:prstGeom>
          <a:noFill/>
          <a:ln w="9525">
            <a:solidFill>
              <a:srgbClr val="D9D4C7"/>
            </a:solidFill>
            <a:prstDash val="solid"/>
          </a:ln>
        </p:spPr>
      </p:sp>
      <p:sp>
        <p:nvSpPr>
          <p:cNvPr id="19" name="Text 17"/>
          <p:cNvSpPr txBox="1"/>
          <p:nvPr/>
        </p:nvSpPr>
        <p:spPr>
          <a:xfrm>
            <a:off x="7635240" y="4425696"/>
            <a:ext cx="3870655" cy="566928"/>
          </a:xfrm>
          <a:prstGeom prst="rect">
            <a:avLst/>
          </a:prstGeom>
          <a:noFill/>
          <a:ln/>
        </p:spPr>
        <p:txBody>
          <a:bodyPr wrap="square" lIns="0" tIns="0" rIns="0" bIns="0" rtlCol="0" anchor="t"/>
          <a:lstStyle/>
          <a:p>
            <a:pPr indent="0" marL="0">
              <a:buNone/>
            </a:pPr>
            <a:r>
              <a:rPr lang="en-US" sz="3600" dirty="0">
                <a:solidFill>
                  <a:srgbClr val="1D5E40"/>
                </a:solidFill>
                <a:latin typeface="Source Serif 4" pitchFamily="34" charset="0"/>
                <a:ea typeface="Source Serif 4" pitchFamily="34" charset="-122"/>
                <a:cs typeface="Source Serif 4" pitchFamily="34" charset="-120"/>
              </a:rPr>
              <a:t>40%</a:t>
            </a:r>
            <a:endParaRPr lang="en-US" sz="3600" dirty="0"/>
          </a:p>
        </p:txBody>
      </p:sp>
      <p:sp>
        <p:nvSpPr>
          <p:cNvPr id="20" name="Text 18"/>
          <p:cNvSpPr txBox="1"/>
          <p:nvPr/>
        </p:nvSpPr>
        <p:spPr>
          <a:xfrm>
            <a:off x="7635240" y="5029200"/>
            <a:ext cx="3870655" cy="502920"/>
          </a:xfrm>
          <a:prstGeom prst="rect">
            <a:avLst/>
          </a:prstGeom>
          <a:noFill/>
          <a:ln/>
        </p:spPr>
        <p:txBody>
          <a:bodyPr wrap="square" lIns="0" tIns="0" rIns="0" bIns="0" rtlCol="0" anchor="t"/>
          <a:lstStyle/>
          <a:p>
            <a:pPr indent="0" marL="0">
              <a:buNone/>
            </a:pPr>
            <a:r>
              <a:rPr lang="en-US" sz="1500" dirty="0">
                <a:solidFill>
                  <a:srgbClr val="3A453E"/>
                </a:solidFill>
                <a:latin typeface="Source Sans 3" pitchFamily="34" charset="0"/>
                <a:ea typeface="Source Sans 3" pitchFamily="34" charset="-122"/>
                <a:cs typeface="Source Sans 3" pitchFamily="34" charset="-120"/>
              </a:rPr>
              <a:t>of Canadian post-secondary students skipped meals because of cost in 2024</a:t>
            </a:r>
            <a:endParaRPr lang="en-US" sz="1500" dirty="0"/>
          </a:p>
        </p:txBody>
      </p:sp>
      <p:sp>
        <p:nvSpPr>
          <p:cNvPr id="21" name="Text 19"/>
          <p:cNvSpPr txBox="1"/>
          <p:nvPr/>
        </p:nvSpPr>
        <p:spPr>
          <a:xfrm>
            <a:off x="685800" y="5943600"/>
            <a:ext cx="10820095" cy="274320"/>
          </a:xfrm>
          <a:prstGeom prst="rect">
            <a:avLst/>
          </a:prstGeom>
          <a:noFill/>
          <a:ln/>
        </p:spPr>
        <p:txBody>
          <a:bodyPr wrap="square" lIns="0" tIns="0" rIns="0" bIns="0" rtlCol="0" anchor="b"/>
          <a:lstStyle/>
          <a:p>
            <a:pPr indent="0" marL="0">
              <a:buNone/>
            </a:pPr>
            <a:r>
              <a:rPr lang="en-US" sz="1000" dirty="0">
                <a:solidFill>
                  <a:srgbClr val="6B746D"/>
                </a:solidFill>
                <a:latin typeface="Source Sans 3" pitchFamily="34" charset="0"/>
                <a:ea typeface="Source Sans 3" pitchFamily="34" charset="-122"/>
                <a:cs typeface="Source Sans 3" pitchFamily="34" charset="-120"/>
              </a:rPr>
              <a:t>Sources: Global News, Mar 15, 2024; The Gazette, Oct 4, 2024; CASA, Walking the Tightrope, Mar 2025 (Abacus Data survey of 1,500 students, May 2024).</a:t>
            </a:r>
            <a:endParaRPr lang="en-US" sz="10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rgbClr val="6B746D"/>
                </a:solidFill>
                <a:latin typeface="Source Sans 3"/>
                <a:ea typeface="Source Sans 3"/>
                <a:cs typeface="Source Sans 3"/>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7"/>
          <p:cNvSpPr/>
          <p:nvPr>
            <p:ph idx="107" type="title" hasCustomPrompt="1"/>
          </p:nvPr>
        </p:nvSpPr>
        <p:spPr>
          <a:xfrm>
            <a:off x="685800" y="502920"/>
            <a:ext cx="9692640" cy="1143000"/>
          </a:xfrm>
          <a:prstGeom prst="rect">
            <a:avLst/>
          </a:prstGeom>
          <a:noFill/>
          <a:ln/>
        </p:spPr>
        <p:txBody>
          <a:bodyPr wrap="square" lIns="0" tIns="0" rIns="0" bIns="0" rtlCol="0" anchor="t"/>
          <a:lstStyle/>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Today, walk-in help is one basement</a:t>
            </a:r>
            <a:endParaRPr lang="en-US" sz="3000" dirty="0"/>
          </a:p>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room, open 24 hours a week</a:t>
            </a:r>
            <a:endParaRPr lang="en-US" sz="3000" dirty="0"/>
          </a:p>
        </p:txBody>
      </p:sp>
      <p:sp>
        <p:nvSpPr>
          <p:cNvPr id="3" name="Shape 1"/>
          <p:cNvSpPr/>
          <p:nvPr/>
        </p:nvSpPr>
        <p:spPr>
          <a:xfrm>
            <a:off x="795528" y="1938528"/>
            <a:ext cx="0" cy="3429000"/>
          </a:xfrm>
          <a:prstGeom prst="line">
            <a:avLst/>
          </a:prstGeom>
          <a:noFill/>
          <a:ln w="15875">
            <a:solidFill>
              <a:srgbClr val="D9D4C7"/>
            </a:solidFill>
            <a:prstDash val="solid"/>
          </a:ln>
        </p:spPr>
      </p:sp>
      <p:sp>
        <p:nvSpPr>
          <p:cNvPr id="4" name="Shape 2"/>
          <p:cNvSpPr/>
          <p:nvPr/>
        </p:nvSpPr>
        <p:spPr>
          <a:xfrm>
            <a:off x="717804" y="1920240"/>
            <a:ext cx="155448" cy="155448"/>
          </a:xfrm>
          <a:prstGeom prst="ellipse">
            <a:avLst/>
          </a:prstGeom>
          <a:solidFill>
            <a:srgbClr val="F7F5EF"/>
          </a:solidFill>
          <a:ln w="15875">
            <a:solidFill>
              <a:srgbClr val="6B746D"/>
            </a:solidFill>
            <a:prstDash val="solid"/>
          </a:ln>
        </p:spPr>
      </p:sp>
      <p:sp>
        <p:nvSpPr>
          <p:cNvPr id="5" name="Text 3"/>
          <p:cNvSpPr txBox="1"/>
          <p:nvPr/>
        </p:nvSpPr>
        <p:spPr>
          <a:xfrm>
            <a:off x="1143000" y="1828800"/>
            <a:ext cx="1737360" cy="384048"/>
          </a:xfrm>
          <a:prstGeom prst="rect">
            <a:avLst/>
          </a:prstGeom>
          <a:noFill/>
          <a:ln/>
        </p:spPr>
        <p:txBody>
          <a:bodyPr wrap="square" lIns="0" tIns="0" rIns="0" bIns="0" rtlCol="0" anchor="t"/>
          <a:lstStyle/>
          <a:p>
            <a:pPr indent="0" marL="0">
              <a:buNone/>
            </a:pPr>
            <a:r>
              <a:rPr lang="en-US" sz="2000" dirty="0">
                <a:solidFill>
                  <a:srgbClr val="15201A"/>
                </a:solidFill>
                <a:latin typeface="Source Serif 4" pitchFamily="34" charset="0"/>
                <a:ea typeface="Source Serif 4" pitchFamily="34" charset="-122"/>
                <a:cs typeface="Source Serif 4" pitchFamily="34" charset="-120"/>
              </a:rPr>
              <a:t>Sept 2023</a:t>
            </a:r>
            <a:endParaRPr lang="en-US" sz="2000" dirty="0"/>
          </a:p>
        </p:txBody>
      </p:sp>
      <p:sp>
        <p:nvSpPr>
          <p:cNvPr id="6" name="Text 4"/>
          <p:cNvSpPr txBox="1"/>
          <p:nvPr/>
        </p:nvSpPr>
        <p:spPr>
          <a:xfrm>
            <a:off x="2926080" y="1856232"/>
            <a:ext cx="8579815" cy="658368"/>
          </a:xfrm>
          <a:prstGeom prst="rect">
            <a:avLst/>
          </a:prstGeom>
          <a:noFill/>
          <a:ln/>
        </p:spPr>
        <p:txBody>
          <a:bodyPr wrap="square" lIns="0" tIns="0" rIns="0" bIns="0" rtlCol="0" anchor="t"/>
          <a:lstStyle/>
          <a:p>
            <a:pPr indent="0" marL="0">
              <a:buNone/>
            </a:pPr>
            <a:r>
              <a:rPr lang="en-US" sz="1800" dirty="0">
                <a:solidFill>
                  <a:srgbClr val="3A453E"/>
                </a:solidFill>
                <a:latin typeface="Source Sans 3" pitchFamily="34" charset="0"/>
                <a:ea typeface="Source Sans 3" pitchFamily="34" charset="-122"/>
                <a:cs typeface="Source Sans 3" pitchFamily="34" charset="-120"/>
              </a:rPr>
              <a:t>Walk-ins closed after demand rose 600%.</a:t>
            </a:r>
            <a:endParaRPr lang="en-US" sz="1800" dirty="0"/>
          </a:p>
        </p:txBody>
      </p:sp>
      <p:sp>
        <p:nvSpPr>
          <p:cNvPr id="7" name="Shape 5"/>
          <p:cNvSpPr/>
          <p:nvPr/>
        </p:nvSpPr>
        <p:spPr>
          <a:xfrm>
            <a:off x="717804" y="2706624"/>
            <a:ext cx="155448" cy="155448"/>
          </a:xfrm>
          <a:prstGeom prst="ellipse">
            <a:avLst/>
          </a:prstGeom>
          <a:solidFill>
            <a:srgbClr val="F7F5EF"/>
          </a:solidFill>
          <a:ln w="15875">
            <a:solidFill>
              <a:srgbClr val="6B746D"/>
            </a:solidFill>
            <a:prstDash val="solid"/>
          </a:ln>
        </p:spPr>
      </p:sp>
      <p:sp>
        <p:nvSpPr>
          <p:cNvPr id="8" name="Text 6"/>
          <p:cNvSpPr txBox="1"/>
          <p:nvPr/>
        </p:nvSpPr>
        <p:spPr>
          <a:xfrm>
            <a:off x="1143000" y="2615184"/>
            <a:ext cx="1737360" cy="384048"/>
          </a:xfrm>
          <a:prstGeom prst="rect">
            <a:avLst/>
          </a:prstGeom>
          <a:noFill/>
          <a:ln/>
        </p:spPr>
        <p:txBody>
          <a:bodyPr wrap="square" lIns="0" tIns="0" rIns="0" bIns="0" rtlCol="0" anchor="t"/>
          <a:lstStyle/>
          <a:p>
            <a:pPr indent="0" marL="0">
              <a:buNone/>
            </a:pPr>
            <a:r>
              <a:rPr lang="en-US" sz="2000" dirty="0">
                <a:solidFill>
                  <a:srgbClr val="15201A"/>
                </a:solidFill>
                <a:latin typeface="Source Serif 4" pitchFamily="34" charset="0"/>
                <a:ea typeface="Source Serif 4" pitchFamily="34" charset="-122"/>
                <a:cs typeface="Source Serif 4" pitchFamily="34" charset="-120"/>
              </a:rPr>
              <a:t>Oct 2024</a:t>
            </a:r>
            <a:endParaRPr lang="en-US" sz="2000" dirty="0"/>
          </a:p>
        </p:txBody>
      </p:sp>
      <p:sp>
        <p:nvSpPr>
          <p:cNvPr id="9" name="Text 7"/>
          <p:cNvSpPr txBox="1"/>
          <p:nvPr/>
        </p:nvSpPr>
        <p:spPr>
          <a:xfrm>
            <a:off x="2926080" y="2642616"/>
            <a:ext cx="8579815" cy="658368"/>
          </a:xfrm>
          <a:prstGeom prst="rect">
            <a:avLst/>
          </a:prstGeom>
          <a:noFill/>
          <a:ln/>
        </p:spPr>
        <p:txBody>
          <a:bodyPr wrap="square" lIns="0" tIns="0" rIns="0" bIns="0" rtlCol="0" anchor="t"/>
          <a:lstStyle/>
          <a:p>
            <a:pPr indent="0" marL="0">
              <a:buNone/>
            </a:pPr>
            <a:r>
              <a:rPr lang="en-US" sz="1800" dirty="0">
                <a:solidFill>
                  <a:srgbClr val="3A453E"/>
                </a:solidFill>
                <a:latin typeface="Source Sans 3" pitchFamily="34" charset="0"/>
                <a:ea typeface="Source Sans 3" pitchFamily="34" charset="-122"/>
                <a:cs typeface="Source Sans 3" pitchFamily="34" charset="-120"/>
              </a:rPr>
              <a:t>The food bank became hamper-only. Its 40 volunteers were replaced by six part-time staff.</a:t>
            </a:r>
            <a:endParaRPr lang="en-US" sz="1800" dirty="0"/>
          </a:p>
        </p:txBody>
      </p:sp>
      <p:sp>
        <p:nvSpPr>
          <p:cNvPr id="10" name="Shape 8"/>
          <p:cNvSpPr/>
          <p:nvPr/>
        </p:nvSpPr>
        <p:spPr>
          <a:xfrm>
            <a:off x="717804" y="3493008"/>
            <a:ext cx="155448" cy="155448"/>
          </a:xfrm>
          <a:prstGeom prst="ellipse">
            <a:avLst/>
          </a:prstGeom>
          <a:solidFill>
            <a:srgbClr val="F7F5EF"/>
          </a:solidFill>
          <a:ln w="15875">
            <a:solidFill>
              <a:srgbClr val="6B746D"/>
            </a:solidFill>
            <a:prstDash val="solid"/>
          </a:ln>
        </p:spPr>
      </p:sp>
      <p:sp>
        <p:nvSpPr>
          <p:cNvPr id="11" name="Text 9"/>
          <p:cNvSpPr txBox="1"/>
          <p:nvPr/>
        </p:nvSpPr>
        <p:spPr>
          <a:xfrm>
            <a:off x="1143000" y="3401568"/>
            <a:ext cx="1737360" cy="384048"/>
          </a:xfrm>
          <a:prstGeom prst="rect">
            <a:avLst/>
          </a:prstGeom>
          <a:noFill/>
          <a:ln/>
        </p:spPr>
        <p:txBody>
          <a:bodyPr wrap="square" lIns="0" tIns="0" rIns="0" bIns="0" rtlCol="0" anchor="t"/>
          <a:lstStyle/>
          <a:p>
            <a:pPr indent="0" marL="0">
              <a:buNone/>
            </a:pPr>
            <a:r>
              <a:rPr lang="en-US" sz="2000" dirty="0">
                <a:solidFill>
                  <a:srgbClr val="15201A"/>
                </a:solidFill>
                <a:latin typeface="Source Serif 4" pitchFamily="34" charset="0"/>
                <a:ea typeface="Source Serif 4" pitchFamily="34" charset="-122"/>
                <a:cs typeface="Source Serif 4" pitchFamily="34" charset="-120"/>
              </a:rPr>
              <a:t>Feb 2025</a:t>
            </a:r>
            <a:endParaRPr lang="en-US" sz="2000" dirty="0"/>
          </a:p>
        </p:txBody>
      </p:sp>
      <p:sp>
        <p:nvSpPr>
          <p:cNvPr id="12" name="Text 10"/>
          <p:cNvSpPr txBox="1"/>
          <p:nvPr/>
        </p:nvSpPr>
        <p:spPr>
          <a:xfrm>
            <a:off x="2926080" y="3429000"/>
            <a:ext cx="8579815" cy="658368"/>
          </a:xfrm>
          <a:prstGeom prst="rect">
            <a:avLst/>
          </a:prstGeom>
          <a:noFill/>
          <a:ln/>
        </p:spPr>
        <p:txBody>
          <a:bodyPr wrap="square" lIns="0" tIns="0" rIns="0" bIns="0" rtlCol="0" anchor="t"/>
          <a:lstStyle/>
          <a:p>
            <a:pPr indent="0" marL="0">
              <a:buNone/>
            </a:pPr>
            <a:r>
              <a:rPr lang="en-US" sz="1800" dirty="0">
                <a:solidFill>
                  <a:srgbClr val="3A453E"/>
                </a:solidFill>
                <a:latin typeface="Source Sans 3" pitchFamily="34" charset="0"/>
                <a:ea typeface="Source Sans 3" pitchFamily="34" charset="-122"/>
                <a:cs typeface="Source Sans 3" pitchFamily="34" charset="-120"/>
              </a:rPr>
              <a:t>The proposed 2025–26 USC budget dropped the Food Support Coordinator role.</a:t>
            </a:r>
            <a:endParaRPr lang="en-US" sz="1800" dirty="0"/>
          </a:p>
        </p:txBody>
      </p:sp>
      <p:sp>
        <p:nvSpPr>
          <p:cNvPr id="13" name="Shape 11"/>
          <p:cNvSpPr/>
          <p:nvPr/>
        </p:nvSpPr>
        <p:spPr>
          <a:xfrm>
            <a:off x="717804" y="4279392"/>
            <a:ext cx="155448" cy="155448"/>
          </a:xfrm>
          <a:prstGeom prst="ellipse">
            <a:avLst/>
          </a:prstGeom>
          <a:solidFill>
            <a:srgbClr val="F7F5EF"/>
          </a:solidFill>
          <a:ln w="15875">
            <a:solidFill>
              <a:srgbClr val="6B746D"/>
            </a:solidFill>
            <a:prstDash val="solid"/>
          </a:ln>
        </p:spPr>
      </p:sp>
      <p:sp>
        <p:nvSpPr>
          <p:cNvPr id="14" name="Text 12"/>
          <p:cNvSpPr txBox="1"/>
          <p:nvPr/>
        </p:nvSpPr>
        <p:spPr>
          <a:xfrm>
            <a:off x="1143000" y="4187952"/>
            <a:ext cx="1737360" cy="384048"/>
          </a:xfrm>
          <a:prstGeom prst="rect">
            <a:avLst/>
          </a:prstGeom>
          <a:noFill/>
          <a:ln/>
        </p:spPr>
        <p:txBody>
          <a:bodyPr wrap="square" lIns="0" tIns="0" rIns="0" bIns="0" rtlCol="0" anchor="t"/>
          <a:lstStyle/>
          <a:p>
            <a:pPr indent="0" marL="0">
              <a:buNone/>
            </a:pPr>
            <a:r>
              <a:rPr lang="en-US" sz="2000" dirty="0">
                <a:solidFill>
                  <a:srgbClr val="15201A"/>
                </a:solidFill>
                <a:latin typeface="Source Serif 4" pitchFamily="34" charset="0"/>
                <a:ea typeface="Source Serif 4" pitchFamily="34" charset="-122"/>
                <a:cs typeface="Source Serif 4" pitchFamily="34" charset="-120"/>
              </a:rPr>
              <a:t>Oct 2026</a:t>
            </a:r>
            <a:endParaRPr lang="en-US" sz="2000" dirty="0"/>
          </a:p>
        </p:txBody>
      </p:sp>
      <p:sp>
        <p:nvSpPr>
          <p:cNvPr id="15" name="Text 13"/>
          <p:cNvSpPr txBox="1"/>
          <p:nvPr/>
        </p:nvSpPr>
        <p:spPr>
          <a:xfrm>
            <a:off x="2926080" y="4215384"/>
            <a:ext cx="8579815" cy="658368"/>
          </a:xfrm>
          <a:prstGeom prst="rect">
            <a:avLst/>
          </a:prstGeom>
          <a:noFill/>
          <a:ln/>
        </p:spPr>
        <p:txBody>
          <a:bodyPr wrap="square" lIns="0" tIns="0" rIns="0" bIns="0" rtlCol="0" anchor="t"/>
          <a:lstStyle/>
          <a:p>
            <a:pPr indent="0" marL="0">
              <a:buNone/>
            </a:pPr>
            <a:r>
              <a:rPr lang="en-US" sz="1800" dirty="0">
                <a:solidFill>
                  <a:srgbClr val="3A453E"/>
                </a:solidFill>
                <a:latin typeface="Source Sans 3" pitchFamily="34" charset="0"/>
                <a:ea typeface="Source Sans 3" pitchFamily="34" charset="-122"/>
                <a:cs typeface="Source Sans 3" pitchFamily="34" charset="-120"/>
              </a:rPr>
              <a:t>The USC page lists walk-in hours in UCC 40F, Monday to Thursday, 10 to 4, and still says requests reopen Sept 8, 2025.</a:t>
            </a:r>
            <a:endParaRPr lang="en-US" sz="1800" dirty="0"/>
          </a:p>
        </p:txBody>
      </p:sp>
      <p:sp>
        <p:nvSpPr>
          <p:cNvPr id="16" name="Shape 14"/>
          <p:cNvSpPr/>
          <p:nvPr/>
        </p:nvSpPr>
        <p:spPr>
          <a:xfrm>
            <a:off x="717804" y="5065776"/>
            <a:ext cx="155448" cy="155448"/>
          </a:xfrm>
          <a:prstGeom prst="ellipse">
            <a:avLst/>
          </a:prstGeom>
          <a:solidFill>
            <a:srgbClr val="1D5E40"/>
          </a:solidFill>
          <a:ln w="15875">
            <a:solidFill>
              <a:srgbClr val="1D5E40"/>
            </a:solidFill>
            <a:prstDash val="solid"/>
          </a:ln>
        </p:spPr>
      </p:sp>
      <p:sp>
        <p:nvSpPr>
          <p:cNvPr id="17" name="Text 15"/>
          <p:cNvSpPr txBox="1"/>
          <p:nvPr/>
        </p:nvSpPr>
        <p:spPr>
          <a:xfrm>
            <a:off x="1143000" y="4974336"/>
            <a:ext cx="1737360" cy="384048"/>
          </a:xfrm>
          <a:prstGeom prst="rect">
            <a:avLst/>
          </a:prstGeom>
          <a:noFill/>
          <a:ln/>
        </p:spPr>
        <p:txBody>
          <a:bodyPr wrap="square" lIns="0" tIns="0" rIns="0" bIns="0" rtlCol="0" anchor="t"/>
          <a:lstStyle/>
          <a:p>
            <a:pPr indent="0" marL="0">
              <a:buNone/>
            </a:pPr>
            <a:r>
              <a:rPr lang="en-US" sz="2000" dirty="0">
                <a:solidFill>
                  <a:srgbClr val="1D5E40"/>
                </a:solidFill>
                <a:latin typeface="Source Serif 4" pitchFamily="34" charset="0"/>
                <a:ea typeface="Source Serif 4" pitchFamily="34" charset="-122"/>
                <a:cs typeface="Source Serif 4" pitchFamily="34" charset="-120"/>
              </a:rPr>
              <a:t>Today</a:t>
            </a:r>
            <a:endParaRPr lang="en-US" sz="2000" dirty="0"/>
          </a:p>
        </p:txBody>
      </p:sp>
      <p:sp>
        <p:nvSpPr>
          <p:cNvPr id="18" name="Text 16"/>
          <p:cNvSpPr txBox="1"/>
          <p:nvPr/>
        </p:nvSpPr>
        <p:spPr>
          <a:xfrm>
            <a:off x="2926080" y="5001768"/>
            <a:ext cx="8579815" cy="658368"/>
          </a:xfrm>
          <a:prstGeom prst="rect">
            <a:avLst/>
          </a:prstGeom>
          <a:noFill/>
          <a:ln/>
        </p:spPr>
        <p:txBody>
          <a:bodyPr wrap="square" lIns="0" tIns="0" rIns="0" bIns="0" rtlCol="0" anchor="t"/>
          <a:lstStyle/>
          <a:p>
            <a:pPr indent="0" marL="0">
              <a:buNone/>
            </a:pPr>
            <a:r>
              <a:rPr lang="en-US" sz="1800" dirty="0">
                <a:solidFill>
                  <a:srgbClr val="15201A"/>
                </a:solidFill>
                <a:latin typeface="Source Sans 3" pitchFamily="34" charset="0"/>
                <a:ea typeface="Source Sans 3" pitchFamily="34" charset="-122"/>
                <a:cs typeface="Source Sans 3" pitchFamily="34" charset="-120"/>
              </a:rPr>
              <a:t>Outside those 24 hours a week, help means an online form, at least 48 hours, and a locker.</a:t>
            </a:r>
            <a:endParaRPr lang="en-US" sz="1800" dirty="0"/>
          </a:p>
        </p:txBody>
      </p:sp>
      <p:sp>
        <p:nvSpPr>
          <p:cNvPr id="19" name="Text 17"/>
          <p:cNvSpPr txBox="1"/>
          <p:nvPr/>
        </p:nvSpPr>
        <p:spPr>
          <a:xfrm>
            <a:off x="685800" y="5943600"/>
            <a:ext cx="10820095" cy="274320"/>
          </a:xfrm>
          <a:prstGeom prst="rect">
            <a:avLst/>
          </a:prstGeom>
          <a:noFill/>
          <a:ln/>
        </p:spPr>
        <p:txBody>
          <a:bodyPr wrap="square" lIns="0" tIns="0" rIns="0" bIns="0" rtlCol="0" anchor="b"/>
          <a:lstStyle/>
          <a:p>
            <a:pPr indent="0" marL="0">
              <a:buNone/>
            </a:pPr>
            <a:r>
              <a:rPr lang="en-US" sz="1000" dirty="0">
                <a:solidFill>
                  <a:srgbClr val="6B746D"/>
                </a:solidFill>
                <a:latin typeface="Source Sans 3" pitchFamily="34" charset="0"/>
                <a:ea typeface="Source Sans 3" pitchFamily="34" charset="-122"/>
                <a:cs typeface="Source Sans 3" pitchFamily="34" charset="-120"/>
              </a:rPr>
              <a:t>Sources: The Gazette, Oct 4, 2024 and Feb 2025; USC Food Support page, checked Oct 31, 2026 (office hours; “can be filled in as soon as 48 hours”).</a:t>
            </a:r>
            <a:endParaRPr lang="en-US" sz="10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rgbClr val="6B746D"/>
                </a:solidFill>
                <a:latin typeface="Source Sans 3"/>
                <a:ea typeface="Source Sans 3"/>
                <a:cs typeface="Source Sans 3"/>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7"/>
          <p:cNvSpPr/>
          <p:nvPr>
            <p:ph idx="107" type="title" hasCustomPrompt="1"/>
          </p:nvPr>
        </p:nvSpPr>
        <p:spPr>
          <a:xfrm>
            <a:off x="685800" y="502920"/>
            <a:ext cx="9692640" cy="1143000"/>
          </a:xfrm>
          <a:prstGeom prst="rect">
            <a:avLst/>
          </a:prstGeom>
          <a:noFill/>
          <a:ln/>
        </p:spPr>
        <p:txBody>
          <a:bodyPr wrap="square" lIns="0" tIns="0" rIns="0" bIns="0" rtlCol="0" anchor="t"/>
          <a:lstStyle/>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Help exists, but access, supply and</a:t>
            </a:r>
            <a:endParaRPr lang="en-US" sz="3000" dirty="0"/>
          </a:p>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information get in the way</a:t>
            </a:r>
            <a:endParaRPr lang="en-US" sz="3000" dirty="0"/>
          </a:p>
        </p:txBody>
      </p:sp>
      <p:sp>
        <p:nvSpPr>
          <p:cNvPr id="3" name="Shape 1"/>
          <p:cNvSpPr/>
          <p:nvPr/>
        </p:nvSpPr>
        <p:spPr>
          <a:xfrm>
            <a:off x="685800" y="1874520"/>
            <a:ext cx="365760" cy="41148"/>
          </a:xfrm>
          <a:prstGeom prst="rect">
            <a:avLst/>
          </a:prstGeom>
          <a:solidFill>
            <a:srgbClr val="A97A2F"/>
          </a:solidFill>
          <a:ln w="12700">
            <a:solidFill>
              <a:srgbClr val="A97A2F"/>
            </a:solidFill>
            <a:prstDash val="solid"/>
          </a:ln>
        </p:spPr>
      </p:sp>
      <p:sp>
        <p:nvSpPr>
          <p:cNvPr id="4" name="Text 2"/>
          <p:cNvSpPr txBox="1"/>
          <p:nvPr/>
        </p:nvSpPr>
        <p:spPr>
          <a:xfrm>
            <a:off x="685800" y="2029968"/>
            <a:ext cx="3332378" cy="457200"/>
          </a:xfrm>
          <a:prstGeom prst="rect">
            <a:avLst/>
          </a:prstGeom>
          <a:noFill/>
          <a:ln/>
        </p:spPr>
        <p:txBody>
          <a:bodyPr wrap="square" lIns="0" tIns="0" rIns="0" bIns="0" rtlCol="0" anchor="t"/>
          <a:lstStyle/>
          <a:p>
            <a:pPr indent="0" marL="0">
              <a:buNone/>
            </a:pPr>
            <a:r>
              <a:rPr lang="en-US" sz="2600" dirty="0">
                <a:solidFill>
                  <a:srgbClr val="15201A"/>
                </a:solidFill>
                <a:latin typeface="Source Serif 4" pitchFamily="34" charset="0"/>
                <a:ea typeface="Source Serif 4" pitchFamily="34" charset="-122"/>
                <a:cs typeface="Source Serif 4" pitchFamily="34" charset="-120"/>
              </a:rPr>
              <a:t>Access</a:t>
            </a:r>
            <a:endParaRPr lang="en-US" sz="2600" dirty="0"/>
          </a:p>
        </p:txBody>
      </p:sp>
      <p:sp>
        <p:nvSpPr>
          <p:cNvPr id="5" name="Text 3"/>
          <p:cNvSpPr txBox="1"/>
          <p:nvPr/>
        </p:nvSpPr>
        <p:spPr>
          <a:xfrm>
            <a:off x="685800" y="2697480"/>
            <a:ext cx="3240938" cy="2011680"/>
          </a:xfrm>
          <a:prstGeom prst="rect">
            <a:avLst/>
          </a:prstGeom>
          <a:noFill/>
          <a:ln/>
        </p:spPr>
        <p:txBody>
          <a:bodyPr wrap="square" lIns="0" tIns="0" rIns="0" bIns="0" rtlCol="0" anchor="t"/>
          <a:lstStyle/>
          <a:p>
            <a:pPr marL="190500" indent="-190500">
              <a:spcAft>
                <a:spcPts val="900"/>
              </a:spcAft>
              <a:buSzPct val="100000"/>
              <a:buChar char="•"/>
            </a:pPr>
            <a:r>
              <a:rPr lang="en-US" sz="1600" dirty="0">
                <a:solidFill>
                  <a:srgbClr val="3A453E"/>
                </a:solidFill>
                <a:latin typeface="Source Sans 3" pitchFamily="34" charset="0"/>
                <a:ea typeface="Source Sans 3" pitchFamily="34" charset="-122"/>
                <a:cs typeface="Source Sans 3" pitchFamily="34" charset="-120"/>
              </a:rPr>
              <a:t>One room, open 24 hours a week</a:t>
            </a:r>
            <a:endParaRPr lang="en-US" sz="1600" dirty="0"/>
          </a:p>
          <a:p>
            <a:pPr marL="190500" indent="-190500">
              <a:spcAft>
                <a:spcPts val="900"/>
              </a:spcAft>
              <a:buSzPct val="100000"/>
              <a:buChar char="•"/>
            </a:pPr>
            <a:r>
              <a:rPr lang="en-US" sz="1600" dirty="0">
                <a:solidFill>
                  <a:srgbClr val="3A453E"/>
                </a:solidFill>
                <a:latin typeface="Source Sans 3" pitchFamily="34" charset="0"/>
                <a:ea typeface="Source Sans 3" pitchFamily="34" charset="-122"/>
                <a:cs typeface="Source Sans 3" pitchFamily="34" charset="-120"/>
              </a:rPr>
              <a:t>Closed after 4 p.m. and Fri–Sun</a:t>
            </a:r>
            <a:endParaRPr lang="en-US" sz="1600" dirty="0"/>
          </a:p>
          <a:p>
            <a:pPr marL="190500" indent="-190500">
              <a:spcAft>
                <a:spcPts val="900"/>
              </a:spcAft>
              <a:buSzPct val="100000"/>
              <a:buChar char="•"/>
            </a:pPr>
            <a:r>
              <a:rPr lang="en-US" sz="1600" dirty="0">
                <a:solidFill>
                  <a:srgbClr val="3A453E"/>
                </a:solidFill>
                <a:latin typeface="Source Sans 3" pitchFamily="34" charset="0"/>
                <a:ea typeface="Source Sans 3" pitchFamily="34" charset="-122"/>
                <a:cs typeface="Source Sans 3" pitchFamily="34" charset="-120"/>
              </a:rPr>
              <a:t>Hampers take at least 48 hours</a:t>
            </a:r>
            <a:endParaRPr lang="en-US" sz="1600" dirty="0"/>
          </a:p>
        </p:txBody>
      </p:sp>
      <p:sp>
        <p:nvSpPr>
          <p:cNvPr id="6" name="Shape 4"/>
          <p:cNvSpPr/>
          <p:nvPr/>
        </p:nvSpPr>
        <p:spPr>
          <a:xfrm>
            <a:off x="4429658" y="1874520"/>
            <a:ext cx="365760" cy="41148"/>
          </a:xfrm>
          <a:prstGeom prst="rect">
            <a:avLst/>
          </a:prstGeom>
          <a:solidFill>
            <a:srgbClr val="A97A2F"/>
          </a:solidFill>
          <a:ln w="12700">
            <a:solidFill>
              <a:srgbClr val="A97A2F"/>
            </a:solidFill>
            <a:prstDash val="solid"/>
          </a:ln>
        </p:spPr>
      </p:sp>
      <p:sp>
        <p:nvSpPr>
          <p:cNvPr id="7" name="Text 5"/>
          <p:cNvSpPr txBox="1"/>
          <p:nvPr/>
        </p:nvSpPr>
        <p:spPr>
          <a:xfrm>
            <a:off x="4429658" y="2029968"/>
            <a:ext cx="3332378" cy="457200"/>
          </a:xfrm>
          <a:prstGeom prst="rect">
            <a:avLst/>
          </a:prstGeom>
          <a:noFill/>
          <a:ln/>
        </p:spPr>
        <p:txBody>
          <a:bodyPr wrap="square" lIns="0" tIns="0" rIns="0" bIns="0" rtlCol="0" anchor="t"/>
          <a:lstStyle/>
          <a:p>
            <a:pPr indent="0" marL="0">
              <a:buNone/>
            </a:pPr>
            <a:r>
              <a:rPr lang="en-US" sz="2600" dirty="0">
                <a:solidFill>
                  <a:srgbClr val="15201A"/>
                </a:solidFill>
                <a:latin typeface="Source Serif 4" pitchFamily="34" charset="0"/>
                <a:ea typeface="Source Serif 4" pitchFamily="34" charset="-122"/>
                <a:cs typeface="Source Serif 4" pitchFamily="34" charset="-120"/>
              </a:rPr>
              <a:t>Supply</a:t>
            </a:r>
            <a:endParaRPr lang="en-US" sz="2600" dirty="0"/>
          </a:p>
        </p:txBody>
      </p:sp>
      <p:sp>
        <p:nvSpPr>
          <p:cNvPr id="8" name="Text 6"/>
          <p:cNvSpPr txBox="1"/>
          <p:nvPr/>
        </p:nvSpPr>
        <p:spPr>
          <a:xfrm>
            <a:off x="4429658" y="2697480"/>
            <a:ext cx="3240938" cy="2011680"/>
          </a:xfrm>
          <a:prstGeom prst="rect">
            <a:avLst/>
          </a:prstGeom>
          <a:noFill/>
          <a:ln/>
        </p:spPr>
        <p:txBody>
          <a:bodyPr wrap="square" lIns="0" tIns="0" rIns="0" bIns="0" rtlCol="0" anchor="t"/>
          <a:lstStyle/>
          <a:p>
            <a:pPr marL="190500" indent="-190500">
              <a:spcAft>
                <a:spcPts val="900"/>
              </a:spcAft>
              <a:buSzPct val="100000"/>
              <a:buChar char="•"/>
            </a:pPr>
            <a:r>
              <a:rPr lang="en-US" sz="1600" dirty="0">
                <a:solidFill>
                  <a:srgbClr val="3A453E"/>
                </a:solidFill>
                <a:latin typeface="Source Sans 3" pitchFamily="34" charset="0"/>
                <a:ea typeface="Source Sans 3" pitchFamily="34" charset="-122"/>
                <a:cs typeface="Source Sans 3" pitchFamily="34" charset="-120"/>
              </a:rPr>
              <a:t>Runs entirely on donations</a:t>
            </a:r>
            <a:endParaRPr lang="en-US" sz="1600" dirty="0"/>
          </a:p>
          <a:p>
            <a:pPr marL="190500" indent="-190500">
              <a:spcAft>
                <a:spcPts val="900"/>
              </a:spcAft>
              <a:buSzPct val="100000"/>
              <a:buChar char="•"/>
            </a:pPr>
            <a:r>
              <a:rPr lang="en-US" sz="1600" dirty="0">
                <a:solidFill>
                  <a:srgbClr val="3A453E"/>
                </a:solidFill>
                <a:latin typeface="Source Sans 3" pitchFamily="34" charset="0"/>
                <a:ea typeface="Source Sans 3" pitchFamily="34" charset="-122"/>
                <a:cs typeface="Source Sans 3" pitchFamily="34" charset="-120"/>
              </a:rPr>
              <a:t>None of the 21 USC fee lines for 2026–27 funds it</a:t>
            </a:r>
            <a:endParaRPr lang="en-US" sz="1600" dirty="0"/>
          </a:p>
          <a:p>
            <a:pPr marL="190500" indent="-190500">
              <a:spcAft>
                <a:spcPts val="900"/>
              </a:spcAft>
              <a:buSzPct val="100000"/>
              <a:buChar char="•"/>
            </a:pPr>
            <a:r>
              <a:rPr lang="en-US" sz="1600" dirty="0">
                <a:solidFill>
                  <a:srgbClr val="3A453E"/>
                </a:solidFill>
                <a:latin typeface="Source Sans 3" pitchFamily="34" charset="0"/>
                <a:ea typeface="Source Sans 3" pitchFamily="34" charset="-122"/>
                <a:cs typeface="Source Sans 3" pitchFamily="34" charset="-120"/>
              </a:rPr>
              <a:t>Special requests often go unmet</a:t>
            </a:r>
            <a:endParaRPr lang="en-US" sz="1600" dirty="0"/>
          </a:p>
        </p:txBody>
      </p:sp>
      <p:sp>
        <p:nvSpPr>
          <p:cNvPr id="9" name="Shape 7"/>
          <p:cNvSpPr/>
          <p:nvPr/>
        </p:nvSpPr>
        <p:spPr>
          <a:xfrm>
            <a:off x="8173517" y="1874520"/>
            <a:ext cx="365760" cy="41148"/>
          </a:xfrm>
          <a:prstGeom prst="rect">
            <a:avLst/>
          </a:prstGeom>
          <a:solidFill>
            <a:srgbClr val="A97A2F"/>
          </a:solidFill>
          <a:ln w="12700">
            <a:solidFill>
              <a:srgbClr val="A97A2F"/>
            </a:solidFill>
            <a:prstDash val="solid"/>
          </a:ln>
        </p:spPr>
      </p:sp>
      <p:sp>
        <p:nvSpPr>
          <p:cNvPr id="10" name="Text 8"/>
          <p:cNvSpPr txBox="1"/>
          <p:nvPr/>
        </p:nvSpPr>
        <p:spPr>
          <a:xfrm>
            <a:off x="8173517" y="2029968"/>
            <a:ext cx="3332378" cy="457200"/>
          </a:xfrm>
          <a:prstGeom prst="rect">
            <a:avLst/>
          </a:prstGeom>
          <a:noFill/>
          <a:ln/>
        </p:spPr>
        <p:txBody>
          <a:bodyPr wrap="square" lIns="0" tIns="0" rIns="0" bIns="0" rtlCol="0" anchor="t"/>
          <a:lstStyle/>
          <a:p>
            <a:pPr indent="0" marL="0">
              <a:buNone/>
            </a:pPr>
            <a:r>
              <a:rPr lang="en-US" sz="2600" dirty="0">
                <a:solidFill>
                  <a:srgbClr val="15201A"/>
                </a:solidFill>
                <a:latin typeface="Source Serif 4" pitchFamily="34" charset="0"/>
                <a:ea typeface="Source Serif 4" pitchFamily="34" charset="-122"/>
                <a:cs typeface="Source Serif 4" pitchFamily="34" charset="-120"/>
              </a:rPr>
              <a:t>Information</a:t>
            </a:r>
            <a:endParaRPr lang="en-US" sz="2600" dirty="0"/>
          </a:p>
        </p:txBody>
      </p:sp>
      <p:sp>
        <p:nvSpPr>
          <p:cNvPr id="11" name="Text 9"/>
          <p:cNvSpPr txBox="1"/>
          <p:nvPr/>
        </p:nvSpPr>
        <p:spPr>
          <a:xfrm>
            <a:off x="8173517" y="2697480"/>
            <a:ext cx="3240938" cy="2011680"/>
          </a:xfrm>
          <a:prstGeom prst="rect">
            <a:avLst/>
          </a:prstGeom>
          <a:noFill/>
          <a:ln/>
        </p:spPr>
        <p:txBody>
          <a:bodyPr wrap="square" lIns="0" tIns="0" rIns="0" bIns="0" rtlCol="0" anchor="t"/>
          <a:lstStyle/>
          <a:p>
            <a:pPr marL="190500" indent="-190500">
              <a:spcAft>
                <a:spcPts val="900"/>
              </a:spcAft>
              <a:buSzPct val="100000"/>
              <a:buChar char="•"/>
            </a:pPr>
            <a:r>
              <a:rPr lang="en-US" sz="1600" dirty="0">
                <a:solidFill>
                  <a:srgbClr val="3A453E"/>
                </a:solidFill>
                <a:latin typeface="Source Sans 3" pitchFamily="34" charset="0"/>
                <a:ea typeface="Source Sans 3" pitchFamily="34" charset="-122"/>
                <a:cs typeface="Source Sans 3" pitchFamily="34" charset="-120"/>
              </a:rPr>
              <a:t>Five services, each with its own hours and rules</a:t>
            </a:r>
            <a:endParaRPr lang="en-US" sz="1600" dirty="0"/>
          </a:p>
          <a:p>
            <a:pPr marL="190500" indent="-190500">
              <a:spcAft>
                <a:spcPts val="900"/>
              </a:spcAft>
              <a:buSzPct val="100000"/>
              <a:buChar char="•"/>
            </a:pPr>
            <a:r>
              <a:rPr lang="en-US" sz="1600" dirty="0">
                <a:solidFill>
                  <a:srgbClr val="3A453E"/>
                </a:solidFill>
                <a:latin typeface="Source Sans 3" pitchFamily="34" charset="0"/>
                <a:ea typeface="Source Sans 3" pitchFamily="34" charset="-122"/>
                <a:cs typeface="Source Sans 3" pitchFamily="34" charset="-120"/>
              </a:rPr>
              <a:t>The USC page lists walk-in hours but says requests reopen Sept 2025</a:t>
            </a:r>
            <a:endParaRPr lang="en-US" sz="1600" dirty="0"/>
          </a:p>
          <a:p>
            <a:pPr marL="190500" indent="-190500">
              <a:spcAft>
                <a:spcPts val="900"/>
              </a:spcAft>
              <a:buSzPct val="100000"/>
              <a:buChar char="•"/>
            </a:pPr>
            <a:r>
              <a:rPr lang="en-US" sz="1600" dirty="0">
                <a:solidFill>
                  <a:srgbClr val="3A453E"/>
                </a:solidFill>
                <a:latin typeface="Source Sans 3" pitchFamily="34" charset="0"/>
                <a:ea typeface="Source Sans 3" pitchFamily="34" charset="-122"/>
                <a:cs typeface="Source Sans 3" pitchFamily="34" charset="-120"/>
              </a:rPr>
              <a:t>Nowhere shows what’s in stock</a:t>
            </a:r>
            <a:endParaRPr lang="en-US" sz="1600" dirty="0"/>
          </a:p>
        </p:txBody>
      </p:sp>
      <p:sp>
        <p:nvSpPr>
          <p:cNvPr id="12" name="Shape 10"/>
          <p:cNvSpPr/>
          <p:nvPr/>
        </p:nvSpPr>
        <p:spPr>
          <a:xfrm>
            <a:off x="685800" y="5074920"/>
            <a:ext cx="10820095" cy="603504"/>
          </a:xfrm>
          <a:prstGeom prst="rect">
            <a:avLst/>
          </a:prstGeom>
          <a:solidFill>
            <a:srgbClr val="E1EAE1"/>
          </a:solidFill>
          <a:ln w="12700">
            <a:solidFill>
              <a:srgbClr val="E1EAE1"/>
            </a:solidFill>
            <a:prstDash val="solid"/>
          </a:ln>
        </p:spPr>
      </p:sp>
      <p:sp>
        <p:nvSpPr>
          <p:cNvPr id="13" name="Text 11"/>
          <p:cNvSpPr txBox="1"/>
          <p:nvPr/>
        </p:nvSpPr>
        <p:spPr>
          <a:xfrm>
            <a:off x="941832" y="5074920"/>
            <a:ext cx="10308031" cy="603504"/>
          </a:xfrm>
          <a:prstGeom prst="rect">
            <a:avLst/>
          </a:prstGeom>
          <a:noFill/>
          <a:ln/>
        </p:spPr>
        <p:txBody>
          <a:bodyPr wrap="square" lIns="0" tIns="0" rIns="0" bIns="0" rtlCol="0" anchor="ctr"/>
          <a:lstStyle/>
          <a:p>
            <a:pPr indent="0" marL="0">
              <a:buNone/>
            </a:pPr>
            <a:r>
              <a:rPr lang="en-US" sz="1600" dirty="0">
                <a:solidFill>
                  <a:srgbClr val="15201A"/>
                </a:solidFill>
                <a:latin typeface="Source Sans 3" pitchFamily="34" charset="0"/>
                <a:ea typeface="Source Sans 3" pitchFamily="34" charset="-122"/>
                <a:cs typeface="Source Sans 3" pitchFamily="34" charset="-120"/>
              </a:rPr>
              <a:t>Western publishes no food-insecurity rate of its own, so hamper counts only show the students who asked.</a:t>
            </a:r>
            <a:endParaRPr lang="en-US" sz="1600" dirty="0"/>
          </a:p>
        </p:txBody>
      </p:sp>
      <p:sp>
        <p:nvSpPr>
          <p:cNvPr id="14" name="Text 12"/>
          <p:cNvSpPr txBox="1"/>
          <p:nvPr/>
        </p:nvSpPr>
        <p:spPr>
          <a:xfrm>
            <a:off x="685800" y="5943600"/>
            <a:ext cx="10820095" cy="274320"/>
          </a:xfrm>
          <a:prstGeom prst="rect">
            <a:avLst/>
          </a:prstGeom>
          <a:noFill/>
          <a:ln/>
        </p:spPr>
        <p:txBody>
          <a:bodyPr wrap="square" lIns="0" tIns="0" rIns="0" bIns="0" rtlCol="0" anchor="b"/>
          <a:lstStyle/>
          <a:p>
            <a:pPr indent="0" marL="0">
              <a:buNone/>
            </a:pPr>
            <a:r>
              <a:rPr lang="en-US" sz="1000" dirty="0">
                <a:solidFill>
                  <a:srgbClr val="6B746D"/>
                </a:solidFill>
                <a:latin typeface="Source Sans 3" pitchFamily="34" charset="0"/>
                <a:ea typeface="Source Sans 3" pitchFamily="34" charset="-122"/>
                <a:cs typeface="Source Sans 3" pitchFamily="34" charset="-120"/>
              </a:rPr>
              <a:t>Sources: USC Food Support page (“we are often not able to honour all special requests”) and 2026–27 fee schedule, checked Oct 2026.</a:t>
            </a:r>
            <a:endParaRPr lang="en-US" sz="10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rgbClr val="6B746D"/>
                </a:solidFill>
                <a:latin typeface="Source Sans 3"/>
                <a:ea typeface="Source Sans 3"/>
                <a:cs typeface="Source Sans 3"/>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7"/>
          <p:cNvSpPr/>
          <p:nvPr>
            <p:ph idx="107" type="title" hasCustomPrompt="1"/>
          </p:nvPr>
        </p:nvSpPr>
        <p:spPr>
          <a:xfrm>
            <a:off x="685800" y="502920"/>
            <a:ext cx="9692640" cy="1143000"/>
          </a:xfrm>
          <a:prstGeom prst="rect">
            <a:avLst/>
          </a:prstGeom>
          <a:noFill/>
          <a:ln/>
        </p:spPr>
        <p:txBody>
          <a:bodyPr wrap="square" lIns="0" tIns="0" rIns="0" bIns="0" rtlCol="0" anchor="t"/>
          <a:lstStyle/>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The USC closed walk-ins in 2023</a:t>
            </a:r>
            <a:endParaRPr lang="en-US" sz="3000" dirty="0"/>
          </a:p>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because they were hard to organize</a:t>
            </a:r>
            <a:endParaRPr lang="en-US" sz="3000" dirty="0"/>
          </a:p>
        </p:txBody>
      </p:sp>
      <p:sp>
        <p:nvSpPr>
          <p:cNvPr id="3" name="Shape 1"/>
          <p:cNvSpPr/>
          <p:nvPr/>
        </p:nvSpPr>
        <p:spPr>
          <a:xfrm>
            <a:off x="685800" y="1828800"/>
            <a:ext cx="5029200" cy="3200400"/>
          </a:xfrm>
          <a:prstGeom prst="rect">
            <a:avLst/>
          </a:prstGeom>
          <a:solidFill>
            <a:srgbClr val="EEEADF"/>
          </a:solidFill>
          <a:ln w="12700">
            <a:solidFill>
              <a:srgbClr val="EEEADF"/>
            </a:solidFill>
            <a:prstDash val="solid"/>
          </a:ln>
        </p:spPr>
      </p:sp>
      <p:sp>
        <p:nvSpPr>
          <p:cNvPr id="4" name="Text 2"/>
          <p:cNvSpPr txBox="1"/>
          <p:nvPr/>
        </p:nvSpPr>
        <p:spPr>
          <a:xfrm>
            <a:off x="1033272" y="1783080"/>
            <a:ext cx="1097280" cy="1097280"/>
          </a:xfrm>
          <a:prstGeom prst="rect">
            <a:avLst/>
          </a:prstGeom>
          <a:noFill/>
          <a:ln/>
        </p:spPr>
        <p:txBody>
          <a:bodyPr wrap="square" lIns="0" tIns="0" rIns="0" bIns="0" rtlCol="0" anchor="t"/>
          <a:lstStyle/>
          <a:p>
            <a:pPr indent="0" marL="0">
              <a:buNone/>
            </a:pPr>
            <a:r>
              <a:rPr lang="en-US" sz="11000" dirty="0">
                <a:solidFill>
                  <a:srgbClr val="A97A2F"/>
                </a:solidFill>
                <a:latin typeface="Source Serif 4" pitchFamily="34" charset="0"/>
                <a:ea typeface="Source Serif 4" pitchFamily="34" charset="-122"/>
                <a:cs typeface="Source Serif 4" pitchFamily="34" charset="-120"/>
              </a:rPr>
              <a:t>“</a:t>
            </a:r>
            <a:endParaRPr lang="en-US" sz="11000" dirty="0"/>
          </a:p>
        </p:txBody>
      </p:sp>
      <p:sp>
        <p:nvSpPr>
          <p:cNvPr id="5" name="Text 3"/>
          <p:cNvSpPr txBox="1"/>
          <p:nvPr/>
        </p:nvSpPr>
        <p:spPr>
          <a:xfrm>
            <a:off x="1069848" y="2697480"/>
            <a:ext cx="4297680" cy="1737360"/>
          </a:xfrm>
          <a:prstGeom prst="rect">
            <a:avLst/>
          </a:prstGeom>
          <a:noFill/>
          <a:ln/>
        </p:spPr>
        <p:txBody>
          <a:bodyPr wrap="square" lIns="0" tIns="0" rIns="0" bIns="0" rtlCol="0" anchor="t"/>
          <a:lstStyle/>
          <a:p>
            <a:pPr indent="0" marL="0">
              <a:buNone/>
            </a:pPr>
            <a:r>
              <a:rPr lang="en-US" sz="2800" i="1" dirty="0">
                <a:solidFill>
                  <a:srgbClr val="15201A"/>
                </a:solidFill>
                <a:latin typeface="Source Serif 4" pitchFamily="34" charset="0"/>
                <a:ea typeface="Source Serif 4" pitchFamily="34" charset="-122"/>
                <a:cs typeface="Source Serif 4" pitchFamily="34" charset="-120"/>
              </a:rPr>
              <a:t>Walk-ins made it </a:t>
            </a:r>
            <a:pPr indent="0" marL="0">
              <a:buNone/>
            </a:pPr>
            <a:r>
              <a:rPr lang="en-US" sz="2800" i="1" dirty="0">
                <a:solidFill>
                  <a:srgbClr val="1D5E40"/>
                </a:solidFill>
                <a:latin typeface="Source Serif 4" pitchFamily="34" charset="0"/>
                <a:ea typeface="Source Serif 4" pitchFamily="34" charset="-122"/>
                <a:cs typeface="Source Serif 4" pitchFamily="34" charset="-120"/>
              </a:rPr>
              <a:t>incredibly difficult</a:t>
            </a:r>
            <a:pPr indent="0" marL="0">
              <a:buNone/>
            </a:pPr>
            <a:r>
              <a:rPr lang="en-US" sz="2800" i="1" dirty="0">
                <a:solidFill>
                  <a:srgbClr val="15201A"/>
                </a:solidFill>
                <a:latin typeface="Source Serif 4" pitchFamily="34" charset="0"/>
                <a:ea typeface="Source Serif 4" pitchFamily="34" charset="-122"/>
                <a:cs typeface="Source Serif 4" pitchFamily="34" charset="-120"/>
              </a:rPr>
              <a:t> to get food out in an organized way.</a:t>
            </a:r>
            <a:endParaRPr lang="en-US" sz="2800" dirty="0"/>
          </a:p>
        </p:txBody>
      </p:sp>
      <p:sp>
        <p:nvSpPr>
          <p:cNvPr id="6" name="Text 4"/>
          <p:cNvSpPr txBox="1"/>
          <p:nvPr/>
        </p:nvSpPr>
        <p:spPr>
          <a:xfrm>
            <a:off x="1069848" y="4480560"/>
            <a:ext cx="4297680" cy="320040"/>
          </a:xfrm>
          <a:prstGeom prst="rect">
            <a:avLst/>
          </a:prstGeom>
          <a:noFill/>
          <a:ln/>
        </p:spPr>
        <p:txBody>
          <a:bodyPr wrap="square" lIns="0" tIns="0" rIns="0" bIns="0" rtlCol="0" anchor="t"/>
          <a:lstStyle/>
          <a:p>
            <a:pPr indent="0" marL="0">
              <a:buNone/>
            </a:pPr>
            <a:r>
              <a:rPr lang="en-US" sz="1300" dirty="0">
                <a:solidFill>
                  <a:srgbClr val="6B746D"/>
                </a:solidFill>
                <a:latin typeface="Source Sans 3" pitchFamily="34" charset="0"/>
                <a:ea typeface="Source Sans 3" pitchFamily="34" charset="-122"/>
                <a:cs typeface="Source Sans 3" pitchFamily="34" charset="-120"/>
              </a:rPr>
              <a:t>The USC, quoted in The Gazette, October 4, 2024</a:t>
            </a:r>
            <a:endParaRPr lang="en-US" sz="1300" dirty="0"/>
          </a:p>
        </p:txBody>
      </p:sp>
      <p:sp>
        <p:nvSpPr>
          <p:cNvPr id="7" name="Text 5"/>
          <p:cNvSpPr txBox="1"/>
          <p:nvPr/>
        </p:nvSpPr>
        <p:spPr>
          <a:xfrm>
            <a:off x="6217920" y="1828800"/>
            <a:ext cx="5287975" cy="640080"/>
          </a:xfrm>
          <a:prstGeom prst="rect">
            <a:avLst/>
          </a:prstGeom>
          <a:noFill/>
          <a:ln/>
        </p:spPr>
        <p:txBody>
          <a:bodyPr wrap="square" lIns="0" tIns="0" rIns="0" bIns="0" rtlCol="0" anchor="t"/>
          <a:lstStyle/>
          <a:p>
            <a:pPr indent="0" marL="0">
              <a:buNone/>
            </a:pPr>
            <a:r>
              <a:rPr lang="en-US" sz="1800" b="1" dirty="0">
                <a:solidFill>
                  <a:srgbClr val="15201A"/>
                </a:solidFill>
                <a:latin typeface="Source Sans 3" pitchFamily="34" charset="0"/>
                <a:ea typeface="Source Sans 3" pitchFamily="34" charset="-122"/>
                <a:cs typeface="Source Sans 3" pitchFamily="34" charset="-120"/>
              </a:rPr>
              <a:t>FoodLink adds walk-up access with the controls walk-ins lacked:</a:t>
            </a:r>
            <a:endParaRPr lang="en-US" sz="1800" dirty="0"/>
          </a:p>
        </p:txBody>
      </p:sp>
      <p:sp>
        <p:nvSpPr>
          <p:cNvPr id="8" name="Shape 6"/>
          <p:cNvSpPr/>
          <p:nvPr/>
        </p:nvSpPr>
        <p:spPr>
          <a:xfrm>
            <a:off x="6217920" y="2569464"/>
            <a:ext cx="5287975" cy="0"/>
          </a:xfrm>
          <a:prstGeom prst="line">
            <a:avLst/>
          </a:prstGeom>
          <a:noFill/>
          <a:ln w="9525">
            <a:solidFill>
              <a:srgbClr val="D9D4C7"/>
            </a:solidFill>
            <a:prstDash val="solid"/>
          </a:ln>
        </p:spPr>
      </p:sp>
      <p:sp>
        <p:nvSpPr>
          <p:cNvPr id="9" name="Text 7"/>
          <p:cNvSpPr txBox="1"/>
          <p:nvPr/>
        </p:nvSpPr>
        <p:spPr>
          <a:xfrm>
            <a:off x="6217920" y="2697480"/>
            <a:ext cx="1737360" cy="548640"/>
          </a:xfrm>
          <a:prstGeom prst="rect">
            <a:avLst/>
          </a:prstGeom>
          <a:noFill/>
          <a:ln/>
        </p:spPr>
        <p:txBody>
          <a:bodyPr wrap="square" lIns="0" tIns="0" rIns="0" bIns="0" rtlCol="0" anchor="t"/>
          <a:lstStyle/>
          <a:p>
            <a:pPr indent="0" marL="0">
              <a:buNone/>
            </a:pPr>
            <a:r>
              <a:rPr lang="en-US" sz="1600" b="1" dirty="0">
                <a:solidFill>
                  <a:srgbClr val="1D5E40"/>
                </a:solidFill>
                <a:latin typeface="Source Sans 3" pitchFamily="34" charset="0"/>
                <a:ea typeface="Source Sans 3" pitchFamily="34" charset="-122"/>
                <a:cs typeface="Source Sans 3" pitchFamily="34" charset="-120"/>
              </a:rPr>
              <a:t>Counted restocks</a:t>
            </a:r>
            <a:endParaRPr lang="en-US" sz="1600" dirty="0"/>
          </a:p>
        </p:txBody>
      </p:sp>
      <p:sp>
        <p:nvSpPr>
          <p:cNvPr id="10" name="Text 8"/>
          <p:cNvSpPr txBox="1"/>
          <p:nvPr/>
        </p:nvSpPr>
        <p:spPr>
          <a:xfrm>
            <a:off x="8028432" y="2697480"/>
            <a:ext cx="3477463" cy="566928"/>
          </a:xfrm>
          <a:prstGeom prst="rect">
            <a:avLst/>
          </a:prstGeom>
          <a:noFill/>
          <a:ln/>
        </p:spPr>
        <p:txBody>
          <a:bodyPr wrap="square" lIns="0" tIns="0" rIns="0" bIns="0" rtlCol="0" anchor="t"/>
          <a:lstStyle/>
          <a:p>
            <a:pPr indent="0" marL="0">
              <a:buNone/>
            </a:pPr>
            <a:r>
              <a:rPr lang="en-US" sz="1600" dirty="0">
                <a:solidFill>
                  <a:srgbClr val="3A453E"/>
                </a:solidFill>
                <a:latin typeface="Source Sans 3" pitchFamily="34" charset="0"/>
                <a:ea typeface="Source Sans 3" pitchFamily="34" charset="-122"/>
                <a:cs typeface="Source Sans 3" pitchFamily="34" charset="-120"/>
              </a:rPr>
              <a:t>Each check-in records what was taken since the last one.</a:t>
            </a:r>
            <a:endParaRPr lang="en-US" sz="1600" dirty="0"/>
          </a:p>
        </p:txBody>
      </p:sp>
      <p:sp>
        <p:nvSpPr>
          <p:cNvPr id="11" name="Shape 9"/>
          <p:cNvSpPr/>
          <p:nvPr/>
        </p:nvSpPr>
        <p:spPr>
          <a:xfrm>
            <a:off x="6217920" y="3282696"/>
            <a:ext cx="5287975" cy="0"/>
          </a:xfrm>
          <a:prstGeom prst="line">
            <a:avLst/>
          </a:prstGeom>
          <a:noFill/>
          <a:ln w="9525">
            <a:solidFill>
              <a:srgbClr val="D9D4C7"/>
            </a:solidFill>
            <a:prstDash val="solid"/>
          </a:ln>
        </p:spPr>
      </p:sp>
      <p:sp>
        <p:nvSpPr>
          <p:cNvPr id="12" name="Text 10"/>
          <p:cNvSpPr txBox="1"/>
          <p:nvPr/>
        </p:nvSpPr>
        <p:spPr>
          <a:xfrm>
            <a:off x="6217920" y="3410712"/>
            <a:ext cx="1737360" cy="548640"/>
          </a:xfrm>
          <a:prstGeom prst="rect">
            <a:avLst/>
          </a:prstGeom>
          <a:noFill/>
          <a:ln/>
        </p:spPr>
        <p:txBody>
          <a:bodyPr wrap="square" lIns="0" tIns="0" rIns="0" bIns="0" rtlCol="0" anchor="t"/>
          <a:lstStyle/>
          <a:p>
            <a:pPr indent="0" marL="0">
              <a:buNone/>
            </a:pPr>
            <a:r>
              <a:rPr lang="en-US" sz="1600" b="1" dirty="0">
                <a:solidFill>
                  <a:srgbClr val="1D5E40"/>
                </a:solidFill>
                <a:latin typeface="Source Sans 3" pitchFamily="34" charset="0"/>
                <a:ea typeface="Source Sans 3" pitchFamily="34" charset="-122"/>
                <a:cs typeface="Source Sans 3" pitchFamily="34" charset="-120"/>
              </a:rPr>
              <a:t>Live stock</a:t>
            </a:r>
            <a:endParaRPr lang="en-US" sz="1600" dirty="0"/>
          </a:p>
        </p:txBody>
      </p:sp>
      <p:sp>
        <p:nvSpPr>
          <p:cNvPr id="13" name="Text 11"/>
          <p:cNvSpPr txBox="1"/>
          <p:nvPr/>
        </p:nvSpPr>
        <p:spPr>
          <a:xfrm>
            <a:off x="8028432" y="3410712"/>
            <a:ext cx="3477463" cy="566928"/>
          </a:xfrm>
          <a:prstGeom prst="rect">
            <a:avLst/>
          </a:prstGeom>
          <a:noFill/>
          <a:ln/>
        </p:spPr>
        <p:txBody>
          <a:bodyPr wrap="square" lIns="0" tIns="0" rIns="0" bIns="0" rtlCol="0" anchor="t"/>
          <a:lstStyle/>
          <a:p>
            <a:pPr indent="0" marL="0">
              <a:buNone/>
            </a:pPr>
            <a:r>
              <a:rPr lang="en-US" sz="1600" dirty="0">
                <a:solidFill>
                  <a:srgbClr val="3A453E"/>
                </a:solidFill>
                <a:latin typeface="Source Sans 3" pitchFamily="34" charset="0"/>
                <a:ea typeface="Source Sans 3" pitchFamily="34" charset="-122"/>
                <a:cs typeface="Source Sans 3" pitchFamily="34" charset="-120"/>
              </a:rPr>
              <a:t>Students see what is on the shelf before they walk over.</a:t>
            </a:r>
            <a:endParaRPr lang="en-US" sz="1600" dirty="0"/>
          </a:p>
        </p:txBody>
      </p:sp>
      <p:sp>
        <p:nvSpPr>
          <p:cNvPr id="14" name="Shape 12"/>
          <p:cNvSpPr/>
          <p:nvPr/>
        </p:nvSpPr>
        <p:spPr>
          <a:xfrm>
            <a:off x="6217920" y="3995928"/>
            <a:ext cx="5287975" cy="0"/>
          </a:xfrm>
          <a:prstGeom prst="line">
            <a:avLst/>
          </a:prstGeom>
          <a:noFill/>
          <a:ln w="9525">
            <a:solidFill>
              <a:srgbClr val="D9D4C7"/>
            </a:solidFill>
            <a:prstDash val="solid"/>
          </a:ln>
        </p:spPr>
      </p:sp>
      <p:sp>
        <p:nvSpPr>
          <p:cNvPr id="15" name="Text 13"/>
          <p:cNvSpPr txBox="1"/>
          <p:nvPr/>
        </p:nvSpPr>
        <p:spPr>
          <a:xfrm>
            <a:off x="6217920" y="4123944"/>
            <a:ext cx="1737360" cy="548640"/>
          </a:xfrm>
          <a:prstGeom prst="rect">
            <a:avLst/>
          </a:prstGeom>
          <a:noFill/>
          <a:ln/>
        </p:spPr>
        <p:txBody>
          <a:bodyPr wrap="square" lIns="0" tIns="0" rIns="0" bIns="0" rtlCol="0" anchor="t"/>
          <a:lstStyle/>
          <a:p>
            <a:pPr indent="0" marL="0">
              <a:buNone/>
            </a:pPr>
            <a:r>
              <a:rPr lang="en-US" sz="1600" b="1" dirty="0">
                <a:solidFill>
                  <a:srgbClr val="1D5E40"/>
                </a:solidFill>
                <a:latin typeface="Source Sans 3" pitchFamily="34" charset="0"/>
                <a:ea typeface="Source Sans 3" pitchFamily="34" charset="-122"/>
                <a:cs typeface="Source Sans 3" pitchFamily="34" charset="-120"/>
              </a:rPr>
              <a:t>One-tap reports</a:t>
            </a:r>
            <a:endParaRPr lang="en-US" sz="1600" dirty="0"/>
          </a:p>
        </p:txBody>
      </p:sp>
      <p:sp>
        <p:nvSpPr>
          <p:cNvPr id="16" name="Text 14"/>
          <p:cNvSpPr txBox="1"/>
          <p:nvPr/>
        </p:nvSpPr>
        <p:spPr>
          <a:xfrm>
            <a:off x="8028432" y="4123944"/>
            <a:ext cx="3477463" cy="566928"/>
          </a:xfrm>
          <a:prstGeom prst="rect">
            <a:avLst/>
          </a:prstGeom>
          <a:noFill/>
          <a:ln/>
        </p:spPr>
        <p:txBody>
          <a:bodyPr wrap="square" lIns="0" tIns="0" rIns="0" bIns="0" rtlCol="0" anchor="t"/>
          <a:lstStyle/>
          <a:p>
            <a:pPr indent="0" marL="0">
              <a:buNone/>
            </a:pPr>
            <a:r>
              <a:rPr lang="en-US" sz="1600" dirty="0">
                <a:solidFill>
                  <a:srgbClr val="3A453E"/>
                </a:solidFill>
                <a:latin typeface="Source Sans 3" pitchFamily="34" charset="0"/>
                <a:ea typeface="Source Sans 3" pitchFamily="34" charset="-122"/>
                <a:cs typeface="Source Sans 3" pitchFamily="34" charset="-120"/>
              </a:rPr>
              <a:t>An empty shelf alerts the volunteer.</a:t>
            </a:r>
            <a:endParaRPr lang="en-US" sz="1600" dirty="0"/>
          </a:p>
        </p:txBody>
      </p:sp>
      <p:sp>
        <p:nvSpPr>
          <p:cNvPr id="17" name="Shape 15"/>
          <p:cNvSpPr/>
          <p:nvPr/>
        </p:nvSpPr>
        <p:spPr>
          <a:xfrm>
            <a:off x="6217920" y="4709160"/>
            <a:ext cx="5287975" cy="0"/>
          </a:xfrm>
          <a:prstGeom prst="line">
            <a:avLst/>
          </a:prstGeom>
          <a:noFill/>
          <a:ln w="9525">
            <a:solidFill>
              <a:srgbClr val="D9D4C7"/>
            </a:solidFill>
            <a:prstDash val="solid"/>
          </a:ln>
        </p:spPr>
      </p:sp>
      <p:sp>
        <p:nvSpPr>
          <p:cNvPr id="18" name="Text 16"/>
          <p:cNvSpPr txBox="1"/>
          <p:nvPr/>
        </p:nvSpPr>
        <p:spPr>
          <a:xfrm>
            <a:off x="6217920" y="4837176"/>
            <a:ext cx="1737360" cy="548640"/>
          </a:xfrm>
          <a:prstGeom prst="rect">
            <a:avLst/>
          </a:prstGeom>
          <a:noFill/>
          <a:ln/>
        </p:spPr>
        <p:txBody>
          <a:bodyPr wrap="square" lIns="0" tIns="0" rIns="0" bIns="0" rtlCol="0" anchor="t"/>
          <a:lstStyle/>
          <a:p>
            <a:pPr indent="0" marL="0">
              <a:buNone/>
            </a:pPr>
            <a:r>
              <a:rPr lang="en-US" sz="1600" b="1" dirty="0">
                <a:solidFill>
                  <a:srgbClr val="1D5E40"/>
                </a:solidFill>
                <a:latin typeface="Source Sans 3" pitchFamily="34" charset="0"/>
                <a:ea typeface="Source Sans 3" pitchFamily="34" charset="-122"/>
                <a:cs typeface="Source Sans 3" pitchFamily="34" charset="-120"/>
              </a:rPr>
              <a:t>Safety checklist</a:t>
            </a:r>
            <a:endParaRPr lang="en-US" sz="1600" dirty="0"/>
          </a:p>
        </p:txBody>
      </p:sp>
      <p:sp>
        <p:nvSpPr>
          <p:cNvPr id="19" name="Text 17"/>
          <p:cNvSpPr txBox="1"/>
          <p:nvPr/>
        </p:nvSpPr>
        <p:spPr>
          <a:xfrm>
            <a:off x="8028432" y="4837176"/>
            <a:ext cx="3477463" cy="566928"/>
          </a:xfrm>
          <a:prstGeom prst="rect">
            <a:avLst/>
          </a:prstGeom>
          <a:noFill/>
          <a:ln/>
        </p:spPr>
        <p:txBody>
          <a:bodyPr wrap="square" lIns="0" tIns="0" rIns="0" bIns="0" rtlCol="0" anchor="t"/>
          <a:lstStyle/>
          <a:p>
            <a:pPr indent="0" marL="0">
              <a:buNone/>
            </a:pPr>
            <a:r>
              <a:rPr lang="en-US" sz="1600" dirty="0">
                <a:solidFill>
                  <a:srgbClr val="3A453E"/>
                </a:solidFill>
                <a:latin typeface="Source Sans 3" pitchFamily="34" charset="0"/>
                <a:ea typeface="Source Sans 3" pitchFamily="34" charset="-122"/>
                <a:cs typeface="Source Sans 3" pitchFamily="34" charset="-120"/>
              </a:rPr>
              <a:t>Sealed, in date, no fridge needed.</a:t>
            </a:r>
            <a:endParaRPr lang="en-US" sz="16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rgbClr val="6B746D"/>
                </a:solidFill>
                <a:latin typeface="Source Sans 3"/>
                <a:ea typeface="Source Sans 3"/>
                <a:cs typeface="Source Sans 3"/>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7"/>
          <p:cNvSpPr/>
          <p:nvPr>
            <p:ph idx="107" type="title" hasCustomPrompt="1"/>
          </p:nvPr>
        </p:nvSpPr>
        <p:spPr>
          <a:xfrm>
            <a:off x="685800" y="502920"/>
            <a:ext cx="9692640" cy="1143000"/>
          </a:xfrm>
          <a:prstGeom prst="rect">
            <a:avLst/>
          </a:prstGeom>
          <a:noFill/>
          <a:ln/>
        </p:spPr>
        <p:txBody>
          <a:bodyPr wrap="square" lIns="0" tIns="0" rIns="0" bIns="0" rtlCol="0" anchor="t"/>
          <a:lstStyle/>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FoodLink has three parts that feed</a:t>
            </a:r>
            <a:endParaRPr lang="en-US" sz="3000" dirty="0"/>
          </a:p>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one dashboard the USC can audit</a:t>
            </a:r>
            <a:endParaRPr lang="en-US" sz="3000" dirty="0"/>
          </a:p>
        </p:txBody>
      </p:sp>
      <p:sp>
        <p:nvSpPr>
          <p:cNvPr id="3" name="Shape 1"/>
          <p:cNvSpPr/>
          <p:nvPr/>
        </p:nvSpPr>
        <p:spPr>
          <a:xfrm>
            <a:off x="685800" y="1828800"/>
            <a:ext cx="3362858" cy="1828800"/>
          </a:xfrm>
          <a:prstGeom prst="rect">
            <a:avLst/>
          </a:prstGeom>
          <a:solidFill>
            <a:srgbClr val="FFFFFF"/>
          </a:solidFill>
          <a:ln w="9525">
            <a:solidFill>
              <a:srgbClr val="D9D4C7"/>
            </a:solidFill>
            <a:prstDash val="solid"/>
          </a:ln>
        </p:spPr>
      </p:sp>
      <p:sp>
        <p:nvSpPr>
          <p:cNvPr id="4" name="Shape 2"/>
          <p:cNvSpPr/>
          <p:nvPr/>
        </p:nvSpPr>
        <p:spPr>
          <a:xfrm>
            <a:off x="960120" y="2103120"/>
            <a:ext cx="365760" cy="41148"/>
          </a:xfrm>
          <a:prstGeom prst="rect">
            <a:avLst/>
          </a:prstGeom>
          <a:solidFill>
            <a:srgbClr val="A97A2F"/>
          </a:solidFill>
          <a:ln w="12700">
            <a:solidFill>
              <a:srgbClr val="A97A2F"/>
            </a:solidFill>
            <a:prstDash val="solid"/>
          </a:ln>
        </p:spPr>
      </p:sp>
      <p:sp>
        <p:nvSpPr>
          <p:cNvPr id="5" name="Text 3"/>
          <p:cNvSpPr txBox="1"/>
          <p:nvPr/>
        </p:nvSpPr>
        <p:spPr>
          <a:xfrm>
            <a:off x="960120" y="2240280"/>
            <a:ext cx="2814218" cy="457200"/>
          </a:xfrm>
          <a:prstGeom prst="rect">
            <a:avLst/>
          </a:prstGeom>
          <a:noFill/>
          <a:ln/>
        </p:spPr>
        <p:txBody>
          <a:bodyPr wrap="square" lIns="0" tIns="0" rIns="0" bIns="0" rtlCol="0" anchor="t"/>
          <a:lstStyle/>
          <a:p>
            <a:pPr indent="0" marL="0">
              <a:buNone/>
            </a:pPr>
            <a:r>
              <a:rPr lang="en-US" sz="2600" dirty="0">
                <a:solidFill>
                  <a:srgbClr val="15201A"/>
                </a:solidFill>
                <a:latin typeface="Source Serif 4" pitchFamily="34" charset="0"/>
                <a:ea typeface="Source Serif 4" pitchFamily="34" charset="-122"/>
                <a:cs typeface="Source Serif 4" pitchFamily="34" charset="-120"/>
              </a:rPr>
              <a:t>Points</a:t>
            </a:r>
            <a:endParaRPr lang="en-US" sz="2600" dirty="0"/>
          </a:p>
        </p:txBody>
      </p:sp>
      <p:sp>
        <p:nvSpPr>
          <p:cNvPr id="6" name="Text 4"/>
          <p:cNvSpPr txBox="1"/>
          <p:nvPr/>
        </p:nvSpPr>
        <p:spPr>
          <a:xfrm>
            <a:off x="960120" y="2788920"/>
            <a:ext cx="2814218" cy="777240"/>
          </a:xfrm>
          <a:prstGeom prst="rect">
            <a:avLst/>
          </a:prstGeom>
          <a:noFill/>
          <a:ln/>
        </p:spPr>
        <p:txBody>
          <a:bodyPr wrap="square" lIns="0" tIns="0" rIns="0" bIns="0" rtlCol="0" anchor="t"/>
          <a:lstStyle/>
          <a:p>
            <a:pPr indent="0" marL="0">
              <a:buNone/>
            </a:pPr>
            <a:r>
              <a:rPr lang="en-US" sz="1550" dirty="0">
                <a:solidFill>
                  <a:srgbClr val="3A453E"/>
                </a:solidFill>
                <a:latin typeface="Source Sans 3" pitchFamily="34" charset="0"/>
                <a:ea typeface="Source Sans 3" pitchFamily="34" charset="-122"/>
                <a:cs typeface="Source Sans 3" pitchFamily="34" charset="-120"/>
              </a:rPr>
              <a:t>Two walk-up shelves of sealed, shelf-stable food and hygiene products. No forms, no ID.</a:t>
            </a:r>
            <a:endParaRPr lang="en-US" sz="1550" dirty="0"/>
          </a:p>
        </p:txBody>
      </p:sp>
      <p:sp>
        <p:nvSpPr>
          <p:cNvPr id="7" name="Shape 5"/>
          <p:cNvSpPr/>
          <p:nvPr/>
        </p:nvSpPr>
        <p:spPr>
          <a:xfrm>
            <a:off x="2367229" y="3657600"/>
            <a:ext cx="0" cy="502920"/>
          </a:xfrm>
          <a:prstGeom prst="line">
            <a:avLst/>
          </a:prstGeom>
          <a:noFill/>
          <a:ln w="12700">
            <a:solidFill>
              <a:srgbClr val="6B746D"/>
            </a:solidFill>
            <a:prstDash val="solid"/>
            <a:tailEnd type="triangle"/>
          </a:ln>
        </p:spPr>
      </p:sp>
      <p:sp>
        <p:nvSpPr>
          <p:cNvPr id="8" name="Shape 6"/>
          <p:cNvSpPr/>
          <p:nvPr/>
        </p:nvSpPr>
        <p:spPr>
          <a:xfrm>
            <a:off x="4414418" y="1828800"/>
            <a:ext cx="3362858" cy="1828800"/>
          </a:xfrm>
          <a:prstGeom prst="rect">
            <a:avLst/>
          </a:prstGeom>
          <a:solidFill>
            <a:srgbClr val="FFFFFF"/>
          </a:solidFill>
          <a:ln w="9525">
            <a:solidFill>
              <a:srgbClr val="D9D4C7"/>
            </a:solidFill>
            <a:prstDash val="solid"/>
          </a:ln>
        </p:spPr>
      </p:sp>
      <p:sp>
        <p:nvSpPr>
          <p:cNvPr id="9" name="Shape 7"/>
          <p:cNvSpPr/>
          <p:nvPr/>
        </p:nvSpPr>
        <p:spPr>
          <a:xfrm>
            <a:off x="4688738" y="2103120"/>
            <a:ext cx="365760" cy="41148"/>
          </a:xfrm>
          <a:prstGeom prst="rect">
            <a:avLst/>
          </a:prstGeom>
          <a:solidFill>
            <a:srgbClr val="A97A2F"/>
          </a:solidFill>
          <a:ln w="12700">
            <a:solidFill>
              <a:srgbClr val="A97A2F"/>
            </a:solidFill>
            <a:prstDash val="solid"/>
          </a:ln>
        </p:spPr>
      </p:sp>
      <p:sp>
        <p:nvSpPr>
          <p:cNvPr id="10" name="Text 8"/>
          <p:cNvSpPr txBox="1"/>
          <p:nvPr/>
        </p:nvSpPr>
        <p:spPr>
          <a:xfrm>
            <a:off x="4688738" y="2240280"/>
            <a:ext cx="2814218" cy="457200"/>
          </a:xfrm>
          <a:prstGeom prst="rect">
            <a:avLst/>
          </a:prstGeom>
          <a:noFill/>
          <a:ln/>
        </p:spPr>
        <p:txBody>
          <a:bodyPr wrap="square" lIns="0" tIns="0" rIns="0" bIns="0" rtlCol="0" anchor="t"/>
          <a:lstStyle/>
          <a:p>
            <a:pPr indent="0" marL="0">
              <a:buNone/>
            </a:pPr>
            <a:r>
              <a:rPr lang="en-US" sz="2600" dirty="0">
                <a:solidFill>
                  <a:srgbClr val="15201A"/>
                </a:solidFill>
                <a:latin typeface="Source Serif 4" pitchFamily="34" charset="0"/>
                <a:ea typeface="Source Serif 4" pitchFamily="34" charset="-122"/>
                <a:cs typeface="Source Serif 4" pitchFamily="34" charset="-120"/>
              </a:rPr>
              <a:t>Drops</a:t>
            </a:r>
            <a:endParaRPr lang="en-US" sz="2600" dirty="0"/>
          </a:p>
        </p:txBody>
      </p:sp>
      <p:sp>
        <p:nvSpPr>
          <p:cNvPr id="11" name="Text 9"/>
          <p:cNvSpPr txBox="1"/>
          <p:nvPr/>
        </p:nvSpPr>
        <p:spPr>
          <a:xfrm>
            <a:off x="4688738" y="2788920"/>
            <a:ext cx="2814218" cy="777240"/>
          </a:xfrm>
          <a:prstGeom prst="rect">
            <a:avLst/>
          </a:prstGeom>
          <a:noFill/>
          <a:ln/>
        </p:spPr>
        <p:txBody>
          <a:bodyPr wrap="square" lIns="0" tIns="0" rIns="0" bIns="0" rtlCol="0" anchor="t"/>
          <a:lstStyle/>
          <a:p>
            <a:pPr indent="0" marL="0">
              <a:buNone/>
            </a:pPr>
            <a:r>
              <a:rPr lang="en-US" sz="1550" dirty="0">
                <a:solidFill>
                  <a:srgbClr val="3A453E"/>
                </a:solidFill>
                <a:latin typeface="Source Sans 3" pitchFamily="34" charset="0"/>
                <a:ea typeface="Source Sans 3" pitchFamily="34" charset="-122"/>
                <a:cs typeface="Source Sans 3" pitchFamily="34" charset="-120"/>
              </a:rPr>
              <a:t>Campus partners post sealed surplus. Students reserve it with an anonymous code.</a:t>
            </a:r>
            <a:endParaRPr lang="en-US" sz="1550" dirty="0"/>
          </a:p>
        </p:txBody>
      </p:sp>
      <p:sp>
        <p:nvSpPr>
          <p:cNvPr id="12" name="Shape 10"/>
          <p:cNvSpPr/>
          <p:nvPr/>
        </p:nvSpPr>
        <p:spPr>
          <a:xfrm>
            <a:off x="6095848" y="3657600"/>
            <a:ext cx="0" cy="502920"/>
          </a:xfrm>
          <a:prstGeom prst="line">
            <a:avLst/>
          </a:prstGeom>
          <a:noFill/>
          <a:ln w="12700">
            <a:solidFill>
              <a:srgbClr val="6B746D"/>
            </a:solidFill>
            <a:prstDash val="solid"/>
            <a:tailEnd type="triangle"/>
          </a:ln>
        </p:spPr>
      </p:sp>
      <p:sp>
        <p:nvSpPr>
          <p:cNvPr id="13" name="Shape 11"/>
          <p:cNvSpPr/>
          <p:nvPr/>
        </p:nvSpPr>
        <p:spPr>
          <a:xfrm>
            <a:off x="8143037" y="1828800"/>
            <a:ext cx="3362858" cy="1828800"/>
          </a:xfrm>
          <a:prstGeom prst="rect">
            <a:avLst/>
          </a:prstGeom>
          <a:solidFill>
            <a:srgbClr val="FFFFFF"/>
          </a:solidFill>
          <a:ln w="9525">
            <a:solidFill>
              <a:srgbClr val="D9D4C7"/>
            </a:solidFill>
            <a:prstDash val="solid"/>
          </a:ln>
        </p:spPr>
      </p:sp>
      <p:sp>
        <p:nvSpPr>
          <p:cNvPr id="14" name="Shape 12"/>
          <p:cNvSpPr/>
          <p:nvPr/>
        </p:nvSpPr>
        <p:spPr>
          <a:xfrm>
            <a:off x="8417357" y="2103120"/>
            <a:ext cx="365760" cy="41148"/>
          </a:xfrm>
          <a:prstGeom prst="rect">
            <a:avLst/>
          </a:prstGeom>
          <a:solidFill>
            <a:srgbClr val="A97A2F"/>
          </a:solidFill>
          <a:ln w="12700">
            <a:solidFill>
              <a:srgbClr val="A97A2F"/>
            </a:solidFill>
            <a:prstDash val="solid"/>
          </a:ln>
        </p:spPr>
      </p:sp>
      <p:sp>
        <p:nvSpPr>
          <p:cNvPr id="15" name="Text 13"/>
          <p:cNvSpPr txBox="1"/>
          <p:nvPr/>
        </p:nvSpPr>
        <p:spPr>
          <a:xfrm>
            <a:off x="8417357" y="2240280"/>
            <a:ext cx="2814218" cy="457200"/>
          </a:xfrm>
          <a:prstGeom prst="rect">
            <a:avLst/>
          </a:prstGeom>
          <a:noFill/>
          <a:ln/>
        </p:spPr>
        <p:txBody>
          <a:bodyPr wrap="square" lIns="0" tIns="0" rIns="0" bIns="0" rtlCol="0" anchor="t"/>
          <a:lstStyle/>
          <a:p>
            <a:pPr indent="0" marL="0">
              <a:buNone/>
            </a:pPr>
            <a:r>
              <a:rPr lang="en-US" sz="2600" dirty="0">
                <a:solidFill>
                  <a:srgbClr val="15201A"/>
                </a:solidFill>
                <a:latin typeface="Source Serif 4" pitchFamily="34" charset="0"/>
                <a:ea typeface="Source Serif 4" pitchFamily="34" charset="-122"/>
                <a:cs typeface="Source Serif 4" pitchFamily="34" charset="-120"/>
              </a:rPr>
              <a:t>App</a:t>
            </a:r>
            <a:endParaRPr lang="en-US" sz="2600" dirty="0"/>
          </a:p>
        </p:txBody>
      </p:sp>
      <p:sp>
        <p:nvSpPr>
          <p:cNvPr id="16" name="Text 14"/>
          <p:cNvSpPr txBox="1"/>
          <p:nvPr/>
        </p:nvSpPr>
        <p:spPr>
          <a:xfrm>
            <a:off x="8417357" y="2788920"/>
            <a:ext cx="2814218" cy="777240"/>
          </a:xfrm>
          <a:prstGeom prst="rect">
            <a:avLst/>
          </a:prstGeom>
          <a:noFill/>
          <a:ln/>
        </p:spPr>
        <p:txBody>
          <a:bodyPr wrap="square" lIns="0" tIns="0" rIns="0" bIns="0" rtlCol="0" anchor="t"/>
          <a:lstStyle/>
          <a:p>
            <a:pPr indent="0" marL="0">
              <a:buNone/>
            </a:pPr>
            <a:r>
              <a:rPr lang="en-US" sz="1550" dirty="0">
                <a:solidFill>
                  <a:srgbClr val="3A453E"/>
                </a:solidFill>
                <a:latin typeface="Source Sans 3" pitchFamily="34" charset="0"/>
                <a:ea typeface="Source Sans 3" pitchFamily="34" charset="-122"/>
                <a:cs typeface="Source Sans 3" pitchFamily="34" charset="-120"/>
              </a:rPr>
              <a:t>Live stock, live drops, and every other option, from USC Food Support to city food banks.</a:t>
            </a:r>
            <a:endParaRPr lang="en-US" sz="1550" dirty="0"/>
          </a:p>
        </p:txBody>
      </p:sp>
      <p:sp>
        <p:nvSpPr>
          <p:cNvPr id="17" name="Shape 15"/>
          <p:cNvSpPr/>
          <p:nvPr/>
        </p:nvSpPr>
        <p:spPr>
          <a:xfrm>
            <a:off x="9824466" y="3657600"/>
            <a:ext cx="0" cy="502920"/>
          </a:xfrm>
          <a:prstGeom prst="line">
            <a:avLst/>
          </a:prstGeom>
          <a:noFill/>
          <a:ln w="12700">
            <a:solidFill>
              <a:srgbClr val="6B746D"/>
            </a:solidFill>
            <a:prstDash val="solid"/>
            <a:tailEnd type="triangle"/>
          </a:ln>
        </p:spPr>
      </p:sp>
      <p:sp>
        <p:nvSpPr>
          <p:cNvPr id="18" name="Shape 16"/>
          <p:cNvSpPr/>
          <p:nvPr/>
        </p:nvSpPr>
        <p:spPr>
          <a:xfrm>
            <a:off x="685800" y="4160520"/>
            <a:ext cx="10820095" cy="1325880"/>
          </a:xfrm>
          <a:prstGeom prst="rect">
            <a:avLst/>
          </a:prstGeom>
          <a:solidFill>
            <a:srgbClr val="113425"/>
          </a:solidFill>
          <a:ln w="12700">
            <a:solidFill>
              <a:srgbClr val="113425"/>
            </a:solidFill>
            <a:prstDash val="solid"/>
          </a:ln>
        </p:spPr>
      </p:sp>
      <p:sp>
        <p:nvSpPr>
          <p:cNvPr id="19" name="Text 17"/>
          <p:cNvSpPr txBox="1"/>
          <p:nvPr/>
        </p:nvSpPr>
        <p:spPr>
          <a:xfrm>
            <a:off x="1005840" y="4379976"/>
            <a:ext cx="4572000" cy="457200"/>
          </a:xfrm>
          <a:prstGeom prst="rect">
            <a:avLst/>
          </a:prstGeom>
          <a:noFill/>
          <a:ln/>
        </p:spPr>
        <p:txBody>
          <a:bodyPr wrap="square" lIns="0" tIns="0" rIns="0" bIns="0" rtlCol="0" anchor="t"/>
          <a:lstStyle/>
          <a:p>
            <a:pPr indent="0" marL="0">
              <a:buNone/>
            </a:pPr>
            <a:r>
              <a:rPr lang="en-US" sz="2400" dirty="0">
                <a:solidFill>
                  <a:srgbClr val="F7F5EF"/>
                </a:solidFill>
                <a:latin typeface="Source Serif 4" pitchFamily="34" charset="0"/>
                <a:ea typeface="Source Serif 4" pitchFamily="34" charset="-122"/>
                <a:cs typeface="Source Serif 4" pitchFamily="34" charset="-120"/>
              </a:rPr>
              <a:t>USC dashboard</a:t>
            </a:r>
            <a:endParaRPr lang="en-US" sz="2400" dirty="0"/>
          </a:p>
        </p:txBody>
      </p:sp>
      <p:sp>
        <p:nvSpPr>
          <p:cNvPr id="20" name="Text 18"/>
          <p:cNvSpPr txBox="1"/>
          <p:nvPr/>
        </p:nvSpPr>
        <p:spPr>
          <a:xfrm>
            <a:off x="1005840" y="4910328"/>
            <a:ext cx="10180015" cy="411480"/>
          </a:xfrm>
          <a:prstGeom prst="rect">
            <a:avLst/>
          </a:prstGeom>
          <a:noFill/>
          <a:ln/>
        </p:spPr>
        <p:txBody>
          <a:bodyPr wrap="square" lIns="0" tIns="0" rIns="0" bIns="0" rtlCol="0" anchor="t"/>
          <a:lstStyle/>
          <a:p>
            <a:pPr indent="0" marL="0">
              <a:buNone/>
            </a:pPr>
            <a:r>
              <a:rPr lang="en-US" sz="1600" dirty="0">
                <a:solidFill>
                  <a:srgbClr val="CBD9CE"/>
                </a:solidFill>
                <a:latin typeface="Source Sans 3" pitchFamily="34" charset="0"/>
                <a:ea typeface="Source Sans 3" pitchFamily="34" charset="-122"/>
                <a:cs typeface="Source Sans 3" pitchFamily="34" charset="-120"/>
              </a:rPr>
              <a:t>Items taken, items thrown away, time to restock an empty shelf, surplus rescued and active partners. Published weekly.</a:t>
            </a:r>
            <a:endParaRPr lang="en-US" sz="1600" dirty="0"/>
          </a:p>
        </p:txBody>
      </p:sp>
      <p:sp>
        <p:nvSpPr>
          <p:cNvPr id="21" name="Text 19"/>
          <p:cNvSpPr txBox="1"/>
          <p:nvPr/>
        </p:nvSpPr>
        <p:spPr>
          <a:xfrm>
            <a:off x="685800" y="5943600"/>
            <a:ext cx="10820095" cy="274320"/>
          </a:xfrm>
          <a:prstGeom prst="rect">
            <a:avLst/>
          </a:prstGeom>
          <a:noFill/>
          <a:ln/>
        </p:spPr>
        <p:txBody>
          <a:bodyPr wrap="square" lIns="0" tIns="0" rIns="0" bIns="0" rtlCol="0" anchor="b"/>
          <a:lstStyle/>
          <a:p>
            <a:pPr indent="0" marL="0">
              <a:buNone/>
            </a:pPr>
            <a:r>
              <a:rPr lang="en-US" sz="1000" dirty="0">
                <a:solidFill>
                  <a:srgbClr val="6B746D"/>
                </a:solidFill>
                <a:latin typeface="Source Sans 3" pitchFamily="34" charset="0"/>
                <a:ea typeface="Source Sans 3" pitchFamily="34" charset="-122"/>
                <a:cs typeface="Source Sans 3" pitchFamily="34" charset="-120"/>
              </a:rPr>
              <a:t>Surplus exists on campus: Western’s dining halls gave over 7,500 surplus meals to 19 off-campus agencies, May to Oct 2024 (Western News, Oct 25, 2024).</a:t>
            </a:r>
            <a:endParaRPr lang="en-US" sz="10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rgbClr val="6B746D"/>
                </a:solidFill>
                <a:latin typeface="Source Sans 3"/>
                <a:ea typeface="Source Sans 3"/>
                <a:cs typeface="Source Sans 3"/>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7"/>
          <p:cNvSpPr/>
          <p:nvPr>
            <p:ph idx="107" type="title" hasCustomPrompt="1"/>
          </p:nvPr>
        </p:nvSpPr>
        <p:spPr>
          <a:xfrm>
            <a:off x="685800" y="502920"/>
            <a:ext cx="9692640" cy="1143000"/>
          </a:xfrm>
          <a:prstGeom prst="rect">
            <a:avLst/>
          </a:prstGeom>
          <a:noFill/>
          <a:ln/>
        </p:spPr>
        <p:txBody>
          <a:bodyPr wrap="square" lIns="0" tIns="0" rIns="0" bIns="0" rtlCol="0" anchor="t"/>
          <a:lstStyle/>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A student finds food in three steps,</a:t>
            </a:r>
            <a:endParaRPr lang="en-US" sz="3000" dirty="0"/>
          </a:p>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with no form and no name</a:t>
            </a:r>
            <a:endParaRPr lang="en-US" sz="3000" dirty="0"/>
          </a:p>
        </p:txBody>
      </p:sp>
      <p:sp>
        <p:nvSpPr>
          <p:cNvPr id="3" name="Text 1"/>
          <p:cNvSpPr txBox="1"/>
          <p:nvPr/>
        </p:nvSpPr>
        <p:spPr>
          <a:xfrm>
            <a:off x="685800" y="1801368"/>
            <a:ext cx="640080" cy="685800"/>
          </a:xfrm>
          <a:prstGeom prst="rect">
            <a:avLst/>
          </a:prstGeom>
          <a:noFill/>
          <a:ln/>
        </p:spPr>
        <p:txBody>
          <a:bodyPr wrap="square" lIns="0" tIns="0" rIns="0" bIns="0" rtlCol="0" anchor="t"/>
          <a:lstStyle/>
          <a:p>
            <a:pPr indent="0" marL="0">
              <a:buNone/>
            </a:pPr>
            <a:r>
              <a:rPr lang="en-US" sz="4400" dirty="0">
                <a:solidFill>
                  <a:srgbClr val="A97A2F"/>
                </a:solidFill>
                <a:latin typeface="Source Serif 4" pitchFamily="34" charset="0"/>
                <a:ea typeface="Source Serif 4" pitchFamily="34" charset="-122"/>
                <a:cs typeface="Source Serif 4" pitchFamily="34" charset="-120"/>
              </a:rPr>
              <a:t>1</a:t>
            </a:r>
            <a:endParaRPr lang="en-US" sz="4400" dirty="0"/>
          </a:p>
        </p:txBody>
      </p:sp>
      <p:sp>
        <p:nvSpPr>
          <p:cNvPr id="4" name="Text 2"/>
          <p:cNvSpPr txBox="1"/>
          <p:nvPr/>
        </p:nvSpPr>
        <p:spPr>
          <a:xfrm>
            <a:off x="1463040" y="1874520"/>
            <a:ext cx="7315200" cy="411480"/>
          </a:xfrm>
          <a:prstGeom prst="rect">
            <a:avLst/>
          </a:prstGeom>
          <a:noFill/>
          <a:ln/>
        </p:spPr>
        <p:txBody>
          <a:bodyPr wrap="square" lIns="0" tIns="0" rIns="0" bIns="0" rtlCol="0" anchor="t"/>
          <a:lstStyle/>
          <a:p>
            <a:pPr indent="0" marL="0">
              <a:buNone/>
            </a:pPr>
            <a:r>
              <a:rPr lang="en-US" sz="2100" b="1" dirty="0">
                <a:solidFill>
                  <a:srgbClr val="15201A"/>
                </a:solidFill>
                <a:latin typeface="Source Sans 3" pitchFamily="34" charset="0"/>
                <a:ea typeface="Source Sans 3" pitchFamily="34" charset="-122"/>
                <a:cs typeface="Source Sans 3" pitchFamily="34" charset="-120"/>
              </a:rPr>
              <a:t>Open FoodLink</a:t>
            </a:r>
            <a:endParaRPr lang="en-US" sz="2100" dirty="0"/>
          </a:p>
        </p:txBody>
      </p:sp>
      <p:sp>
        <p:nvSpPr>
          <p:cNvPr id="5" name="Text 3"/>
          <p:cNvSpPr txBox="1"/>
          <p:nvPr/>
        </p:nvSpPr>
        <p:spPr>
          <a:xfrm>
            <a:off x="1463040" y="2331720"/>
            <a:ext cx="7315200" cy="640080"/>
          </a:xfrm>
          <a:prstGeom prst="rect">
            <a:avLst/>
          </a:prstGeom>
          <a:noFill/>
          <a:ln/>
        </p:spPr>
        <p:txBody>
          <a:bodyPr wrap="square" lIns="0" tIns="0" rIns="0" bIns="0" rtlCol="0" anchor="t"/>
          <a:lstStyle/>
          <a:p>
            <a:pPr indent="0" marL="0">
              <a:buNone/>
            </a:pPr>
            <a:r>
              <a:rPr lang="en-US" sz="1600" dirty="0">
                <a:solidFill>
                  <a:srgbClr val="3A453E"/>
                </a:solidFill>
                <a:latin typeface="Source Sans 3" pitchFamily="34" charset="0"/>
                <a:ea typeface="Source Sans 3" pitchFamily="34" charset="-122"/>
                <a:cs typeface="Source Sans 3" pitchFamily="34" charset="-120"/>
              </a:rPr>
              <a:t>See what is on each shelf right now and when it was last counted.</a:t>
            </a:r>
            <a:endParaRPr lang="en-US" sz="1600" dirty="0"/>
          </a:p>
        </p:txBody>
      </p:sp>
      <p:sp>
        <p:nvSpPr>
          <p:cNvPr id="6" name="Text 4"/>
          <p:cNvSpPr txBox="1"/>
          <p:nvPr/>
        </p:nvSpPr>
        <p:spPr>
          <a:xfrm>
            <a:off x="685800" y="3063240"/>
            <a:ext cx="640080" cy="685800"/>
          </a:xfrm>
          <a:prstGeom prst="rect">
            <a:avLst/>
          </a:prstGeom>
          <a:noFill/>
          <a:ln/>
        </p:spPr>
        <p:txBody>
          <a:bodyPr wrap="square" lIns="0" tIns="0" rIns="0" bIns="0" rtlCol="0" anchor="t"/>
          <a:lstStyle/>
          <a:p>
            <a:pPr indent="0" marL="0">
              <a:buNone/>
            </a:pPr>
            <a:r>
              <a:rPr lang="en-US" sz="4400" dirty="0">
                <a:solidFill>
                  <a:srgbClr val="A97A2F"/>
                </a:solidFill>
                <a:latin typeface="Source Serif 4" pitchFamily="34" charset="0"/>
                <a:ea typeface="Source Serif 4" pitchFamily="34" charset="-122"/>
                <a:cs typeface="Source Serif 4" pitchFamily="34" charset="-120"/>
              </a:rPr>
              <a:t>2</a:t>
            </a:r>
            <a:endParaRPr lang="en-US" sz="4400" dirty="0"/>
          </a:p>
        </p:txBody>
      </p:sp>
      <p:sp>
        <p:nvSpPr>
          <p:cNvPr id="7" name="Text 5"/>
          <p:cNvSpPr txBox="1"/>
          <p:nvPr/>
        </p:nvSpPr>
        <p:spPr>
          <a:xfrm>
            <a:off x="1463040" y="3136392"/>
            <a:ext cx="7315200" cy="411480"/>
          </a:xfrm>
          <a:prstGeom prst="rect">
            <a:avLst/>
          </a:prstGeom>
          <a:noFill/>
          <a:ln/>
        </p:spPr>
        <p:txBody>
          <a:bodyPr wrap="square" lIns="0" tIns="0" rIns="0" bIns="0" rtlCol="0" anchor="t"/>
          <a:lstStyle/>
          <a:p>
            <a:pPr indent="0" marL="0">
              <a:buNone/>
            </a:pPr>
            <a:r>
              <a:rPr lang="en-US" sz="2100" b="1" dirty="0">
                <a:solidFill>
                  <a:srgbClr val="15201A"/>
                </a:solidFill>
                <a:latin typeface="Source Sans 3" pitchFamily="34" charset="0"/>
                <a:ea typeface="Source Sans 3" pitchFamily="34" charset="-122"/>
                <a:cs typeface="Source Sans 3" pitchFamily="34" charset="-120"/>
              </a:rPr>
              <a:t>Walk up and take what you need</a:t>
            </a:r>
            <a:endParaRPr lang="en-US" sz="2100" dirty="0"/>
          </a:p>
        </p:txBody>
      </p:sp>
      <p:sp>
        <p:nvSpPr>
          <p:cNvPr id="8" name="Text 6"/>
          <p:cNvSpPr txBox="1"/>
          <p:nvPr/>
        </p:nvSpPr>
        <p:spPr>
          <a:xfrm>
            <a:off x="1463040" y="3593592"/>
            <a:ext cx="7315200" cy="640080"/>
          </a:xfrm>
          <a:prstGeom prst="rect">
            <a:avLst/>
          </a:prstGeom>
          <a:noFill/>
          <a:ln/>
        </p:spPr>
        <p:txBody>
          <a:bodyPr wrap="square" lIns="0" tIns="0" rIns="0" bIns="0" rtlCol="0" anchor="t"/>
          <a:lstStyle/>
          <a:p>
            <a:pPr indent="0" marL="0">
              <a:buNone/>
            </a:pPr>
            <a:r>
              <a:rPr lang="en-US" sz="1600" dirty="0">
                <a:solidFill>
                  <a:srgbClr val="3A453E"/>
                </a:solidFill>
                <a:latin typeface="Source Sans 3" pitchFamily="34" charset="0"/>
                <a:ea typeface="Source Sans 3" pitchFamily="34" charset="-122"/>
                <a:cs typeface="Source Sans 3" pitchFamily="34" charset="-120"/>
              </a:rPr>
              <a:t>No form, no name, no student number. A posted guide asks for enough for today.</a:t>
            </a:r>
            <a:endParaRPr lang="en-US" sz="1600" dirty="0"/>
          </a:p>
        </p:txBody>
      </p:sp>
      <p:sp>
        <p:nvSpPr>
          <p:cNvPr id="9" name="Text 7"/>
          <p:cNvSpPr txBox="1"/>
          <p:nvPr/>
        </p:nvSpPr>
        <p:spPr>
          <a:xfrm>
            <a:off x="685800" y="4325112"/>
            <a:ext cx="640080" cy="685800"/>
          </a:xfrm>
          <a:prstGeom prst="rect">
            <a:avLst/>
          </a:prstGeom>
          <a:noFill/>
          <a:ln/>
        </p:spPr>
        <p:txBody>
          <a:bodyPr wrap="square" lIns="0" tIns="0" rIns="0" bIns="0" rtlCol="0" anchor="t"/>
          <a:lstStyle/>
          <a:p>
            <a:pPr indent="0" marL="0">
              <a:buNone/>
            </a:pPr>
            <a:r>
              <a:rPr lang="en-US" sz="4400" dirty="0">
                <a:solidFill>
                  <a:srgbClr val="A97A2F"/>
                </a:solidFill>
                <a:latin typeface="Source Serif 4" pitchFamily="34" charset="0"/>
                <a:ea typeface="Source Serif 4" pitchFamily="34" charset="-122"/>
                <a:cs typeface="Source Serif 4" pitchFamily="34" charset="-120"/>
              </a:rPr>
              <a:t>3</a:t>
            </a:r>
            <a:endParaRPr lang="en-US" sz="4400" dirty="0"/>
          </a:p>
        </p:txBody>
      </p:sp>
      <p:sp>
        <p:nvSpPr>
          <p:cNvPr id="10" name="Text 8"/>
          <p:cNvSpPr txBox="1"/>
          <p:nvPr/>
        </p:nvSpPr>
        <p:spPr>
          <a:xfrm>
            <a:off x="1463040" y="4398264"/>
            <a:ext cx="7315200" cy="411480"/>
          </a:xfrm>
          <a:prstGeom prst="rect">
            <a:avLst/>
          </a:prstGeom>
          <a:noFill/>
          <a:ln/>
        </p:spPr>
        <p:txBody>
          <a:bodyPr wrap="square" lIns="0" tIns="0" rIns="0" bIns="0" rtlCol="0" anchor="t"/>
          <a:lstStyle/>
          <a:p>
            <a:pPr indent="0" marL="0">
              <a:buNone/>
            </a:pPr>
            <a:r>
              <a:rPr lang="en-US" sz="2100" b="1" dirty="0">
                <a:solidFill>
                  <a:srgbClr val="15201A"/>
                </a:solidFill>
                <a:latin typeface="Source Sans 3" pitchFamily="34" charset="0"/>
                <a:ea typeface="Source Sans 3" pitchFamily="34" charset="-122"/>
                <a:cs typeface="Source Sans 3" pitchFamily="34" charset="-120"/>
              </a:rPr>
              <a:t>Shelf empty? Tap once</a:t>
            </a:r>
            <a:endParaRPr lang="en-US" sz="2100" dirty="0"/>
          </a:p>
        </p:txBody>
      </p:sp>
      <p:sp>
        <p:nvSpPr>
          <p:cNvPr id="11" name="Text 9"/>
          <p:cNvSpPr txBox="1"/>
          <p:nvPr/>
        </p:nvSpPr>
        <p:spPr>
          <a:xfrm>
            <a:off x="1463040" y="4855464"/>
            <a:ext cx="7315200" cy="640080"/>
          </a:xfrm>
          <a:prstGeom prst="rect">
            <a:avLst/>
          </a:prstGeom>
          <a:noFill/>
          <a:ln/>
        </p:spPr>
        <p:txBody>
          <a:bodyPr wrap="square" lIns="0" tIns="0" rIns="0" bIns="0" rtlCol="0" anchor="t"/>
          <a:lstStyle/>
          <a:p>
            <a:pPr indent="0" marL="0">
              <a:buNone/>
            </a:pPr>
            <a:r>
              <a:rPr lang="en-US" sz="1600" dirty="0">
                <a:solidFill>
                  <a:srgbClr val="3A453E"/>
                </a:solidFill>
                <a:latin typeface="Source Sans 3" pitchFamily="34" charset="0"/>
                <a:ea typeface="Source Sans 3" pitchFamily="34" charset="-122"/>
                <a:cs typeface="Source Sans 3" pitchFamily="34" charset="-120"/>
              </a:rPr>
              <a:t>The volunteer on shift gets the report. Target: restocked within two hours.</a:t>
            </a:r>
            <a:endParaRPr lang="en-US" sz="1600" dirty="0"/>
          </a:p>
        </p:txBody>
      </p:sp>
      <p:sp>
        <p:nvSpPr>
          <p:cNvPr id="12" name="Text 10"/>
          <p:cNvSpPr txBox="1"/>
          <p:nvPr/>
        </p:nvSpPr>
        <p:spPr>
          <a:xfrm>
            <a:off x="1463040" y="5669280"/>
            <a:ext cx="6400800" cy="274320"/>
          </a:xfrm>
          <a:prstGeom prst="rect">
            <a:avLst/>
          </a:prstGeom>
          <a:noFill/>
          <a:ln/>
        </p:spPr>
        <p:txBody>
          <a:bodyPr wrap="square" lIns="0" tIns="0" rIns="0" bIns="0" rtlCol="0" anchor="t"/>
          <a:lstStyle/>
          <a:p>
            <a:pPr indent="0" marL="0">
              <a:buNone/>
            </a:pPr>
            <a:r>
              <a:rPr lang="en-US" sz="1150" dirty="0">
                <a:solidFill>
                  <a:srgbClr val="6B746D"/>
                </a:solidFill>
                <a:latin typeface="Source Sans 3" pitchFamily="34" charset="0"/>
                <a:ea typeface="Source Sans 3" pitchFamily="34" charset="-122"/>
                <a:cs typeface="Source Sans 3" pitchFamily="34" charset="-120"/>
              </a:rPr>
              <a:t>Screenshot of the working app. Stock counts come from a simulated pilot.</a:t>
            </a:r>
            <a:endParaRPr lang="en-US" sz="1150" dirty="0"/>
          </a:p>
        </p:txBody>
      </p:sp>
      <p:pic>
        <p:nvPicPr>
          <p:cNvPr id="13" name="Image 0" descr="/tmp/claude-0/-home-claude/cb850c95-8acd-5c96-8a28-bf7aa743d4f8/scratchpad/foodlink/deck/img3/phone.png">    </p:cNvPr>
          <p:cNvPicPr>
            <a:picLocks noChangeAspect="1"/>
          </p:cNvPicPr>
          <p:nvPr/>
        </p:nvPicPr>
        <p:blipFill>
          <a:blip r:embed="rId1"/>
          <a:stretch>
            <a:fillRect/>
          </a:stretch>
        </p:blipFill>
        <p:spPr>
          <a:xfrm>
            <a:off x="8979227" y="1097280"/>
            <a:ext cx="2755268" cy="5074920"/>
          </a:xfrm>
          <a:prstGeom prst="rect">
            <a:avLst/>
          </a:prstGeom>
        </p:spPr>
      </p:pic>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rgbClr val="6B746D"/>
                </a:solidFill>
                <a:latin typeface="Source Sans 3"/>
                <a:ea typeface="Source Sans 3"/>
                <a:cs typeface="Source Sans 3"/>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7"/>
          <p:cNvSpPr/>
          <p:nvPr>
            <p:ph idx="107" type="title" hasCustomPrompt="1"/>
          </p:nvPr>
        </p:nvSpPr>
        <p:spPr>
          <a:xfrm>
            <a:off x="685800" y="502920"/>
            <a:ext cx="9692640" cy="1143000"/>
          </a:xfrm>
          <a:prstGeom prst="rect">
            <a:avLst/>
          </a:prstGeom>
          <a:noFill/>
          <a:ln/>
        </p:spPr>
        <p:txBody>
          <a:bodyPr wrap="square" lIns="0" tIns="0" rIns="0" bIns="0" rtlCol="0" anchor="t"/>
          <a:lstStyle/>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Live demo: a report, a restock and</a:t>
            </a:r>
            <a:endParaRPr lang="en-US" sz="3000" dirty="0"/>
          </a:p>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a surplus drop, in real time</a:t>
            </a:r>
            <a:endParaRPr lang="en-US" sz="3000" dirty="0"/>
          </a:p>
        </p:txBody>
      </p:sp>
      <p:pic>
        <p:nvPicPr>
          <p:cNvPr id="3" name="Image 0" descr="/tmp/claude-0/-home-claude/cb850c95-8acd-5c96-8a28-bf7aa743d4f8/scratchpad/foodlink/deck/img3/present-framed.png">    </p:cNvPr>
          <p:cNvPicPr>
            <a:picLocks noChangeAspect="1"/>
          </p:cNvPicPr>
          <p:nvPr/>
        </p:nvPicPr>
        <p:blipFill>
          <a:blip r:embed="rId1"/>
          <a:stretch>
            <a:fillRect/>
          </a:stretch>
        </p:blipFill>
        <p:spPr>
          <a:xfrm>
            <a:off x="438912" y="1600200"/>
            <a:ext cx="7589520" cy="4486328"/>
          </a:xfrm>
          <a:prstGeom prst="rect">
            <a:avLst/>
          </a:prstGeom>
        </p:spPr>
      </p:pic>
      <p:sp>
        <p:nvSpPr>
          <p:cNvPr id="4" name="Text 1"/>
          <p:cNvSpPr txBox="1"/>
          <p:nvPr/>
        </p:nvSpPr>
        <p:spPr>
          <a:xfrm>
            <a:off x="8321040" y="1837944"/>
            <a:ext cx="365760" cy="457200"/>
          </a:xfrm>
          <a:prstGeom prst="rect">
            <a:avLst/>
          </a:prstGeom>
          <a:noFill/>
          <a:ln/>
        </p:spPr>
        <p:txBody>
          <a:bodyPr wrap="square" lIns="0" tIns="0" rIns="0" bIns="0" rtlCol="0" anchor="t"/>
          <a:lstStyle/>
          <a:p>
            <a:pPr indent="0" marL="0">
              <a:buNone/>
            </a:pPr>
            <a:r>
              <a:rPr lang="en-US" sz="2400" dirty="0">
                <a:solidFill>
                  <a:srgbClr val="A97A2F"/>
                </a:solidFill>
                <a:latin typeface="Source Serif 4" pitchFamily="34" charset="0"/>
                <a:ea typeface="Source Serif 4" pitchFamily="34" charset="-122"/>
                <a:cs typeface="Source Serif 4" pitchFamily="34" charset="-120"/>
              </a:rPr>
              <a:t>1</a:t>
            </a:r>
            <a:endParaRPr lang="en-US" sz="2400" dirty="0"/>
          </a:p>
        </p:txBody>
      </p:sp>
      <p:sp>
        <p:nvSpPr>
          <p:cNvPr id="5" name="Text 2"/>
          <p:cNvSpPr txBox="1"/>
          <p:nvPr/>
        </p:nvSpPr>
        <p:spPr>
          <a:xfrm>
            <a:off x="8732520" y="1874520"/>
            <a:ext cx="2773375" cy="566928"/>
          </a:xfrm>
          <a:prstGeom prst="rect">
            <a:avLst/>
          </a:prstGeom>
          <a:noFill/>
          <a:ln/>
        </p:spPr>
        <p:txBody>
          <a:bodyPr wrap="square" lIns="0" tIns="0" rIns="0" bIns="0" rtlCol="0" anchor="t"/>
          <a:lstStyle/>
          <a:p>
            <a:pPr indent="0" marL="0">
              <a:buNone/>
            </a:pPr>
            <a:r>
              <a:rPr lang="en-US" sz="1500" dirty="0">
                <a:solidFill>
                  <a:srgbClr val="15201A"/>
                </a:solidFill>
                <a:latin typeface="Source Sans 3" pitchFamily="34" charset="0"/>
                <a:ea typeface="Source Sans 3" pitchFamily="34" charset="-122"/>
                <a:cs typeface="Source Sans 3" pitchFamily="34" charset="-120"/>
              </a:rPr>
              <a:t>A student reports an empty shelf</a:t>
            </a:r>
            <a:endParaRPr lang="en-US" sz="1500" dirty="0"/>
          </a:p>
        </p:txBody>
      </p:sp>
      <p:sp>
        <p:nvSpPr>
          <p:cNvPr id="6" name="Text 3"/>
          <p:cNvSpPr txBox="1"/>
          <p:nvPr/>
        </p:nvSpPr>
        <p:spPr>
          <a:xfrm>
            <a:off x="8321040" y="2569464"/>
            <a:ext cx="365760" cy="457200"/>
          </a:xfrm>
          <a:prstGeom prst="rect">
            <a:avLst/>
          </a:prstGeom>
          <a:noFill/>
          <a:ln/>
        </p:spPr>
        <p:txBody>
          <a:bodyPr wrap="square" lIns="0" tIns="0" rIns="0" bIns="0" rtlCol="0" anchor="t"/>
          <a:lstStyle/>
          <a:p>
            <a:pPr indent="0" marL="0">
              <a:buNone/>
            </a:pPr>
            <a:r>
              <a:rPr lang="en-US" sz="2400" dirty="0">
                <a:solidFill>
                  <a:srgbClr val="A97A2F"/>
                </a:solidFill>
                <a:latin typeface="Source Serif 4" pitchFamily="34" charset="0"/>
                <a:ea typeface="Source Serif 4" pitchFamily="34" charset="-122"/>
                <a:cs typeface="Source Serif 4" pitchFamily="34" charset="-120"/>
              </a:rPr>
              <a:t>2</a:t>
            </a:r>
            <a:endParaRPr lang="en-US" sz="2400" dirty="0"/>
          </a:p>
        </p:txBody>
      </p:sp>
      <p:sp>
        <p:nvSpPr>
          <p:cNvPr id="7" name="Text 4"/>
          <p:cNvSpPr txBox="1"/>
          <p:nvPr/>
        </p:nvSpPr>
        <p:spPr>
          <a:xfrm>
            <a:off x="8732520" y="2606040"/>
            <a:ext cx="2773375" cy="566928"/>
          </a:xfrm>
          <a:prstGeom prst="rect">
            <a:avLst/>
          </a:prstGeom>
          <a:noFill/>
          <a:ln/>
        </p:spPr>
        <p:txBody>
          <a:bodyPr wrap="square" lIns="0" tIns="0" rIns="0" bIns="0" rtlCol="0" anchor="t"/>
          <a:lstStyle/>
          <a:p>
            <a:pPr indent="0" marL="0">
              <a:buNone/>
            </a:pPr>
            <a:r>
              <a:rPr lang="en-US" sz="1500" dirty="0">
                <a:solidFill>
                  <a:srgbClr val="15201A"/>
                </a:solidFill>
                <a:latin typeface="Source Sans 3" pitchFamily="34" charset="0"/>
                <a:ea typeface="Source Sans 3" pitchFamily="34" charset="-122"/>
                <a:cs typeface="Source Sans 3" pitchFamily="34" charset="-120"/>
              </a:rPr>
              <a:t>A volunteer restocks it</a:t>
            </a:r>
            <a:endParaRPr lang="en-US" sz="1500" dirty="0"/>
          </a:p>
        </p:txBody>
      </p:sp>
      <p:sp>
        <p:nvSpPr>
          <p:cNvPr id="8" name="Text 5"/>
          <p:cNvSpPr txBox="1"/>
          <p:nvPr/>
        </p:nvSpPr>
        <p:spPr>
          <a:xfrm>
            <a:off x="8321040" y="3300984"/>
            <a:ext cx="365760" cy="457200"/>
          </a:xfrm>
          <a:prstGeom prst="rect">
            <a:avLst/>
          </a:prstGeom>
          <a:noFill/>
          <a:ln/>
        </p:spPr>
        <p:txBody>
          <a:bodyPr wrap="square" lIns="0" tIns="0" rIns="0" bIns="0" rtlCol="0" anchor="t"/>
          <a:lstStyle/>
          <a:p>
            <a:pPr indent="0" marL="0">
              <a:buNone/>
            </a:pPr>
            <a:r>
              <a:rPr lang="en-US" sz="2400" dirty="0">
                <a:solidFill>
                  <a:srgbClr val="A97A2F"/>
                </a:solidFill>
                <a:latin typeface="Source Serif 4" pitchFamily="34" charset="0"/>
                <a:ea typeface="Source Serif 4" pitchFamily="34" charset="-122"/>
                <a:cs typeface="Source Serif 4" pitchFamily="34" charset="-120"/>
              </a:rPr>
              <a:t>3</a:t>
            </a:r>
            <a:endParaRPr lang="en-US" sz="2400" dirty="0"/>
          </a:p>
        </p:txBody>
      </p:sp>
      <p:sp>
        <p:nvSpPr>
          <p:cNvPr id="9" name="Text 6"/>
          <p:cNvSpPr txBox="1"/>
          <p:nvPr/>
        </p:nvSpPr>
        <p:spPr>
          <a:xfrm>
            <a:off x="8732520" y="3337560"/>
            <a:ext cx="2773375" cy="566928"/>
          </a:xfrm>
          <a:prstGeom prst="rect">
            <a:avLst/>
          </a:prstGeom>
          <a:noFill/>
          <a:ln/>
        </p:spPr>
        <p:txBody>
          <a:bodyPr wrap="square" lIns="0" tIns="0" rIns="0" bIns="0" rtlCol="0" anchor="t"/>
          <a:lstStyle/>
          <a:p>
            <a:pPr indent="0" marL="0">
              <a:buNone/>
            </a:pPr>
            <a:r>
              <a:rPr lang="en-US" sz="1500" dirty="0">
                <a:solidFill>
                  <a:srgbClr val="15201A"/>
                </a:solidFill>
                <a:latin typeface="Source Sans 3" pitchFamily="34" charset="0"/>
                <a:ea typeface="Source Sans 3" pitchFamily="34" charset="-122"/>
                <a:cs typeface="Source Sans 3" pitchFamily="34" charset="-120"/>
              </a:rPr>
              <a:t>A café posts sealed surplus</a:t>
            </a:r>
            <a:endParaRPr lang="en-US" sz="1500" dirty="0"/>
          </a:p>
        </p:txBody>
      </p:sp>
      <p:sp>
        <p:nvSpPr>
          <p:cNvPr id="10" name="Text 7"/>
          <p:cNvSpPr txBox="1"/>
          <p:nvPr/>
        </p:nvSpPr>
        <p:spPr>
          <a:xfrm>
            <a:off x="8321040" y="4032504"/>
            <a:ext cx="365760" cy="457200"/>
          </a:xfrm>
          <a:prstGeom prst="rect">
            <a:avLst/>
          </a:prstGeom>
          <a:noFill/>
          <a:ln/>
        </p:spPr>
        <p:txBody>
          <a:bodyPr wrap="square" lIns="0" tIns="0" rIns="0" bIns="0" rtlCol="0" anchor="t"/>
          <a:lstStyle/>
          <a:p>
            <a:pPr indent="0" marL="0">
              <a:buNone/>
            </a:pPr>
            <a:r>
              <a:rPr lang="en-US" sz="2400" dirty="0">
                <a:solidFill>
                  <a:srgbClr val="A97A2F"/>
                </a:solidFill>
                <a:latin typeface="Source Serif 4" pitchFamily="34" charset="0"/>
                <a:ea typeface="Source Serif 4" pitchFamily="34" charset="-122"/>
                <a:cs typeface="Source Serif 4" pitchFamily="34" charset="-120"/>
              </a:rPr>
              <a:t>4</a:t>
            </a:r>
            <a:endParaRPr lang="en-US" sz="2400" dirty="0"/>
          </a:p>
        </p:txBody>
      </p:sp>
      <p:sp>
        <p:nvSpPr>
          <p:cNvPr id="11" name="Text 8"/>
          <p:cNvSpPr txBox="1"/>
          <p:nvPr/>
        </p:nvSpPr>
        <p:spPr>
          <a:xfrm>
            <a:off x="8732520" y="4069080"/>
            <a:ext cx="2773375" cy="566928"/>
          </a:xfrm>
          <a:prstGeom prst="rect">
            <a:avLst/>
          </a:prstGeom>
          <a:noFill/>
          <a:ln/>
        </p:spPr>
        <p:txBody>
          <a:bodyPr wrap="square" lIns="0" tIns="0" rIns="0" bIns="0" rtlCol="0" anchor="t"/>
          <a:lstStyle/>
          <a:p>
            <a:pPr indent="0" marL="0">
              <a:buNone/>
            </a:pPr>
            <a:r>
              <a:rPr lang="en-US" sz="1500" dirty="0">
                <a:solidFill>
                  <a:srgbClr val="15201A"/>
                </a:solidFill>
                <a:latin typeface="Source Sans 3" pitchFamily="34" charset="0"/>
                <a:ea typeface="Source Sans 3" pitchFamily="34" charset="-122"/>
                <a:cs typeface="Source Sans 3" pitchFamily="34" charset="-120"/>
              </a:rPr>
              <a:t>A student reserves it with a code</a:t>
            </a:r>
            <a:endParaRPr lang="en-US" sz="1500" dirty="0"/>
          </a:p>
        </p:txBody>
      </p:sp>
      <p:sp>
        <p:nvSpPr>
          <p:cNvPr id="12" name="Text 9"/>
          <p:cNvSpPr txBox="1"/>
          <p:nvPr/>
        </p:nvSpPr>
        <p:spPr>
          <a:xfrm>
            <a:off x="8321040" y="4764024"/>
            <a:ext cx="365760" cy="457200"/>
          </a:xfrm>
          <a:prstGeom prst="rect">
            <a:avLst/>
          </a:prstGeom>
          <a:noFill/>
          <a:ln/>
        </p:spPr>
        <p:txBody>
          <a:bodyPr wrap="square" lIns="0" tIns="0" rIns="0" bIns="0" rtlCol="0" anchor="t"/>
          <a:lstStyle/>
          <a:p>
            <a:pPr indent="0" marL="0">
              <a:buNone/>
            </a:pPr>
            <a:r>
              <a:rPr lang="en-US" sz="2400" dirty="0">
                <a:solidFill>
                  <a:srgbClr val="A97A2F"/>
                </a:solidFill>
                <a:latin typeface="Source Serif 4" pitchFamily="34" charset="0"/>
                <a:ea typeface="Source Serif 4" pitchFamily="34" charset="-122"/>
                <a:cs typeface="Source Serif 4" pitchFamily="34" charset="-120"/>
              </a:rPr>
              <a:t>5</a:t>
            </a:r>
            <a:endParaRPr lang="en-US" sz="2400" dirty="0"/>
          </a:p>
        </p:txBody>
      </p:sp>
      <p:sp>
        <p:nvSpPr>
          <p:cNvPr id="13" name="Text 10"/>
          <p:cNvSpPr txBox="1"/>
          <p:nvPr/>
        </p:nvSpPr>
        <p:spPr>
          <a:xfrm>
            <a:off x="8732520" y="4800600"/>
            <a:ext cx="2773375" cy="566928"/>
          </a:xfrm>
          <a:prstGeom prst="rect">
            <a:avLst/>
          </a:prstGeom>
          <a:noFill/>
          <a:ln/>
        </p:spPr>
        <p:txBody>
          <a:bodyPr wrap="square" lIns="0" tIns="0" rIns="0" bIns="0" rtlCol="0" anchor="t"/>
          <a:lstStyle/>
          <a:p>
            <a:pPr indent="0" marL="0">
              <a:buNone/>
            </a:pPr>
            <a:r>
              <a:rPr lang="en-US" sz="1500" dirty="0">
                <a:solidFill>
                  <a:srgbClr val="15201A"/>
                </a:solidFill>
                <a:latin typeface="Source Sans 3" pitchFamily="34" charset="0"/>
                <a:ea typeface="Source Sans 3" pitchFamily="34" charset="-122"/>
                <a:cs typeface="Source Sans 3" pitchFamily="34" charset="-120"/>
              </a:rPr>
              <a:t>The USC dashboard updates</a:t>
            </a:r>
            <a:endParaRPr lang="en-US" sz="1500" dirty="0"/>
          </a:p>
        </p:txBody>
      </p:sp>
      <p:sp>
        <p:nvSpPr>
          <p:cNvPr id="14" name="Text 11"/>
          <p:cNvSpPr txBox="1"/>
          <p:nvPr/>
        </p:nvSpPr>
        <p:spPr>
          <a:xfrm>
            <a:off x="8321040" y="5532120"/>
            <a:ext cx="3184855" cy="411480"/>
          </a:xfrm>
          <a:prstGeom prst="rect">
            <a:avLst/>
          </a:prstGeom>
          <a:noFill/>
          <a:ln/>
        </p:spPr>
        <p:txBody>
          <a:bodyPr wrap="square" lIns="0" tIns="0" rIns="0" bIns="0" rtlCol="0" anchor="t"/>
          <a:lstStyle/>
          <a:p>
            <a:pPr indent="0" marL="0">
              <a:buNone/>
            </a:pPr>
            <a:r>
              <a:rPr lang="en-US" sz="1150" dirty="0">
                <a:solidFill>
                  <a:srgbClr val="6B746D"/>
                </a:solidFill>
                <a:latin typeface="Source Sans 3" pitchFamily="34" charset="0"/>
                <a:ea typeface="Source Sans 3" pitchFamily="34" charset="-122"/>
                <a:cs typeface="Source Sans 3" pitchFamily="34" charset="-120"/>
              </a:rPr>
              <a:t>The app’s live demo page after step 4. Dashboard history is simulated.</a:t>
            </a:r>
            <a:endParaRPr lang="en-US" sz="115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rgbClr val="6B746D"/>
                </a:solidFill>
                <a:latin typeface="Source Sans 3"/>
                <a:ea typeface="Source Sans 3"/>
                <a:cs typeface="Source Sans 3"/>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7"/>
          <p:cNvSpPr/>
          <p:nvPr>
            <p:ph idx="107" type="title" hasCustomPrompt="1"/>
          </p:nvPr>
        </p:nvSpPr>
        <p:spPr>
          <a:xfrm>
            <a:off x="685800" y="502920"/>
            <a:ext cx="9692640" cy="1143000"/>
          </a:xfrm>
          <a:prstGeom prst="rect">
            <a:avLst/>
          </a:prstGeom>
          <a:noFill/>
          <a:ln/>
        </p:spPr>
        <p:txBody>
          <a:bodyPr wrap="square" lIns="0" tIns="0" rIns="0" bIns="0" rtlCol="0" anchor="t"/>
          <a:lstStyle/>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Where campus food is walk-up and</a:t>
            </a:r>
            <a:endParaRPr lang="en-US" sz="3000" dirty="0"/>
          </a:p>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anonymous, students use it</a:t>
            </a:r>
            <a:endParaRPr lang="en-US" sz="3000" dirty="0"/>
          </a:p>
        </p:txBody>
      </p:sp>
      <p:sp>
        <p:nvSpPr>
          <p:cNvPr id="3" name="Shape 1"/>
          <p:cNvSpPr/>
          <p:nvPr/>
        </p:nvSpPr>
        <p:spPr>
          <a:xfrm>
            <a:off x="685800" y="1828800"/>
            <a:ext cx="3362858" cy="0"/>
          </a:xfrm>
          <a:prstGeom prst="line">
            <a:avLst/>
          </a:prstGeom>
          <a:noFill/>
          <a:ln w="12700">
            <a:solidFill>
              <a:srgbClr val="15201A"/>
            </a:solidFill>
            <a:prstDash val="solid"/>
          </a:ln>
        </p:spPr>
      </p:sp>
      <p:sp>
        <p:nvSpPr>
          <p:cNvPr id="4" name="Text 2"/>
          <p:cNvSpPr txBox="1"/>
          <p:nvPr/>
        </p:nvSpPr>
        <p:spPr>
          <a:xfrm>
            <a:off x="685800" y="1993392"/>
            <a:ext cx="3362858" cy="731520"/>
          </a:xfrm>
          <a:prstGeom prst="rect">
            <a:avLst/>
          </a:prstGeom>
          <a:noFill/>
          <a:ln/>
        </p:spPr>
        <p:txBody>
          <a:bodyPr wrap="square" lIns="0" tIns="0" rIns="0" bIns="0" rtlCol="0" anchor="t"/>
          <a:lstStyle/>
          <a:p>
            <a:pPr indent="0" marL="0">
              <a:buNone/>
            </a:pPr>
            <a:r>
              <a:rPr lang="en-US" sz="4000" dirty="0">
                <a:solidFill>
                  <a:srgbClr val="1D5E40"/>
                </a:solidFill>
                <a:latin typeface="Source Serif 4" pitchFamily="34" charset="0"/>
                <a:ea typeface="Source Serif 4" pitchFamily="34" charset="-122"/>
                <a:cs typeface="Source Serif 4" pitchFamily="34" charset="-120"/>
              </a:rPr>
              <a:t>5,263</a:t>
            </a:r>
            <a:endParaRPr lang="en-US" sz="4000" dirty="0"/>
          </a:p>
        </p:txBody>
      </p:sp>
      <p:sp>
        <p:nvSpPr>
          <p:cNvPr id="5" name="Text 3"/>
          <p:cNvSpPr txBox="1"/>
          <p:nvPr/>
        </p:nvSpPr>
        <p:spPr>
          <a:xfrm>
            <a:off x="685800" y="2788920"/>
            <a:ext cx="3271418" cy="1325880"/>
          </a:xfrm>
          <a:prstGeom prst="rect">
            <a:avLst/>
          </a:prstGeom>
          <a:noFill/>
          <a:ln/>
        </p:spPr>
        <p:txBody>
          <a:bodyPr wrap="square" lIns="0" tIns="0" rIns="0" bIns="0" rtlCol="0" anchor="t"/>
          <a:lstStyle/>
          <a:p>
            <a:pPr indent="0" marL="0">
              <a:buNone/>
            </a:pPr>
            <a:r>
              <a:rPr lang="en-US" sz="1450" dirty="0">
                <a:solidFill>
                  <a:srgbClr val="3A453E"/>
                </a:solidFill>
                <a:latin typeface="Source Sans 3" pitchFamily="34" charset="0"/>
                <a:ea typeface="Source Sans 3" pitchFamily="34" charset="-122"/>
                <a:cs typeface="Source Sans 3" pitchFamily="34" charset="-120"/>
              </a:rPr>
              <a:t>door openings in 2022–23 at anonymous, unstaffed mini-pantries at Virginia Commonwealth University, more than double the year before. Busiest: the gym and the main library. Vandalism was rare.</a:t>
            </a:r>
            <a:endParaRPr lang="en-US" sz="1450" dirty="0"/>
          </a:p>
        </p:txBody>
      </p:sp>
      <p:sp>
        <p:nvSpPr>
          <p:cNvPr id="6" name="Text 4"/>
          <p:cNvSpPr txBox="1"/>
          <p:nvPr/>
        </p:nvSpPr>
        <p:spPr>
          <a:xfrm>
            <a:off x="685800" y="4160520"/>
            <a:ext cx="3271418" cy="411480"/>
          </a:xfrm>
          <a:prstGeom prst="rect">
            <a:avLst/>
          </a:prstGeom>
          <a:noFill/>
          <a:ln/>
        </p:spPr>
        <p:txBody>
          <a:bodyPr wrap="square" lIns="0" tIns="0" rIns="0" bIns="0" rtlCol="0" anchor="t"/>
          <a:lstStyle/>
          <a:p>
            <a:pPr indent="0" marL="0">
              <a:buNone/>
            </a:pPr>
            <a:r>
              <a:rPr lang="en-US" sz="1050" dirty="0">
                <a:solidFill>
                  <a:srgbClr val="6B746D"/>
                </a:solidFill>
                <a:latin typeface="Source Sans 3" pitchFamily="34" charset="0"/>
                <a:ea typeface="Source Sans 3" pitchFamily="34" charset="-122"/>
                <a:cs typeface="Source Sans 3" pitchFamily="34" charset="-120"/>
              </a:rPr>
              <a:t>Jones et al., Journal of Agriculture, Food Systems, and Community Development, 2024 (corrected 2025)</a:t>
            </a:r>
            <a:endParaRPr lang="en-US" sz="1050" dirty="0"/>
          </a:p>
        </p:txBody>
      </p:sp>
      <p:sp>
        <p:nvSpPr>
          <p:cNvPr id="7" name="Shape 5"/>
          <p:cNvSpPr/>
          <p:nvPr/>
        </p:nvSpPr>
        <p:spPr>
          <a:xfrm>
            <a:off x="4414418" y="1828800"/>
            <a:ext cx="3362858" cy="0"/>
          </a:xfrm>
          <a:prstGeom prst="line">
            <a:avLst/>
          </a:prstGeom>
          <a:noFill/>
          <a:ln w="12700">
            <a:solidFill>
              <a:srgbClr val="15201A"/>
            </a:solidFill>
            <a:prstDash val="solid"/>
          </a:ln>
        </p:spPr>
      </p:sp>
      <p:sp>
        <p:nvSpPr>
          <p:cNvPr id="8" name="Text 6"/>
          <p:cNvSpPr txBox="1"/>
          <p:nvPr/>
        </p:nvSpPr>
        <p:spPr>
          <a:xfrm>
            <a:off x="4414418" y="1993392"/>
            <a:ext cx="3362858" cy="731520"/>
          </a:xfrm>
          <a:prstGeom prst="rect">
            <a:avLst/>
          </a:prstGeom>
          <a:noFill/>
          <a:ln/>
        </p:spPr>
        <p:txBody>
          <a:bodyPr wrap="square" lIns="0" tIns="0" rIns="0" bIns="0" rtlCol="0" anchor="t"/>
          <a:lstStyle/>
          <a:p>
            <a:pPr indent="0" marL="0">
              <a:buNone/>
            </a:pPr>
            <a:r>
              <a:rPr lang="en-US" sz="4000" dirty="0">
                <a:solidFill>
                  <a:srgbClr val="1D5E40"/>
                </a:solidFill>
                <a:latin typeface="Source Serif 4" pitchFamily="34" charset="0"/>
                <a:ea typeface="Source Serif 4" pitchFamily="34" charset="-122"/>
                <a:cs typeface="Source Serif 4" pitchFamily="34" charset="-120"/>
              </a:rPr>
              <a:t>A few hours</a:t>
            </a:r>
            <a:endParaRPr lang="en-US" sz="4000" dirty="0"/>
          </a:p>
        </p:txBody>
      </p:sp>
      <p:sp>
        <p:nvSpPr>
          <p:cNvPr id="9" name="Text 7"/>
          <p:cNvSpPr txBox="1"/>
          <p:nvPr/>
        </p:nvSpPr>
        <p:spPr>
          <a:xfrm>
            <a:off x="4414418" y="2788920"/>
            <a:ext cx="3271418" cy="1325880"/>
          </a:xfrm>
          <a:prstGeom prst="rect">
            <a:avLst/>
          </a:prstGeom>
          <a:noFill/>
          <a:ln/>
        </p:spPr>
        <p:txBody>
          <a:bodyPr wrap="square" lIns="0" tIns="0" rIns="0" bIns="0" rtlCol="0" anchor="t"/>
          <a:lstStyle/>
          <a:p>
            <a:pPr indent="0" marL="0">
              <a:buNone/>
            </a:pPr>
            <a:r>
              <a:rPr lang="en-US" sz="1450" dirty="0">
                <a:solidFill>
                  <a:srgbClr val="3A453E"/>
                </a:solidFill>
                <a:latin typeface="Source Sans 3" pitchFamily="34" charset="0"/>
                <a:ea typeface="Source Sans 3" pitchFamily="34" charset="-122"/>
                <a:cs typeface="Source Sans 3" pitchFamily="34" charset="-120"/>
              </a:rPr>
              <a:t>for a week’s stock to run out at the University of Alberta’s walk-up pantry, while its campus food bank had a waitlist of about six weeks.</a:t>
            </a:r>
            <a:endParaRPr lang="en-US" sz="1450" dirty="0"/>
          </a:p>
        </p:txBody>
      </p:sp>
      <p:sp>
        <p:nvSpPr>
          <p:cNvPr id="10" name="Text 8"/>
          <p:cNvSpPr txBox="1"/>
          <p:nvPr/>
        </p:nvSpPr>
        <p:spPr>
          <a:xfrm>
            <a:off x="4414418" y="4160520"/>
            <a:ext cx="3271418" cy="411480"/>
          </a:xfrm>
          <a:prstGeom prst="rect">
            <a:avLst/>
          </a:prstGeom>
          <a:noFill/>
          <a:ln/>
        </p:spPr>
        <p:txBody>
          <a:bodyPr wrap="square" lIns="0" tIns="0" rIns="0" bIns="0" rtlCol="0" anchor="t"/>
          <a:lstStyle/>
          <a:p>
            <a:pPr indent="0" marL="0">
              <a:buNone/>
            </a:pPr>
            <a:r>
              <a:rPr lang="en-US" sz="1050" dirty="0">
                <a:solidFill>
                  <a:srgbClr val="6B746D"/>
                </a:solidFill>
                <a:latin typeface="Source Sans 3" pitchFamily="34" charset="0"/>
                <a:ea typeface="Source Sans 3" pitchFamily="34" charset="-122"/>
                <a:cs typeface="Source Sans 3" pitchFamily="34" charset="-120"/>
              </a:rPr>
              <a:t>The Gateway, May 3, 2024</a:t>
            </a:r>
            <a:endParaRPr lang="en-US" sz="1050" dirty="0"/>
          </a:p>
        </p:txBody>
      </p:sp>
      <p:sp>
        <p:nvSpPr>
          <p:cNvPr id="11" name="Shape 9"/>
          <p:cNvSpPr/>
          <p:nvPr/>
        </p:nvSpPr>
        <p:spPr>
          <a:xfrm>
            <a:off x="8143037" y="1828800"/>
            <a:ext cx="3362858" cy="0"/>
          </a:xfrm>
          <a:prstGeom prst="line">
            <a:avLst/>
          </a:prstGeom>
          <a:noFill/>
          <a:ln w="12700">
            <a:solidFill>
              <a:srgbClr val="15201A"/>
            </a:solidFill>
            <a:prstDash val="solid"/>
          </a:ln>
        </p:spPr>
      </p:sp>
      <p:sp>
        <p:nvSpPr>
          <p:cNvPr id="12" name="Text 10"/>
          <p:cNvSpPr txBox="1"/>
          <p:nvPr/>
        </p:nvSpPr>
        <p:spPr>
          <a:xfrm>
            <a:off x="8143037" y="1993392"/>
            <a:ext cx="3362858" cy="731520"/>
          </a:xfrm>
          <a:prstGeom prst="rect">
            <a:avLst/>
          </a:prstGeom>
          <a:noFill/>
          <a:ln/>
        </p:spPr>
        <p:txBody>
          <a:bodyPr wrap="square" lIns="0" tIns="0" rIns="0" bIns="0" rtlCol="0" anchor="t"/>
          <a:lstStyle/>
          <a:p>
            <a:pPr indent="0" marL="0">
              <a:buNone/>
            </a:pPr>
            <a:r>
              <a:rPr lang="en-US" sz="4000" dirty="0">
                <a:solidFill>
                  <a:srgbClr val="1D5E40"/>
                </a:solidFill>
                <a:latin typeface="Source Serif 4" pitchFamily="34" charset="0"/>
                <a:ea typeface="Source Serif 4" pitchFamily="34" charset="-122"/>
                <a:cs typeface="Source Serif 4" pitchFamily="34" charset="-120"/>
              </a:rPr>
              <a:t>48.5%</a:t>
            </a:r>
            <a:endParaRPr lang="en-US" sz="4000" dirty="0"/>
          </a:p>
        </p:txBody>
      </p:sp>
      <p:sp>
        <p:nvSpPr>
          <p:cNvPr id="13" name="Text 11"/>
          <p:cNvSpPr txBox="1"/>
          <p:nvPr/>
        </p:nvSpPr>
        <p:spPr>
          <a:xfrm>
            <a:off x="8143037" y="2788920"/>
            <a:ext cx="3271418" cy="1325880"/>
          </a:xfrm>
          <a:prstGeom prst="rect">
            <a:avLst/>
          </a:prstGeom>
          <a:noFill/>
          <a:ln/>
        </p:spPr>
        <p:txBody>
          <a:bodyPr wrap="square" lIns="0" tIns="0" rIns="0" bIns="0" rtlCol="0" anchor="t"/>
          <a:lstStyle/>
          <a:p>
            <a:pPr indent="0" marL="0">
              <a:buNone/>
            </a:pPr>
            <a:r>
              <a:rPr lang="en-US" sz="1450" dirty="0">
                <a:solidFill>
                  <a:srgbClr val="3A453E"/>
                </a:solidFill>
                <a:latin typeface="Source Sans 3" pitchFamily="34" charset="0"/>
                <a:ea typeface="Source Sans 3" pitchFamily="34" charset="-122"/>
                <a:cs typeface="Source Sans 3" pitchFamily="34" charset="-120"/>
              </a:rPr>
              <a:t>of TMU students were food insecure in the past year, but only 20% had used the campus food bank. 92.6% want more free food programs on campus.</a:t>
            </a:r>
            <a:endParaRPr lang="en-US" sz="1450" dirty="0"/>
          </a:p>
        </p:txBody>
      </p:sp>
      <p:sp>
        <p:nvSpPr>
          <p:cNvPr id="14" name="Text 12"/>
          <p:cNvSpPr txBox="1"/>
          <p:nvPr/>
        </p:nvSpPr>
        <p:spPr>
          <a:xfrm>
            <a:off x="8143037" y="4160520"/>
            <a:ext cx="3271418" cy="411480"/>
          </a:xfrm>
          <a:prstGeom prst="rect">
            <a:avLst/>
          </a:prstGeom>
          <a:noFill/>
          <a:ln/>
        </p:spPr>
        <p:txBody>
          <a:bodyPr wrap="square" lIns="0" tIns="0" rIns="0" bIns="0" rtlCol="0" anchor="t"/>
          <a:lstStyle/>
          <a:p>
            <a:pPr indent="0" marL="0">
              <a:buNone/>
            </a:pPr>
            <a:r>
              <a:rPr lang="en-US" sz="1050" dirty="0">
                <a:solidFill>
                  <a:srgbClr val="6B746D"/>
                </a:solidFill>
                <a:latin typeface="Source Sans 3" pitchFamily="34" charset="0"/>
                <a:ea typeface="Source Sans 3" pitchFamily="34" charset="-122"/>
                <a:cs typeface="Source Sans 3" pitchFamily="34" charset="-120"/>
              </a:rPr>
              <a:t>The Eyeopener, Oct 27, 2026 (survey of nearly 900 students)</a:t>
            </a:r>
            <a:endParaRPr lang="en-US" sz="1050" dirty="0"/>
          </a:p>
        </p:txBody>
      </p:sp>
      <p:sp>
        <p:nvSpPr>
          <p:cNvPr id="15" name="Shape 13"/>
          <p:cNvSpPr/>
          <p:nvPr/>
        </p:nvSpPr>
        <p:spPr>
          <a:xfrm>
            <a:off x="685800" y="4892040"/>
            <a:ext cx="10820095" cy="868680"/>
          </a:xfrm>
          <a:prstGeom prst="rect">
            <a:avLst/>
          </a:prstGeom>
          <a:solidFill>
            <a:srgbClr val="E1EAE1"/>
          </a:solidFill>
          <a:ln w="12700">
            <a:solidFill>
              <a:srgbClr val="E1EAE1"/>
            </a:solidFill>
            <a:prstDash val="solid"/>
          </a:ln>
        </p:spPr>
      </p:sp>
      <p:sp>
        <p:nvSpPr>
          <p:cNvPr id="16" name="Text 14"/>
          <p:cNvSpPr txBox="1"/>
          <p:nvPr/>
        </p:nvSpPr>
        <p:spPr>
          <a:xfrm>
            <a:off x="960120" y="4892040"/>
            <a:ext cx="10271455" cy="868680"/>
          </a:xfrm>
          <a:prstGeom prst="rect">
            <a:avLst/>
          </a:prstGeom>
          <a:noFill/>
          <a:ln/>
        </p:spPr>
        <p:txBody>
          <a:bodyPr wrap="square" lIns="0" tIns="0" rIns="0" bIns="0" rtlCol="0" anchor="ctr"/>
          <a:lstStyle/>
          <a:p>
            <a:pPr indent="0" marL="0">
              <a:buNone/>
            </a:pPr>
            <a:r>
              <a:rPr lang="en-US" sz="1500" b="1" dirty="0">
                <a:solidFill>
                  <a:srgbClr val="15201A"/>
                </a:solidFill>
                <a:latin typeface="Source Sans 3" pitchFamily="34" charset="0"/>
                <a:ea typeface="Source Sans 3" pitchFamily="34" charset="-122"/>
                <a:cs typeface="Source Sans 3" pitchFamily="34" charset="-120"/>
              </a:rPr>
              <a:t>What we take from it: </a:t>
            </a:r>
            <a:pPr indent="0" marL="0">
              <a:buNone/>
            </a:pPr>
            <a:r>
              <a:rPr lang="en-US" sz="1500" dirty="0">
                <a:solidFill>
                  <a:srgbClr val="15201A"/>
                </a:solidFill>
                <a:latin typeface="Source Sans 3" pitchFamily="34" charset="0"/>
                <a:ea typeface="Source Sans 3" pitchFamily="34" charset="-122"/>
                <a:cs typeface="Source Sans 3" pitchFamily="34" charset="-120"/>
              </a:rPr>
              <a:t>put shelves where students already go (the UCC and the main library), line up supply before launch, and measure Western’s own use from day one. We have no Western usage data yet; the pilot produces it.</a:t>
            </a:r>
            <a:endParaRPr lang="en-US" sz="15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rgbClr val="6B746D"/>
                </a:solidFill>
                <a:latin typeface="Source Sans 3"/>
                <a:ea typeface="Source Sans 3"/>
                <a:cs typeface="Source Sans 3"/>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7"/>
          <p:cNvSpPr/>
          <p:nvPr>
            <p:ph idx="107" type="title" hasCustomPrompt="1"/>
          </p:nvPr>
        </p:nvSpPr>
        <p:spPr>
          <a:xfrm>
            <a:off x="685800" y="502920"/>
            <a:ext cx="9692640" cy="1143000"/>
          </a:xfrm>
          <a:prstGeom prst="rect">
            <a:avLst/>
          </a:prstGeom>
          <a:noFill/>
          <a:ln/>
        </p:spPr>
        <p:txBody>
          <a:bodyPr wrap="square" lIns="0" tIns="0" rIns="0" bIns="0" rtlCol="0" anchor="t"/>
          <a:lstStyle/>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The $2,500 request covers only</a:t>
            </a:r>
            <a:endParaRPr lang="en-US" sz="3000" dirty="0"/>
          </a:p>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what USC Grants fund</a:t>
            </a:r>
            <a:endParaRPr lang="en-US" sz="3000" dirty="0"/>
          </a:p>
        </p:txBody>
      </p:sp>
      <p:sp>
        <p:nvSpPr>
          <p:cNvPr id="3" name="Text 1"/>
          <p:cNvSpPr txBox="1"/>
          <p:nvPr/>
        </p:nvSpPr>
        <p:spPr>
          <a:xfrm>
            <a:off x="685800" y="1828800"/>
            <a:ext cx="3657600" cy="274320"/>
          </a:xfrm>
          <a:prstGeom prst="rect">
            <a:avLst/>
          </a:prstGeom>
          <a:noFill/>
          <a:ln/>
        </p:spPr>
        <p:txBody>
          <a:bodyPr wrap="square" lIns="0" tIns="0" rIns="0" bIns="0" rtlCol="0" anchor="t"/>
          <a:lstStyle/>
          <a:p>
            <a:pPr indent="0" marL="0">
              <a:buNone/>
            </a:pPr>
            <a:r>
              <a:rPr lang="en-US" sz="1300" dirty="0">
                <a:solidFill>
                  <a:srgbClr val="6B746D"/>
                </a:solidFill>
                <a:latin typeface="Source Sans 3" pitchFamily="34" charset="0"/>
                <a:ea typeface="Source Sans 3" pitchFamily="34" charset="-122"/>
                <a:cs typeface="Source Sans 3" pitchFamily="34" charset="-120"/>
              </a:rPr>
              <a:t>USC Grant request</a:t>
            </a:r>
            <a:endParaRPr lang="en-US" sz="1300" dirty="0"/>
          </a:p>
        </p:txBody>
      </p:sp>
      <p:sp>
        <p:nvSpPr>
          <p:cNvPr id="4" name="Text 2"/>
          <p:cNvSpPr txBox="1"/>
          <p:nvPr/>
        </p:nvSpPr>
        <p:spPr>
          <a:xfrm>
            <a:off x="685800" y="2176272"/>
            <a:ext cx="2331720" cy="329184"/>
          </a:xfrm>
          <a:prstGeom prst="rect">
            <a:avLst/>
          </a:prstGeom>
          <a:noFill/>
          <a:ln/>
        </p:spPr>
        <p:txBody>
          <a:bodyPr wrap="square" lIns="0" tIns="0" rIns="0" bIns="0" rtlCol="0" anchor="ctr"/>
          <a:lstStyle/>
          <a:p>
            <a:pPr indent="0" marL="0">
              <a:buNone/>
            </a:pPr>
            <a:r>
              <a:rPr lang="en-US" sz="1500" b="1" dirty="0">
                <a:solidFill>
                  <a:srgbClr val="15201A"/>
                </a:solidFill>
                <a:latin typeface="Source Sans 3" pitchFamily="34" charset="0"/>
                <a:ea typeface="Source Sans 3" pitchFamily="34" charset="-122"/>
                <a:cs typeface="Source Sans 3" pitchFamily="34" charset="-120"/>
              </a:rPr>
              <a:t>Food seed stock</a:t>
            </a:r>
            <a:endParaRPr lang="en-US" sz="1500" dirty="0"/>
          </a:p>
        </p:txBody>
      </p:sp>
      <p:sp>
        <p:nvSpPr>
          <p:cNvPr id="5" name="Shape 3"/>
          <p:cNvSpPr/>
          <p:nvPr/>
        </p:nvSpPr>
        <p:spPr>
          <a:xfrm>
            <a:off x="3154680" y="2249424"/>
            <a:ext cx="2377440" cy="182880"/>
          </a:xfrm>
          <a:prstGeom prst="rect">
            <a:avLst/>
          </a:prstGeom>
          <a:solidFill>
            <a:srgbClr val="1D5E40"/>
          </a:solidFill>
          <a:ln w="12700">
            <a:solidFill>
              <a:srgbClr val="1D5E40"/>
            </a:solidFill>
            <a:prstDash val="solid"/>
          </a:ln>
        </p:spPr>
      </p:sp>
      <p:sp>
        <p:nvSpPr>
          <p:cNvPr id="6" name="Text 4"/>
          <p:cNvSpPr txBox="1"/>
          <p:nvPr/>
        </p:nvSpPr>
        <p:spPr>
          <a:xfrm>
            <a:off x="5623560" y="2176272"/>
            <a:ext cx="777240" cy="329184"/>
          </a:xfrm>
          <a:prstGeom prst="rect">
            <a:avLst/>
          </a:prstGeom>
          <a:noFill/>
          <a:ln/>
        </p:spPr>
        <p:txBody>
          <a:bodyPr wrap="square" lIns="0" tIns="0" rIns="0" bIns="0" rtlCol="0" anchor="ctr"/>
          <a:lstStyle/>
          <a:p>
            <a:pPr algn="r" indent="0" marL="0">
              <a:buNone/>
            </a:pPr>
            <a:r>
              <a:rPr lang="en-US" sz="1500" b="1" dirty="0">
                <a:solidFill>
                  <a:srgbClr val="15201A"/>
                </a:solidFill>
                <a:latin typeface="Source Sans 3" pitchFamily="34" charset="0"/>
                <a:ea typeface="Source Sans 3" pitchFamily="34" charset="-122"/>
                <a:cs typeface="Source Sans 3" pitchFamily="34" charset="-120"/>
              </a:rPr>
              <a:t>$1,050</a:t>
            </a:r>
            <a:endParaRPr lang="en-US" sz="1500" dirty="0"/>
          </a:p>
        </p:txBody>
      </p:sp>
      <p:sp>
        <p:nvSpPr>
          <p:cNvPr id="7" name="Text 5"/>
          <p:cNvSpPr txBox="1"/>
          <p:nvPr/>
        </p:nvSpPr>
        <p:spPr>
          <a:xfrm>
            <a:off x="685800" y="2569464"/>
            <a:ext cx="2331720" cy="329184"/>
          </a:xfrm>
          <a:prstGeom prst="rect">
            <a:avLst/>
          </a:prstGeom>
          <a:noFill/>
          <a:ln/>
        </p:spPr>
        <p:txBody>
          <a:bodyPr wrap="square" lIns="0" tIns="0" rIns="0" bIns="0" rtlCol="0" anchor="ctr"/>
          <a:lstStyle/>
          <a:p>
            <a:pPr indent="0" marL="0">
              <a:buNone/>
            </a:pPr>
            <a:r>
              <a:rPr lang="en-US" sz="1500" dirty="0">
                <a:solidFill>
                  <a:srgbClr val="15201A"/>
                </a:solidFill>
                <a:latin typeface="Source Sans 3" pitchFamily="34" charset="0"/>
                <a:ea typeface="Source Sans 3" pitchFamily="34" charset="-122"/>
                <a:cs typeface="Source Sans 3" pitchFamily="34" charset="-120"/>
              </a:rPr>
              <a:t>Hygiene products</a:t>
            </a:r>
            <a:endParaRPr lang="en-US" sz="1500" dirty="0"/>
          </a:p>
        </p:txBody>
      </p:sp>
      <p:sp>
        <p:nvSpPr>
          <p:cNvPr id="8" name="Shape 6"/>
          <p:cNvSpPr/>
          <p:nvPr/>
        </p:nvSpPr>
        <p:spPr>
          <a:xfrm>
            <a:off x="3154680" y="2642616"/>
            <a:ext cx="905691" cy="182880"/>
          </a:xfrm>
          <a:prstGeom prst="rect">
            <a:avLst/>
          </a:prstGeom>
          <a:solidFill>
            <a:srgbClr val="BDC3BA"/>
          </a:solidFill>
          <a:ln w="12700">
            <a:solidFill>
              <a:srgbClr val="BDC3BA"/>
            </a:solidFill>
            <a:prstDash val="solid"/>
          </a:ln>
        </p:spPr>
      </p:sp>
      <p:sp>
        <p:nvSpPr>
          <p:cNvPr id="9" name="Text 7"/>
          <p:cNvSpPr txBox="1"/>
          <p:nvPr/>
        </p:nvSpPr>
        <p:spPr>
          <a:xfrm>
            <a:off x="5623560" y="2569464"/>
            <a:ext cx="777240" cy="329184"/>
          </a:xfrm>
          <a:prstGeom prst="rect">
            <a:avLst/>
          </a:prstGeom>
          <a:noFill/>
          <a:ln/>
        </p:spPr>
        <p:txBody>
          <a:bodyPr wrap="square" lIns="0" tIns="0" rIns="0" bIns="0" rtlCol="0" anchor="ctr"/>
          <a:lstStyle/>
          <a:p>
            <a:pPr algn="r" indent="0" marL="0">
              <a:buNone/>
            </a:pPr>
            <a:r>
              <a:rPr lang="en-US" sz="1500" b="1" dirty="0">
                <a:solidFill>
                  <a:srgbClr val="15201A"/>
                </a:solidFill>
                <a:latin typeface="Source Sans 3" pitchFamily="34" charset="0"/>
                <a:ea typeface="Source Sans 3" pitchFamily="34" charset="-122"/>
                <a:cs typeface="Source Sans 3" pitchFamily="34" charset="-120"/>
              </a:rPr>
              <a:t>$400</a:t>
            </a:r>
            <a:endParaRPr lang="en-US" sz="1500" dirty="0"/>
          </a:p>
        </p:txBody>
      </p:sp>
      <p:sp>
        <p:nvSpPr>
          <p:cNvPr id="10" name="Text 8"/>
          <p:cNvSpPr txBox="1"/>
          <p:nvPr/>
        </p:nvSpPr>
        <p:spPr>
          <a:xfrm>
            <a:off x="685800" y="2962656"/>
            <a:ext cx="2331720" cy="329184"/>
          </a:xfrm>
          <a:prstGeom prst="rect">
            <a:avLst/>
          </a:prstGeom>
          <a:noFill/>
          <a:ln/>
        </p:spPr>
        <p:txBody>
          <a:bodyPr wrap="square" lIns="0" tIns="0" rIns="0" bIns="0" rtlCol="0" anchor="ctr"/>
          <a:lstStyle/>
          <a:p>
            <a:pPr indent="0" marL="0">
              <a:buNone/>
            </a:pPr>
            <a:r>
              <a:rPr lang="en-US" sz="1500" dirty="0">
                <a:solidFill>
                  <a:srgbClr val="15201A"/>
                </a:solidFill>
                <a:latin typeface="Source Sans 3" pitchFamily="34" charset="0"/>
                <a:ea typeface="Source Sans 3" pitchFamily="34" charset="-122"/>
                <a:cs typeface="Source Sans 3" pitchFamily="34" charset="-120"/>
              </a:rPr>
              <a:t>Signs, labels and bins</a:t>
            </a:r>
            <a:endParaRPr lang="en-US" sz="1500" dirty="0"/>
          </a:p>
        </p:txBody>
      </p:sp>
      <p:sp>
        <p:nvSpPr>
          <p:cNvPr id="11" name="Shape 9"/>
          <p:cNvSpPr/>
          <p:nvPr/>
        </p:nvSpPr>
        <p:spPr>
          <a:xfrm>
            <a:off x="3154680" y="3035808"/>
            <a:ext cx="679269" cy="182880"/>
          </a:xfrm>
          <a:prstGeom prst="rect">
            <a:avLst/>
          </a:prstGeom>
          <a:solidFill>
            <a:srgbClr val="BDC3BA"/>
          </a:solidFill>
          <a:ln w="12700">
            <a:solidFill>
              <a:srgbClr val="BDC3BA"/>
            </a:solidFill>
            <a:prstDash val="solid"/>
          </a:ln>
        </p:spPr>
      </p:sp>
      <p:sp>
        <p:nvSpPr>
          <p:cNvPr id="12" name="Text 10"/>
          <p:cNvSpPr txBox="1"/>
          <p:nvPr/>
        </p:nvSpPr>
        <p:spPr>
          <a:xfrm>
            <a:off x="5623560" y="2962656"/>
            <a:ext cx="777240" cy="329184"/>
          </a:xfrm>
          <a:prstGeom prst="rect">
            <a:avLst/>
          </a:prstGeom>
          <a:noFill/>
          <a:ln/>
        </p:spPr>
        <p:txBody>
          <a:bodyPr wrap="square" lIns="0" tIns="0" rIns="0" bIns="0" rtlCol="0" anchor="ctr"/>
          <a:lstStyle/>
          <a:p>
            <a:pPr algn="r" indent="0" marL="0">
              <a:buNone/>
            </a:pPr>
            <a:r>
              <a:rPr lang="en-US" sz="1500" b="1" dirty="0">
                <a:solidFill>
                  <a:srgbClr val="15201A"/>
                </a:solidFill>
                <a:latin typeface="Source Sans 3" pitchFamily="34" charset="0"/>
                <a:ea typeface="Source Sans 3" pitchFamily="34" charset="-122"/>
                <a:cs typeface="Source Sans 3" pitchFamily="34" charset="-120"/>
              </a:rPr>
              <a:t>$300</a:t>
            </a:r>
            <a:endParaRPr lang="en-US" sz="1500" dirty="0"/>
          </a:p>
        </p:txBody>
      </p:sp>
      <p:sp>
        <p:nvSpPr>
          <p:cNvPr id="13" name="Text 11"/>
          <p:cNvSpPr txBox="1"/>
          <p:nvPr/>
        </p:nvSpPr>
        <p:spPr>
          <a:xfrm>
            <a:off x="685800" y="3355848"/>
            <a:ext cx="2331720" cy="329184"/>
          </a:xfrm>
          <a:prstGeom prst="rect">
            <a:avLst/>
          </a:prstGeom>
          <a:noFill/>
          <a:ln/>
        </p:spPr>
        <p:txBody>
          <a:bodyPr wrap="square" lIns="0" tIns="0" rIns="0" bIns="0" rtlCol="0" anchor="ctr"/>
          <a:lstStyle/>
          <a:p>
            <a:pPr indent="0" marL="0">
              <a:buNone/>
            </a:pPr>
            <a:r>
              <a:rPr lang="en-US" sz="1500" dirty="0">
                <a:solidFill>
                  <a:srgbClr val="15201A"/>
                </a:solidFill>
                <a:latin typeface="Source Sans 3" pitchFamily="34" charset="0"/>
                <a:ea typeface="Source Sans 3" pitchFamily="34" charset="-122"/>
                <a:cs typeface="Source Sans 3" pitchFamily="34" charset="-120"/>
              </a:rPr>
              <a:t>Contingency</a:t>
            </a:r>
            <a:endParaRPr lang="en-US" sz="1500" dirty="0"/>
          </a:p>
        </p:txBody>
      </p:sp>
      <p:sp>
        <p:nvSpPr>
          <p:cNvPr id="14" name="Shape 12"/>
          <p:cNvSpPr/>
          <p:nvPr/>
        </p:nvSpPr>
        <p:spPr>
          <a:xfrm>
            <a:off x="3154680" y="3429000"/>
            <a:ext cx="566057" cy="182880"/>
          </a:xfrm>
          <a:prstGeom prst="rect">
            <a:avLst/>
          </a:prstGeom>
          <a:solidFill>
            <a:srgbClr val="BDC3BA"/>
          </a:solidFill>
          <a:ln w="12700">
            <a:solidFill>
              <a:srgbClr val="BDC3BA"/>
            </a:solidFill>
            <a:prstDash val="solid"/>
          </a:ln>
        </p:spPr>
      </p:sp>
      <p:sp>
        <p:nvSpPr>
          <p:cNvPr id="15" name="Text 13"/>
          <p:cNvSpPr txBox="1"/>
          <p:nvPr/>
        </p:nvSpPr>
        <p:spPr>
          <a:xfrm>
            <a:off x="5623560" y="3355848"/>
            <a:ext cx="777240" cy="329184"/>
          </a:xfrm>
          <a:prstGeom prst="rect">
            <a:avLst/>
          </a:prstGeom>
          <a:noFill/>
          <a:ln/>
        </p:spPr>
        <p:txBody>
          <a:bodyPr wrap="square" lIns="0" tIns="0" rIns="0" bIns="0" rtlCol="0" anchor="ctr"/>
          <a:lstStyle/>
          <a:p>
            <a:pPr algn="r" indent="0" marL="0">
              <a:buNone/>
            </a:pPr>
            <a:r>
              <a:rPr lang="en-US" sz="1500" b="1" dirty="0">
                <a:solidFill>
                  <a:srgbClr val="15201A"/>
                </a:solidFill>
                <a:latin typeface="Source Sans 3" pitchFamily="34" charset="0"/>
                <a:ea typeface="Source Sans 3" pitchFamily="34" charset="-122"/>
                <a:cs typeface="Source Sans 3" pitchFamily="34" charset="-120"/>
              </a:rPr>
              <a:t>$250</a:t>
            </a:r>
            <a:endParaRPr lang="en-US" sz="1500" dirty="0"/>
          </a:p>
        </p:txBody>
      </p:sp>
      <p:sp>
        <p:nvSpPr>
          <p:cNvPr id="16" name="Text 14"/>
          <p:cNvSpPr txBox="1"/>
          <p:nvPr/>
        </p:nvSpPr>
        <p:spPr>
          <a:xfrm>
            <a:off x="685800" y="3749040"/>
            <a:ext cx="2331720" cy="329184"/>
          </a:xfrm>
          <a:prstGeom prst="rect">
            <a:avLst/>
          </a:prstGeom>
          <a:noFill/>
          <a:ln/>
        </p:spPr>
        <p:txBody>
          <a:bodyPr wrap="square" lIns="0" tIns="0" rIns="0" bIns="0" rtlCol="0" anchor="ctr"/>
          <a:lstStyle/>
          <a:p>
            <a:pPr indent="0" marL="0">
              <a:buNone/>
            </a:pPr>
            <a:r>
              <a:rPr lang="en-US" sz="1500" dirty="0">
                <a:solidFill>
                  <a:srgbClr val="15201A"/>
                </a:solidFill>
                <a:latin typeface="Source Sans 3" pitchFamily="34" charset="0"/>
                <a:ea typeface="Source Sans 3" pitchFamily="34" charset="-122"/>
                <a:cs typeface="Source Sans 3" pitchFamily="34" charset="-120"/>
              </a:rPr>
              <a:t>Promotion</a:t>
            </a:r>
            <a:endParaRPr lang="en-US" sz="1500" dirty="0"/>
          </a:p>
        </p:txBody>
      </p:sp>
      <p:sp>
        <p:nvSpPr>
          <p:cNvPr id="17" name="Shape 15"/>
          <p:cNvSpPr/>
          <p:nvPr/>
        </p:nvSpPr>
        <p:spPr>
          <a:xfrm>
            <a:off x="3154680" y="3822192"/>
            <a:ext cx="566057" cy="182880"/>
          </a:xfrm>
          <a:prstGeom prst="rect">
            <a:avLst/>
          </a:prstGeom>
          <a:solidFill>
            <a:srgbClr val="BDC3BA"/>
          </a:solidFill>
          <a:ln w="12700">
            <a:solidFill>
              <a:srgbClr val="BDC3BA"/>
            </a:solidFill>
            <a:prstDash val="solid"/>
          </a:ln>
        </p:spPr>
      </p:sp>
      <p:sp>
        <p:nvSpPr>
          <p:cNvPr id="18" name="Text 16"/>
          <p:cNvSpPr txBox="1"/>
          <p:nvPr/>
        </p:nvSpPr>
        <p:spPr>
          <a:xfrm>
            <a:off x="5623560" y="3749040"/>
            <a:ext cx="777240" cy="329184"/>
          </a:xfrm>
          <a:prstGeom prst="rect">
            <a:avLst/>
          </a:prstGeom>
          <a:noFill/>
          <a:ln/>
        </p:spPr>
        <p:txBody>
          <a:bodyPr wrap="square" lIns="0" tIns="0" rIns="0" bIns="0" rtlCol="0" anchor="ctr"/>
          <a:lstStyle/>
          <a:p>
            <a:pPr algn="r" indent="0" marL="0">
              <a:buNone/>
            </a:pPr>
            <a:r>
              <a:rPr lang="en-US" sz="1500" b="1" dirty="0">
                <a:solidFill>
                  <a:srgbClr val="15201A"/>
                </a:solidFill>
                <a:latin typeface="Source Sans 3" pitchFamily="34" charset="0"/>
                <a:ea typeface="Source Sans 3" pitchFamily="34" charset="-122"/>
                <a:cs typeface="Source Sans 3" pitchFamily="34" charset="-120"/>
              </a:rPr>
              <a:t>$250</a:t>
            </a:r>
            <a:endParaRPr lang="en-US" sz="1500" dirty="0"/>
          </a:p>
        </p:txBody>
      </p:sp>
      <p:sp>
        <p:nvSpPr>
          <p:cNvPr id="19" name="Text 17"/>
          <p:cNvSpPr txBox="1"/>
          <p:nvPr/>
        </p:nvSpPr>
        <p:spPr>
          <a:xfrm>
            <a:off x="685800" y="4142232"/>
            <a:ext cx="2331720" cy="329184"/>
          </a:xfrm>
          <a:prstGeom prst="rect">
            <a:avLst/>
          </a:prstGeom>
          <a:noFill/>
          <a:ln/>
        </p:spPr>
        <p:txBody>
          <a:bodyPr wrap="square" lIns="0" tIns="0" rIns="0" bIns="0" rtlCol="0" anchor="ctr"/>
          <a:lstStyle/>
          <a:p>
            <a:pPr indent="0" marL="0">
              <a:buNone/>
            </a:pPr>
            <a:r>
              <a:rPr lang="en-US" sz="1500" dirty="0">
                <a:solidFill>
                  <a:srgbClr val="15201A"/>
                </a:solidFill>
                <a:latin typeface="Source Sans 3" pitchFamily="34" charset="0"/>
                <a:ea typeface="Source Sans 3" pitchFamily="34" charset="-122"/>
                <a:cs typeface="Source Sans 3" pitchFamily="34" charset="-120"/>
              </a:rPr>
              <a:t>Food-handler training</a:t>
            </a:r>
            <a:endParaRPr lang="en-US" sz="1500" dirty="0"/>
          </a:p>
        </p:txBody>
      </p:sp>
      <p:sp>
        <p:nvSpPr>
          <p:cNvPr id="20" name="Shape 18"/>
          <p:cNvSpPr/>
          <p:nvPr/>
        </p:nvSpPr>
        <p:spPr>
          <a:xfrm>
            <a:off x="3154680" y="4215384"/>
            <a:ext cx="452846" cy="182880"/>
          </a:xfrm>
          <a:prstGeom prst="rect">
            <a:avLst/>
          </a:prstGeom>
          <a:solidFill>
            <a:srgbClr val="BDC3BA"/>
          </a:solidFill>
          <a:ln w="12700">
            <a:solidFill>
              <a:srgbClr val="BDC3BA"/>
            </a:solidFill>
            <a:prstDash val="solid"/>
          </a:ln>
        </p:spPr>
      </p:sp>
      <p:sp>
        <p:nvSpPr>
          <p:cNvPr id="21" name="Text 19"/>
          <p:cNvSpPr txBox="1"/>
          <p:nvPr/>
        </p:nvSpPr>
        <p:spPr>
          <a:xfrm>
            <a:off x="5623560" y="4142232"/>
            <a:ext cx="777240" cy="329184"/>
          </a:xfrm>
          <a:prstGeom prst="rect">
            <a:avLst/>
          </a:prstGeom>
          <a:noFill/>
          <a:ln/>
        </p:spPr>
        <p:txBody>
          <a:bodyPr wrap="square" lIns="0" tIns="0" rIns="0" bIns="0" rtlCol="0" anchor="ctr"/>
          <a:lstStyle/>
          <a:p>
            <a:pPr algn="r" indent="0" marL="0">
              <a:buNone/>
            </a:pPr>
            <a:r>
              <a:rPr lang="en-US" sz="1500" b="1" dirty="0">
                <a:solidFill>
                  <a:srgbClr val="15201A"/>
                </a:solidFill>
                <a:latin typeface="Source Sans 3" pitchFamily="34" charset="0"/>
                <a:ea typeface="Source Sans 3" pitchFamily="34" charset="-122"/>
                <a:cs typeface="Source Sans 3" pitchFamily="34" charset="-120"/>
              </a:rPr>
              <a:t>$200</a:t>
            </a:r>
            <a:endParaRPr lang="en-US" sz="1500" dirty="0"/>
          </a:p>
        </p:txBody>
      </p:sp>
      <p:sp>
        <p:nvSpPr>
          <p:cNvPr id="22" name="Text 20"/>
          <p:cNvSpPr txBox="1"/>
          <p:nvPr/>
        </p:nvSpPr>
        <p:spPr>
          <a:xfrm>
            <a:off x="685800" y="4535424"/>
            <a:ext cx="2331720" cy="329184"/>
          </a:xfrm>
          <a:prstGeom prst="rect">
            <a:avLst/>
          </a:prstGeom>
          <a:noFill/>
          <a:ln/>
        </p:spPr>
        <p:txBody>
          <a:bodyPr wrap="square" lIns="0" tIns="0" rIns="0" bIns="0" rtlCol="0" anchor="ctr"/>
          <a:lstStyle/>
          <a:p>
            <a:pPr indent="0" marL="0">
              <a:buNone/>
            </a:pPr>
            <a:r>
              <a:rPr lang="en-US" sz="1500" dirty="0">
                <a:solidFill>
                  <a:srgbClr val="15201A"/>
                </a:solidFill>
                <a:latin typeface="Source Sans 3" pitchFamily="34" charset="0"/>
                <a:ea typeface="Source Sans 3" pitchFamily="34" charset="-122"/>
                <a:cs typeface="Source Sans 3" pitchFamily="34" charset="-120"/>
              </a:rPr>
              <a:t>Hosting and domain</a:t>
            </a:r>
            <a:endParaRPr lang="en-US" sz="1500" dirty="0"/>
          </a:p>
        </p:txBody>
      </p:sp>
      <p:sp>
        <p:nvSpPr>
          <p:cNvPr id="23" name="Shape 21"/>
          <p:cNvSpPr/>
          <p:nvPr/>
        </p:nvSpPr>
        <p:spPr>
          <a:xfrm>
            <a:off x="3154680" y="4608576"/>
            <a:ext cx="113211" cy="182880"/>
          </a:xfrm>
          <a:prstGeom prst="rect">
            <a:avLst/>
          </a:prstGeom>
          <a:solidFill>
            <a:srgbClr val="BDC3BA"/>
          </a:solidFill>
          <a:ln w="12700">
            <a:solidFill>
              <a:srgbClr val="BDC3BA"/>
            </a:solidFill>
            <a:prstDash val="solid"/>
          </a:ln>
        </p:spPr>
      </p:sp>
      <p:sp>
        <p:nvSpPr>
          <p:cNvPr id="24" name="Text 22"/>
          <p:cNvSpPr txBox="1"/>
          <p:nvPr/>
        </p:nvSpPr>
        <p:spPr>
          <a:xfrm>
            <a:off x="5623560" y="4535424"/>
            <a:ext cx="777240" cy="329184"/>
          </a:xfrm>
          <a:prstGeom prst="rect">
            <a:avLst/>
          </a:prstGeom>
          <a:noFill/>
          <a:ln/>
        </p:spPr>
        <p:txBody>
          <a:bodyPr wrap="square" lIns="0" tIns="0" rIns="0" bIns="0" rtlCol="0" anchor="ctr"/>
          <a:lstStyle/>
          <a:p>
            <a:pPr algn="r" indent="0" marL="0">
              <a:buNone/>
            </a:pPr>
            <a:r>
              <a:rPr lang="en-US" sz="1500" b="1" dirty="0">
                <a:solidFill>
                  <a:srgbClr val="15201A"/>
                </a:solidFill>
                <a:latin typeface="Source Sans 3" pitchFamily="34" charset="0"/>
                <a:ea typeface="Source Sans 3" pitchFamily="34" charset="-122"/>
                <a:cs typeface="Source Sans 3" pitchFamily="34" charset="-120"/>
              </a:rPr>
              <a:t>$50</a:t>
            </a:r>
            <a:endParaRPr lang="en-US" sz="1500" dirty="0"/>
          </a:p>
        </p:txBody>
      </p:sp>
      <p:sp>
        <p:nvSpPr>
          <p:cNvPr id="25" name="Shape 23"/>
          <p:cNvSpPr/>
          <p:nvPr/>
        </p:nvSpPr>
        <p:spPr>
          <a:xfrm>
            <a:off x="685800" y="5001768"/>
            <a:ext cx="5715000" cy="0"/>
          </a:xfrm>
          <a:prstGeom prst="line">
            <a:avLst/>
          </a:prstGeom>
          <a:noFill/>
          <a:ln w="12700">
            <a:solidFill>
              <a:srgbClr val="15201A"/>
            </a:solidFill>
            <a:prstDash val="solid"/>
          </a:ln>
        </p:spPr>
      </p:sp>
      <p:sp>
        <p:nvSpPr>
          <p:cNvPr id="26" name="Text 24"/>
          <p:cNvSpPr txBox="1"/>
          <p:nvPr/>
        </p:nvSpPr>
        <p:spPr>
          <a:xfrm>
            <a:off x="685800" y="5074920"/>
            <a:ext cx="2194560" cy="365760"/>
          </a:xfrm>
          <a:prstGeom prst="rect">
            <a:avLst/>
          </a:prstGeom>
          <a:noFill/>
          <a:ln/>
        </p:spPr>
        <p:txBody>
          <a:bodyPr wrap="square" lIns="0" tIns="0" rIns="0" bIns="0" rtlCol="0" anchor="ctr"/>
          <a:lstStyle/>
          <a:p>
            <a:pPr indent="0" marL="0">
              <a:buNone/>
            </a:pPr>
            <a:r>
              <a:rPr lang="en-US" sz="1600" b="1" dirty="0">
                <a:solidFill>
                  <a:srgbClr val="15201A"/>
                </a:solidFill>
                <a:latin typeface="Source Sans 3" pitchFamily="34" charset="0"/>
                <a:ea typeface="Source Sans 3" pitchFamily="34" charset="-122"/>
                <a:cs typeface="Source Sans 3" pitchFamily="34" charset="-120"/>
              </a:rPr>
              <a:t>Total request</a:t>
            </a:r>
            <a:endParaRPr lang="en-US" sz="1600" dirty="0"/>
          </a:p>
        </p:txBody>
      </p:sp>
      <p:sp>
        <p:nvSpPr>
          <p:cNvPr id="27" name="Text 25"/>
          <p:cNvSpPr txBox="1"/>
          <p:nvPr/>
        </p:nvSpPr>
        <p:spPr>
          <a:xfrm>
            <a:off x="4526280" y="5038344"/>
            <a:ext cx="1874520" cy="411480"/>
          </a:xfrm>
          <a:prstGeom prst="rect">
            <a:avLst/>
          </a:prstGeom>
          <a:noFill/>
          <a:ln/>
        </p:spPr>
        <p:txBody>
          <a:bodyPr wrap="square" lIns="0" tIns="0" rIns="0" bIns="0" rtlCol="0" anchor="ctr"/>
          <a:lstStyle/>
          <a:p>
            <a:pPr algn="r" indent="0" marL="0">
              <a:buNone/>
            </a:pPr>
            <a:r>
              <a:rPr lang="en-US" sz="2200" dirty="0">
                <a:solidFill>
                  <a:srgbClr val="15201A"/>
                </a:solidFill>
                <a:latin typeface="Source Serif 4" pitchFamily="34" charset="0"/>
                <a:ea typeface="Source Serif 4" pitchFamily="34" charset="-122"/>
                <a:cs typeface="Source Serif 4" pitchFamily="34" charset="-120"/>
              </a:rPr>
              <a:t>$2,500</a:t>
            </a:r>
            <a:endParaRPr lang="en-US" sz="2200" dirty="0"/>
          </a:p>
        </p:txBody>
      </p:sp>
      <p:sp>
        <p:nvSpPr>
          <p:cNvPr id="28" name="Text 26"/>
          <p:cNvSpPr txBox="1"/>
          <p:nvPr/>
        </p:nvSpPr>
        <p:spPr>
          <a:xfrm>
            <a:off x="685800" y="5568696"/>
            <a:ext cx="5715000" cy="320040"/>
          </a:xfrm>
          <a:prstGeom prst="rect">
            <a:avLst/>
          </a:prstGeom>
          <a:noFill/>
          <a:ln/>
        </p:spPr>
        <p:txBody>
          <a:bodyPr wrap="square" lIns="0" tIns="0" rIns="0" bIns="0" rtlCol="0" anchor="t"/>
          <a:lstStyle/>
          <a:p>
            <a:pPr indent="0" marL="0">
              <a:buNone/>
            </a:pPr>
            <a:r>
              <a:rPr lang="en-US" sz="1350" b="1" dirty="0">
                <a:solidFill>
                  <a:srgbClr val="15201A"/>
                </a:solidFill>
                <a:latin typeface="Source Sans 3" pitchFamily="34" charset="0"/>
                <a:ea typeface="Source Sans 3" pitchFamily="34" charset="-122"/>
                <a:cs typeface="Source Sans 3" pitchFamily="34" charset="-120"/>
              </a:rPr>
              <a:t>Not requested: </a:t>
            </a:r>
            <a:pPr indent="0" marL="0">
              <a:buNone/>
            </a:pPr>
            <a:r>
              <a:rPr lang="en-US" sz="1350" dirty="0">
                <a:solidFill>
                  <a:srgbClr val="3A453E"/>
                </a:solidFill>
                <a:latin typeface="Source Sans 3" pitchFamily="34" charset="0"/>
                <a:ea typeface="Source Sans 3" pitchFamily="34" charset="-122"/>
                <a:cs typeface="Source Sans 3" pitchFamily="34" charset="-120"/>
              </a:rPr>
              <a:t>borrowed shelving, and our team’s $250 match (10%).</a:t>
            </a:r>
            <a:endParaRPr lang="en-US" sz="1350" dirty="0"/>
          </a:p>
        </p:txBody>
      </p:sp>
      <p:sp>
        <p:nvSpPr>
          <p:cNvPr id="29" name="Text 27"/>
          <p:cNvSpPr txBox="1"/>
          <p:nvPr/>
        </p:nvSpPr>
        <p:spPr>
          <a:xfrm>
            <a:off x="6995160" y="1828800"/>
            <a:ext cx="4510735" cy="320040"/>
          </a:xfrm>
          <a:prstGeom prst="rect">
            <a:avLst/>
          </a:prstGeom>
          <a:noFill/>
          <a:ln/>
        </p:spPr>
        <p:txBody>
          <a:bodyPr wrap="square" lIns="0" tIns="0" rIns="0" bIns="0" rtlCol="0" anchor="t"/>
          <a:lstStyle/>
          <a:p>
            <a:pPr indent="0" marL="0">
              <a:buNone/>
            </a:pPr>
            <a:r>
              <a:rPr lang="en-US" sz="1600" b="1" dirty="0">
                <a:solidFill>
                  <a:srgbClr val="15201A"/>
                </a:solidFill>
                <a:latin typeface="Source Sans 3" pitchFamily="34" charset="0"/>
                <a:ea typeface="Source Sans 3" pitchFamily="34" charset="-122"/>
                <a:cs typeface="Source Sans 3" pitchFamily="34" charset="-120"/>
              </a:rPr>
              <a:t>How it fits the USC Grant rules</a:t>
            </a:r>
            <a:endParaRPr lang="en-US" sz="1600" dirty="0"/>
          </a:p>
        </p:txBody>
      </p:sp>
      <p:sp>
        <p:nvSpPr>
          <p:cNvPr id="30" name="Shape 28"/>
          <p:cNvSpPr/>
          <p:nvPr/>
        </p:nvSpPr>
        <p:spPr>
          <a:xfrm>
            <a:off x="6995160" y="2221992"/>
            <a:ext cx="4510735" cy="0"/>
          </a:xfrm>
          <a:prstGeom prst="line">
            <a:avLst/>
          </a:prstGeom>
          <a:noFill/>
          <a:ln w="9525">
            <a:solidFill>
              <a:srgbClr val="D9D4C7"/>
            </a:solidFill>
            <a:prstDash val="solid"/>
          </a:ln>
        </p:spPr>
      </p:sp>
      <p:sp>
        <p:nvSpPr>
          <p:cNvPr id="31" name="Text 29"/>
          <p:cNvSpPr txBox="1"/>
          <p:nvPr/>
        </p:nvSpPr>
        <p:spPr>
          <a:xfrm>
            <a:off x="6995160" y="2331720"/>
            <a:ext cx="1325880" cy="640080"/>
          </a:xfrm>
          <a:prstGeom prst="rect">
            <a:avLst/>
          </a:prstGeom>
          <a:noFill/>
          <a:ln/>
        </p:spPr>
        <p:txBody>
          <a:bodyPr wrap="square" lIns="0" tIns="0" rIns="0" bIns="0" rtlCol="0" anchor="t"/>
          <a:lstStyle/>
          <a:p>
            <a:pPr indent="0" marL="0">
              <a:buNone/>
            </a:pPr>
            <a:r>
              <a:rPr lang="en-US" sz="1450" b="1" dirty="0">
                <a:solidFill>
                  <a:srgbClr val="1D5E40"/>
                </a:solidFill>
                <a:latin typeface="Source Sans 3" pitchFamily="34" charset="0"/>
                <a:ea typeface="Source Sans 3" pitchFamily="34" charset="-122"/>
                <a:cs typeface="Source Sans 3" pitchFamily="34" charset="-120"/>
              </a:rPr>
              <a:t>Who applies</a:t>
            </a:r>
            <a:endParaRPr lang="en-US" sz="1450" dirty="0"/>
          </a:p>
        </p:txBody>
      </p:sp>
      <p:sp>
        <p:nvSpPr>
          <p:cNvPr id="32" name="Text 30"/>
          <p:cNvSpPr txBox="1"/>
          <p:nvPr/>
        </p:nvSpPr>
        <p:spPr>
          <a:xfrm>
            <a:off x="8412480" y="2331720"/>
            <a:ext cx="3093415" cy="713232"/>
          </a:xfrm>
          <a:prstGeom prst="rect">
            <a:avLst/>
          </a:prstGeom>
          <a:noFill/>
          <a:ln/>
        </p:spPr>
        <p:txBody>
          <a:bodyPr wrap="square" lIns="0" tIns="0" rIns="0" bIns="0" rtlCol="0" anchor="t"/>
          <a:lstStyle/>
          <a:p>
            <a:pPr indent="0" marL="0">
              <a:buNone/>
            </a:pPr>
            <a:r>
              <a:rPr lang="en-US" sz="1400" dirty="0">
                <a:solidFill>
                  <a:srgbClr val="3A453E"/>
                </a:solidFill>
                <a:latin typeface="Source Sans 3" pitchFamily="34" charset="0"/>
                <a:ea typeface="Source Sans 3" pitchFamily="34" charset="-122"/>
                <a:cs typeface="Source Sans 3" pitchFamily="34" charset="-120"/>
              </a:rPr>
              <a:t>Our team, as enrolled undergraduates. A collaborative may include ineligible partners, such as Food Support.</a:t>
            </a:r>
            <a:endParaRPr lang="en-US" sz="1400" dirty="0"/>
          </a:p>
        </p:txBody>
      </p:sp>
      <p:sp>
        <p:nvSpPr>
          <p:cNvPr id="33" name="Shape 31"/>
          <p:cNvSpPr/>
          <p:nvPr/>
        </p:nvSpPr>
        <p:spPr>
          <a:xfrm>
            <a:off x="6995160" y="3044952"/>
            <a:ext cx="4510735" cy="0"/>
          </a:xfrm>
          <a:prstGeom prst="line">
            <a:avLst/>
          </a:prstGeom>
          <a:noFill/>
          <a:ln w="9525">
            <a:solidFill>
              <a:srgbClr val="D9D4C7"/>
            </a:solidFill>
            <a:prstDash val="solid"/>
          </a:ln>
        </p:spPr>
      </p:sp>
      <p:sp>
        <p:nvSpPr>
          <p:cNvPr id="34" name="Text 32"/>
          <p:cNvSpPr txBox="1"/>
          <p:nvPr/>
        </p:nvSpPr>
        <p:spPr>
          <a:xfrm>
            <a:off x="6995160" y="3154680"/>
            <a:ext cx="1325880" cy="640080"/>
          </a:xfrm>
          <a:prstGeom prst="rect">
            <a:avLst/>
          </a:prstGeom>
          <a:noFill/>
          <a:ln/>
        </p:spPr>
        <p:txBody>
          <a:bodyPr wrap="square" lIns="0" tIns="0" rIns="0" bIns="0" rtlCol="0" anchor="t"/>
          <a:lstStyle/>
          <a:p>
            <a:pPr indent="0" marL="0">
              <a:buNone/>
            </a:pPr>
            <a:r>
              <a:rPr lang="en-US" sz="1450" b="1" dirty="0">
                <a:solidFill>
                  <a:srgbClr val="1D5E40"/>
                </a:solidFill>
                <a:latin typeface="Source Sans 3" pitchFamily="34" charset="0"/>
                <a:ea typeface="Source Sans 3" pitchFamily="34" charset="-122"/>
                <a:cs typeface="Source Sans 3" pitchFamily="34" charset="-120"/>
              </a:rPr>
              <a:t>No equipment</a:t>
            </a:r>
            <a:endParaRPr lang="en-US" sz="1450" dirty="0"/>
          </a:p>
        </p:txBody>
      </p:sp>
      <p:sp>
        <p:nvSpPr>
          <p:cNvPr id="35" name="Text 33"/>
          <p:cNvSpPr txBox="1"/>
          <p:nvPr/>
        </p:nvSpPr>
        <p:spPr>
          <a:xfrm>
            <a:off x="8412480" y="3154680"/>
            <a:ext cx="3093415" cy="713232"/>
          </a:xfrm>
          <a:prstGeom prst="rect">
            <a:avLst/>
          </a:prstGeom>
          <a:noFill/>
          <a:ln/>
        </p:spPr>
        <p:txBody>
          <a:bodyPr wrap="square" lIns="0" tIns="0" rIns="0" bIns="0" rtlCol="0" anchor="t"/>
          <a:lstStyle/>
          <a:p>
            <a:pPr indent="0" marL="0">
              <a:buNone/>
            </a:pPr>
            <a:r>
              <a:rPr lang="en-US" sz="1400" dirty="0">
                <a:solidFill>
                  <a:srgbClr val="3A453E"/>
                </a:solidFill>
                <a:latin typeface="Source Sans 3" pitchFamily="34" charset="0"/>
                <a:ea typeface="Source Sans 3" pitchFamily="34" charset="-122"/>
                <a:cs typeface="Source Sans 3" pitchFamily="34" charset="-120"/>
              </a:rPr>
              <a:t>Equipment purchases aren’t funded, so we borrow shelving from Food Support or the host building.</a:t>
            </a:r>
            <a:endParaRPr lang="en-US" sz="1400" dirty="0"/>
          </a:p>
        </p:txBody>
      </p:sp>
      <p:sp>
        <p:nvSpPr>
          <p:cNvPr id="36" name="Shape 34"/>
          <p:cNvSpPr/>
          <p:nvPr/>
        </p:nvSpPr>
        <p:spPr>
          <a:xfrm>
            <a:off x="6995160" y="3867912"/>
            <a:ext cx="4510735" cy="0"/>
          </a:xfrm>
          <a:prstGeom prst="line">
            <a:avLst/>
          </a:prstGeom>
          <a:noFill/>
          <a:ln w="9525">
            <a:solidFill>
              <a:srgbClr val="D9D4C7"/>
            </a:solidFill>
            <a:prstDash val="solid"/>
          </a:ln>
        </p:spPr>
      </p:sp>
      <p:sp>
        <p:nvSpPr>
          <p:cNvPr id="37" name="Text 35"/>
          <p:cNvSpPr txBox="1"/>
          <p:nvPr/>
        </p:nvSpPr>
        <p:spPr>
          <a:xfrm>
            <a:off x="6995160" y="3977640"/>
            <a:ext cx="1325880" cy="640080"/>
          </a:xfrm>
          <a:prstGeom prst="rect">
            <a:avLst/>
          </a:prstGeom>
          <a:noFill/>
          <a:ln/>
        </p:spPr>
        <p:txBody>
          <a:bodyPr wrap="square" lIns="0" tIns="0" rIns="0" bIns="0" rtlCol="0" anchor="t"/>
          <a:lstStyle/>
          <a:p>
            <a:pPr indent="0" marL="0">
              <a:buNone/>
            </a:pPr>
            <a:r>
              <a:rPr lang="en-US" sz="1450" b="1" dirty="0">
                <a:solidFill>
                  <a:srgbClr val="1D5E40"/>
                </a:solidFill>
                <a:latin typeface="Source Sans 3" pitchFamily="34" charset="0"/>
                <a:ea typeface="Source Sans 3" pitchFamily="34" charset="-122"/>
                <a:cs typeface="Source Sans 3" pitchFamily="34" charset="-120"/>
              </a:rPr>
              <a:t>Not ongoing</a:t>
            </a:r>
            <a:endParaRPr lang="en-US" sz="1450" dirty="0"/>
          </a:p>
        </p:txBody>
      </p:sp>
      <p:sp>
        <p:nvSpPr>
          <p:cNvPr id="38" name="Text 36"/>
          <p:cNvSpPr txBox="1"/>
          <p:nvPr/>
        </p:nvSpPr>
        <p:spPr>
          <a:xfrm>
            <a:off x="8412480" y="3977640"/>
            <a:ext cx="3093415" cy="713232"/>
          </a:xfrm>
          <a:prstGeom prst="rect">
            <a:avLst/>
          </a:prstGeom>
          <a:noFill/>
          <a:ln/>
        </p:spPr>
        <p:txBody>
          <a:bodyPr wrap="square" lIns="0" tIns="0" rIns="0" bIns="0" rtlCol="0" anchor="t"/>
          <a:lstStyle/>
          <a:p>
            <a:pPr indent="0" marL="0">
              <a:buNone/>
            </a:pPr>
            <a:r>
              <a:rPr lang="en-US" sz="1400" dirty="0">
                <a:solidFill>
                  <a:srgbClr val="3A453E"/>
                </a:solidFill>
                <a:latin typeface="Source Sans 3" pitchFamily="34" charset="0"/>
                <a:ea typeface="Source Sans 3" pitchFamily="34" charset="-122"/>
                <a:cs typeface="Source Sans 3" pitchFamily="34" charset="-120"/>
              </a:rPr>
              <a:t>Operating costs aren’t funded. This is an 11-week project with an end date and a final report.</a:t>
            </a:r>
            <a:endParaRPr lang="en-US" sz="1400" dirty="0"/>
          </a:p>
        </p:txBody>
      </p:sp>
      <p:sp>
        <p:nvSpPr>
          <p:cNvPr id="39" name="Shape 37"/>
          <p:cNvSpPr/>
          <p:nvPr/>
        </p:nvSpPr>
        <p:spPr>
          <a:xfrm>
            <a:off x="6995160" y="4690872"/>
            <a:ext cx="4510735" cy="0"/>
          </a:xfrm>
          <a:prstGeom prst="line">
            <a:avLst/>
          </a:prstGeom>
          <a:noFill/>
          <a:ln w="9525">
            <a:solidFill>
              <a:srgbClr val="D9D4C7"/>
            </a:solidFill>
            <a:prstDash val="solid"/>
          </a:ln>
        </p:spPr>
      </p:sp>
      <p:sp>
        <p:nvSpPr>
          <p:cNvPr id="40" name="Text 38"/>
          <p:cNvSpPr txBox="1"/>
          <p:nvPr/>
        </p:nvSpPr>
        <p:spPr>
          <a:xfrm>
            <a:off x="6995160" y="4800600"/>
            <a:ext cx="1325880" cy="640080"/>
          </a:xfrm>
          <a:prstGeom prst="rect">
            <a:avLst/>
          </a:prstGeom>
          <a:noFill/>
          <a:ln/>
        </p:spPr>
        <p:txBody>
          <a:bodyPr wrap="square" lIns="0" tIns="0" rIns="0" bIns="0" rtlCol="0" anchor="t"/>
          <a:lstStyle/>
          <a:p>
            <a:pPr indent="0" marL="0">
              <a:buNone/>
            </a:pPr>
            <a:r>
              <a:rPr lang="en-US" sz="1450" b="1" dirty="0">
                <a:solidFill>
                  <a:srgbClr val="1D5E40"/>
                </a:solidFill>
                <a:latin typeface="Source Sans 3" pitchFamily="34" charset="0"/>
                <a:ea typeface="Source Sans 3" pitchFamily="34" charset="-122"/>
                <a:cs typeface="Source Sans 3" pitchFamily="34" charset="-120"/>
              </a:rPr>
              <a:t>10% match</a:t>
            </a:r>
            <a:endParaRPr lang="en-US" sz="1450" dirty="0"/>
          </a:p>
        </p:txBody>
      </p:sp>
      <p:sp>
        <p:nvSpPr>
          <p:cNvPr id="41" name="Text 39"/>
          <p:cNvSpPr txBox="1"/>
          <p:nvPr/>
        </p:nvSpPr>
        <p:spPr>
          <a:xfrm>
            <a:off x="8412480" y="4800600"/>
            <a:ext cx="3093415" cy="713232"/>
          </a:xfrm>
          <a:prstGeom prst="rect">
            <a:avLst/>
          </a:prstGeom>
          <a:noFill/>
          <a:ln/>
        </p:spPr>
        <p:txBody>
          <a:bodyPr wrap="square" lIns="0" tIns="0" rIns="0" bIns="0" rtlCol="0" anchor="t"/>
          <a:lstStyle/>
          <a:p>
            <a:pPr indent="0" marL="0">
              <a:buNone/>
            </a:pPr>
            <a:r>
              <a:rPr lang="en-US" sz="1400" dirty="0">
                <a:solidFill>
                  <a:srgbClr val="3A453E"/>
                </a:solidFill>
                <a:latin typeface="Source Sans 3" pitchFamily="34" charset="0"/>
                <a:ea typeface="Source Sans 3" pitchFamily="34" charset="-122"/>
                <a:cs typeface="Source Sans 3" pitchFamily="34" charset="-120"/>
              </a:rPr>
              <a:t>Applications are preferred when the applicant adds 10%. Our team commits $250.</a:t>
            </a:r>
            <a:endParaRPr lang="en-US" sz="1400" dirty="0"/>
          </a:p>
        </p:txBody>
      </p:sp>
      <p:sp>
        <p:nvSpPr>
          <p:cNvPr id="42" name="Text 40"/>
          <p:cNvSpPr txBox="1"/>
          <p:nvPr/>
        </p:nvSpPr>
        <p:spPr>
          <a:xfrm>
            <a:off x="685800" y="5943600"/>
            <a:ext cx="10820095" cy="274320"/>
          </a:xfrm>
          <a:prstGeom prst="rect">
            <a:avLst/>
          </a:prstGeom>
          <a:noFill/>
          <a:ln/>
        </p:spPr>
        <p:txBody>
          <a:bodyPr wrap="square" lIns="0" tIns="0" rIns="0" bIns="0" rtlCol="0" anchor="b"/>
          <a:lstStyle/>
          <a:p>
            <a:pPr indent="0" marL="0">
              <a:buNone/>
            </a:pPr>
            <a:r>
              <a:rPr lang="en-US" sz="1000" dirty="0">
                <a:solidFill>
                  <a:srgbClr val="6B746D"/>
                </a:solidFill>
                <a:latin typeface="Source Sans 3" pitchFamily="34" charset="0"/>
                <a:ea typeface="Source Sans 3" pitchFamily="34" charset="-122"/>
                <a:cs typeface="Source Sans 3" pitchFamily="34" charset="-120"/>
              </a:rPr>
              <a:t>Source: USC Grants page, westernusc.ca, checked Oct 31, 2026. Line amounts are our estimates; quotes come during preparation. $2.50 per item at 1,000 items.</a:t>
            </a:r>
            <a:endParaRPr lang="en-US" sz="10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rgbClr val="6B746D"/>
                </a:solidFill>
                <a:latin typeface="Source Sans 3"/>
                <a:ea typeface="Source Sans 3"/>
                <a:cs typeface="Source Sans 3"/>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7"/>
          <p:cNvSpPr/>
          <p:nvPr>
            <p:ph idx="107" type="title" hasCustomPrompt="1"/>
          </p:nvPr>
        </p:nvSpPr>
        <p:spPr>
          <a:xfrm>
            <a:off x="685800" y="502920"/>
            <a:ext cx="9692640" cy="1143000"/>
          </a:xfrm>
          <a:prstGeom prst="rect">
            <a:avLst/>
          </a:prstGeom>
          <a:noFill/>
          <a:ln/>
        </p:spPr>
        <p:txBody>
          <a:bodyPr wrap="square" lIns="0" tIns="0" rIns="0" bIns="0" rtlCol="0" anchor="t"/>
          <a:lstStyle/>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We will judge the pilot on five</a:t>
            </a:r>
            <a:endParaRPr lang="en-US" sz="3000" dirty="0"/>
          </a:p>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targets the app measures itself</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85800" y="1828800"/>
          <a:ext cx="6492240" cy="914400"/>
        </p:xfrm>
        <a:graphic>
          <a:graphicData uri="http://schemas.openxmlformats.org/drawingml/2006/table">
            <a:tbl>
              <a:tblPr/>
              <a:tblGrid>
                <a:gridCol w="2057400"/>
                <a:gridCol w="1325880"/>
                <a:gridCol w="3108960"/>
              </a:tblGrid>
              <a:tr h="457200">
                <a:tc>
                  <a:txBody>
                    <a:bodyPr/>
                    <a:lstStyle/>
                    <a:p>
                      <a:pPr indent="0" marL="0">
                        <a:buNone/>
                      </a:pPr>
                      <a:r>
                        <a:rPr lang="en-US" sz="1300" b="1" dirty="0">
                          <a:solidFill>
                            <a:srgbClr val="15201A"/>
                          </a:solidFill>
                          <a:latin typeface="Source Sans 3" pitchFamily="34" charset="0"/>
                          <a:ea typeface="Source Sans 3" pitchFamily="34" charset="-122"/>
                          <a:cs typeface="Source Sans 3" pitchFamily="34" charset="-120"/>
                        </a:rPr>
                        <a:t>Target</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15875" cap="flat" cmpd="sng" algn="ctr">
                      <a:solidFill>
                        <a:srgbClr val="15201A"/>
                      </a:solidFill>
                      <a:prstDash val="solid"/>
                      <a:round/>
                      <a:headEnd type="none" w="med" len="med"/>
                      <a:tailEnd type="none" w="med" len="med"/>
                    </a:lnB>
                    <a:solidFill>
                      <a:srgbClr val="F7F5EF"/>
                    </a:solidFill>
                  </a:tcPr>
                </a:tc>
                <a:tc>
                  <a:txBody>
                    <a:bodyPr/>
                    <a:lstStyle/>
                    <a:p>
                      <a:pPr indent="0" marL="0">
                        <a:buNone/>
                      </a:pPr>
                      <a:r>
                        <a:rPr lang="en-US" sz="1300" b="1" dirty="0">
                          <a:solidFill>
                            <a:srgbClr val="15201A"/>
                          </a:solidFill>
                          <a:latin typeface="Source Sans 3" pitchFamily="34" charset="0"/>
                          <a:ea typeface="Source Sans 3" pitchFamily="34" charset="-122"/>
                          <a:cs typeface="Source Sans 3" pitchFamily="34" charset="-120"/>
                        </a:rPr>
                        <a:t>Goal</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15875" cap="flat" cmpd="sng" algn="ctr">
                      <a:solidFill>
                        <a:srgbClr val="15201A"/>
                      </a:solidFill>
                      <a:prstDash val="solid"/>
                      <a:round/>
                      <a:headEnd type="none" w="med" len="med"/>
                      <a:tailEnd type="none" w="med" len="med"/>
                    </a:lnB>
                    <a:solidFill>
                      <a:srgbClr val="F7F5EF"/>
                    </a:solidFill>
                  </a:tcPr>
                </a:tc>
                <a:tc>
                  <a:txBody>
                    <a:bodyPr/>
                    <a:lstStyle/>
                    <a:p>
                      <a:pPr indent="0" marL="0">
                        <a:buNone/>
                      </a:pPr>
                      <a:r>
                        <a:rPr lang="en-US" sz="1300" b="1" dirty="0">
                          <a:solidFill>
                            <a:srgbClr val="15201A"/>
                          </a:solidFill>
                          <a:latin typeface="Source Sans 3" pitchFamily="34" charset="0"/>
                          <a:ea typeface="Source Sans 3" pitchFamily="34" charset="-122"/>
                          <a:cs typeface="Source Sans 3" pitchFamily="34" charset="-120"/>
                        </a:rPr>
                        <a:t>How the app measures it</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15875" cap="flat" cmpd="sng" algn="ctr">
                      <a:solidFill>
                        <a:srgbClr val="15201A"/>
                      </a:solidFill>
                      <a:prstDash val="solid"/>
                      <a:round/>
                      <a:headEnd type="none" w="med" len="med"/>
                      <a:tailEnd type="none" w="med" len="med"/>
                    </a:lnB>
                    <a:solidFill>
                      <a:srgbClr val="F7F5EF"/>
                    </a:solidFill>
                  </a:tcPr>
                </a:tc>
              </a:tr>
              <a:tr h="457200">
                <a:tc>
                  <a:txBody>
                    <a:bodyPr/>
                    <a:lstStyle/>
                    <a:p>
                      <a:pPr indent="0" marL="0">
                        <a:buNone/>
                      </a:pPr>
                      <a:r>
                        <a:rPr lang="en-US" sz="1400" b="1" dirty="0">
                          <a:solidFill>
                            <a:srgbClr val="15201A"/>
                          </a:solidFill>
                          <a:latin typeface="Source Sans 3" pitchFamily="34" charset="0"/>
                          <a:ea typeface="Source Sans 3" pitchFamily="34" charset="-122"/>
                          <a:cs typeface="Source Sans 3" pitchFamily="34" charset="-120"/>
                        </a:rPr>
                        <a:t>Items taken</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A453E"/>
                          </a:solidFill>
                          <a:latin typeface="Source Sans 3" pitchFamily="34" charset="0"/>
                          <a:ea typeface="Source Sans 3" pitchFamily="34" charset="-122"/>
                          <a:cs typeface="Source Sans 3" pitchFamily="34" charset="-120"/>
                        </a:rPr>
                        <a:t>1,000</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A453E"/>
                          </a:solidFill>
                          <a:latin typeface="Source Sans 3" pitchFamily="34" charset="0"/>
                          <a:ea typeface="Source Sans 3" pitchFamily="34" charset="-122"/>
                          <a:cs typeface="Source Sans 3" pitchFamily="34" charset="-120"/>
                        </a:rPr>
                        <a:t>Shelf counts at each check-in</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457200">
                <a:tc>
                  <a:txBody>
                    <a:bodyPr/>
                    <a:lstStyle/>
                    <a:p>
                      <a:pPr indent="0" marL="0">
                        <a:buNone/>
                      </a:pPr>
                      <a:r>
                        <a:rPr lang="en-US" sz="1400" b="1" dirty="0">
                          <a:solidFill>
                            <a:srgbClr val="15201A"/>
                          </a:solidFill>
                          <a:latin typeface="Source Sans 3" pitchFamily="34" charset="0"/>
                          <a:ea typeface="Source Sans 3" pitchFamily="34" charset="-122"/>
                          <a:cs typeface="Source Sans 3" pitchFamily="34" charset="-120"/>
                        </a:rPr>
                        <a:t>Thrown away</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A453E"/>
                          </a:solidFill>
                          <a:latin typeface="Source Sans 3" pitchFamily="34" charset="0"/>
                          <a:ea typeface="Source Sans 3" pitchFamily="34" charset="-122"/>
                          <a:cs typeface="Source Sans 3" pitchFamily="34" charset="-120"/>
                        </a:rPr>
                        <a:t>Under 5%</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A453E"/>
                          </a:solidFill>
                          <a:latin typeface="Source Sans 3" pitchFamily="34" charset="0"/>
                          <a:ea typeface="Source Sans 3" pitchFamily="34" charset="-122"/>
                          <a:cs typeface="Source Sans 3" pitchFamily="34" charset="-120"/>
                        </a:rPr>
                        <a:t>Expired items removed at check-in</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457200">
                <a:tc>
                  <a:txBody>
                    <a:bodyPr/>
                    <a:lstStyle/>
                    <a:p>
                      <a:pPr indent="0" marL="0">
                        <a:buNone/>
                      </a:pPr>
                      <a:r>
                        <a:rPr lang="en-US" sz="1400" b="1" dirty="0">
                          <a:solidFill>
                            <a:srgbClr val="15201A"/>
                          </a:solidFill>
                          <a:latin typeface="Source Sans 3" pitchFamily="34" charset="0"/>
                          <a:ea typeface="Source Sans 3" pitchFamily="34" charset="-122"/>
                          <a:cs typeface="Source Sans 3" pitchFamily="34" charset="-120"/>
                        </a:rPr>
                        <a:t>Empty to restocked</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A453E"/>
                          </a:solidFill>
                          <a:latin typeface="Source Sans 3" pitchFamily="34" charset="0"/>
                          <a:ea typeface="Source Sans 3" pitchFamily="34" charset="-122"/>
                          <a:cs typeface="Source Sans 3" pitchFamily="34" charset="-120"/>
                        </a:rPr>
                        <a:t>Under 2 hours</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A453E"/>
                          </a:solidFill>
                          <a:latin typeface="Source Sans 3" pitchFamily="34" charset="0"/>
                          <a:ea typeface="Source Sans 3" pitchFamily="34" charset="-122"/>
                          <a:cs typeface="Source Sans 3" pitchFamily="34" charset="-120"/>
                        </a:rPr>
                        <a:t>Median time from a report to a restock</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457200">
                <a:tc>
                  <a:txBody>
                    <a:bodyPr/>
                    <a:lstStyle/>
                    <a:p>
                      <a:pPr indent="0" marL="0">
                        <a:buNone/>
                      </a:pPr>
                      <a:r>
                        <a:rPr lang="en-US" sz="1400" b="1" dirty="0">
                          <a:solidFill>
                            <a:srgbClr val="15201A"/>
                          </a:solidFill>
                          <a:latin typeface="Source Sans 3" pitchFamily="34" charset="0"/>
                          <a:ea typeface="Source Sans 3" pitchFamily="34" charset="-122"/>
                          <a:cs typeface="Source Sans 3" pitchFamily="34" charset="-120"/>
                        </a:rPr>
                        <a:t>Surplus partners</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A453E"/>
                          </a:solidFill>
                          <a:latin typeface="Source Sans 3" pitchFamily="34" charset="0"/>
                          <a:ea typeface="Source Sans 3" pitchFamily="34" charset="-122"/>
                          <a:cs typeface="Source Sans 3" pitchFamily="34" charset="-120"/>
                        </a:rPr>
                        <a:t>3</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A453E"/>
                          </a:solidFill>
                          <a:latin typeface="Source Sans 3" pitchFamily="34" charset="0"/>
                          <a:ea typeface="Source Sans 3" pitchFamily="34" charset="-122"/>
                          <a:cs typeface="Source Sans 3" pitchFamily="34" charset="-120"/>
                        </a:rPr>
                        <a:t>Partners posting drops</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457200">
                <a:tc>
                  <a:txBody>
                    <a:bodyPr/>
                    <a:lstStyle/>
                    <a:p>
                      <a:pPr indent="0" marL="0">
                        <a:buNone/>
                      </a:pPr>
                      <a:r>
                        <a:rPr lang="en-US" sz="1400" b="1" dirty="0">
                          <a:solidFill>
                            <a:srgbClr val="15201A"/>
                          </a:solidFill>
                          <a:latin typeface="Source Sans 3" pitchFamily="34" charset="0"/>
                          <a:ea typeface="Source Sans 3" pitchFamily="34" charset="-122"/>
                          <a:cs typeface="Source Sans 3" pitchFamily="34" charset="-120"/>
                        </a:rPr>
                        <a:t>Food-safety incidents</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A453E"/>
                          </a:solidFill>
                          <a:latin typeface="Source Sans 3" pitchFamily="34" charset="0"/>
                          <a:ea typeface="Source Sans 3" pitchFamily="34" charset="-122"/>
                          <a:cs typeface="Source Sans 3" pitchFamily="34" charset="-120"/>
                        </a:rPr>
                        <a:t>0</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A453E"/>
                          </a:solidFill>
                          <a:latin typeface="Source Sans 3" pitchFamily="34" charset="0"/>
                          <a:ea typeface="Source Sans 3" pitchFamily="34" charset="-122"/>
                          <a:cs typeface="Source Sans 3" pitchFamily="34" charset="-120"/>
                        </a:rPr>
                        <a:t>Incident log</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bl>
          </a:graphicData>
        </a:graphic>
      </p:graphicFrame>
      <p:sp>
        <p:nvSpPr>
          <p:cNvPr id="4" name="Text 1"/>
          <p:cNvSpPr txBox="1"/>
          <p:nvPr/>
        </p:nvSpPr>
        <p:spPr>
          <a:xfrm>
            <a:off x="685800" y="4800600"/>
            <a:ext cx="6492240" cy="685800"/>
          </a:xfrm>
          <a:prstGeom prst="rect">
            <a:avLst/>
          </a:prstGeom>
          <a:noFill/>
          <a:ln/>
        </p:spPr>
        <p:txBody>
          <a:bodyPr wrap="square" lIns="0" tIns="0" rIns="0" bIns="0" rtlCol="0" anchor="t"/>
          <a:lstStyle/>
          <a:p>
            <a:pPr indent="0" marL="0">
              <a:buNone/>
            </a:pPr>
            <a:r>
              <a:rPr lang="en-US" sz="1550" b="1" dirty="0">
                <a:solidFill>
                  <a:srgbClr val="15201A"/>
                </a:solidFill>
                <a:latin typeface="Source Sans 3" pitchFamily="34" charset="0"/>
                <a:ea typeface="Source Sans 3" pitchFamily="34" charset="-122"/>
                <a:cs typeface="Source Sans 3" pitchFamily="34" charset="-120"/>
              </a:rPr>
              <a:t>Decision rule: </a:t>
            </a:r>
            <a:pPr indent="0" marL="0">
              <a:buNone/>
            </a:pPr>
            <a:r>
              <a:rPr lang="en-US" sz="1550" dirty="0">
                <a:solidFill>
                  <a:srgbClr val="3A453E"/>
                </a:solidFill>
                <a:latin typeface="Source Sans 3" pitchFamily="34" charset="0"/>
                <a:ea typeface="Source Sans 3" pitchFamily="34" charset="-122"/>
                <a:cs typeface="Source Sans 3" pitchFamily="34" charset="-120"/>
              </a:rPr>
              <a:t>at week 11 we continue if four of the five targets are met. With one site only, the items target becomes 500.</a:t>
            </a:r>
            <a:endParaRPr lang="en-US" sz="1550" dirty="0"/>
          </a:p>
        </p:txBody>
      </p:sp>
      <p:pic>
        <p:nvPicPr>
          <p:cNvPr id="5" name="Image 0" descr="/tmp/claude-0/-home-claude/cb850c95-8acd-5c96-8a28-bf7aa743d4f8/scratchpad/foodlink/deck/img3/impact-framed.png">    </p:cNvPr>
          <p:cNvPicPr>
            <a:picLocks noChangeAspect="1"/>
          </p:cNvPicPr>
          <p:nvPr/>
        </p:nvPicPr>
        <p:blipFill>
          <a:blip r:embed="rId1"/>
          <a:stretch>
            <a:fillRect/>
          </a:stretch>
        </p:blipFill>
        <p:spPr>
          <a:xfrm>
            <a:off x="7345375" y="1691640"/>
            <a:ext cx="4343400" cy="2688415"/>
          </a:xfrm>
          <a:prstGeom prst="rect">
            <a:avLst/>
          </a:prstGeom>
        </p:spPr>
      </p:pic>
      <p:sp>
        <p:nvSpPr>
          <p:cNvPr id="6" name="Shape 2"/>
          <p:cNvSpPr/>
          <p:nvPr/>
        </p:nvSpPr>
        <p:spPr>
          <a:xfrm>
            <a:off x="7729423" y="4334335"/>
            <a:ext cx="1325880" cy="274320"/>
          </a:xfrm>
          <a:prstGeom prst="rect">
            <a:avLst/>
          </a:prstGeom>
          <a:solidFill>
            <a:srgbClr val="113425"/>
          </a:solidFill>
          <a:ln w="12700">
            <a:solidFill>
              <a:srgbClr val="113425"/>
            </a:solidFill>
            <a:prstDash val="solid"/>
          </a:ln>
        </p:spPr>
      </p:sp>
      <p:sp>
        <p:nvSpPr>
          <p:cNvPr id="7" name="Text 3"/>
          <p:cNvSpPr txBox="1"/>
          <p:nvPr/>
        </p:nvSpPr>
        <p:spPr>
          <a:xfrm>
            <a:off x="7729423" y="4334335"/>
            <a:ext cx="1325880" cy="274320"/>
          </a:xfrm>
          <a:prstGeom prst="rect">
            <a:avLst/>
          </a:prstGeom>
          <a:noFill/>
          <a:ln/>
        </p:spPr>
        <p:txBody>
          <a:bodyPr wrap="square" lIns="0" tIns="0" rIns="0" bIns="0" rtlCol="0" anchor="ctr"/>
          <a:lstStyle/>
          <a:p>
            <a:pPr algn="ctr" indent="0" marL="0">
              <a:buNone/>
            </a:pPr>
            <a:r>
              <a:rPr lang="en-US" sz="1100" b="1" dirty="0">
                <a:solidFill>
                  <a:srgbClr val="F7F5EF"/>
                </a:solidFill>
                <a:latin typeface="Source Sans 3" pitchFamily="34" charset="0"/>
                <a:ea typeface="Source Sans 3" pitchFamily="34" charset="-122"/>
                <a:cs typeface="Source Sans 3" pitchFamily="34" charset="-120"/>
              </a:rPr>
              <a:t>Simulated data</a:t>
            </a:r>
            <a:endParaRPr lang="en-US" sz="1100" dirty="0"/>
          </a:p>
        </p:txBody>
      </p:sp>
      <p:sp>
        <p:nvSpPr>
          <p:cNvPr id="8" name="Text 4"/>
          <p:cNvSpPr txBox="1"/>
          <p:nvPr/>
        </p:nvSpPr>
        <p:spPr>
          <a:xfrm>
            <a:off x="7729423" y="4700095"/>
            <a:ext cx="3794760" cy="457200"/>
          </a:xfrm>
          <a:prstGeom prst="rect">
            <a:avLst/>
          </a:prstGeom>
          <a:noFill/>
          <a:ln/>
        </p:spPr>
        <p:txBody>
          <a:bodyPr wrap="square" lIns="0" tIns="0" rIns="0" bIns="0" rtlCol="0" anchor="t"/>
          <a:lstStyle/>
          <a:p>
            <a:pPr indent="0" marL="0">
              <a:buNone/>
            </a:pPr>
            <a:r>
              <a:rPr lang="en-US" sz="1150" dirty="0">
                <a:solidFill>
                  <a:srgbClr val="6B746D"/>
                </a:solidFill>
                <a:latin typeface="Source Sans 3" pitchFamily="34" charset="0"/>
                <a:ea typeface="Source Sans 3" pitchFamily="34" charset="-122"/>
                <a:cs typeface="Source Sans 3" pitchFamily="34" charset="-120"/>
              </a:rPr>
              <a:t>The dashboard in the app. These numbers are a demonstration, not results.</a:t>
            </a:r>
            <a:endParaRPr lang="en-US" sz="115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rgbClr val="6B746D"/>
                </a:solidFill>
                <a:latin typeface="Source Sans 3"/>
                <a:ea typeface="Source Sans 3"/>
                <a:cs typeface="Source Sans 3"/>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7"/>
          <p:cNvSpPr/>
          <p:nvPr>
            <p:ph idx="107" type="title" hasCustomPrompt="1"/>
          </p:nvPr>
        </p:nvSpPr>
        <p:spPr>
          <a:xfrm>
            <a:off x="685800" y="502920"/>
            <a:ext cx="9692640" cy="1143000"/>
          </a:xfrm>
          <a:prstGeom prst="rect">
            <a:avLst/>
          </a:prstGeom>
          <a:noFill/>
          <a:ln/>
        </p:spPr>
        <p:txBody>
          <a:bodyPr wrap="square" lIns="0" tIns="0" rIns="0" bIns="0" rtlCol="0" anchor="t"/>
          <a:lstStyle/>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The pilot runs January to March,</a:t>
            </a:r>
            <a:endParaRPr lang="en-US" sz="3000" dirty="0"/>
          </a:p>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with a decision in week 11</a:t>
            </a:r>
            <a:endParaRPr lang="en-US" sz="3000" dirty="0"/>
          </a:p>
        </p:txBody>
      </p:sp>
      <p:sp>
        <p:nvSpPr>
          <p:cNvPr id="3" name="Text 1"/>
          <p:cNvSpPr txBox="1"/>
          <p:nvPr/>
        </p:nvSpPr>
        <p:spPr>
          <a:xfrm>
            <a:off x="5257800" y="1810512"/>
            <a:ext cx="960120" cy="274320"/>
          </a:xfrm>
          <a:prstGeom prst="rect">
            <a:avLst/>
          </a:prstGeom>
          <a:noFill/>
          <a:ln/>
        </p:spPr>
        <p:txBody>
          <a:bodyPr wrap="square" lIns="0" tIns="0" rIns="0" bIns="0" rtlCol="0" anchor="t"/>
          <a:lstStyle/>
          <a:p>
            <a:pPr algn="ctr" indent="0" marL="0">
              <a:buNone/>
            </a:pPr>
            <a:r>
              <a:rPr lang="en-US" sz="1200" b="1" dirty="0">
                <a:solidFill>
                  <a:srgbClr val="6B746D"/>
                </a:solidFill>
                <a:latin typeface="Source Sans 3" pitchFamily="34" charset="0"/>
                <a:ea typeface="Source Sans 3" pitchFamily="34" charset="-122"/>
                <a:cs typeface="Source Sans 3" pitchFamily="34" charset="-120"/>
              </a:rPr>
              <a:t>Nov–Dec</a:t>
            </a:r>
            <a:endParaRPr lang="en-US" sz="1200" dirty="0"/>
          </a:p>
        </p:txBody>
      </p:sp>
      <p:sp>
        <p:nvSpPr>
          <p:cNvPr id="4" name="Text 2"/>
          <p:cNvSpPr txBox="1"/>
          <p:nvPr/>
        </p:nvSpPr>
        <p:spPr>
          <a:xfrm>
            <a:off x="6263640" y="1810512"/>
            <a:ext cx="435005" cy="274320"/>
          </a:xfrm>
          <a:prstGeom prst="rect">
            <a:avLst/>
          </a:prstGeom>
          <a:noFill/>
          <a:ln/>
        </p:spPr>
        <p:txBody>
          <a:bodyPr wrap="square" lIns="0" tIns="0" rIns="0" bIns="0" rtlCol="0" anchor="t"/>
          <a:lstStyle/>
          <a:p>
            <a:pPr algn="ctr" indent="0" marL="0">
              <a:buNone/>
            </a:pPr>
            <a:r>
              <a:rPr lang="en-US" sz="1200" b="1" dirty="0">
                <a:solidFill>
                  <a:srgbClr val="6B746D"/>
                </a:solidFill>
                <a:latin typeface="Source Sans 3" pitchFamily="34" charset="0"/>
                <a:ea typeface="Source Sans 3" pitchFamily="34" charset="-122"/>
                <a:cs typeface="Source Sans 3" pitchFamily="34" charset="-120"/>
              </a:rPr>
              <a:t>W1</a:t>
            </a:r>
            <a:endParaRPr lang="en-US" sz="1200" dirty="0"/>
          </a:p>
        </p:txBody>
      </p:sp>
      <p:sp>
        <p:nvSpPr>
          <p:cNvPr id="5" name="Text 3"/>
          <p:cNvSpPr txBox="1"/>
          <p:nvPr/>
        </p:nvSpPr>
        <p:spPr>
          <a:xfrm>
            <a:off x="6744365" y="1810512"/>
            <a:ext cx="435005" cy="274320"/>
          </a:xfrm>
          <a:prstGeom prst="rect">
            <a:avLst/>
          </a:prstGeom>
          <a:noFill/>
          <a:ln/>
        </p:spPr>
        <p:txBody>
          <a:bodyPr wrap="square" lIns="0" tIns="0" rIns="0" bIns="0" rtlCol="0" anchor="t"/>
          <a:lstStyle/>
          <a:p>
            <a:pPr algn="ctr" indent="0" marL="0">
              <a:buNone/>
            </a:pPr>
            <a:r>
              <a:rPr lang="en-US" sz="1200" b="1" dirty="0">
                <a:solidFill>
                  <a:srgbClr val="6B746D"/>
                </a:solidFill>
                <a:latin typeface="Source Sans 3" pitchFamily="34" charset="0"/>
                <a:ea typeface="Source Sans 3" pitchFamily="34" charset="-122"/>
                <a:cs typeface="Source Sans 3" pitchFamily="34" charset="-120"/>
              </a:rPr>
              <a:t>W2</a:t>
            </a:r>
            <a:endParaRPr lang="en-US" sz="1200" dirty="0"/>
          </a:p>
        </p:txBody>
      </p:sp>
      <p:sp>
        <p:nvSpPr>
          <p:cNvPr id="6" name="Text 4"/>
          <p:cNvSpPr txBox="1"/>
          <p:nvPr/>
        </p:nvSpPr>
        <p:spPr>
          <a:xfrm>
            <a:off x="7225090" y="1810512"/>
            <a:ext cx="435005" cy="274320"/>
          </a:xfrm>
          <a:prstGeom prst="rect">
            <a:avLst/>
          </a:prstGeom>
          <a:noFill/>
          <a:ln/>
        </p:spPr>
        <p:txBody>
          <a:bodyPr wrap="square" lIns="0" tIns="0" rIns="0" bIns="0" rtlCol="0" anchor="t"/>
          <a:lstStyle/>
          <a:p>
            <a:pPr algn="ctr" indent="0" marL="0">
              <a:buNone/>
            </a:pPr>
            <a:r>
              <a:rPr lang="en-US" sz="1200" b="1" dirty="0">
                <a:solidFill>
                  <a:srgbClr val="6B746D"/>
                </a:solidFill>
                <a:latin typeface="Source Sans 3" pitchFamily="34" charset="0"/>
                <a:ea typeface="Source Sans 3" pitchFamily="34" charset="-122"/>
                <a:cs typeface="Source Sans 3" pitchFamily="34" charset="-120"/>
              </a:rPr>
              <a:t>W3</a:t>
            </a:r>
            <a:endParaRPr lang="en-US" sz="1200" dirty="0"/>
          </a:p>
        </p:txBody>
      </p:sp>
      <p:sp>
        <p:nvSpPr>
          <p:cNvPr id="7" name="Text 5"/>
          <p:cNvSpPr txBox="1"/>
          <p:nvPr/>
        </p:nvSpPr>
        <p:spPr>
          <a:xfrm>
            <a:off x="7705815" y="1810512"/>
            <a:ext cx="435005" cy="274320"/>
          </a:xfrm>
          <a:prstGeom prst="rect">
            <a:avLst/>
          </a:prstGeom>
          <a:noFill/>
          <a:ln/>
        </p:spPr>
        <p:txBody>
          <a:bodyPr wrap="square" lIns="0" tIns="0" rIns="0" bIns="0" rtlCol="0" anchor="t"/>
          <a:lstStyle/>
          <a:p>
            <a:pPr algn="ctr" indent="0" marL="0">
              <a:buNone/>
            </a:pPr>
            <a:r>
              <a:rPr lang="en-US" sz="1200" b="1" dirty="0">
                <a:solidFill>
                  <a:srgbClr val="6B746D"/>
                </a:solidFill>
                <a:latin typeface="Source Sans 3" pitchFamily="34" charset="0"/>
                <a:ea typeface="Source Sans 3" pitchFamily="34" charset="-122"/>
                <a:cs typeface="Source Sans 3" pitchFamily="34" charset="-120"/>
              </a:rPr>
              <a:t>W4</a:t>
            </a:r>
            <a:endParaRPr lang="en-US" sz="1200" dirty="0"/>
          </a:p>
        </p:txBody>
      </p:sp>
      <p:sp>
        <p:nvSpPr>
          <p:cNvPr id="8" name="Text 6"/>
          <p:cNvSpPr txBox="1"/>
          <p:nvPr/>
        </p:nvSpPr>
        <p:spPr>
          <a:xfrm>
            <a:off x="8186540" y="1810512"/>
            <a:ext cx="435005" cy="274320"/>
          </a:xfrm>
          <a:prstGeom prst="rect">
            <a:avLst/>
          </a:prstGeom>
          <a:noFill/>
          <a:ln/>
        </p:spPr>
        <p:txBody>
          <a:bodyPr wrap="square" lIns="0" tIns="0" rIns="0" bIns="0" rtlCol="0" anchor="t"/>
          <a:lstStyle/>
          <a:p>
            <a:pPr algn="ctr" indent="0" marL="0">
              <a:buNone/>
            </a:pPr>
            <a:r>
              <a:rPr lang="en-US" sz="1200" b="1" dirty="0">
                <a:solidFill>
                  <a:srgbClr val="6B746D"/>
                </a:solidFill>
                <a:latin typeface="Source Sans 3" pitchFamily="34" charset="0"/>
                <a:ea typeface="Source Sans 3" pitchFamily="34" charset="-122"/>
                <a:cs typeface="Source Sans 3" pitchFamily="34" charset="-120"/>
              </a:rPr>
              <a:t>W5</a:t>
            </a:r>
            <a:endParaRPr lang="en-US" sz="1200" dirty="0"/>
          </a:p>
        </p:txBody>
      </p:sp>
      <p:sp>
        <p:nvSpPr>
          <p:cNvPr id="9" name="Text 7"/>
          <p:cNvSpPr txBox="1"/>
          <p:nvPr/>
        </p:nvSpPr>
        <p:spPr>
          <a:xfrm>
            <a:off x="8667265" y="1810512"/>
            <a:ext cx="435005" cy="274320"/>
          </a:xfrm>
          <a:prstGeom prst="rect">
            <a:avLst/>
          </a:prstGeom>
          <a:noFill/>
          <a:ln/>
        </p:spPr>
        <p:txBody>
          <a:bodyPr wrap="square" lIns="0" tIns="0" rIns="0" bIns="0" rtlCol="0" anchor="t"/>
          <a:lstStyle/>
          <a:p>
            <a:pPr algn="ctr" indent="0" marL="0">
              <a:buNone/>
            </a:pPr>
            <a:r>
              <a:rPr lang="en-US" sz="1200" b="1" dirty="0">
                <a:solidFill>
                  <a:srgbClr val="6B746D"/>
                </a:solidFill>
                <a:latin typeface="Source Sans 3" pitchFamily="34" charset="0"/>
                <a:ea typeface="Source Sans 3" pitchFamily="34" charset="-122"/>
                <a:cs typeface="Source Sans 3" pitchFamily="34" charset="-120"/>
              </a:rPr>
              <a:t>W6</a:t>
            </a:r>
            <a:endParaRPr lang="en-US" sz="1200" dirty="0"/>
          </a:p>
        </p:txBody>
      </p:sp>
      <p:sp>
        <p:nvSpPr>
          <p:cNvPr id="10" name="Text 8"/>
          <p:cNvSpPr txBox="1"/>
          <p:nvPr/>
        </p:nvSpPr>
        <p:spPr>
          <a:xfrm>
            <a:off x="9147990" y="1810512"/>
            <a:ext cx="435005" cy="274320"/>
          </a:xfrm>
          <a:prstGeom prst="rect">
            <a:avLst/>
          </a:prstGeom>
          <a:noFill/>
          <a:ln/>
        </p:spPr>
        <p:txBody>
          <a:bodyPr wrap="square" lIns="0" tIns="0" rIns="0" bIns="0" rtlCol="0" anchor="t"/>
          <a:lstStyle/>
          <a:p>
            <a:pPr algn="ctr" indent="0" marL="0">
              <a:buNone/>
            </a:pPr>
            <a:r>
              <a:rPr lang="en-US" sz="1200" b="1" dirty="0">
                <a:solidFill>
                  <a:srgbClr val="6B746D"/>
                </a:solidFill>
                <a:latin typeface="Source Sans 3" pitchFamily="34" charset="0"/>
                <a:ea typeface="Source Sans 3" pitchFamily="34" charset="-122"/>
                <a:cs typeface="Source Sans 3" pitchFamily="34" charset="-120"/>
              </a:rPr>
              <a:t>W7</a:t>
            </a:r>
            <a:endParaRPr lang="en-US" sz="1200" dirty="0"/>
          </a:p>
        </p:txBody>
      </p:sp>
      <p:sp>
        <p:nvSpPr>
          <p:cNvPr id="11" name="Text 9"/>
          <p:cNvSpPr txBox="1"/>
          <p:nvPr/>
        </p:nvSpPr>
        <p:spPr>
          <a:xfrm>
            <a:off x="9628715" y="1810512"/>
            <a:ext cx="435005" cy="274320"/>
          </a:xfrm>
          <a:prstGeom prst="rect">
            <a:avLst/>
          </a:prstGeom>
          <a:noFill/>
          <a:ln/>
        </p:spPr>
        <p:txBody>
          <a:bodyPr wrap="square" lIns="0" tIns="0" rIns="0" bIns="0" rtlCol="0" anchor="t"/>
          <a:lstStyle/>
          <a:p>
            <a:pPr algn="ctr" indent="0" marL="0">
              <a:buNone/>
            </a:pPr>
            <a:r>
              <a:rPr lang="en-US" sz="1200" b="1" dirty="0">
                <a:solidFill>
                  <a:srgbClr val="6B746D"/>
                </a:solidFill>
                <a:latin typeface="Source Sans 3" pitchFamily="34" charset="0"/>
                <a:ea typeface="Source Sans 3" pitchFamily="34" charset="-122"/>
                <a:cs typeface="Source Sans 3" pitchFamily="34" charset="-120"/>
              </a:rPr>
              <a:t>W8</a:t>
            </a:r>
            <a:endParaRPr lang="en-US" sz="1200" dirty="0"/>
          </a:p>
        </p:txBody>
      </p:sp>
      <p:sp>
        <p:nvSpPr>
          <p:cNvPr id="12" name="Text 10"/>
          <p:cNvSpPr txBox="1"/>
          <p:nvPr/>
        </p:nvSpPr>
        <p:spPr>
          <a:xfrm>
            <a:off x="10109440" y="1810512"/>
            <a:ext cx="435005" cy="274320"/>
          </a:xfrm>
          <a:prstGeom prst="rect">
            <a:avLst/>
          </a:prstGeom>
          <a:noFill/>
          <a:ln/>
        </p:spPr>
        <p:txBody>
          <a:bodyPr wrap="square" lIns="0" tIns="0" rIns="0" bIns="0" rtlCol="0" anchor="t"/>
          <a:lstStyle/>
          <a:p>
            <a:pPr algn="ctr" indent="0" marL="0">
              <a:buNone/>
            </a:pPr>
            <a:r>
              <a:rPr lang="en-US" sz="1200" b="1" dirty="0">
                <a:solidFill>
                  <a:srgbClr val="6B746D"/>
                </a:solidFill>
                <a:latin typeface="Source Sans 3" pitchFamily="34" charset="0"/>
                <a:ea typeface="Source Sans 3" pitchFamily="34" charset="-122"/>
                <a:cs typeface="Source Sans 3" pitchFamily="34" charset="-120"/>
              </a:rPr>
              <a:t>W9</a:t>
            </a:r>
            <a:endParaRPr lang="en-US" sz="1200" dirty="0"/>
          </a:p>
        </p:txBody>
      </p:sp>
      <p:sp>
        <p:nvSpPr>
          <p:cNvPr id="13" name="Text 11"/>
          <p:cNvSpPr txBox="1"/>
          <p:nvPr/>
        </p:nvSpPr>
        <p:spPr>
          <a:xfrm>
            <a:off x="10590165" y="1810512"/>
            <a:ext cx="435005" cy="274320"/>
          </a:xfrm>
          <a:prstGeom prst="rect">
            <a:avLst/>
          </a:prstGeom>
          <a:noFill/>
          <a:ln/>
        </p:spPr>
        <p:txBody>
          <a:bodyPr wrap="square" lIns="0" tIns="0" rIns="0" bIns="0" rtlCol="0" anchor="t"/>
          <a:lstStyle/>
          <a:p>
            <a:pPr algn="ctr" indent="0" marL="0">
              <a:buNone/>
            </a:pPr>
            <a:r>
              <a:rPr lang="en-US" sz="1200" b="1" dirty="0">
                <a:solidFill>
                  <a:srgbClr val="6B746D"/>
                </a:solidFill>
                <a:latin typeface="Source Sans 3" pitchFamily="34" charset="0"/>
                <a:ea typeface="Source Sans 3" pitchFamily="34" charset="-122"/>
                <a:cs typeface="Source Sans 3" pitchFamily="34" charset="-120"/>
              </a:rPr>
              <a:t>W10</a:t>
            </a:r>
            <a:endParaRPr lang="en-US" sz="1200" dirty="0"/>
          </a:p>
        </p:txBody>
      </p:sp>
      <p:sp>
        <p:nvSpPr>
          <p:cNvPr id="14" name="Text 12"/>
          <p:cNvSpPr txBox="1"/>
          <p:nvPr/>
        </p:nvSpPr>
        <p:spPr>
          <a:xfrm>
            <a:off x="11070890" y="1810512"/>
            <a:ext cx="435005" cy="274320"/>
          </a:xfrm>
          <a:prstGeom prst="rect">
            <a:avLst/>
          </a:prstGeom>
          <a:noFill/>
          <a:ln/>
        </p:spPr>
        <p:txBody>
          <a:bodyPr wrap="square" lIns="0" tIns="0" rIns="0" bIns="0" rtlCol="0" anchor="t"/>
          <a:lstStyle/>
          <a:p>
            <a:pPr algn="ctr" indent="0" marL="0">
              <a:buNone/>
            </a:pPr>
            <a:r>
              <a:rPr lang="en-US" sz="1200" b="1" dirty="0">
                <a:solidFill>
                  <a:srgbClr val="6B746D"/>
                </a:solidFill>
                <a:latin typeface="Source Sans 3" pitchFamily="34" charset="0"/>
                <a:ea typeface="Source Sans 3" pitchFamily="34" charset="-122"/>
                <a:cs typeface="Source Sans 3" pitchFamily="34" charset="-120"/>
              </a:rPr>
              <a:t>W11</a:t>
            </a:r>
            <a:endParaRPr lang="en-US" sz="1200" dirty="0"/>
          </a:p>
        </p:txBody>
      </p:sp>
      <p:sp>
        <p:nvSpPr>
          <p:cNvPr id="15" name="Shape 13"/>
          <p:cNvSpPr/>
          <p:nvPr/>
        </p:nvSpPr>
        <p:spPr>
          <a:xfrm>
            <a:off x="685800" y="2157984"/>
            <a:ext cx="10820095" cy="0"/>
          </a:xfrm>
          <a:prstGeom prst="line">
            <a:avLst/>
          </a:prstGeom>
          <a:noFill/>
          <a:ln w="12700">
            <a:solidFill>
              <a:srgbClr val="15201A"/>
            </a:solidFill>
            <a:prstDash val="solid"/>
          </a:ln>
        </p:spPr>
      </p:sp>
      <p:sp>
        <p:nvSpPr>
          <p:cNvPr id="16" name="Text 14"/>
          <p:cNvSpPr txBox="1"/>
          <p:nvPr/>
        </p:nvSpPr>
        <p:spPr>
          <a:xfrm>
            <a:off x="685800" y="2212848"/>
            <a:ext cx="1097280" cy="493776"/>
          </a:xfrm>
          <a:prstGeom prst="rect">
            <a:avLst/>
          </a:prstGeom>
          <a:noFill/>
          <a:ln/>
        </p:spPr>
        <p:txBody>
          <a:bodyPr wrap="square" lIns="0" tIns="0" rIns="0" bIns="0" rtlCol="0" anchor="ctr"/>
          <a:lstStyle/>
          <a:p>
            <a:pPr indent="0" marL="0">
              <a:buNone/>
            </a:pPr>
            <a:r>
              <a:rPr lang="en-US" sz="1800" dirty="0">
                <a:solidFill>
                  <a:srgbClr val="15201A"/>
                </a:solidFill>
                <a:latin typeface="Source Serif 4" pitchFamily="34" charset="0"/>
                <a:ea typeface="Source Serif 4" pitchFamily="34" charset="-122"/>
                <a:cs typeface="Source Serif 4" pitchFamily="34" charset="-120"/>
              </a:rPr>
              <a:t>Prepare</a:t>
            </a:r>
            <a:endParaRPr lang="en-US" sz="1800" dirty="0"/>
          </a:p>
        </p:txBody>
      </p:sp>
      <p:sp>
        <p:nvSpPr>
          <p:cNvPr id="17" name="Text 15"/>
          <p:cNvSpPr txBox="1"/>
          <p:nvPr/>
        </p:nvSpPr>
        <p:spPr>
          <a:xfrm>
            <a:off x="1828800" y="2212848"/>
            <a:ext cx="3337560" cy="493776"/>
          </a:xfrm>
          <a:prstGeom prst="rect">
            <a:avLst/>
          </a:prstGeom>
          <a:noFill/>
          <a:ln/>
        </p:spPr>
        <p:txBody>
          <a:bodyPr wrap="square" lIns="0" tIns="0" rIns="0" bIns="0" rtlCol="0" anchor="ctr"/>
          <a:lstStyle/>
          <a:p>
            <a:pPr indent="0" marL="0">
              <a:buNone/>
            </a:pPr>
            <a:r>
              <a:rPr lang="en-US" sz="1250" dirty="0">
                <a:solidFill>
                  <a:srgbClr val="3A453E"/>
                </a:solidFill>
                <a:latin typeface="Source Sans 3" pitchFamily="34" charset="0"/>
                <a:ea typeface="Source Sans 3" pitchFamily="34" charset="-122"/>
                <a:cs typeface="Source Sans 3" pitchFamily="34" charset="-120"/>
              </a:rPr>
              <a:t>Apply mid-November; site 2 and borrowed shelving by Dec 15; volunteers certified</a:t>
            </a:r>
            <a:endParaRPr lang="en-US" sz="1250" dirty="0"/>
          </a:p>
        </p:txBody>
      </p:sp>
      <p:sp>
        <p:nvSpPr>
          <p:cNvPr id="18" name="Shape 16"/>
          <p:cNvSpPr/>
          <p:nvPr/>
        </p:nvSpPr>
        <p:spPr>
          <a:xfrm>
            <a:off x="5257800" y="2350008"/>
            <a:ext cx="960120" cy="219456"/>
          </a:xfrm>
          <a:prstGeom prst="rect">
            <a:avLst/>
          </a:prstGeom>
          <a:solidFill>
            <a:srgbClr val="BDC3BA"/>
          </a:solidFill>
          <a:ln w="12700">
            <a:solidFill>
              <a:srgbClr val="BDC3BA"/>
            </a:solidFill>
            <a:prstDash val="solid"/>
          </a:ln>
        </p:spPr>
      </p:sp>
      <p:sp>
        <p:nvSpPr>
          <p:cNvPr id="19" name="Shape 17"/>
          <p:cNvSpPr/>
          <p:nvPr/>
        </p:nvSpPr>
        <p:spPr>
          <a:xfrm>
            <a:off x="685800" y="2761488"/>
            <a:ext cx="10820095" cy="0"/>
          </a:xfrm>
          <a:prstGeom prst="line">
            <a:avLst/>
          </a:prstGeom>
          <a:noFill/>
          <a:ln w="9525">
            <a:solidFill>
              <a:srgbClr val="D9D4C7"/>
            </a:solidFill>
            <a:prstDash val="solid"/>
          </a:ln>
        </p:spPr>
      </p:sp>
      <p:sp>
        <p:nvSpPr>
          <p:cNvPr id="20" name="Text 18"/>
          <p:cNvSpPr txBox="1"/>
          <p:nvPr/>
        </p:nvSpPr>
        <p:spPr>
          <a:xfrm>
            <a:off x="685800" y="2816352"/>
            <a:ext cx="1097280" cy="493776"/>
          </a:xfrm>
          <a:prstGeom prst="rect">
            <a:avLst/>
          </a:prstGeom>
          <a:noFill/>
          <a:ln/>
        </p:spPr>
        <p:txBody>
          <a:bodyPr wrap="square" lIns="0" tIns="0" rIns="0" bIns="0" rtlCol="0" anchor="ctr"/>
          <a:lstStyle/>
          <a:p>
            <a:pPr indent="0" marL="0">
              <a:buNone/>
            </a:pPr>
            <a:r>
              <a:rPr lang="en-US" sz="1800" dirty="0">
                <a:solidFill>
                  <a:srgbClr val="15201A"/>
                </a:solidFill>
                <a:latin typeface="Source Serif 4" pitchFamily="34" charset="0"/>
                <a:ea typeface="Source Serif 4" pitchFamily="34" charset="-122"/>
                <a:cs typeface="Source Serif 4" pitchFamily="34" charset="-120"/>
              </a:rPr>
              <a:t>Launch</a:t>
            </a:r>
            <a:endParaRPr lang="en-US" sz="1800" dirty="0"/>
          </a:p>
        </p:txBody>
      </p:sp>
      <p:sp>
        <p:nvSpPr>
          <p:cNvPr id="21" name="Text 19"/>
          <p:cNvSpPr txBox="1"/>
          <p:nvPr/>
        </p:nvSpPr>
        <p:spPr>
          <a:xfrm>
            <a:off x="1828800" y="2816352"/>
            <a:ext cx="3337560" cy="493776"/>
          </a:xfrm>
          <a:prstGeom prst="rect">
            <a:avLst/>
          </a:prstGeom>
          <a:noFill/>
          <a:ln/>
        </p:spPr>
        <p:txBody>
          <a:bodyPr wrap="square" lIns="0" tIns="0" rIns="0" bIns="0" rtlCol="0" anchor="ctr"/>
          <a:lstStyle/>
          <a:p>
            <a:pPr indent="0" marL="0">
              <a:buNone/>
            </a:pPr>
            <a:r>
              <a:rPr lang="en-US" sz="1250" dirty="0">
                <a:solidFill>
                  <a:srgbClr val="3A453E"/>
                </a:solidFill>
                <a:latin typeface="Source Sans 3" pitchFamily="34" charset="0"/>
                <a:ea typeface="Source Sans 3" pitchFamily="34" charset="-122"/>
                <a:cs typeface="Source Sans 3" pitchFamily="34" charset="-120"/>
              </a:rPr>
              <a:t>Shelves, QR codes and posters up; first counts</a:t>
            </a:r>
            <a:endParaRPr lang="en-US" sz="1250" dirty="0"/>
          </a:p>
        </p:txBody>
      </p:sp>
      <p:sp>
        <p:nvSpPr>
          <p:cNvPr id="22" name="Shape 20"/>
          <p:cNvSpPr/>
          <p:nvPr/>
        </p:nvSpPr>
        <p:spPr>
          <a:xfrm>
            <a:off x="6263640" y="2953512"/>
            <a:ext cx="915730" cy="219456"/>
          </a:xfrm>
          <a:prstGeom prst="rect">
            <a:avLst/>
          </a:prstGeom>
          <a:solidFill>
            <a:srgbClr val="1D5E40"/>
          </a:solidFill>
          <a:ln w="12700">
            <a:solidFill>
              <a:srgbClr val="1D5E40"/>
            </a:solidFill>
            <a:prstDash val="solid"/>
          </a:ln>
        </p:spPr>
      </p:sp>
      <p:sp>
        <p:nvSpPr>
          <p:cNvPr id="23" name="Shape 21"/>
          <p:cNvSpPr/>
          <p:nvPr/>
        </p:nvSpPr>
        <p:spPr>
          <a:xfrm>
            <a:off x="685800" y="3364992"/>
            <a:ext cx="10820095" cy="0"/>
          </a:xfrm>
          <a:prstGeom prst="line">
            <a:avLst/>
          </a:prstGeom>
          <a:noFill/>
          <a:ln w="9525">
            <a:solidFill>
              <a:srgbClr val="D9D4C7"/>
            </a:solidFill>
            <a:prstDash val="solid"/>
          </a:ln>
        </p:spPr>
      </p:sp>
      <p:sp>
        <p:nvSpPr>
          <p:cNvPr id="24" name="Text 22"/>
          <p:cNvSpPr txBox="1"/>
          <p:nvPr/>
        </p:nvSpPr>
        <p:spPr>
          <a:xfrm>
            <a:off x="685800" y="3419856"/>
            <a:ext cx="1097280" cy="493776"/>
          </a:xfrm>
          <a:prstGeom prst="rect">
            <a:avLst/>
          </a:prstGeom>
          <a:noFill/>
          <a:ln/>
        </p:spPr>
        <p:txBody>
          <a:bodyPr wrap="square" lIns="0" tIns="0" rIns="0" bIns="0" rtlCol="0" anchor="ctr"/>
          <a:lstStyle/>
          <a:p>
            <a:pPr indent="0" marL="0">
              <a:buNone/>
            </a:pPr>
            <a:r>
              <a:rPr lang="en-US" sz="1800" dirty="0">
                <a:solidFill>
                  <a:srgbClr val="15201A"/>
                </a:solidFill>
                <a:latin typeface="Source Serif 4" pitchFamily="34" charset="0"/>
                <a:ea typeface="Source Serif 4" pitchFamily="34" charset="-122"/>
                <a:cs typeface="Source Serif 4" pitchFamily="34" charset="-120"/>
              </a:rPr>
              <a:t>Run</a:t>
            </a:r>
            <a:endParaRPr lang="en-US" sz="1800" dirty="0"/>
          </a:p>
        </p:txBody>
      </p:sp>
      <p:sp>
        <p:nvSpPr>
          <p:cNvPr id="25" name="Text 23"/>
          <p:cNvSpPr txBox="1"/>
          <p:nvPr/>
        </p:nvSpPr>
        <p:spPr>
          <a:xfrm>
            <a:off x="1828800" y="3419856"/>
            <a:ext cx="3337560" cy="493776"/>
          </a:xfrm>
          <a:prstGeom prst="rect">
            <a:avLst/>
          </a:prstGeom>
          <a:noFill/>
          <a:ln/>
        </p:spPr>
        <p:txBody>
          <a:bodyPr wrap="square" lIns="0" tIns="0" rIns="0" bIns="0" rtlCol="0" anchor="ctr"/>
          <a:lstStyle/>
          <a:p>
            <a:pPr indent="0" marL="0">
              <a:buNone/>
            </a:pPr>
            <a:r>
              <a:rPr lang="en-US" sz="1250" dirty="0">
                <a:solidFill>
                  <a:srgbClr val="3A453E"/>
                </a:solidFill>
                <a:latin typeface="Source Sans 3" pitchFamily="34" charset="0"/>
                <a:ea typeface="Source Sans 3" pitchFamily="34" charset="-122"/>
                <a:cs typeface="Source Sans 3" pitchFamily="34" charset="-120"/>
              </a:rPr>
              <a:t>Restock twice a day; dashboard published weekly</a:t>
            </a:r>
            <a:endParaRPr lang="en-US" sz="1250" dirty="0"/>
          </a:p>
        </p:txBody>
      </p:sp>
      <p:sp>
        <p:nvSpPr>
          <p:cNvPr id="26" name="Shape 24"/>
          <p:cNvSpPr/>
          <p:nvPr/>
        </p:nvSpPr>
        <p:spPr>
          <a:xfrm>
            <a:off x="7225090" y="3557016"/>
            <a:ext cx="4280805" cy="219456"/>
          </a:xfrm>
          <a:prstGeom prst="rect">
            <a:avLst/>
          </a:prstGeom>
          <a:solidFill>
            <a:srgbClr val="1D5E40"/>
          </a:solidFill>
          <a:ln w="12700">
            <a:solidFill>
              <a:srgbClr val="1D5E40"/>
            </a:solidFill>
            <a:prstDash val="solid"/>
          </a:ln>
        </p:spPr>
      </p:sp>
      <p:sp>
        <p:nvSpPr>
          <p:cNvPr id="27" name="Shape 25"/>
          <p:cNvSpPr/>
          <p:nvPr/>
        </p:nvSpPr>
        <p:spPr>
          <a:xfrm>
            <a:off x="685800" y="3968496"/>
            <a:ext cx="10820095" cy="0"/>
          </a:xfrm>
          <a:prstGeom prst="line">
            <a:avLst/>
          </a:prstGeom>
          <a:noFill/>
          <a:ln w="9525">
            <a:solidFill>
              <a:srgbClr val="D9D4C7"/>
            </a:solidFill>
            <a:prstDash val="solid"/>
          </a:ln>
        </p:spPr>
      </p:sp>
      <p:sp>
        <p:nvSpPr>
          <p:cNvPr id="28" name="Text 26"/>
          <p:cNvSpPr txBox="1"/>
          <p:nvPr/>
        </p:nvSpPr>
        <p:spPr>
          <a:xfrm>
            <a:off x="685800" y="4023360"/>
            <a:ext cx="1097280" cy="493776"/>
          </a:xfrm>
          <a:prstGeom prst="rect">
            <a:avLst/>
          </a:prstGeom>
          <a:noFill/>
          <a:ln/>
        </p:spPr>
        <p:txBody>
          <a:bodyPr wrap="square" lIns="0" tIns="0" rIns="0" bIns="0" rtlCol="0" anchor="ctr"/>
          <a:lstStyle/>
          <a:p>
            <a:pPr indent="0" marL="0">
              <a:buNone/>
            </a:pPr>
            <a:r>
              <a:rPr lang="en-US" sz="1800" dirty="0">
                <a:solidFill>
                  <a:srgbClr val="15201A"/>
                </a:solidFill>
                <a:latin typeface="Source Serif 4" pitchFamily="34" charset="0"/>
                <a:ea typeface="Source Serif 4" pitchFamily="34" charset="-122"/>
                <a:cs typeface="Source Serif 4" pitchFamily="34" charset="-120"/>
              </a:rPr>
              <a:t>Adjust</a:t>
            </a:r>
            <a:endParaRPr lang="en-US" sz="1800" dirty="0"/>
          </a:p>
        </p:txBody>
      </p:sp>
      <p:sp>
        <p:nvSpPr>
          <p:cNvPr id="29" name="Text 27"/>
          <p:cNvSpPr txBox="1"/>
          <p:nvPr/>
        </p:nvSpPr>
        <p:spPr>
          <a:xfrm>
            <a:off x="1828800" y="4023360"/>
            <a:ext cx="3337560" cy="493776"/>
          </a:xfrm>
          <a:prstGeom prst="rect">
            <a:avLst/>
          </a:prstGeom>
          <a:noFill/>
          <a:ln/>
        </p:spPr>
        <p:txBody>
          <a:bodyPr wrap="square" lIns="0" tIns="0" rIns="0" bIns="0" rtlCol="0" anchor="ctr"/>
          <a:lstStyle/>
          <a:p>
            <a:pPr indent="0" marL="0">
              <a:buNone/>
            </a:pPr>
            <a:r>
              <a:rPr lang="en-US" sz="1250" dirty="0">
                <a:solidFill>
                  <a:srgbClr val="3A453E"/>
                </a:solidFill>
                <a:latin typeface="Source Sans 3" pitchFamily="34" charset="0"/>
                <a:ea typeface="Source Sans 3" pitchFamily="34" charset="-122"/>
                <a:cs typeface="Source Sans 3" pitchFamily="34" charset="-120"/>
              </a:rPr>
              <a:t>Move stock to where demand is; add partners</a:t>
            </a:r>
            <a:endParaRPr lang="en-US" sz="1250" dirty="0"/>
          </a:p>
        </p:txBody>
      </p:sp>
      <p:sp>
        <p:nvSpPr>
          <p:cNvPr id="30" name="Shape 28"/>
          <p:cNvSpPr/>
          <p:nvPr/>
        </p:nvSpPr>
        <p:spPr>
          <a:xfrm>
            <a:off x="9147990" y="4160520"/>
            <a:ext cx="915730" cy="219456"/>
          </a:xfrm>
          <a:prstGeom prst="rect">
            <a:avLst/>
          </a:prstGeom>
          <a:solidFill>
            <a:srgbClr val="2E5F7A"/>
          </a:solidFill>
          <a:ln w="12700">
            <a:solidFill>
              <a:srgbClr val="2E5F7A"/>
            </a:solidFill>
            <a:prstDash val="solid"/>
          </a:ln>
        </p:spPr>
      </p:sp>
      <p:sp>
        <p:nvSpPr>
          <p:cNvPr id="31" name="Shape 29"/>
          <p:cNvSpPr/>
          <p:nvPr/>
        </p:nvSpPr>
        <p:spPr>
          <a:xfrm>
            <a:off x="685800" y="4572000"/>
            <a:ext cx="10820095" cy="0"/>
          </a:xfrm>
          <a:prstGeom prst="line">
            <a:avLst/>
          </a:prstGeom>
          <a:noFill/>
          <a:ln w="9525">
            <a:solidFill>
              <a:srgbClr val="D9D4C7"/>
            </a:solidFill>
            <a:prstDash val="solid"/>
          </a:ln>
        </p:spPr>
      </p:sp>
      <p:sp>
        <p:nvSpPr>
          <p:cNvPr id="32" name="Text 30"/>
          <p:cNvSpPr txBox="1"/>
          <p:nvPr/>
        </p:nvSpPr>
        <p:spPr>
          <a:xfrm>
            <a:off x="685800" y="4626864"/>
            <a:ext cx="1097280" cy="493776"/>
          </a:xfrm>
          <a:prstGeom prst="rect">
            <a:avLst/>
          </a:prstGeom>
          <a:noFill/>
          <a:ln/>
        </p:spPr>
        <p:txBody>
          <a:bodyPr wrap="square" lIns="0" tIns="0" rIns="0" bIns="0" rtlCol="0" anchor="ctr"/>
          <a:lstStyle/>
          <a:p>
            <a:pPr indent="0" marL="0">
              <a:buNone/>
            </a:pPr>
            <a:r>
              <a:rPr lang="en-US" sz="1800" dirty="0">
                <a:solidFill>
                  <a:srgbClr val="15201A"/>
                </a:solidFill>
                <a:latin typeface="Source Serif 4" pitchFamily="34" charset="0"/>
                <a:ea typeface="Source Serif 4" pitchFamily="34" charset="-122"/>
                <a:cs typeface="Source Serif 4" pitchFamily="34" charset="-120"/>
              </a:rPr>
              <a:t>Survey</a:t>
            </a:r>
            <a:endParaRPr lang="en-US" sz="1800" dirty="0"/>
          </a:p>
        </p:txBody>
      </p:sp>
      <p:sp>
        <p:nvSpPr>
          <p:cNvPr id="33" name="Text 31"/>
          <p:cNvSpPr txBox="1"/>
          <p:nvPr/>
        </p:nvSpPr>
        <p:spPr>
          <a:xfrm>
            <a:off x="1828800" y="4626864"/>
            <a:ext cx="3337560" cy="493776"/>
          </a:xfrm>
          <a:prstGeom prst="rect">
            <a:avLst/>
          </a:prstGeom>
          <a:noFill/>
          <a:ln/>
        </p:spPr>
        <p:txBody>
          <a:bodyPr wrap="square" lIns="0" tIns="0" rIns="0" bIns="0" rtlCol="0" anchor="ctr"/>
          <a:lstStyle/>
          <a:p>
            <a:pPr indent="0" marL="0">
              <a:buNone/>
            </a:pPr>
            <a:r>
              <a:rPr lang="en-US" sz="1250" dirty="0">
                <a:solidFill>
                  <a:srgbClr val="3A453E"/>
                </a:solidFill>
                <a:latin typeface="Source Sans 3" pitchFamily="34" charset="0"/>
                <a:ea typeface="Source Sans 3" pitchFamily="34" charset="-122"/>
                <a:cs typeface="Source Sans 3" pitchFamily="34" charset="-120"/>
              </a:rPr>
              <a:t>Two-question anonymous survey at the shelves</a:t>
            </a:r>
            <a:endParaRPr lang="en-US" sz="1250" dirty="0"/>
          </a:p>
        </p:txBody>
      </p:sp>
      <p:sp>
        <p:nvSpPr>
          <p:cNvPr id="34" name="Shape 32"/>
          <p:cNvSpPr/>
          <p:nvPr/>
        </p:nvSpPr>
        <p:spPr>
          <a:xfrm>
            <a:off x="10590165" y="4764024"/>
            <a:ext cx="435005" cy="219456"/>
          </a:xfrm>
          <a:prstGeom prst="rect">
            <a:avLst/>
          </a:prstGeom>
          <a:solidFill>
            <a:srgbClr val="2E5F7A"/>
          </a:solidFill>
          <a:ln w="12700">
            <a:solidFill>
              <a:srgbClr val="2E5F7A"/>
            </a:solidFill>
            <a:prstDash val="solid"/>
          </a:ln>
        </p:spPr>
      </p:sp>
      <p:sp>
        <p:nvSpPr>
          <p:cNvPr id="35" name="Shape 33"/>
          <p:cNvSpPr/>
          <p:nvPr/>
        </p:nvSpPr>
        <p:spPr>
          <a:xfrm>
            <a:off x="685800" y="5175504"/>
            <a:ext cx="10820095" cy="0"/>
          </a:xfrm>
          <a:prstGeom prst="line">
            <a:avLst/>
          </a:prstGeom>
          <a:noFill/>
          <a:ln w="9525">
            <a:solidFill>
              <a:srgbClr val="D9D4C7"/>
            </a:solidFill>
            <a:prstDash val="solid"/>
          </a:ln>
        </p:spPr>
      </p:sp>
      <p:sp>
        <p:nvSpPr>
          <p:cNvPr id="36" name="Text 34"/>
          <p:cNvSpPr txBox="1"/>
          <p:nvPr/>
        </p:nvSpPr>
        <p:spPr>
          <a:xfrm>
            <a:off x="685800" y="5230368"/>
            <a:ext cx="1097280" cy="493776"/>
          </a:xfrm>
          <a:prstGeom prst="rect">
            <a:avLst/>
          </a:prstGeom>
          <a:noFill/>
          <a:ln/>
        </p:spPr>
        <p:txBody>
          <a:bodyPr wrap="square" lIns="0" tIns="0" rIns="0" bIns="0" rtlCol="0" anchor="ctr"/>
          <a:lstStyle/>
          <a:p>
            <a:pPr indent="0" marL="0">
              <a:buNone/>
            </a:pPr>
            <a:r>
              <a:rPr lang="en-US" sz="1800" dirty="0">
                <a:solidFill>
                  <a:srgbClr val="15201A"/>
                </a:solidFill>
                <a:latin typeface="Source Serif 4" pitchFamily="34" charset="0"/>
                <a:ea typeface="Source Serif 4" pitchFamily="34" charset="-122"/>
                <a:cs typeface="Source Serif 4" pitchFamily="34" charset="-120"/>
              </a:rPr>
              <a:t>Decide</a:t>
            </a:r>
            <a:endParaRPr lang="en-US" sz="1800" dirty="0"/>
          </a:p>
        </p:txBody>
      </p:sp>
      <p:sp>
        <p:nvSpPr>
          <p:cNvPr id="37" name="Text 35"/>
          <p:cNvSpPr txBox="1"/>
          <p:nvPr/>
        </p:nvSpPr>
        <p:spPr>
          <a:xfrm>
            <a:off x="1828800" y="5230368"/>
            <a:ext cx="3337560" cy="493776"/>
          </a:xfrm>
          <a:prstGeom prst="rect">
            <a:avLst/>
          </a:prstGeom>
          <a:noFill/>
          <a:ln/>
        </p:spPr>
        <p:txBody>
          <a:bodyPr wrap="square" lIns="0" tIns="0" rIns="0" bIns="0" rtlCol="0" anchor="ctr"/>
          <a:lstStyle/>
          <a:p>
            <a:pPr indent="0" marL="0">
              <a:buNone/>
            </a:pPr>
            <a:r>
              <a:rPr lang="en-US" sz="1250" dirty="0">
                <a:solidFill>
                  <a:srgbClr val="3A453E"/>
                </a:solidFill>
                <a:latin typeface="Source Sans 3" pitchFamily="34" charset="0"/>
                <a:ea typeface="Source Sans 3" pitchFamily="34" charset="-122"/>
                <a:cs typeface="Source Sans 3" pitchFamily="34" charset="-120"/>
              </a:rPr>
              <a:t>Continue if four of five targets are met; final report</a:t>
            </a:r>
            <a:endParaRPr lang="en-US" sz="1250" dirty="0"/>
          </a:p>
        </p:txBody>
      </p:sp>
      <p:sp>
        <p:nvSpPr>
          <p:cNvPr id="38" name="Shape 36"/>
          <p:cNvSpPr/>
          <p:nvPr/>
        </p:nvSpPr>
        <p:spPr>
          <a:xfrm>
            <a:off x="11070890" y="5367528"/>
            <a:ext cx="435005" cy="219456"/>
          </a:xfrm>
          <a:prstGeom prst="rect">
            <a:avLst/>
          </a:prstGeom>
          <a:solidFill>
            <a:srgbClr val="A97A2F"/>
          </a:solidFill>
          <a:ln w="12700">
            <a:solidFill>
              <a:srgbClr val="A97A2F"/>
            </a:solidFill>
            <a:prstDash val="solid"/>
          </a:ln>
        </p:spPr>
      </p:sp>
      <p:sp>
        <p:nvSpPr>
          <p:cNvPr id="39" name="Shape 37"/>
          <p:cNvSpPr/>
          <p:nvPr/>
        </p:nvSpPr>
        <p:spPr>
          <a:xfrm>
            <a:off x="685800" y="5779008"/>
            <a:ext cx="10820095" cy="0"/>
          </a:xfrm>
          <a:prstGeom prst="line">
            <a:avLst/>
          </a:prstGeom>
          <a:noFill/>
          <a:ln w="9525">
            <a:solidFill>
              <a:srgbClr val="D9D4C7"/>
            </a:solidFill>
            <a:prstDash val="solid"/>
          </a:ln>
        </p:spPr>
      </p:sp>
      <p:sp>
        <p:nvSpPr>
          <p:cNvPr id="40" name="Text 38"/>
          <p:cNvSpPr txBox="1"/>
          <p:nvPr/>
        </p:nvSpPr>
        <p:spPr>
          <a:xfrm>
            <a:off x="685800" y="5943600"/>
            <a:ext cx="10820095" cy="274320"/>
          </a:xfrm>
          <a:prstGeom prst="rect">
            <a:avLst/>
          </a:prstGeom>
          <a:noFill/>
          <a:ln/>
        </p:spPr>
        <p:txBody>
          <a:bodyPr wrap="square" lIns="0" tIns="0" rIns="0" bIns="0" rtlCol="0" anchor="b"/>
          <a:lstStyle/>
          <a:p>
            <a:pPr indent="0" marL="0">
              <a:buNone/>
            </a:pPr>
            <a:r>
              <a:rPr lang="en-US" sz="1000" dirty="0">
                <a:solidFill>
                  <a:srgbClr val="6B746D"/>
                </a:solidFill>
                <a:latin typeface="Source Sans 3" pitchFamily="34" charset="0"/>
                <a:ea typeface="Source Sans 3" pitchFamily="34" charset="-122"/>
                <a:cs typeface="Source Sans 3" pitchFamily="34" charset="-120"/>
              </a:rPr>
              <a:t>USC Grants decide in about 20 business days and fund projects run between Oct 30 and Apr 4. Winter term starts in January 2027.</a:t>
            </a:r>
            <a:endParaRPr lang="en-US" sz="10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rgbClr val="6B746D"/>
                </a:solidFill>
                <a:latin typeface="Source Sans 3"/>
                <a:ea typeface="Source Sans 3"/>
                <a:cs typeface="Source Sans 3"/>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7"/>
          <p:cNvSpPr/>
          <p:nvPr>
            <p:ph idx="107" type="title" hasCustomPrompt="1"/>
          </p:nvPr>
        </p:nvSpPr>
        <p:spPr>
          <a:xfrm>
            <a:off x="685800" y="502920"/>
            <a:ext cx="9692640" cy="1143000"/>
          </a:xfrm>
          <a:prstGeom prst="rect">
            <a:avLst/>
          </a:prstGeom>
          <a:noFill/>
          <a:ln/>
        </p:spPr>
        <p:txBody>
          <a:bodyPr wrap="square" lIns="0" tIns="0" rIns="0" bIns="0" rtlCol="0" anchor="t"/>
          <a:lstStyle/>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Each of the six main risks has</a:t>
            </a:r>
            <a:endParaRPr lang="en-US" sz="3000" dirty="0"/>
          </a:p>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a control built into the plan</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85800" y="1783080"/>
          <a:ext cx="10820095" cy="914400"/>
        </p:xfrm>
        <a:graphic>
          <a:graphicData uri="http://schemas.openxmlformats.org/drawingml/2006/table">
            <a:tbl>
              <a:tblPr/>
              <a:tblGrid>
                <a:gridCol w="2743200"/>
                <a:gridCol w="8076895"/>
              </a:tblGrid>
              <a:tr h="384048">
                <a:tc>
                  <a:txBody>
                    <a:bodyPr/>
                    <a:lstStyle/>
                    <a:p>
                      <a:pPr indent="0" marL="0">
                        <a:buNone/>
                      </a:pPr>
                      <a:r>
                        <a:rPr lang="en-US" sz="1300" b="1" dirty="0">
                          <a:solidFill>
                            <a:srgbClr val="15201A"/>
                          </a:solidFill>
                          <a:latin typeface="Source Sans 3" pitchFamily="34" charset="0"/>
                          <a:ea typeface="Source Sans 3" pitchFamily="34" charset="-122"/>
                          <a:cs typeface="Source Sans 3" pitchFamily="34" charset="-120"/>
                        </a:rPr>
                        <a:t>Risk</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15875" cap="flat" cmpd="sng" algn="ctr">
                      <a:solidFill>
                        <a:srgbClr val="15201A"/>
                      </a:solidFill>
                      <a:prstDash val="solid"/>
                      <a:round/>
                      <a:headEnd type="none" w="med" len="med"/>
                      <a:tailEnd type="none" w="med" len="med"/>
                    </a:lnB>
                    <a:solidFill>
                      <a:srgbClr val="F7F5EF"/>
                    </a:solidFill>
                  </a:tcPr>
                </a:tc>
                <a:tc>
                  <a:txBody>
                    <a:bodyPr/>
                    <a:lstStyle/>
                    <a:p>
                      <a:pPr indent="0" marL="0">
                        <a:buNone/>
                      </a:pPr>
                      <a:r>
                        <a:rPr lang="en-US" sz="1300" b="1" dirty="0">
                          <a:solidFill>
                            <a:srgbClr val="15201A"/>
                          </a:solidFill>
                          <a:latin typeface="Source Sans 3" pitchFamily="34" charset="0"/>
                          <a:ea typeface="Source Sans 3" pitchFamily="34" charset="-122"/>
                          <a:cs typeface="Source Sans 3" pitchFamily="34" charset="-120"/>
                        </a:rPr>
                        <a:t>Control</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15875" cap="flat" cmpd="sng" algn="ctr">
                      <a:solidFill>
                        <a:srgbClr val="15201A"/>
                      </a:solidFill>
                      <a:prstDash val="solid"/>
                      <a:round/>
                      <a:headEnd type="none" w="med" len="med"/>
                      <a:tailEnd type="none" w="med" len="med"/>
                    </a:lnB>
                    <a:solidFill>
                      <a:srgbClr val="F7F5EF"/>
                    </a:solidFill>
                  </a:tcPr>
                </a:tc>
              </a:tr>
              <a:tr h="713232">
                <a:tc>
                  <a:txBody>
                    <a:bodyPr/>
                    <a:lstStyle/>
                    <a:p>
                      <a:pPr indent="0" marL="0">
                        <a:buNone/>
                      </a:pPr>
                      <a:r>
                        <a:rPr lang="en-US" sz="1400" b="1" dirty="0">
                          <a:solidFill>
                            <a:srgbClr val="15201A"/>
                          </a:solidFill>
                          <a:latin typeface="Source Sans 3" pitchFamily="34" charset="0"/>
                          <a:ea typeface="Source Sans 3" pitchFamily="34" charset="-122"/>
                          <a:cs typeface="Source Sans 3" pitchFamily="34" charset="-120"/>
                        </a:rPr>
                        <a:t>Food safety</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A453E"/>
                          </a:solidFill>
                          <a:latin typeface="Source Sans 3" pitchFamily="34" charset="0"/>
                          <a:ea typeface="Source Sans 3" pitchFamily="34" charset="-122"/>
                          <a:cs typeface="Source Sans 3" pitchFamily="34" charset="-120"/>
                        </a:rPr>
                        <a:t>Shelves hold sealed, shelf-stable items only. Perishables go only through Drops, picked up within two hours; chilled items stay in the partner’s fridge. Ontario’s Donation of Food Act, 1994 protects good-faith donors.</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502920">
                <a:tc>
                  <a:txBody>
                    <a:bodyPr/>
                    <a:lstStyle/>
                    <a:p>
                      <a:pPr indent="0" marL="0">
                        <a:buNone/>
                      </a:pPr>
                      <a:r>
                        <a:rPr lang="en-US" sz="1400" b="1" dirty="0">
                          <a:solidFill>
                            <a:srgbClr val="15201A"/>
                          </a:solidFill>
                          <a:latin typeface="Source Sans 3" pitchFamily="34" charset="0"/>
                          <a:ea typeface="Source Sans 3" pitchFamily="34" charset="-122"/>
                          <a:cs typeface="Source Sans 3" pitchFamily="34" charset="-120"/>
                        </a:rPr>
                        <a:t>One person empties a shelf</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A453E"/>
                          </a:solidFill>
                          <a:latin typeface="Source Sans 3" pitchFamily="34" charset="0"/>
                          <a:ea typeface="Source Sans 3" pitchFamily="34" charset="-122"/>
                          <a:cs typeface="Source Sans 3" pitchFamily="34" charset="-120"/>
                        </a:rPr>
                        <a:t>A posted guide asks for enough for today. Live counts show rushes, so stock moves to where demand is.</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502920">
                <a:tc>
                  <a:txBody>
                    <a:bodyPr/>
                    <a:lstStyle/>
                    <a:p>
                      <a:pPr indent="0" marL="0">
                        <a:buNone/>
                      </a:pPr>
                      <a:r>
                        <a:rPr lang="en-US" sz="1400" b="1" dirty="0">
                          <a:solidFill>
                            <a:srgbClr val="15201A"/>
                          </a:solidFill>
                          <a:latin typeface="Source Sans 3" pitchFamily="34" charset="0"/>
                          <a:ea typeface="Source Sans 3" pitchFamily="34" charset="-122"/>
                          <a:cs typeface="Source Sans 3" pitchFamily="34" charset="-120"/>
                        </a:rPr>
                        <a:t>Volunteers drop off</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A453E"/>
                          </a:solidFill>
                          <a:latin typeface="Source Sans 3" pitchFamily="34" charset="0"/>
                          <a:ea typeface="Source Sans 3" pitchFamily="34" charset="-122"/>
                          <a:cs typeface="Source Sans 3" pitchFamily="34" charset="-120"/>
                        </a:rPr>
                        <a:t>Check-ins take 15 minutes. Food Support staff cover gaps; exam weeks get lighter schedules.</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566928">
                <a:tc>
                  <a:txBody>
                    <a:bodyPr/>
                    <a:lstStyle/>
                    <a:p>
                      <a:pPr indent="0" marL="0">
                        <a:buNone/>
                      </a:pPr>
                      <a:r>
                        <a:rPr lang="en-US" sz="1400" b="1" dirty="0">
                          <a:solidFill>
                            <a:srgbClr val="15201A"/>
                          </a:solidFill>
                          <a:latin typeface="Source Sans 3" pitchFamily="34" charset="0"/>
                          <a:ea typeface="Source Sans 3" pitchFamily="34" charset="-122"/>
                          <a:cs typeface="Source Sans 3" pitchFamily="34" charset="-120"/>
                        </a:rPr>
                        <a:t>No second site by Dec 15</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A453E"/>
                          </a:solidFill>
                          <a:latin typeface="Source Sans 3" pitchFamily="34" charset="0"/>
                          <a:ea typeface="Source Sans 3" pitchFamily="34" charset="-122"/>
                          <a:cs typeface="Source Sans 3" pitchFamily="34" charset="-120"/>
                        </a:rPr>
                        <a:t>Run at the UCC alone and halve the items target. Weldon needs Western Libraries’ approval; a second UCC spot needs only the USC.</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502920">
                <a:tc>
                  <a:txBody>
                    <a:bodyPr/>
                    <a:lstStyle/>
                    <a:p>
                      <a:pPr indent="0" marL="0">
                        <a:buNone/>
                      </a:pPr>
                      <a:r>
                        <a:rPr lang="en-US" sz="1400" b="1" dirty="0">
                          <a:solidFill>
                            <a:srgbClr val="15201A"/>
                          </a:solidFill>
                          <a:latin typeface="Source Sans 3" pitchFamily="34" charset="0"/>
                          <a:ea typeface="Source Sans 3" pitchFamily="34" charset="-122"/>
                          <a:cs typeface="Source Sans 3" pitchFamily="34" charset="-120"/>
                        </a:rPr>
                        <a:t>Grant cut or partly funded</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A453E"/>
                          </a:solidFill>
                          <a:latin typeface="Source Sans 3" pitchFamily="34" charset="0"/>
                          <a:ea typeface="Source Sans 3" pitchFamily="34" charset="-122"/>
                          <a:cs typeface="Source Sans 3" pitchFamily="34" charset="-120"/>
                        </a:rPr>
                        <a:t>The committee can fund part of a request. With half, we run one site and keep the same rules and reporting.</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502920">
                <a:tc>
                  <a:txBody>
                    <a:bodyPr/>
                    <a:lstStyle/>
                    <a:p>
                      <a:pPr indent="0" marL="0">
                        <a:buNone/>
                      </a:pPr>
                      <a:r>
                        <a:rPr lang="en-US" sz="1400" b="1" dirty="0">
                          <a:solidFill>
                            <a:srgbClr val="15201A"/>
                          </a:solidFill>
                          <a:latin typeface="Source Sans 3" pitchFamily="34" charset="0"/>
                          <a:ea typeface="Source Sans 3" pitchFamily="34" charset="-122"/>
                          <a:cs typeface="Source Sans 3" pitchFamily="34" charset="-120"/>
                        </a:rPr>
                        <a:t>Privacy and stigma</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A453E"/>
                          </a:solidFill>
                          <a:latin typeface="Source Sans 3" pitchFamily="34" charset="0"/>
                          <a:ea typeface="Source Sans 3" pitchFamily="34" charset="-122"/>
                          <a:cs typeface="Source Sans 3" pitchFamily="34" charset="-120"/>
                        </a:rPr>
                        <a:t>No accounts, names or student numbers. Pickup codes only. Shelves sit in busy, neutral spots.</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bl>
          </a:graphicData>
        </a:graphic>
      </p:graphicFrame>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rgbClr val="6B746D"/>
                </a:solidFill>
                <a:latin typeface="Source Sans 3"/>
                <a:ea typeface="Source Sans 3"/>
                <a:cs typeface="Source Sans 3"/>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7"/>
          <p:cNvSpPr/>
          <p:nvPr>
            <p:ph idx="107" type="title" hasCustomPrompt="1"/>
          </p:nvPr>
        </p:nvSpPr>
        <p:spPr>
          <a:xfrm>
            <a:off x="685800" y="502920"/>
            <a:ext cx="9692640" cy="1143000"/>
          </a:xfrm>
          <a:prstGeom prst="rect">
            <a:avLst/>
          </a:prstGeom>
          <a:noFill/>
          <a:ln/>
        </p:spPr>
        <p:txBody>
          <a:bodyPr wrap="square" lIns="0" tIns="0" rIns="0" bIns="0" rtlCol="0" anchor="t"/>
          <a:lstStyle/>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SWOT: strongest on cost and</a:t>
            </a:r>
            <a:endParaRPr lang="en-US" sz="3000" dirty="0"/>
          </a:p>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accountability, weakest on proof of use</a:t>
            </a:r>
            <a:endParaRPr lang="en-US" sz="3000" dirty="0"/>
          </a:p>
        </p:txBody>
      </p:sp>
      <p:sp>
        <p:nvSpPr>
          <p:cNvPr id="3" name="Shape 1"/>
          <p:cNvSpPr/>
          <p:nvPr/>
        </p:nvSpPr>
        <p:spPr>
          <a:xfrm>
            <a:off x="685800" y="1783080"/>
            <a:ext cx="5272888" cy="1965960"/>
          </a:xfrm>
          <a:prstGeom prst="rect">
            <a:avLst/>
          </a:prstGeom>
          <a:solidFill>
            <a:srgbClr val="FFFFFF"/>
          </a:solidFill>
          <a:ln w="9525">
            <a:solidFill>
              <a:srgbClr val="D9D4C7"/>
            </a:solidFill>
            <a:prstDash val="solid"/>
          </a:ln>
        </p:spPr>
      </p:sp>
      <p:sp>
        <p:nvSpPr>
          <p:cNvPr id="4" name="Text 2"/>
          <p:cNvSpPr txBox="1"/>
          <p:nvPr/>
        </p:nvSpPr>
        <p:spPr>
          <a:xfrm>
            <a:off x="978408" y="1984248"/>
            <a:ext cx="4687672" cy="411480"/>
          </a:xfrm>
          <a:prstGeom prst="rect">
            <a:avLst/>
          </a:prstGeom>
          <a:noFill/>
          <a:ln/>
        </p:spPr>
        <p:txBody>
          <a:bodyPr wrap="square" lIns="0" tIns="0" rIns="0" bIns="0" rtlCol="0" anchor="t"/>
          <a:lstStyle/>
          <a:p>
            <a:pPr indent="0" marL="0">
              <a:buNone/>
            </a:pPr>
            <a:r>
              <a:rPr lang="en-US" sz="2200" dirty="0">
                <a:solidFill>
                  <a:srgbClr val="1D5E40"/>
                </a:solidFill>
                <a:latin typeface="Source Serif 4" pitchFamily="34" charset="0"/>
                <a:ea typeface="Source Serif 4" pitchFamily="34" charset="-122"/>
                <a:cs typeface="Source Serif 4" pitchFamily="34" charset="-120"/>
              </a:rPr>
              <a:t>Strengths</a:t>
            </a:r>
            <a:endParaRPr lang="en-US" sz="2200" dirty="0"/>
          </a:p>
        </p:txBody>
      </p:sp>
      <p:sp>
        <p:nvSpPr>
          <p:cNvPr id="5" name="Text 3"/>
          <p:cNvSpPr txBox="1"/>
          <p:nvPr/>
        </p:nvSpPr>
        <p:spPr>
          <a:xfrm>
            <a:off x="978408" y="2496312"/>
            <a:ext cx="4687672" cy="1188720"/>
          </a:xfrm>
          <a:prstGeom prst="rect">
            <a:avLst/>
          </a:prstGeom>
          <a:noFill/>
          <a:ln/>
        </p:spPr>
        <p:txBody>
          <a:bodyPr wrap="square" lIns="0" tIns="0" rIns="0" bIns="0" rtlCol="0" anchor="t"/>
          <a:lstStyle/>
          <a:p>
            <a:pPr marL="190500" indent="-190500">
              <a:spcAft>
                <a:spcPts val="300"/>
              </a:spcAft>
              <a:buSzPct val="100000"/>
              <a:buChar char="•"/>
            </a:pPr>
            <a:r>
              <a:rPr lang="en-US" sz="1550" dirty="0">
                <a:solidFill>
                  <a:srgbClr val="15201A"/>
                </a:solidFill>
                <a:latin typeface="Source Sans 3" pitchFamily="34" charset="0"/>
                <a:ea typeface="Source Sans 3" pitchFamily="34" charset="-122"/>
                <a:cs typeface="Source Sans 3" pitchFamily="34" charset="-120"/>
              </a:rPr>
              <a:t>Built and working today</a:t>
            </a:r>
            <a:endParaRPr lang="en-US" sz="1550" dirty="0"/>
          </a:p>
          <a:p>
            <a:pPr marL="190500" indent="-190500">
              <a:spcAft>
                <a:spcPts val="300"/>
              </a:spcAft>
              <a:buSzPct val="100000"/>
              <a:buChar char="•"/>
            </a:pPr>
            <a:r>
              <a:rPr lang="en-US" sz="1550" dirty="0">
                <a:solidFill>
                  <a:srgbClr val="15201A"/>
                </a:solidFill>
                <a:latin typeface="Source Sans 3" pitchFamily="34" charset="0"/>
                <a:ea typeface="Source Sans 3" pitchFamily="34" charset="-122"/>
                <a:cs typeface="Source Sans 3" pitchFamily="34" charset="-120"/>
              </a:rPr>
              <a:t>Anonymous, walk-up access</a:t>
            </a:r>
            <a:endParaRPr lang="en-US" sz="1550" dirty="0"/>
          </a:p>
          <a:p>
            <a:pPr marL="190500" indent="-190500">
              <a:spcAft>
                <a:spcPts val="300"/>
              </a:spcAft>
              <a:buSzPct val="100000"/>
              <a:buChar char="•"/>
            </a:pPr>
            <a:r>
              <a:rPr lang="en-US" sz="1550" dirty="0">
                <a:solidFill>
                  <a:srgbClr val="15201A"/>
                </a:solidFill>
                <a:latin typeface="Source Sans 3" pitchFamily="34" charset="0"/>
                <a:ea typeface="Source Sans 3" pitchFamily="34" charset="-122"/>
                <a:cs typeface="Source Sans 3" pitchFamily="34" charset="-120"/>
              </a:rPr>
              <a:t>Measures itself at every check-in</a:t>
            </a:r>
            <a:endParaRPr lang="en-US" sz="1550" dirty="0"/>
          </a:p>
          <a:p>
            <a:pPr marL="190500" indent="-190500">
              <a:spcAft>
                <a:spcPts val="300"/>
              </a:spcAft>
              <a:buSzPct val="100000"/>
              <a:buChar char="•"/>
            </a:pPr>
            <a:r>
              <a:rPr lang="en-US" sz="1550" dirty="0">
                <a:solidFill>
                  <a:srgbClr val="15201A"/>
                </a:solidFill>
                <a:latin typeface="Source Sans 3" pitchFamily="34" charset="0"/>
                <a:ea typeface="Source Sans 3" pitchFamily="34" charset="-122"/>
                <a:cs typeface="Source Sans 3" pitchFamily="34" charset="-120"/>
              </a:rPr>
              <a:t>$2,500 for 11 weeks</a:t>
            </a:r>
            <a:endParaRPr lang="en-US" sz="1550" dirty="0"/>
          </a:p>
        </p:txBody>
      </p:sp>
      <p:sp>
        <p:nvSpPr>
          <p:cNvPr id="6" name="Shape 4"/>
          <p:cNvSpPr/>
          <p:nvPr/>
        </p:nvSpPr>
        <p:spPr>
          <a:xfrm>
            <a:off x="6233008" y="1783080"/>
            <a:ext cx="5272888" cy="1965960"/>
          </a:xfrm>
          <a:prstGeom prst="rect">
            <a:avLst/>
          </a:prstGeom>
          <a:solidFill>
            <a:srgbClr val="EEEADF"/>
          </a:solidFill>
          <a:ln w="9525">
            <a:solidFill>
              <a:srgbClr val="D9D4C7"/>
            </a:solidFill>
            <a:prstDash val="solid"/>
          </a:ln>
        </p:spPr>
      </p:sp>
      <p:sp>
        <p:nvSpPr>
          <p:cNvPr id="7" name="Text 5"/>
          <p:cNvSpPr txBox="1"/>
          <p:nvPr/>
        </p:nvSpPr>
        <p:spPr>
          <a:xfrm>
            <a:off x="6525616" y="1984248"/>
            <a:ext cx="4687672" cy="411480"/>
          </a:xfrm>
          <a:prstGeom prst="rect">
            <a:avLst/>
          </a:prstGeom>
          <a:noFill/>
          <a:ln/>
        </p:spPr>
        <p:txBody>
          <a:bodyPr wrap="square" lIns="0" tIns="0" rIns="0" bIns="0" rtlCol="0" anchor="t"/>
          <a:lstStyle/>
          <a:p>
            <a:pPr indent="0" marL="0">
              <a:buNone/>
            </a:pPr>
            <a:r>
              <a:rPr lang="en-US" sz="2200" dirty="0">
                <a:solidFill>
                  <a:srgbClr val="1D5E40"/>
                </a:solidFill>
                <a:latin typeface="Source Serif 4" pitchFamily="34" charset="0"/>
                <a:ea typeface="Source Serif 4" pitchFamily="34" charset="-122"/>
                <a:cs typeface="Source Serif 4" pitchFamily="34" charset="-120"/>
              </a:rPr>
              <a:t>Weaknesses</a:t>
            </a:r>
            <a:endParaRPr lang="en-US" sz="2200" dirty="0"/>
          </a:p>
        </p:txBody>
      </p:sp>
      <p:sp>
        <p:nvSpPr>
          <p:cNvPr id="8" name="Text 6"/>
          <p:cNvSpPr txBox="1"/>
          <p:nvPr/>
        </p:nvSpPr>
        <p:spPr>
          <a:xfrm>
            <a:off x="6525616" y="2496312"/>
            <a:ext cx="4687672" cy="1188720"/>
          </a:xfrm>
          <a:prstGeom prst="rect">
            <a:avLst/>
          </a:prstGeom>
          <a:noFill/>
          <a:ln/>
        </p:spPr>
        <p:txBody>
          <a:bodyPr wrap="square" lIns="0" tIns="0" rIns="0" bIns="0" rtlCol="0" anchor="t"/>
          <a:lstStyle/>
          <a:p>
            <a:pPr marL="190500" indent="-190500">
              <a:spcAft>
                <a:spcPts val="300"/>
              </a:spcAft>
              <a:buSzPct val="100000"/>
              <a:buChar char="•"/>
            </a:pPr>
            <a:r>
              <a:rPr lang="en-US" sz="1550" dirty="0">
                <a:solidFill>
                  <a:srgbClr val="15201A"/>
                </a:solidFill>
                <a:latin typeface="Source Sans 3" pitchFamily="34" charset="0"/>
                <a:ea typeface="Source Sans 3" pitchFamily="34" charset="-122"/>
                <a:cs typeface="Source Sans 3" pitchFamily="34" charset="-120"/>
              </a:rPr>
              <a:t>Shelf-stable food only</a:t>
            </a:r>
            <a:endParaRPr lang="en-US" sz="1550" dirty="0"/>
          </a:p>
          <a:p>
            <a:pPr marL="190500" indent="-190500">
              <a:spcAft>
                <a:spcPts val="300"/>
              </a:spcAft>
              <a:buSzPct val="100000"/>
              <a:buChar char="•"/>
            </a:pPr>
            <a:r>
              <a:rPr lang="en-US" sz="1550" dirty="0">
                <a:solidFill>
                  <a:srgbClr val="15201A"/>
                </a:solidFill>
                <a:latin typeface="Source Sans 3" pitchFamily="34" charset="0"/>
                <a:ea typeface="Source Sans 3" pitchFamily="34" charset="-122"/>
                <a:cs typeface="Source Sans 3" pitchFamily="34" charset="-120"/>
              </a:rPr>
              <a:t>Depends on volunteers to restock</a:t>
            </a:r>
            <a:endParaRPr lang="en-US" sz="1550" dirty="0"/>
          </a:p>
          <a:p>
            <a:pPr marL="190500" indent="-190500">
              <a:spcAft>
                <a:spcPts val="300"/>
              </a:spcAft>
              <a:buSzPct val="100000"/>
              <a:buChar char="•"/>
            </a:pPr>
            <a:r>
              <a:rPr lang="en-US" sz="1550" dirty="0">
                <a:solidFill>
                  <a:srgbClr val="15201A"/>
                </a:solidFill>
                <a:latin typeface="Source Sans 3" pitchFamily="34" charset="0"/>
                <a:ea typeface="Source Sans 3" pitchFamily="34" charset="-122"/>
                <a:cs typeface="Source Sans 3" pitchFamily="34" charset="-120"/>
              </a:rPr>
              <a:t>No per-person limit</a:t>
            </a:r>
            <a:endParaRPr lang="en-US" sz="1550" dirty="0"/>
          </a:p>
          <a:p>
            <a:pPr marL="190500" indent="-190500">
              <a:spcAft>
                <a:spcPts val="300"/>
              </a:spcAft>
              <a:buSzPct val="100000"/>
              <a:buChar char="•"/>
            </a:pPr>
            <a:r>
              <a:rPr lang="en-US" sz="1550" dirty="0">
                <a:solidFill>
                  <a:srgbClr val="15201A"/>
                </a:solidFill>
                <a:latin typeface="Source Sans 3" pitchFamily="34" charset="0"/>
                <a:ea typeface="Source Sans 3" pitchFamily="34" charset="-122"/>
                <a:cs typeface="Source Sans 3" pitchFamily="34" charset="-120"/>
              </a:rPr>
              <a:t>No usage data of our own yet</a:t>
            </a:r>
            <a:endParaRPr lang="en-US" sz="1550" dirty="0"/>
          </a:p>
        </p:txBody>
      </p:sp>
      <p:sp>
        <p:nvSpPr>
          <p:cNvPr id="9" name="Shape 7"/>
          <p:cNvSpPr/>
          <p:nvPr/>
        </p:nvSpPr>
        <p:spPr>
          <a:xfrm>
            <a:off x="685800" y="3977640"/>
            <a:ext cx="5272888" cy="1965960"/>
          </a:xfrm>
          <a:prstGeom prst="rect">
            <a:avLst/>
          </a:prstGeom>
          <a:solidFill>
            <a:srgbClr val="FFFFFF"/>
          </a:solidFill>
          <a:ln w="9525">
            <a:solidFill>
              <a:srgbClr val="D9D4C7"/>
            </a:solidFill>
            <a:prstDash val="solid"/>
          </a:ln>
        </p:spPr>
      </p:sp>
      <p:sp>
        <p:nvSpPr>
          <p:cNvPr id="10" name="Text 8"/>
          <p:cNvSpPr txBox="1"/>
          <p:nvPr/>
        </p:nvSpPr>
        <p:spPr>
          <a:xfrm>
            <a:off x="978408" y="4178808"/>
            <a:ext cx="4687672" cy="411480"/>
          </a:xfrm>
          <a:prstGeom prst="rect">
            <a:avLst/>
          </a:prstGeom>
          <a:noFill/>
          <a:ln/>
        </p:spPr>
        <p:txBody>
          <a:bodyPr wrap="square" lIns="0" tIns="0" rIns="0" bIns="0" rtlCol="0" anchor="t"/>
          <a:lstStyle/>
          <a:p>
            <a:pPr indent="0" marL="0">
              <a:buNone/>
            </a:pPr>
            <a:r>
              <a:rPr lang="en-US" sz="2200" dirty="0">
                <a:solidFill>
                  <a:srgbClr val="1D5E40"/>
                </a:solidFill>
                <a:latin typeface="Source Serif 4" pitchFamily="34" charset="0"/>
                <a:ea typeface="Source Serif 4" pitchFamily="34" charset="-122"/>
                <a:cs typeface="Source Serif 4" pitchFamily="34" charset="-120"/>
              </a:rPr>
              <a:t>Opportunities</a:t>
            </a:r>
            <a:endParaRPr lang="en-US" sz="2200" dirty="0"/>
          </a:p>
        </p:txBody>
      </p:sp>
      <p:sp>
        <p:nvSpPr>
          <p:cNvPr id="11" name="Text 9"/>
          <p:cNvSpPr txBox="1"/>
          <p:nvPr/>
        </p:nvSpPr>
        <p:spPr>
          <a:xfrm>
            <a:off x="978408" y="4690872"/>
            <a:ext cx="4687672" cy="1188720"/>
          </a:xfrm>
          <a:prstGeom prst="rect">
            <a:avLst/>
          </a:prstGeom>
          <a:noFill/>
          <a:ln/>
        </p:spPr>
        <p:txBody>
          <a:bodyPr wrap="square" lIns="0" tIns="0" rIns="0" bIns="0" rtlCol="0" anchor="t"/>
          <a:lstStyle/>
          <a:p>
            <a:pPr marL="190500" indent="-190500">
              <a:spcAft>
                <a:spcPts val="300"/>
              </a:spcAft>
              <a:buSzPct val="100000"/>
              <a:buChar char="•"/>
            </a:pPr>
            <a:r>
              <a:rPr lang="en-US" sz="1550" dirty="0">
                <a:solidFill>
                  <a:srgbClr val="15201A"/>
                </a:solidFill>
                <a:latin typeface="Source Sans 3" pitchFamily="34" charset="0"/>
                <a:ea typeface="Source Sans 3" pitchFamily="34" charset="-122"/>
                <a:cs typeface="Source Sans 3" pitchFamily="34" charset="-120"/>
              </a:rPr>
              <a:t>USC Grant Fund open until March</a:t>
            </a:r>
            <a:endParaRPr lang="en-US" sz="1550" dirty="0"/>
          </a:p>
          <a:p>
            <a:pPr marL="190500" indent="-190500">
              <a:spcAft>
                <a:spcPts val="300"/>
              </a:spcAft>
              <a:buSzPct val="100000"/>
              <a:buChar char="•"/>
            </a:pPr>
            <a:r>
              <a:rPr lang="en-US" sz="1550" dirty="0">
                <a:solidFill>
                  <a:srgbClr val="15201A"/>
                </a:solidFill>
                <a:latin typeface="Source Sans 3" pitchFamily="34" charset="0"/>
                <a:ea typeface="Source Sans 3" pitchFamily="34" charset="-122"/>
                <a:cs typeface="Source Sans 3" pitchFamily="34" charset="-120"/>
              </a:rPr>
              <a:t>FoodRescue.ca surplus for Food Support</a:t>
            </a:r>
            <a:endParaRPr lang="en-US" sz="1550" dirty="0"/>
          </a:p>
          <a:p>
            <a:pPr marL="190500" indent="-190500">
              <a:spcAft>
                <a:spcPts val="300"/>
              </a:spcAft>
              <a:buSzPct val="100000"/>
              <a:buChar char="•"/>
            </a:pPr>
            <a:r>
              <a:rPr lang="en-US" sz="1550" dirty="0">
                <a:solidFill>
                  <a:srgbClr val="15201A"/>
                </a:solidFill>
                <a:latin typeface="Source Sans 3" pitchFamily="34" charset="0"/>
                <a:ea typeface="Source Sans 3" pitchFamily="34" charset="-122"/>
                <a:cs typeface="Source Sans 3" pitchFamily="34" charset="-120"/>
              </a:rPr>
              <a:t>Event and catering leftovers</a:t>
            </a:r>
            <a:endParaRPr lang="en-US" sz="1550" dirty="0"/>
          </a:p>
          <a:p>
            <a:pPr marL="190500" indent="-190500">
              <a:spcAft>
                <a:spcPts val="300"/>
              </a:spcAft>
              <a:buSzPct val="100000"/>
              <a:buChar char="•"/>
            </a:pPr>
            <a:r>
              <a:rPr lang="en-US" sz="1550" dirty="0">
                <a:solidFill>
                  <a:srgbClr val="15201A"/>
                </a:solidFill>
                <a:latin typeface="Source Sans 3" pitchFamily="34" charset="0"/>
                <a:ea typeface="Source Sans 3" pitchFamily="34" charset="-122"/>
                <a:cs typeface="Source Sans 3" pitchFamily="34" charset="-120"/>
              </a:rPr>
              <a:t>Residences and affiliate colleges next</a:t>
            </a:r>
            <a:endParaRPr lang="en-US" sz="1550" dirty="0"/>
          </a:p>
        </p:txBody>
      </p:sp>
      <p:sp>
        <p:nvSpPr>
          <p:cNvPr id="12" name="Shape 10"/>
          <p:cNvSpPr/>
          <p:nvPr/>
        </p:nvSpPr>
        <p:spPr>
          <a:xfrm>
            <a:off x="6233008" y="3977640"/>
            <a:ext cx="5272888" cy="1965960"/>
          </a:xfrm>
          <a:prstGeom prst="rect">
            <a:avLst/>
          </a:prstGeom>
          <a:solidFill>
            <a:srgbClr val="EEEADF"/>
          </a:solidFill>
          <a:ln w="9525">
            <a:solidFill>
              <a:srgbClr val="D9D4C7"/>
            </a:solidFill>
            <a:prstDash val="solid"/>
          </a:ln>
        </p:spPr>
      </p:sp>
      <p:sp>
        <p:nvSpPr>
          <p:cNvPr id="13" name="Text 11"/>
          <p:cNvSpPr txBox="1"/>
          <p:nvPr/>
        </p:nvSpPr>
        <p:spPr>
          <a:xfrm>
            <a:off x="6525616" y="4178808"/>
            <a:ext cx="4687672" cy="411480"/>
          </a:xfrm>
          <a:prstGeom prst="rect">
            <a:avLst/>
          </a:prstGeom>
          <a:noFill/>
          <a:ln/>
        </p:spPr>
        <p:txBody>
          <a:bodyPr wrap="square" lIns="0" tIns="0" rIns="0" bIns="0" rtlCol="0" anchor="t"/>
          <a:lstStyle/>
          <a:p>
            <a:pPr indent="0" marL="0">
              <a:buNone/>
            </a:pPr>
            <a:r>
              <a:rPr lang="en-US" sz="2200" dirty="0">
                <a:solidFill>
                  <a:srgbClr val="1D5E40"/>
                </a:solidFill>
                <a:latin typeface="Source Serif 4" pitchFamily="34" charset="0"/>
                <a:ea typeface="Source Serif 4" pitchFamily="34" charset="-122"/>
                <a:cs typeface="Source Serif 4" pitchFamily="34" charset="-120"/>
              </a:rPr>
              <a:t>Threats</a:t>
            </a:r>
            <a:endParaRPr lang="en-US" sz="2200" dirty="0"/>
          </a:p>
        </p:txBody>
      </p:sp>
      <p:sp>
        <p:nvSpPr>
          <p:cNvPr id="14" name="Text 12"/>
          <p:cNvSpPr txBox="1"/>
          <p:nvPr/>
        </p:nvSpPr>
        <p:spPr>
          <a:xfrm>
            <a:off x="6525616" y="4690872"/>
            <a:ext cx="4687672" cy="1188720"/>
          </a:xfrm>
          <a:prstGeom prst="rect">
            <a:avLst/>
          </a:prstGeom>
          <a:noFill/>
          <a:ln/>
        </p:spPr>
        <p:txBody>
          <a:bodyPr wrap="square" lIns="0" tIns="0" rIns="0" bIns="0" rtlCol="0" anchor="t"/>
          <a:lstStyle/>
          <a:p>
            <a:pPr marL="190500" indent="-190500">
              <a:spcAft>
                <a:spcPts val="300"/>
              </a:spcAft>
              <a:buSzPct val="100000"/>
              <a:buChar char="•"/>
            </a:pPr>
            <a:r>
              <a:rPr lang="en-US" sz="1550" dirty="0">
                <a:solidFill>
                  <a:srgbClr val="15201A"/>
                </a:solidFill>
                <a:latin typeface="Source Sans 3" pitchFamily="34" charset="0"/>
                <a:ea typeface="Source Sans 3" pitchFamily="34" charset="-122"/>
                <a:cs typeface="Source Sans 3" pitchFamily="34" charset="-120"/>
              </a:rPr>
              <a:t>A food-safety incident</a:t>
            </a:r>
            <a:endParaRPr lang="en-US" sz="1550" dirty="0"/>
          </a:p>
          <a:p>
            <a:pPr marL="190500" indent="-190500">
              <a:spcAft>
                <a:spcPts val="300"/>
              </a:spcAft>
              <a:buSzPct val="100000"/>
              <a:buChar char="•"/>
            </a:pPr>
            <a:r>
              <a:rPr lang="en-US" sz="1550" dirty="0">
                <a:solidFill>
                  <a:srgbClr val="15201A"/>
                </a:solidFill>
                <a:latin typeface="Source Sans 3" pitchFamily="34" charset="0"/>
                <a:ea typeface="Source Sans 3" pitchFamily="34" charset="-122"/>
                <a:cs typeface="Source Sans 3" pitchFamily="34" charset="-120"/>
              </a:rPr>
              <a:t>Theft or vandalism at a shelf</a:t>
            </a:r>
            <a:endParaRPr lang="en-US" sz="1550" dirty="0"/>
          </a:p>
          <a:p>
            <a:pPr marL="190500" indent="-190500">
              <a:spcAft>
                <a:spcPts val="300"/>
              </a:spcAft>
              <a:buSzPct val="100000"/>
              <a:buChar char="•"/>
            </a:pPr>
            <a:r>
              <a:rPr lang="en-US" sz="1550" dirty="0">
                <a:solidFill>
                  <a:srgbClr val="15201A"/>
                </a:solidFill>
                <a:latin typeface="Source Sans 3" pitchFamily="34" charset="0"/>
                <a:ea typeface="Source Sans 3" pitchFamily="34" charset="-122"/>
                <a:cs typeface="Source Sans 3" pitchFamily="34" charset="-120"/>
              </a:rPr>
              <a:t>Volunteer burnout in exams</a:t>
            </a:r>
            <a:endParaRPr lang="en-US" sz="1550" dirty="0"/>
          </a:p>
          <a:p>
            <a:pPr marL="190500" indent="-190500">
              <a:spcAft>
                <a:spcPts val="300"/>
              </a:spcAft>
              <a:buSzPct val="100000"/>
              <a:buChar char="•"/>
            </a:pPr>
            <a:r>
              <a:rPr lang="en-US" sz="1550" dirty="0">
                <a:solidFill>
                  <a:srgbClr val="15201A"/>
                </a:solidFill>
                <a:latin typeface="Source Sans 3" pitchFamily="34" charset="0"/>
                <a:ea typeface="Source Sans 3" pitchFamily="34" charset="-122"/>
                <a:cs typeface="Source Sans 3" pitchFamily="34" charset="-120"/>
              </a:rPr>
              <a:t>Second site not approved</a:t>
            </a:r>
            <a:endParaRPr lang="en-US" sz="155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rgbClr val="6B746D"/>
                </a:solidFill>
                <a:latin typeface="Source Sans 3"/>
                <a:ea typeface="Source Sans 3"/>
                <a:cs typeface="Source Sans 3"/>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6"/>
          <p:cNvSpPr/>
          <p:nvPr>
            <p:ph idx="106" type="title" hasCustomPrompt="1"/>
          </p:nvPr>
        </p:nvSpPr>
        <p:spPr>
          <a:xfrm>
            <a:off x="685800" y="502920"/>
            <a:ext cx="9692640" cy="1143000"/>
          </a:xfrm>
          <a:prstGeom prst="rect">
            <a:avLst/>
          </a:prstGeom>
          <a:noFill/>
          <a:ln/>
        </p:spPr>
        <p:txBody>
          <a:bodyPr wrap="square" lIns="0" tIns="0" rIns="0" bIns="0" rtlCol="0" anchor="t"/>
          <a:lstStyle/>
          <a:p>
            <a:pPr algn="l" indent="0" marL="0">
              <a:lnSpc>
                <a:spcPct val="98000"/>
              </a:lnSpc>
              <a:buNone/>
            </a:pPr>
            <a:r>
              <a:rPr lang="en-US" sz="3000" dirty="0">
                <a:solidFill>
                  <a:srgbClr val="F7F5EF"/>
                </a:solidFill>
                <a:latin typeface="Source Serif 4" pitchFamily="34" charset="0"/>
                <a:ea typeface="Source Serif 4" pitchFamily="34" charset="-122"/>
                <a:cs typeface="Source Serif 4" pitchFamily="34" charset="-120"/>
              </a:rPr>
              <a:t>Our ask: fund the FoodLink pilot</a:t>
            </a:r>
            <a:endParaRPr lang="en-US" sz="3000" dirty="0"/>
          </a:p>
        </p:txBody>
      </p:sp>
      <p:sp>
        <p:nvSpPr>
          <p:cNvPr id="3" name="Shape 1"/>
          <p:cNvSpPr/>
          <p:nvPr/>
        </p:nvSpPr>
        <p:spPr>
          <a:xfrm>
            <a:off x="685800" y="1783080"/>
            <a:ext cx="3332378" cy="0"/>
          </a:xfrm>
          <a:prstGeom prst="line">
            <a:avLst/>
          </a:prstGeom>
          <a:noFill/>
          <a:ln w="9525">
            <a:solidFill>
              <a:srgbClr val="2F5444"/>
            </a:solidFill>
            <a:prstDash val="solid"/>
          </a:ln>
        </p:spPr>
      </p:sp>
      <p:sp>
        <p:nvSpPr>
          <p:cNvPr id="4" name="Text 2"/>
          <p:cNvSpPr txBox="1"/>
          <p:nvPr/>
        </p:nvSpPr>
        <p:spPr>
          <a:xfrm>
            <a:off x="685800" y="1920240"/>
            <a:ext cx="3332378" cy="960120"/>
          </a:xfrm>
          <a:prstGeom prst="rect">
            <a:avLst/>
          </a:prstGeom>
          <a:noFill/>
          <a:ln/>
        </p:spPr>
        <p:txBody>
          <a:bodyPr wrap="square" lIns="0" tIns="0" rIns="0" bIns="0" rtlCol="0" anchor="t"/>
          <a:lstStyle/>
          <a:p>
            <a:pPr indent="0" marL="0">
              <a:buNone/>
            </a:pPr>
            <a:r>
              <a:rPr lang="en-US" sz="6000" dirty="0">
                <a:solidFill>
                  <a:srgbClr val="D9B26E"/>
                </a:solidFill>
                <a:latin typeface="Source Serif 4" pitchFamily="34" charset="0"/>
                <a:ea typeface="Source Serif 4" pitchFamily="34" charset="-122"/>
                <a:cs typeface="Source Serif 4" pitchFamily="34" charset="-120"/>
              </a:rPr>
              <a:t>$2,500</a:t>
            </a:r>
            <a:endParaRPr lang="en-US" sz="6000" dirty="0"/>
          </a:p>
        </p:txBody>
      </p:sp>
      <p:sp>
        <p:nvSpPr>
          <p:cNvPr id="5" name="Text 3"/>
          <p:cNvSpPr txBox="1"/>
          <p:nvPr/>
        </p:nvSpPr>
        <p:spPr>
          <a:xfrm>
            <a:off x="685800" y="2926080"/>
            <a:ext cx="3058058" cy="640080"/>
          </a:xfrm>
          <a:prstGeom prst="rect">
            <a:avLst/>
          </a:prstGeom>
          <a:noFill/>
          <a:ln/>
        </p:spPr>
        <p:txBody>
          <a:bodyPr wrap="square" lIns="0" tIns="0" rIns="0" bIns="0" rtlCol="0" anchor="t"/>
          <a:lstStyle/>
          <a:p>
            <a:pPr indent="0" marL="0">
              <a:buNone/>
            </a:pPr>
            <a:r>
              <a:rPr lang="en-US" sz="1600" dirty="0">
                <a:solidFill>
                  <a:srgbClr val="CBD9CE"/>
                </a:solidFill>
                <a:latin typeface="Source Sans 3" pitchFamily="34" charset="0"/>
                <a:ea typeface="Source Sans 3" pitchFamily="34" charset="-122"/>
                <a:cs typeface="Source Sans 3" pitchFamily="34" charset="-120"/>
              </a:rPr>
              <a:t>from the USC Grant Fund</a:t>
            </a:r>
            <a:endParaRPr lang="en-US" sz="1600" dirty="0"/>
          </a:p>
        </p:txBody>
      </p:sp>
      <p:sp>
        <p:nvSpPr>
          <p:cNvPr id="6" name="Shape 4"/>
          <p:cNvSpPr/>
          <p:nvPr/>
        </p:nvSpPr>
        <p:spPr>
          <a:xfrm>
            <a:off x="4429658" y="1783080"/>
            <a:ext cx="3332378" cy="0"/>
          </a:xfrm>
          <a:prstGeom prst="line">
            <a:avLst/>
          </a:prstGeom>
          <a:noFill/>
          <a:ln w="9525">
            <a:solidFill>
              <a:srgbClr val="2F5444"/>
            </a:solidFill>
            <a:prstDash val="solid"/>
          </a:ln>
        </p:spPr>
      </p:sp>
      <p:sp>
        <p:nvSpPr>
          <p:cNvPr id="7" name="Text 5"/>
          <p:cNvSpPr txBox="1"/>
          <p:nvPr/>
        </p:nvSpPr>
        <p:spPr>
          <a:xfrm>
            <a:off x="4429658" y="1920240"/>
            <a:ext cx="3332378" cy="960120"/>
          </a:xfrm>
          <a:prstGeom prst="rect">
            <a:avLst/>
          </a:prstGeom>
          <a:noFill/>
          <a:ln/>
        </p:spPr>
        <p:txBody>
          <a:bodyPr wrap="square" lIns="0" tIns="0" rIns="0" bIns="0" rtlCol="0" anchor="t"/>
          <a:lstStyle/>
          <a:p>
            <a:pPr indent="0" marL="0">
              <a:buNone/>
            </a:pPr>
            <a:r>
              <a:rPr lang="en-US" sz="6000" dirty="0">
                <a:solidFill>
                  <a:srgbClr val="D9B26E"/>
                </a:solidFill>
                <a:latin typeface="Source Serif 4" pitchFamily="34" charset="0"/>
                <a:ea typeface="Source Serif 4" pitchFamily="34" charset="-122"/>
                <a:cs typeface="Source Serif 4" pitchFamily="34" charset="-120"/>
              </a:rPr>
              <a:t>2</a:t>
            </a:r>
            <a:endParaRPr lang="en-US" sz="6000" dirty="0"/>
          </a:p>
        </p:txBody>
      </p:sp>
      <p:sp>
        <p:nvSpPr>
          <p:cNvPr id="8" name="Text 6"/>
          <p:cNvSpPr txBox="1"/>
          <p:nvPr/>
        </p:nvSpPr>
        <p:spPr>
          <a:xfrm>
            <a:off x="4429658" y="2926080"/>
            <a:ext cx="3058058" cy="640080"/>
          </a:xfrm>
          <a:prstGeom prst="rect">
            <a:avLst/>
          </a:prstGeom>
          <a:noFill/>
          <a:ln/>
        </p:spPr>
        <p:txBody>
          <a:bodyPr wrap="square" lIns="0" tIns="0" rIns="0" bIns="0" rtlCol="0" anchor="t"/>
          <a:lstStyle/>
          <a:p>
            <a:pPr indent="0" marL="0">
              <a:buNone/>
            </a:pPr>
            <a:r>
              <a:rPr lang="en-US" sz="1600" dirty="0">
                <a:solidFill>
                  <a:srgbClr val="CBD9CE"/>
                </a:solidFill>
                <a:latin typeface="Source Sans 3" pitchFamily="34" charset="0"/>
                <a:ea typeface="Source Sans 3" pitchFamily="34" charset="-122"/>
                <a:cs typeface="Source Sans 3" pitchFamily="34" charset="-120"/>
              </a:rPr>
              <a:t>shelf locations: the UCC plus one more building</a:t>
            </a:r>
            <a:endParaRPr lang="en-US" sz="1600" dirty="0"/>
          </a:p>
        </p:txBody>
      </p:sp>
      <p:sp>
        <p:nvSpPr>
          <p:cNvPr id="9" name="Shape 7"/>
          <p:cNvSpPr/>
          <p:nvPr/>
        </p:nvSpPr>
        <p:spPr>
          <a:xfrm>
            <a:off x="8173517" y="1783080"/>
            <a:ext cx="3332378" cy="0"/>
          </a:xfrm>
          <a:prstGeom prst="line">
            <a:avLst/>
          </a:prstGeom>
          <a:noFill/>
          <a:ln w="9525">
            <a:solidFill>
              <a:srgbClr val="2F5444"/>
            </a:solidFill>
            <a:prstDash val="solid"/>
          </a:ln>
        </p:spPr>
      </p:sp>
      <p:sp>
        <p:nvSpPr>
          <p:cNvPr id="10" name="Text 8"/>
          <p:cNvSpPr txBox="1"/>
          <p:nvPr/>
        </p:nvSpPr>
        <p:spPr>
          <a:xfrm>
            <a:off x="8173517" y="1920240"/>
            <a:ext cx="3332378" cy="960120"/>
          </a:xfrm>
          <a:prstGeom prst="rect">
            <a:avLst/>
          </a:prstGeom>
          <a:noFill/>
          <a:ln/>
        </p:spPr>
        <p:txBody>
          <a:bodyPr wrap="square" lIns="0" tIns="0" rIns="0" bIns="0" rtlCol="0" anchor="t"/>
          <a:lstStyle/>
          <a:p>
            <a:pPr indent="0" marL="0">
              <a:buNone/>
            </a:pPr>
            <a:r>
              <a:rPr lang="en-US" sz="6000" dirty="0">
                <a:solidFill>
                  <a:srgbClr val="D9B26E"/>
                </a:solidFill>
                <a:latin typeface="Source Serif 4" pitchFamily="34" charset="0"/>
                <a:ea typeface="Source Serif 4" pitchFamily="34" charset="-122"/>
                <a:cs typeface="Source Serif 4" pitchFamily="34" charset="-120"/>
              </a:rPr>
              <a:t>11</a:t>
            </a:r>
            <a:endParaRPr lang="en-US" sz="6000" dirty="0"/>
          </a:p>
        </p:txBody>
      </p:sp>
      <p:sp>
        <p:nvSpPr>
          <p:cNvPr id="11" name="Text 9"/>
          <p:cNvSpPr txBox="1"/>
          <p:nvPr/>
        </p:nvSpPr>
        <p:spPr>
          <a:xfrm>
            <a:off x="8173517" y="2926080"/>
            <a:ext cx="3058058" cy="640080"/>
          </a:xfrm>
          <a:prstGeom prst="rect">
            <a:avLst/>
          </a:prstGeom>
          <a:noFill/>
          <a:ln/>
        </p:spPr>
        <p:txBody>
          <a:bodyPr wrap="square" lIns="0" tIns="0" rIns="0" bIns="0" rtlCol="0" anchor="t"/>
          <a:lstStyle/>
          <a:p>
            <a:pPr indent="0" marL="0">
              <a:buNone/>
            </a:pPr>
            <a:r>
              <a:rPr lang="en-US" sz="1600" dirty="0">
                <a:solidFill>
                  <a:srgbClr val="CBD9CE"/>
                </a:solidFill>
                <a:latin typeface="Source Sans 3" pitchFamily="34" charset="0"/>
                <a:ea typeface="Source Sans 3" pitchFamily="34" charset="-122"/>
                <a:cs typeface="Source Sans 3" pitchFamily="34" charset="-120"/>
              </a:rPr>
              <a:t>weeks, January to March 2027</a:t>
            </a:r>
            <a:endParaRPr lang="en-US" sz="1600" dirty="0"/>
          </a:p>
        </p:txBody>
      </p:sp>
      <p:sp>
        <p:nvSpPr>
          <p:cNvPr id="12" name="Text 10"/>
          <p:cNvSpPr txBox="1"/>
          <p:nvPr/>
        </p:nvSpPr>
        <p:spPr>
          <a:xfrm>
            <a:off x="685800" y="3977640"/>
            <a:ext cx="9692640" cy="777240"/>
          </a:xfrm>
          <a:prstGeom prst="rect">
            <a:avLst/>
          </a:prstGeom>
          <a:noFill/>
          <a:ln/>
        </p:spPr>
        <p:txBody>
          <a:bodyPr wrap="square" lIns="0" tIns="0" rIns="0" bIns="0" rtlCol="0" anchor="t"/>
          <a:lstStyle/>
          <a:p>
            <a:pPr indent="0" marL="0">
              <a:buNone/>
            </a:pPr>
            <a:r>
              <a:rPr lang="en-US" sz="2000" dirty="0">
                <a:solidFill>
                  <a:srgbClr val="F7F5EF"/>
                </a:solidFill>
                <a:latin typeface="Source Sans 3" pitchFamily="34" charset="0"/>
                <a:ea typeface="Source Sans 3" pitchFamily="34" charset="-122"/>
                <a:cs typeface="Source Sans 3" pitchFamily="34" charset="-120"/>
              </a:rPr>
              <a:t>FoodLink keeps the USC’s food bank and hampers, and adds walk-up shelves in busy buildings with the accountability the USC asked for. The app is already built.</a:t>
            </a:r>
            <a:endParaRPr lang="en-US" sz="2000" dirty="0"/>
          </a:p>
        </p:txBody>
      </p:sp>
      <p:sp>
        <p:nvSpPr>
          <p:cNvPr id="13" name="Shape 11"/>
          <p:cNvSpPr/>
          <p:nvPr/>
        </p:nvSpPr>
        <p:spPr>
          <a:xfrm>
            <a:off x="685800" y="5029200"/>
            <a:ext cx="10820095" cy="0"/>
          </a:xfrm>
          <a:prstGeom prst="line">
            <a:avLst/>
          </a:prstGeom>
          <a:noFill/>
          <a:ln w="9525">
            <a:solidFill>
              <a:srgbClr val="2F5444"/>
            </a:solidFill>
            <a:prstDash val="solid"/>
          </a:ln>
        </p:spPr>
      </p:sp>
      <p:sp>
        <p:nvSpPr>
          <p:cNvPr id="14" name="Text 12"/>
          <p:cNvSpPr txBox="1"/>
          <p:nvPr/>
        </p:nvSpPr>
        <p:spPr>
          <a:xfrm>
            <a:off x="685800" y="5193792"/>
            <a:ext cx="7315200" cy="411480"/>
          </a:xfrm>
          <a:prstGeom prst="rect">
            <a:avLst/>
          </a:prstGeom>
          <a:noFill/>
          <a:ln/>
        </p:spPr>
        <p:txBody>
          <a:bodyPr wrap="square" lIns="0" tIns="0" rIns="0" bIns="0" rtlCol="0" anchor="t"/>
          <a:lstStyle/>
          <a:p>
            <a:pPr indent="0" marL="0">
              <a:buNone/>
            </a:pPr>
            <a:r>
              <a:rPr lang="en-US" sz="2200" dirty="0">
                <a:solidFill>
                  <a:srgbClr val="F7F5EF"/>
                </a:solidFill>
                <a:latin typeface="Source Serif 4" pitchFamily="34" charset="0"/>
                <a:ea typeface="Source Serif 4" pitchFamily="34" charset="-122"/>
                <a:cs typeface="Source Serif 4" pitchFamily="34" charset="-120"/>
              </a:rPr>
              <a:t>Thank you. We’re happy to take questions.</a:t>
            </a:r>
            <a:endParaRPr lang="en-US" sz="2200" dirty="0"/>
          </a:p>
        </p:txBody>
      </p:sp>
      <p:sp>
        <p:nvSpPr>
          <p:cNvPr id="15" name="Text 13"/>
          <p:cNvSpPr txBox="1"/>
          <p:nvPr/>
        </p:nvSpPr>
        <p:spPr>
          <a:xfrm>
            <a:off x="685800" y="5669280"/>
            <a:ext cx="10820095" cy="320040"/>
          </a:xfrm>
          <a:prstGeom prst="rect">
            <a:avLst/>
          </a:prstGeom>
          <a:noFill/>
          <a:ln/>
        </p:spPr>
        <p:txBody>
          <a:bodyPr wrap="square" lIns="0" tIns="0" rIns="0" bIns="0" rtlCol="0" anchor="t"/>
          <a:lstStyle/>
          <a:p>
            <a:pPr indent="0" marL="0">
              <a:buNone/>
            </a:pPr>
            <a:r>
              <a:rPr lang="en-US" sz="1300" dirty="0">
                <a:solidFill>
                  <a:srgbClr val="93AE9C"/>
                </a:solidFill>
                <a:latin typeface="Source Sans 3" pitchFamily="34" charset="0"/>
                <a:ea typeface="Source Sans 3" pitchFamily="34" charset="-122"/>
                <a:cs typeface="Source Sans 3" pitchFamily="34" charset="-120"/>
              </a:rPr>
              <a:t>Xinge Xu (Zinger)   ·   Nuo Zhang   ·   Zohra Khawaja   ·   Ahana Gehlot</a:t>
            </a:r>
            <a:endParaRPr lang="en-US" sz="13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rgbClr val="93AE9C"/>
                </a:solidFill>
                <a:latin typeface="Source Sans 3"/>
                <a:ea typeface="Source Sans 3"/>
                <a:cs typeface="Source Sans 3"/>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4"/>
          <p:cNvSpPr/>
          <p:nvPr>
            <p:ph idx="104" type="title" hasCustomPrompt="1"/>
          </p:nvPr>
        </p:nvSpPr>
        <p:spPr>
          <a:xfrm>
            <a:off x="685800" y="502920"/>
            <a:ext cx="9692640" cy="1143000"/>
          </a:xfrm>
          <a:prstGeom prst="rect">
            <a:avLst/>
          </a:prstGeom>
          <a:noFill/>
          <a:ln/>
        </p:spPr>
        <p:txBody>
          <a:bodyPr wrap="square" lIns="0" tIns="0" rIns="0" bIns="0" rtlCol="0" anchor="t"/>
          <a:lstStyle/>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A1. Sources</a:t>
            </a:r>
            <a:endParaRPr lang="en-US" sz="3000" dirty="0"/>
          </a:p>
        </p:txBody>
      </p:sp>
      <p:sp>
        <p:nvSpPr>
          <p:cNvPr id="3" name="Text 1"/>
          <p:cNvSpPr txBox="1"/>
          <p:nvPr/>
        </p:nvSpPr>
        <p:spPr>
          <a:xfrm>
            <a:off x="685800" y="1481328"/>
            <a:ext cx="5181448" cy="237744"/>
          </a:xfrm>
          <a:prstGeom prst="rect">
            <a:avLst/>
          </a:prstGeom>
          <a:noFill/>
          <a:ln/>
        </p:spPr>
        <p:txBody>
          <a:bodyPr wrap="square" lIns="0" tIns="0" rIns="0" bIns="0" rtlCol="0" anchor="t"/>
          <a:lstStyle/>
          <a:p>
            <a:pPr indent="0" marL="0">
              <a:buNone/>
            </a:pPr>
            <a:r>
              <a:rPr lang="en-US" sz="1200" b="1" dirty="0">
                <a:solidFill>
                  <a:srgbClr val="15201A"/>
                </a:solidFill>
                <a:latin typeface="Source Sans 3" pitchFamily="34" charset="0"/>
                <a:ea typeface="Source Sans 3" pitchFamily="34" charset="-122"/>
                <a:cs typeface="Source Sans 3" pitchFamily="34" charset="-120"/>
              </a:rPr>
              <a:t>Global News, Mar 15, 2024</a:t>
            </a:r>
            <a:endParaRPr lang="en-US" sz="1200" dirty="0"/>
          </a:p>
        </p:txBody>
      </p:sp>
      <p:sp>
        <p:nvSpPr>
          <p:cNvPr id="4" name="Text 2"/>
          <p:cNvSpPr txBox="1"/>
          <p:nvPr/>
        </p:nvSpPr>
        <p:spPr>
          <a:xfrm>
            <a:off x="685800" y="1719072"/>
            <a:ext cx="5181448" cy="347472"/>
          </a:xfrm>
          <a:prstGeom prst="rect">
            <a:avLst/>
          </a:prstGeom>
          <a:noFill/>
          <a:ln/>
        </p:spPr>
        <p:txBody>
          <a:bodyPr wrap="square" lIns="0" tIns="0" rIns="0" bIns="0" rtlCol="0" anchor="t"/>
          <a:lstStyle/>
          <a:p>
            <a:pPr indent="0" marL="0">
              <a:buNone/>
            </a:pPr>
            <a:r>
              <a:rPr lang="en-US" sz="1050" dirty="0">
                <a:solidFill>
                  <a:srgbClr val="3A453E"/>
                </a:solidFill>
                <a:latin typeface="Source Sans 3" pitchFamily="34" charset="0"/>
                <a:ea typeface="Source Sans 3" pitchFamily="34" charset="-122"/>
                <a:cs typeface="Source Sans 3" pitchFamily="34" charset="-120"/>
              </a:rPr>
              <a:t>1,700+ hampers since September 2023; about 750 in all of 2022–23.</a:t>
            </a:r>
            <a:endParaRPr lang="en-US" sz="1050" dirty="0"/>
          </a:p>
        </p:txBody>
      </p:sp>
      <p:sp>
        <p:nvSpPr>
          <p:cNvPr id="5" name="Text 3"/>
          <p:cNvSpPr txBox="1"/>
          <p:nvPr/>
        </p:nvSpPr>
        <p:spPr>
          <a:xfrm>
            <a:off x="685800" y="2121408"/>
            <a:ext cx="5181448" cy="237744"/>
          </a:xfrm>
          <a:prstGeom prst="rect">
            <a:avLst/>
          </a:prstGeom>
          <a:noFill/>
          <a:ln/>
        </p:spPr>
        <p:txBody>
          <a:bodyPr wrap="square" lIns="0" tIns="0" rIns="0" bIns="0" rtlCol="0" anchor="t"/>
          <a:lstStyle/>
          <a:p>
            <a:pPr indent="0" marL="0">
              <a:buNone/>
            </a:pPr>
            <a:r>
              <a:rPr lang="en-US" sz="1200" b="1" dirty="0">
                <a:solidFill>
                  <a:srgbClr val="15201A"/>
                </a:solidFill>
                <a:latin typeface="Source Sans 3" pitchFamily="34" charset="0"/>
                <a:ea typeface="Source Sans 3" pitchFamily="34" charset="-122"/>
                <a:cs typeface="Source Sans 3" pitchFamily="34" charset="-120"/>
              </a:rPr>
              <a:t>The Gazette, Oct 4, 2024</a:t>
            </a:r>
            <a:endParaRPr lang="en-US" sz="1200" dirty="0"/>
          </a:p>
        </p:txBody>
      </p:sp>
      <p:sp>
        <p:nvSpPr>
          <p:cNvPr id="6" name="Text 4"/>
          <p:cNvSpPr txBox="1"/>
          <p:nvPr/>
        </p:nvSpPr>
        <p:spPr>
          <a:xfrm>
            <a:off x="685800" y="2359152"/>
            <a:ext cx="5181448" cy="347472"/>
          </a:xfrm>
          <a:prstGeom prst="rect">
            <a:avLst/>
          </a:prstGeom>
          <a:noFill/>
          <a:ln/>
        </p:spPr>
        <p:txBody>
          <a:bodyPr wrap="square" lIns="0" tIns="0" rIns="0" bIns="0" rtlCol="0" anchor="t"/>
          <a:lstStyle/>
          <a:p>
            <a:pPr indent="0" marL="0">
              <a:buNone/>
            </a:pPr>
            <a:r>
              <a:rPr lang="en-US" sz="1050" dirty="0">
                <a:solidFill>
                  <a:srgbClr val="3A453E"/>
                </a:solidFill>
                <a:latin typeface="Source Sans 3" pitchFamily="34" charset="0"/>
                <a:ea typeface="Source Sans 3" pitchFamily="34" charset="-122"/>
                <a:cs typeface="Source Sans 3" pitchFamily="34" charset="-120"/>
              </a:rPr>
              <a:t>Walk-ins closed Sept 2023 after a 600% rise in demand; hamper-only; 40 volunteers to six part-time staff; “incredibly difficult.”</a:t>
            </a:r>
            <a:endParaRPr lang="en-US" sz="1050" dirty="0"/>
          </a:p>
        </p:txBody>
      </p:sp>
      <p:sp>
        <p:nvSpPr>
          <p:cNvPr id="7" name="Text 5"/>
          <p:cNvSpPr txBox="1"/>
          <p:nvPr/>
        </p:nvSpPr>
        <p:spPr>
          <a:xfrm>
            <a:off x="685800" y="2761488"/>
            <a:ext cx="5181448" cy="237744"/>
          </a:xfrm>
          <a:prstGeom prst="rect">
            <a:avLst/>
          </a:prstGeom>
          <a:noFill/>
          <a:ln/>
        </p:spPr>
        <p:txBody>
          <a:bodyPr wrap="square" lIns="0" tIns="0" rIns="0" bIns="0" rtlCol="0" anchor="t"/>
          <a:lstStyle/>
          <a:p>
            <a:pPr indent="0" marL="0">
              <a:buNone/>
            </a:pPr>
            <a:r>
              <a:rPr lang="en-US" sz="1200" b="1" dirty="0">
                <a:solidFill>
                  <a:srgbClr val="15201A"/>
                </a:solidFill>
                <a:latin typeface="Source Sans 3" pitchFamily="34" charset="0"/>
                <a:ea typeface="Source Sans 3" pitchFamily="34" charset="-122"/>
                <a:cs typeface="Source Sans 3" pitchFamily="34" charset="-120"/>
              </a:rPr>
              <a:t>The Gazette, Feb 2025</a:t>
            </a:r>
            <a:endParaRPr lang="en-US" sz="1200" dirty="0"/>
          </a:p>
        </p:txBody>
      </p:sp>
      <p:sp>
        <p:nvSpPr>
          <p:cNvPr id="8" name="Text 6"/>
          <p:cNvSpPr txBox="1"/>
          <p:nvPr/>
        </p:nvSpPr>
        <p:spPr>
          <a:xfrm>
            <a:off x="685800" y="2999232"/>
            <a:ext cx="5181448" cy="347472"/>
          </a:xfrm>
          <a:prstGeom prst="rect">
            <a:avLst/>
          </a:prstGeom>
          <a:noFill/>
          <a:ln/>
        </p:spPr>
        <p:txBody>
          <a:bodyPr wrap="square" lIns="0" tIns="0" rIns="0" bIns="0" rtlCol="0" anchor="t"/>
          <a:lstStyle/>
          <a:p>
            <a:pPr indent="0" marL="0">
              <a:buNone/>
            </a:pPr>
            <a:r>
              <a:rPr lang="en-US" sz="1050" dirty="0">
                <a:solidFill>
                  <a:srgbClr val="3A453E"/>
                </a:solidFill>
                <a:latin typeface="Source Sans 3" pitchFamily="34" charset="0"/>
                <a:ea typeface="Source Sans 3" pitchFamily="34" charset="-122"/>
                <a:cs typeface="Source Sans 3" pitchFamily="34" charset="-120"/>
              </a:rPr>
              <a:t>Proposed 2025–26 USC budget drops the Food Support Coordinator role.</a:t>
            </a:r>
            <a:endParaRPr lang="en-US" sz="1050" dirty="0"/>
          </a:p>
        </p:txBody>
      </p:sp>
      <p:sp>
        <p:nvSpPr>
          <p:cNvPr id="9" name="Text 7"/>
          <p:cNvSpPr txBox="1"/>
          <p:nvPr/>
        </p:nvSpPr>
        <p:spPr>
          <a:xfrm>
            <a:off x="685800" y="3401568"/>
            <a:ext cx="5181448" cy="237744"/>
          </a:xfrm>
          <a:prstGeom prst="rect">
            <a:avLst/>
          </a:prstGeom>
          <a:noFill/>
          <a:ln/>
        </p:spPr>
        <p:txBody>
          <a:bodyPr wrap="square" lIns="0" tIns="0" rIns="0" bIns="0" rtlCol="0" anchor="t"/>
          <a:lstStyle/>
          <a:p>
            <a:pPr indent="0" marL="0">
              <a:buNone/>
            </a:pPr>
            <a:r>
              <a:rPr lang="en-US" sz="1200" b="1" dirty="0">
                <a:solidFill>
                  <a:srgbClr val="15201A"/>
                </a:solidFill>
                <a:latin typeface="Source Sans 3" pitchFamily="34" charset="0"/>
                <a:ea typeface="Source Sans 3" pitchFamily="34" charset="-122"/>
                <a:cs typeface="Source Sans 3" pitchFamily="34" charset="-120"/>
              </a:rPr>
              <a:t>USC Food Support page, checked Oct 31, 2026</a:t>
            </a:r>
            <a:endParaRPr lang="en-US" sz="1200" dirty="0"/>
          </a:p>
        </p:txBody>
      </p:sp>
      <p:sp>
        <p:nvSpPr>
          <p:cNvPr id="10" name="Text 8"/>
          <p:cNvSpPr txBox="1"/>
          <p:nvPr/>
        </p:nvSpPr>
        <p:spPr>
          <a:xfrm>
            <a:off x="685800" y="3639312"/>
            <a:ext cx="5181448" cy="347472"/>
          </a:xfrm>
          <a:prstGeom prst="rect">
            <a:avLst/>
          </a:prstGeom>
          <a:noFill/>
          <a:ln/>
        </p:spPr>
        <p:txBody>
          <a:bodyPr wrap="square" lIns="0" tIns="0" rIns="0" bIns="0" rtlCol="0" anchor="t"/>
          <a:lstStyle/>
          <a:p>
            <a:pPr indent="0" marL="0">
              <a:buNone/>
            </a:pPr>
            <a:r>
              <a:rPr lang="en-US" sz="1050" dirty="0">
                <a:solidFill>
                  <a:srgbClr val="3A453E"/>
                </a:solidFill>
                <a:latin typeface="Source Sans 3" pitchFamily="34" charset="0"/>
                <a:ea typeface="Source Sans 3" pitchFamily="34" charset="-122"/>
                <a:cs typeface="Source Sans 3" pitchFamily="34" charset="-120"/>
              </a:rPr>
              <a:t>Walk-in food bank in UCC 40F, Mon–Thu 10–4; hampers “as soon as 48 hours”; donations only; “Requests reopen Sept 8, 2025.”</a:t>
            </a:r>
            <a:endParaRPr lang="en-US" sz="1050" dirty="0"/>
          </a:p>
        </p:txBody>
      </p:sp>
      <p:sp>
        <p:nvSpPr>
          <p:cNvPr id="11" name="Text 9"/>
          <p:cNvSpPr txBox="1"/>
          <p:nvPr/>
        </p:nvSpPr>
        <p:spPr>
          <a:xfrm>
            <a:off x="685800" y="4041648"/>
            <a:ext cx="5181448" cy="237744"/>
          </a:xfrm>
          <a:prstGeom prst="rect">
            <a:avLst/>
          </a:prstGeom>
          <a:noFill/>
          <a:ln/>
        </p:spPr>
        <p:txBody>
          <a:bodyPr wrap="square" lIns="0" tIns="0" rIns="0" bIns="0" rtlCol="0" anchor="t"/>
          <a:lstStyle/>
          <a:p>
            <a:pPr indent="0" marL="0">
              <a:buNone/>
            </a:pPr>
            <a:r>
              <a:rPr lang="en-US" sz="1200" b="1" dirty="0">
                <a:solidFill>
                  <a:srgbClr val="15201A"/>
                </a:solidFill>
                <a:latin typeface="Source Sans 3" pitchFamily="34" charset="0"/>
                <a:ea typeface="Source Sans 3" pitchFamily="34" charset="-122"/>
                <a:cs typeface="Source Sans 3" pitchFamily="34" charset="-120"/>
              </a:rPr>
              <a:t>Western 2026–27 fee schedule</a:t>
            </a:r>
            <a:endParaRPr lang="en-US" sz="1200" dirty="0"/>
          </a:p>
        </p:txBody>
      </p:sp>
      <p:sp>
        <p:nvSpPr>
          <p:cNvPr id="12" name="Text 10"/>
          <p:cNvSpPr txBox="1"/>
          <p:nvPr/>
        </p:nvSpPr>
        <p:spPr>
          <a:xfrm>
            <a:off x="685800" y="4279392"/>
            <a:ext cx="5181448" cy="347472"/>
          </a:xfrm>
          <a:prstGeom prst="rect">
            <a:avLst/>
          </a:prstGeom>
          <a:noFill/>
          <a:ln/>
        </p:spPr>
        <p:txBody>
          <a:bodyPr wrap="square" lIns="0" tIns="0" rIns="0" bIns="0" rtlCol="0" anchor="t"/>
          <a:lstStyle/>
          <a:p>
            <a:pPr indent="0" marL="0">
              <a:buNone/>
            </a:pPr>
            <a:r>
              <a:rPr lang="en-US" sz="1050" dirty="0">
                <a:solidFill>
                  <a:srgbClr val="3A453E"/>
                </a:solidFill>
                <a:latin typeface="Source Sans 3" pitchFamily="34" charset="0"/>
                <a:ea typeface="Source Sans 3" pitchFamily="34" charset="-122"/>
                <a:cs typeface="Source Sans 3" pitchFamily="34" charset="-120"/>
              </a:rPr>
              <a:t>None of the 21 USC fee lines funds food support.</a:t>
            </a:r>
            <a:endParaRPr lang="en-US" sz="1050" dirty="0"/>
          </a:p>
        </p:txBody>
      </p:sp>
      <p:sp>
        <p:nvSpPr>
          <p:cNvPr id="13" name="Text 11"/>
          <p:cNvSpPr txBox="1"/>
          <p:nvPr/>
        </p:nvSpPr>
        <p:spPr>
          <a:xfrm>
            <a:off x="685800" y="4681728"/>
            <a:ext cx="5181448" cy="237744"/>
          </a:xfrm>
          <a:prstGeom prst="rect">
            <a:avLst/>
          </a:prstGeom>
          <a:noFill/>
          <a:ln/>
        </p:spPr>
        <p:txBody>
          <a:bodyPr wrap="square" lIns="0" tIns="0" rIns="0" bIns="0" rtlCol="0" anchor="t"/>
          <a:lstStyle/>
          <a:p>
            <a:pPr indent="0" marL="0">
              <a:buNone/>
            </a:pPr>
            <a:r>
              <a:rPr lang="en-US" sz="1200" b="1" dirty="0">
                <a:solidFill>
                  <a:srgbClr val="15201A"/>
                </a:solidFill>
                <a:latin typeface="Source Sans 3" pitchFamily="34" charset="0"/>
                <a:ea typeface="Source Sans 3" pitchFamily="34" charset="-122"/>
                <a:cs typeface="Source Sans 3" pitchFamily="34" charset="-120"/>
              </a:rPr>
              <a:t>USC Grants page, checked Oct 31, 2026</a:t>
            </a:r>
            <a:endParaRPr lang="en-US" sz="1200" dirty="0"/>
          </a:p>
        </p:txBody>
      </p:sp>
      <p:sp>
        <p:nvSpPr>
          <p:cNvPr id="14" name="Text 12"/>
          <p:cNvSpPr txBox="1"/>
          <p:nvPr/>
        </p:nvSpPr>
        <p:spPr>
          <a:xfrm>
            <a:off x="685800" y="4919472"/>
            <a:ext cx="5181448" cy="347472"/>
          </a:xfrm>
          <a:prstGeom prst="rect">
            <a:avLst/>
          </a:prstGeom>
          <a:noFill/>
          <a:ln/>
        </p:spPr>
        <p:txBody>
          <a:bodyPr wrap="square" lIns="0" tIns="0" rIns="0" bIns="0" rtlCol="0" anchor="t"/>
          <a:lstStyle/>
          <a:p>
            <a:pPr indent="0" marL="0">
              <a:buNone/>
            </a:pPr>
            <a:r>
              <a:rPr lang="en-US" sz="1050" dirty="0">
                <a:solidFill>
                  <a:srgbClr val="3A453E"/>
                </a:solidFill>
                <a:latin typeface="Source Sans 3" pitchFamily="34" charset="0"/>
                <a:ea typeface="Source Sans 3" pitchFamily="34" charset="-122"/>
                <a:cs typeface="Source Sans 3" pitchFamily="34" charset="-120"/>
              </a:rPr>
              <a:t>About $100,000 a year, rolling to March. No equipment purchases or ongoing costs. 10% match preferred. Collaboratives may include ineligible partners.</a:t>
            </a:r>
            <a:endParaRPr lang="en-US" sz="1050" dirty="0"/>
          </a:p>
        </p:txBody>
      </p:sp>
      <p:sp>
        <p:nvSpPr>
          <p:cNvPr id="15" name="Text 13"/>
          <p:cNvSpPr txBox="1"/>
          <p:nvPr/>
        </p:nvSpPr>
        <p:spPr>
          <a:xfrm>
            <a:off x="685800" y="5321808"/>
            <a:ext cx="5181448" cy="237744"/>
          </a:xfrm>
          <a:prstGeom prst="rect">
            <a:avLst/>
          </a:prstGeom>
          <a:noFill/>
          <a:ln/>
        </p:spPr>
        <p:txBody>
          <a:bodyPr wrap="square" lIns="0" tIns="0" rIns="0" bIns="0" rtlCol="0" anchor="t"/>
          <a:lstStyle/>
          <a:p>
            <a:pPr indent="0" marL="0">
              <a:buNone/>
            </a:pPr>
            <a:r>
              <a:rPr lang="en-US" sz="1200" b="1" dirty="0">
                <a:solidFill>
                  <a:srgbClr val="15201A"/>
                </a:solidFill>
                <a:latin typeface="Source Sans 3" pitchFamily="34" charset="0"/>
                <a:ea typeface="Source Sans 3" pitchFamily="34" charset="-122"/>
                <a:cs typeface="Source Sans 3" pitchFamily="34" charset="-120"/>
              </a:rPr>
              <a:t>CASA, Walking the Tightrope, Mar 2025</a:t>
            </a:r>
            <a:endParaRPr lang="en-US" sz="1200" dirty="0"/>
          </a:p>
        </p:txBody>
      </p:sp>
      <p:sp>
        <p:nvSpPr>
          <p:cNvPr id="16" name="Text 14"/>
          <p:cNvSpPr txBox="1"/>
          <p:nvPr/>
        </p:nvSpPr>
        <p:spPr>
          <a:xfrm>
            <a:off x="685800" y="5559552"/>
            <a:ext cx="5181448" cy="347472"/>
          </a:xfrm>
          <a:prstGeom prst="rect">
            <a:avLst/>
          </a:prstGeom>
          <a:noFill/>
          <a:ln/>
        </p:spPr>
        <p:txBody>
          <a:bodyPr wrap="square" lIns="0" tIns="0" rIns="0" bIns="0" rtlCol="0" anchor="t"/>
          <a:lstStyle/>
          <a:p>
            <a:pPr indent="0" marL="0">
              <a:buNone/>
            </a:pPr>
            <a:r>
              <a:rPr lang="en-US" sz="1050" dirty="0">
                <a:solidFill>
                  <a:srgbClr val="3A453E"/>
                </a:solidFill>
                <a:latin typeface="Source Sans 3" pitchFamily="34" charset="0"/>
                <a:ea typeface="Source Sans 3" pitchFamily="34" charset="-122"/>
                <a:cs typeface="Source Sans 3" pitchFamily="34" charset="-120"/>
              </a:rPr>
              <a:t>Abacus Data survey of 1,500 students, May 2024: 40% skipped meals because of cost.</a:t>
            </a:r>
            <a:endParaRPr lang="en-US" sz="1050" dirty="0"/>
          </a:p>
        </p:txBody>
      </p:sp>
      <p:sp>
        <p:nvSpPr>
          <p:cNvPr id="17" name="Text 15"/>
          <p:cNvSpPr txBox="1"/>
          <p:nvPr/>
        </p:nvSpPr>
        <p:spPr>
          <a:xfrm>
            <a:off x="6324448" y="1481328"/>
            <a:ext cx="5181448" cy="237744"/>
          </a:xfrm>
          <a:prstGeom prst="rect">
            <a:avLst/>
          </a:prstGeom>
          <a:noFill/>
          <a:ln/>
        </p:spPr>
        <p:txBody>
          <a:bodyPr wrap="square" lIns="0" tIns="0" rIns="0" bIns="0" rtlCol="0" anchor="t"/>
          <a:lstStyle/>
          <a:p>
            <a:pPr indent="0" marL="0">
              <a:buNone/>
            </a:pPr>
            <a:r>
              <a:rPr lang="en-US" sz="1200" b="1" dirty="0">
                <a:solidFill>
                  <a:srgbClr val="15201A"/>
                </a:solidFill>
                <a:latin typeface="Source Sans 3" pitchFamily="34" charset="0"/>
                <a:ea typeface="Source Sans 3" pitchFamily="34" charset="-122"/>
                <a:cs typeface="Source Sans 3" pitchFamily="34" charset="-120"/>
              </a:rPr>
              <a:t>Jones et al., JAFSCD 13(3), 2024; corrected Apr 16, 2025</a:t>
            </a:r>
            <a:endParaRPr lang="en-US" sz="1200" dirty="0"/>
          </a:p>
        </p:txBody>
      </p:sp>
      <p:sp>
        <p:nvSpPr>
          <p:cNvPr id="18" name="Text 16"/>
          <p:cNvSpPr txBox="1"/>
          <p:nvPr/>
        </p:nvSpPr>
        <p:spPr>
          <a:xfrm>
            <a:off x="6324448" y="1719072"/>
            <a:ext cx="5181448" cy="347472"/>
          </a:xfrm>
          <a:prstGeom prst="rect">
            <a:avLst/>
          </a:prstGeom>
          <a:noFill/>
          <a:ln/>
        </p:spPr>
        <p:txBody>
          <a:bodyPr wrap="square" lIns="0" tIns="0" rIns="0" bIns="0" rtlCol="0" anchor="t"/>
          <a:lstStyle/>
          <a:p>
            <a:pPr indent="0" marL="0">
              <a:buNone/>
            </a:pPr>
            <a:r>
              <a:rPr lang="en-US" sz="1050" dirty="0">
                <a:solidFill>
                  <a:srgbClr val="3A453E"/>
                </a:solidFill>
                <a:latin typeface="Source Sans 3" pitchFamily="34" charset="0"/>
                <a:ea typeface="Source Sans 3" pitchFamily="34" charset="-122"/>
                <a:cs typeface="Source Sans 3" pitchFamily="34" charset="-120"/>
              </a:rPr>
              <a:t>Anonymous mini-pantries at VCU: 5,263 door openings in 2022–23; busiest at the gym and main library; vandalism rare.</a:t>
            </a:r>
            <a:endParaRPr lang="en-US" sz="1050" dirty="0"/>
          </a:p>
        </p:txBody>
      </p:sp>
      <p:sp>
        <p:nvSpPr>
          <p:cNvPr id="19" name="Text 17"/>
          <p:cNvSpPr txBox="1"/>
          <p:nvPr/>
        </p:nvSpPr>
        <p:spPr>
          <a:xfrm>
            <a:off x="6324448" y="2121408"/>
            <a:ext cx="5181448" cy="237744"/>
          </a:xfrm>
          <a:prstGeom prst="rect">
            <a:avLst/>
          </a:prstGeom>
          <a:noFill/>
          <a:ln/>
        </p:spPr>
        <p:txBody>
          <a:bodyPr wrap="square" lIns="0" tIns="0" rIns="0" bIns="0" rtlCol="0" anchor="t"/>
          <a:lstStyle/>
          <a:p>
            <a:pPr indent="0" marL="0">
              <a:buNone/>
            </a:pPr>
            <a:r>
              <a:rPr lang="en-US" sz="1200" b="1" dirty="0">
                <a:solidFill>
                  <a:srgbClr val="15201A"/>
                </a:solidFill>
                <a:latin typeface="Source Sans 3" pitchFamily="34" charset="0"/>
                <a:ea typeface="Source Sans 3" pitchFamily="34" charset="-122"/>
                <a:cs typeface="Source Sans 3" pitchFamily="34" charset="-120"/>
              </a:rPr>
              <a:t>The Gateway, May 3, 2024</a:t>
            </a:r>
            <a:endParaRPr lang="en-US" sz="1200" dirty="0"/>
          </a:p>
        </p:txBody>
      </p:sp>
      <p:sp>
        <p:nvSpPr>
          <p:cNvPr id="20" name="Text 18"/>
          <p:cNvSpPr txBox="1"/>
          <p:nvPr/>
        </p:nvSpPr>
        <p:spPr>
          <a:xfrm>
            <a:off x="6324448" y="2359152"/>
            <a:ext cx="5181448" cy="347472"/>
          </a:xfrm>
          <a:prstGeom prst="rect">
            <a:avLst/>
          </a:prstGeom>
          <a:noFill/>
          <a:ln/>
        </p:spPr>
        <p:txBody>
          <a:bodyPr wrap="square" lIns="0" tIns="0" rIns="0" bIns="0" rtlCol="0" anchor="t"/>
          <a:lstStyle/>
          <a:p>
            <a:pPr indent="0" marL="0">
              <a:buNone/>
            </a:pPr>
            <a:r>
              <a:rPr lang="en-US" sz="1050" dirty="0">
                <a:solidFill>
                  <a:srgbClr val="3A453E"/>
                </a:solidFill>
                <a:latin typeface="Source Sans 3" pitchFamily="34" charset="0"/>
                <a:ea typeface="Source Sans 3" pitchFamily="34" charset="-122"/>
                <a:cs typeface="Source Sans 3" pitchFamily="34" charset="-120"/>
              </a:rPr>
              <a:t>University of Alberta: walk-up pantry empty after a few hours; campus food bank waitlist about six weeks.</a:t>
            </a:r>
            <a:endParaRPr lang="en-US" sz="1050" dirty="0"/>
          </a:p>
        </p:txBody>
      </p:sp>
      <p:sp>
        <p:nvSpPr>
          <p:cNvPr id="21" name="Text 19"/>
          <p:cNvSpPr txBox="1"/>
          <p:nvPr/>
        </p:nvSpPr>
        <p:spPr>
          <a:xfrm>
            <a:off x="6324448" y="2761488"/>
            <a:ext cx="5181448" cy="237744"/>
          </a:xfrm>
          <a:prstGeom prst="rect">
            <a:avLst/>
          </a:prstGeom>
          <a:noFill/>
          <a:ln/>
        </p:spPr>
        <p:txBody>
          <a:bodyPr wrap="square" lIns="0" tIns="0" rIns="0" bIns="0" rtlCol="0" anchor="t"/>
          <a:lstStyle/>
          <a:p>
            <a:pPr indent="0" marL="0">
              <a:buNone/>
            </a:pPr>
            <a:r>
              <a:rPr lang="en-US" sz="1200" b="1" dirty="0">
                <a:solidFill>
                  <a:srgbClr val="15201A"/>
                </a:solidFill>
                <a:latin typeface="Source Sans 3" pitchFamily="34" charset="0"/>
                <a:ea typeface="Source Sans 3" pitchFamily="34" charset="-122"/>
                <a:cs typeface="Source Sans 3" pitchFamily="34" charset="-120"/>
              </a:rPr>
              <a:t>The Eyeopener, Oct 27, 2026</a:t>
            </a:r>
            <a:endParaRPr lang="en-US" sz="1200" dirty="0"/>
          </a:p>
        </p:txBody>
      </p:sp>
      <p:sp>
        <p:nvSpPr>
          <p:cNvPr id="22" name="Text 20"/>
          <p:cNvSpPr txBox="1"/>
          <p:nvPr/>
        </p:nvSpPr>
        <p:spPr>
          <a:xfrm>
            <a:off x="6324448" y="2999232"/>
            <a:ext cx="5181448" cy="347472"/>
          </a:xfrm>
          <a:prstGeom prst="rect">
            <a:avLst/>
          </a:prstGeom>
          <a:noFill/>
          <a:ln/>
        </p:spPr>
        <p:txBody>
          <a:bodyPr wrap="square" lIns="0" tIns="0" rIns="0" bIns="0" rtlCol="0" anchor="t"/>
          <a:lstStyle/>
          <a:p>
            <a:pPr indent="0" marL="0">
              <a:buNone/>
            </a:pPr>
            <a:r>
              <a:rPr lang="en-US" sz="1050" dirty="0">
                <a:solidFill>
                  <a:srgbClr val="3A453E"/>
                </a:solidFill>
                <a:latin typeface="Source Sans 3" pitchFamily="34" charset="0"/>
                <a:ea typeface="Source Sans 3" pitchFamily="34" charset="-122"/>
                <a:cs typeface="Source Sans 3" pitchFamily="34" charset="-120"/>
              </a:rPr>
              <a:t>TMU: 48.5% food insecure; 20% had visited the food bank; 92.6% support more free on-campus food programs.</a:t>
            </a:r>
            <a:endParaRPr lang="en-US" sz="1050" dirty="0"/>
          </a:p>
        </p:txBody>
      </p:sp>
      <p:sp>
        <p:nvSpPr>
          <p:cNvPr id="23" name="Text 21"/>
          <p:cNvSpPr txBox="1"/>
          <p:nvPr/>
        </p:nvSpPr>
        <p:spPr>
          <a:xfrm>
            <a:off x="6324448" y="3401568"/>
            <a:ext cx="5181448" cy="237744"/>
          </a:xfrm>
          <a:prstGeom prst="rect">
            <a:avLst/>
          </a:prstGeom>
          <a:noFill/>
          <a:ln/>
        </p:spPr>
        <p:txBody>
          <a:bodyPr wrap="square" lIns="0" tIns="0" rIns="0" bIns="0" rtlCol="0" anchor="t"/>
          <a:lstStyle/>
          <a:p>
            <a:pPr indent="0" marL="0">
              <a:buNone/>
            </a:pPr>
            <a:r>
              <a:rPr lang="en-US" sz="1200" b="1" dirty="0">
                <a:solidFill>
                  <a:srgbClr val="15201A"/>
                </a:solidFill>
                <a:latin typeface="Source Sans 3" pitchFamily="34" charset="0"/>
                <a:ea typeface="Source Sans 3" pitchFamily="34" charset="-122"/>
                <a:cs typeface="Source Sans 3" pitchFamily="34" charset="-120"/>
              </a:rPr>
              <a:t>Western News, Oct 25, 2024</a:t>
            </a:r>
            <a:endParaRPr lang="en-US" sz="1200" dirty="0"/>
          </a:p>
        </p:txBody>
      </p:sp>
      <p:sp>
        <p:nvSpPr>
          <p:cNvPr id="24" name="Text 22"/>
          <p:cNvSpPr txBox="1"/>
          <p:nvPr/>
        </p:nvSpPr>
        <p:spPr>
          <a:xfrm>
            <a:off x="6324448" y="3639312"/>
            <a:ext cx="5181448" cy="347472"/>
          </a:xfrm>
          <a:prstGeom prst="rect">
            <a:avLst/>
          </a:prstGeom>
          <a:noFill/>
          <a:ln/>
        </p:spPr>
        <p:txBody>
          <a:bodyPr wrap="square" lIns="0" tIns="0" rIns="0" bIns="0" rtlCol="0" anchor="t"/>
          <a:lstStyle/>
          <a:p>
            <a:pPr indent="0" marL="0">
              <a:buNone/>
            </a:pPr>
            <a:r>
              <a:rPr lang="en-US" sz="1050" dirty="0">
                <a:solidFill>
                  <a:srgbClr val="3A453E"/>
                </a:solidFill>
                <a:latin typeface="Source Sans 3" pitchFamily="34" charset="0"/>
                <a:ea typeface="Source Sans 3" pitchFamily="34" charset="-122"/>
                <a:cs typeface="Source Sans 3" pitchFamily="34" charset="-120"/>
              </a:rPr>
              <a:t>Over 7,500 surplus meals from campus dining to 19 off-campus agencies since May 2024.</a:t>
            </a:r>
            <a:endParaRPr lang="en-US" sz="1050" dirty="0"/>
          </a:p>
        </p:txBody>
      </p:sp>
      <p:sp>
        <p:nvSpPr>
          <p:cNvPr id="25" name="Text 23"/>
          <p:cNvSpPr txBox="1"/>
          <p:nvPr/>
        </p:nvSpPr>
        <p:spPr>
          <a:xfrm>
            <a:off x="6324448" y="4041648"/>
            <a:ext cx="5181448" cy="237744"/>
          </a:xfrm>
          <a:prstGeom prst="rect">
            <a:avLst/>
          </a:prstGeom>
          <a:noFill/>
          <a:ln/>
        </p:spPr>
        <p:txBody>
          <a:bodyPr wrap="square" lIns="0" tIns="0" rIns="0" bIns="0" rtlCol="0" anchor="t"/>
          <a:lstStyle/>
          <a:p>
            <a:pPr indent="0" marL="0">
              <a:buNone/>
            </a:pPr>
            <a:r>
              <a:rPr lang="en-US" sz="1200" b="1" dirty="0">
                <a:solidFill>
                  <a:srgbClr val="15201A"/>
                </a:solidFill>
                <a:latin typeface="Source Sans 3" pitchFamily="34" charset="0"/>
                <a:ea typeface="Source Sans 3" pitchFamily="34" charset="-122"/>
                <a:cs typeface="Source Sans 3" pitchFamily="34" charset="-120"/>
              </a:rPr>
              <a:t>Donation of Food Act, 1994 (Ontario)</a:t>
            </a:r>
            <a:endParaRPr lang="en-US" sz="1200" dirty="0"/>
          </a:p>
        </p:txBody>
      </p:sp>
      <p:sp>
        <p:nvSpPr>
          <p:cNvPr id="26" name="Text 24"/>
          <p:cNvSpPr txBox="1"/>
          <p:nvPr/>
        </p:nvSpPr>
        <p:spPr>
          <a:xfrm>
            <a:off x="6324448" y="4279392"/>
            <a:ext cx="5181448" cy="347472"/>
          </a:xfrm>
          <a:prstGeom prst="rect">
            <a:avLst/>
          </a:prstGeom>
          <a:noFill/>
          <a:ln/>
        </p:spPr>
        <p:txBody>
          <a:bodyPr wrap="square" lIns="0" tIns="0" rIns="0" bIns="0" rtlCol="0" anchor="t"/>
          <a:lstStyle/>
          <a:p>
            <a:pPr indent="0" marL="0">
              <a:buNone/>
            </a:pPr>
            <a:r>
              <a:rPr lang="en-US" sz="1050" dirty="0">
                <a:solidFill>
                  <a:srgbClr val="3A453E"/>
                </a:solidFill>
                <a:latin typeface="Source Sans 3" pitchFamily="34" charset="0"/>
                <a:ea typeface="Source Sans 3" pitchFamily="34" charset="-122"/>
                <a:cs typeface="Source Sans 3" pitchFamily="34" charset="-120"/>
              </a:rPr>
              <a:t>Donors and distributors are not liable unless food was unfit and they acted with intent or reckless disregard.</a:t>
            </a:r>
            <a:endParaRPr lang="en-US" sz="1050" dirty="0"/>
          </a:p>
        </p:txBody>
      </p:sp>
      <p:sp>
        <p:nvSpPr>
          <p:cNvPr id="27" name="Text 25"/>
          <p:cNvSpPr txBox="1"/>
          <p:nvPr/>
        </p:nvSpPr>
        <p:spPr>
          <a:xfrm>
            <a:off x="6324448" y="4681728"/>
            <a:ext cx="5181448" cy="237744"/>
          </a:xfrm>
          <a:prstGeom prst="rect">
            <a:avLst/>
          </a:prstGeom>
          <a:noFill/>
          <a:ln/>
        </p:spPr>
        <p:txBody>
          <a:bodyPr wrap="square" lIns="0" tIns="0" rIns="0" bIns="0" rtlCol="0" anchor="t"/>
          <a:lstStyle/>
          <a:p>
            <a:pPr indent="0" marL="0">
              <a:buNone/>
            </a:pPr>
            <a:r>
              <a:rPr lang="en-US" sz="1200" b="1" dirty="0">
                <a:solidFill>
                  <a:srgbClr val="15201A"/>
                </a:solidFill>
                <a:latin typeface="Source Sans 3" pitchFamily="34" charset="0"/>
                <a:ea typeface="Source Sans 3" pitchFamily="34" charset="-122"/>
                <a:cs typeface="Source Sans 3" pitchFamily="34" charset="-120"/>
              </a:rPr>
              <a:t>Second Harvest, FoodRescue.ca</a:t>
            </a:r>
            <a:endParaRPr lang="en-US" sz="1200" dirty="0"/>
          </a:p>
        </p:txBody>
      </p:sp>
      <p:sp>
        <p:nvSpPr>
          <p:cNvPr id="28" name="Text 26"/>
          <p:cNvSpPr txBox="1"/>
          <p:nvPr/>
        </p:nvSpPr>
        <p:spPr>
          <a:xfrm>
            <a:off x="6324448" y="4919472"/>
            <a:ext cx="5181448" cy="347472"/>
          </a:xfrm>
          <a:prstGeom prst="rect">
            <a:avLst/>
          </a:prstGeom>
          <a:noFill/>
          <a:ln/>
        </p:spPr>
        <p:txBody>
          <a:bodyPr wrap="square" lIns="0" tIns="0" rIns="0" bIns="0" rtlCol="0" anchor="t"/>
          <a:lstStyle/>
          <a:p>
            <a:pPr indent="0" marL="0">
              <a:buNone/>
            </a:pPr>
            <a:r>
              <a:rPr lang="en-US" sz="1050" dirty="0">
                <a:solidFill>
                  <a:srgbClr val="3A453E"/>
                </a:solidFill>
                <a:latin typeface="Source Sans 3" pitchFamily="34" charset="0"/>
                <a:ea typeface="Source Sans 3" pitchFamily="34" charset="-122"/>
                <a:cs typeface="Source Sans 3" pitchFamily="34" charset="-120"/>
              </a:rPr>
              <a:t>Free surplus-food platform for charities and non-profits.</a:t>
            </a:r>
            <a:endParaRPr lang="en-US" sz="1050" dirty="0"/>
          </a:p>
        </p:txBody>
      </p:sp>
      <p:sp>
        <p:nvSpPr>
          <p:cNvPr id="29" name="Text 27"/>
          <p:cNvSpPr txBox="1"/>
          <p:nvPr/>
        </p:nvSpPr>
        <p:spPr>
          <a:xfrm>
            <a:off x="6324448" y="5321808"/>
            <a:ext cx="5181448" cy="237744"/>
          </a:xfrm>
          <a:prstGeom prst="rect">
            <a:avLst/>
          </a:prstGeom>
          <a:noFill/>
          <a:ln/>
        </p:spPr>
        <p:txBody>
          <a:bodyPr wrap="square" lIns="0" tIns="0" rIns="0" bIns="0" rtlCol="0" anchor="t"/>
          <a:lstStyle/>
          <a:p>
            <a:pPr indent="0" marL="0">
              <a:buNone/>
            </a:pPr>
            <a:r>
              <a:rPr lang="en-US" sz="1200" b="1" dirty="0">
                <a:solidFill>
                  <a:srgbClr val="15201A"/>
                </a:solidFill>
                <a:latin typeface="Source Sans 3" pitchFamily="34" charset="0"/>
                <a:ea typeface="Source Sans 3" pitchFamily="34" charset="-122"/>
                <a:cs typeface="Source Sans 3" pitchFamily="34" charset="-120"/>
              </a:rPr>
              <a:t>Western Libraries, Weldon Displays Policy</a:t>
            </a:r>
            <a:endParaRPr lang="en-US" sz="1200" dirty="0"/>
          </a:p>
        </p:txBody>
      </p:sp>
      <p:sp>
        <p:nvSpPr>
          <p:cNvPr id="30" name="Text 28"/>
          <p:cNvSpPr txBox="1"/>
          <p:nvPr/>
        </p:nvSpPr>
        <p:spPr>
          <a:xfrm>
            <a:off x="6324448" y="5559552"/>
            <a:ext cx="5181448" cy="347472"/>
          </a:xfrm>
          <a:prstGeom prst="rect">
            <a:avLst/>
          </a:prstGeom>
          <a:noFill/>
          <a:ln/>
        </p:spPr>
        <p:txBody>
          <a:bodyPr wrap="square" lIns="0" tIns="0" rIns="0" bIns="0" rtlCol="0" anchor="t"/>
          <a:lstStyle/>
          <a:p>
            <a:pPr indent="0" marL="0">
              <a:buNone/>
            </a:pPr>
            <a:r>
              <a:rPr lang="en-US" sz="1050" dirty="0">
                <a:solidFill>
                  <a:srgbClr val="3A453E"/>
                </a:solidFill>
                <a:latin typeface="Source Sans 3" pitchFamily="34" charset="0"/>
                <a:ea typeface="Source Sans 3" pitchFamily="34" charset="-122"/>
                <a:cs typeface="Source Sans 3" pitchFamily="34" charset="-120"/>
              </a:rPr>
              <a:t>Displays in Weldon are selected and authorized by Western Libraries.</a:t>
            </a:r>
            <a:endParaRPr lang="en-US" sz="105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rgbClr val="6B746D"/>
                </a:solidFill>
                <a:latin typeface="Source Sans 3"/>
                <a:ea typeface="Source Sans 3"/>
                <a:cs typeface="Source Sans 3"/>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4"/>
          <p:cNvSpPr/>
          <p:nvPr>
            <p:ph idx="104" type="title" hasCustomPrompt="1"/>
          </p:nvPr>
        </p:nvSpPr>
        <p:spPr>
          <a:xfrm>
            <a:off x="685800" y="502920"/>
            <a:ext cx="9692640" cy="1143000"/>
          </a:xfrm>
          <a:prstGeom prst="rect">
            <a:avLst/>
          </a:prstGeom>
          <a:noFill/>
          <a:ln/>
        </p:spPr>
        <p:txBody>
          <a:bodyPr wrap="square" lIns="0" tIns="0" rIns="0" bIns="0" rtlCol="0" anchor="t"/>
          <a:lstStyle/>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A2. Budget assumptions</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85800" y="1572768"/>
          <a:ext cx="10820095" cy="914400"/>
        </p:xfrm>
        <a:graphic>
          <a:graphicData uri="http://schemas.openxmlformats.org/drawingml/2006/table">
            <a:tbl>
              <a:tblPr/>
              <a:tblGrid>
                <a:gridCol w="2651760"/>
                <a:gridCol w="1143000"/>
                <a:gridCol w="7025335"/>
              </a:tblGrid>
              <a:tr h="374904">
                <a:tc>
                  <a:txBody>
                    <a:bodyPr/>
                    <a:lstStyle/>
                    <a:p>
                      <a:pPr indent="0" marL="0">
                        <a:buNone/>
                      </a:pPr>
                      <a:r>
                        <a:rPr lang="en-US" sz="1300" b="1" dirty="0">
                          <a:solidFill>
                            <a:srgbClr val="15201A"/>
                          </a:solidFill>
                          <a:latin typeface="Source Sans 3" pitchFamily="34" charset="0"/>
                          <a:ea typeface="Source Sans 3" pitchFamily="34" charset="-122"/>
                          <a:cs typeface="Source Sans 3" pitchFamily="34" charset="-120"/>
                        </a:rPr>
                        <a:t>Line</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15875" cap="flat" cmpd="sng" algn="ctr">
                      <a:solidFill>
                        <a:srgbClr val="15201A"/>
                      </a:solidFill>
                      <a:prstDash val="solid"/>
                      <a:round/>
                      <a:headEnd type="none" w="med" len="med"/>
                      <a:tailEnd type="none" w="med" len="med"/>
                    </a:lnB>
                    <a:solidFill>
                      <a:srgbClr val="F7F5EF"/>
                    </a:solidFill>
                  </a:tcPr>
                </a:tc>
                <a:tc>
                  <a:txBody>
                    <a:bodyPr/>
                    <a:lstStyle/>
                    <a:p>
                      <a:pPr indent="0" marL="0">
                        <a:buNone/>
                      </a:pPr>
                      <a:r>
                        <a:rPr lang="en-US" sz="1300" b="1" dirty="0">
                          <a:solidFill>
                            <a:srgbClr val="15201A"/>
                          </a:solidFill>
                          <a:latin typeface="Source Sans 3" pitchFamily="34" charset="0"/>
                          <a:ea typeface="Source Sans 3" pitchFamily="34" charset="-122"/>
                          <a:cs typeface="Source Sans 3" pitchFamily="34" charset="-120"/>
                        </a:rPr>
                        <a:t>Amount</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15875" cap="flat" cmpd="sng" algn="ctr">
                      <a:solidFill>
                        <a:srgbClr val="15201A"/>
                      </a:solidFill>
                      <a:prstDash val="solid"/>
                      <a:round/>
                      <a:headEnd type="none" w="med" len="med"/>
                      <a:tailEnd type="none" w="med" len="med"/>
                    </a:lnB>
                    <a:solidFill>
                      <a:srgbClr val="F7F5EF"/>
                    </a:solidFill>
                  </a:tcPr>
                </a:tc>
                <a:tc>
                  <a:txBody>
                    <a:bodyPr/>
                    <a:lstStyle/>
                    <a:p>
                      <a:pPr indent="0" marL="0">
                        <a:buNone/>
                      </a:pPr>
                      <a:r>
                        <a:rPr lang="en-US" sz="1300" b="1" dirty="0">
                          <a:solidFill>
                            <a:srgbClr val="15201A"/>
                          </a:solidFill>
                          <a:latin typeface="Source Sans 3" pitchFamily="34" charset="0"/>
                          <a:ea typeface="Source Sans 3" pitchFamily="34" charset="-122"/>
                          <a:cs typeface="Source Sans 3" pitchFamily="34" charset="-120"/>
                        </a:rPr>
                        <a:t>Basis</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15875" cap="flat" cmpd="sng" algn="ctr">
                      <a:solidFill>
                        <a:srgbClr val="15201A"/>
                      </a:solidFill>
                      <a:prstDash val="solid"/>
                      <a:round/>
                      <a:headEnd type="none" w="med" len="med"/>
                      <a:tailEnd type="none" w="med" len="med"/>
                    </a:lnB>
                    <a:solidFill>
                      <a:srgbClr val="F7F5EF"/>
                    </a:solidFill>
                  </a:tcPr>
                </a:tc>
              </a:tr>
              <a:tr h="374904">
                <a:tc>
                  <a:txBody>
                    <a:bodyPr/>
                    <a:lstStyle/>
                    <a:p>
                      <a:pPr indent="0" marL="0">
                        <a:buNone/>
                      </a:pPr>
                      <a:r>
                        <a:rPr lang="en-US" sz="1300" b="1" dirty="0">
                          <a:solidFill>
                            <a:srgbClr val="15201A"/>
                          </a:solidFill>
                          <a:latin typeface="Source Sans 3" pitchFamily="34" charset="0"/>
                          <a:ea typeface="Source Sans 3" pitchFamily="34" charset="-122"/>
                          <a:cs typeface="Source Sans 3" pitchFamily="34" charset="-120"/>
                        </a:rPr>
                        <a:t>Food seed stock</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300" dirty="0">
                          <a:solidFill>
                            <a:srgbClr val="3A453E"/>
                          </a:solidFill>
                          <a:latin typeface="Source Sans 3" pitchFamily="34" charset="0"/>
                          <a:ea typeface="Source Sans 3" pitchFamily="34" charset="-122"/>
                          <a:cs typeface="Source Sans 3" pitchFamily="34" charset="-120"/>
                        </a:rPr>
                        <a:t>$1,050</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300" dirty="0">
                          <a:solidFill>
                            <a:srgbClr val="3A453E"/>
                          </a:solidFill>
                          <a:latin typeface="Source Sans 3" pitchFamily="34" charset="0"/>
                          <a:ea typeface="Source Sans 3" pitchFamily="34" charset="-122"/>
                          <a:cs typeface="Source Sans 3" pitchFamily="34" charset="-120"/>
                        </a:rPr>
                        <a:t>About 420 shelf-stable items at $2.50, bought only after the grant is approved.</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374904">
                <a:tc>
                  <a:txBody>
                    <a:bodyPr/>
                    <a:lstStyle/>
                    <a:p>
                      <a:pPr indent="0" marL="0">
                        <a:buNone/>
                      </a:pPr>
                      <a:r>
                        <a:rPr lang="en-US" sz="1300" b="1" dirty="0">
                          <a:solidFill>
                            <a:srgbClr val="15201A"/>
                          </a:solidFill>
                          <a:latin typeface="Source Sans 3" pitchFamily="34" charset="0"/>
                          <a:ea typeface="Source Sans 3" pitchFamily="34" charset="-122"/>
                          <a:cs typeface="Source Sans 3" pitchFamily="34" charset="-120"/>
                        </a:rPr>
                        <a:t>Hygiene products</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300" dirty="0">
                          <a:solidFill>
                            <a:srgbClr val="3A453E"/>
                          </a:solidFill>
                          <a:latin typeface="Source Sans 3" pitchFamily="34" charset="0"/>
                          <a:ea typeface="Source Sans 3" pitchFamily="34" charset="-122"/>
                          <a:cs typeface="Source Sans 3" pitchFamily="34" charset="-120"/>
                        </a:rPr>
                        <a:t>$400</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300" dirty="0">
                          <a:solidFill>
                            <a:srgbClr val="3A453E"/>
                          </a:solidFill>
                          <a:latin typeface="Source Sans 3" pitchFamily="34" charset="0"/>
                          <a:ea typeface="Source Sans 3" pitchFamily="34" charset="-122"/>
                          <a:cs typeface="Source Sans 3" pitchFamily="34" charset="-120"/>
                        </a:rPr>
                        <a:t>Period products, first on the USC most-needed list, plus soap and toothpaste.</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374904">
                <a:tc>
                  <a:txBody>
                    <a:bodyPr/>
                    <a:lstStyle/>
                    <a:p>
                      <a:pPr indent="0" marL="0">
                        <a:buNone/>
                      </a:pPr>
                      <a:r>
                        <a:rPr lang="en-US" sz="1300" b="1" dirty="0">
                          <a:solidFill>
                            <a:srgbClr val="15201A"/>
                          </a:solidFill>
                          <a:latin typeface="Source Sans 3" pitchFamily="34" charset="0"/>
                          <a:ea typeface="Source Sans 3" pitchFamily="34" charset="-122"/>
                          <a:cs typeface="Source Sans 3" pitchFamily="34" charset="-120"/>
                        </a:rPr>
                        <a:t>Signs, labels and bins</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300" dirty="0">
                          <a:solidFill>
                            <a:srgbClr val="3A453E"/>
                          </a:solidFill>
                          <a:latin typeface="Source Sans 3" pitchFamily="34" charset="0"/>
                          <a:ea typeface="Source Sans 3" pitchFamily="34" charset="-122"/>
                          <a:cs typeface="Source Sans 3" pitchFamily="34" charset="-120"/>
                        </a:rPr>
                        <a:t>$300</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300" dirty="0">
                          <a:solidFill>
                            <a:srgbClr val="3A453E"/>
                          </a:solidFill>
                          <a:latin typeface="Source Sans 3" pitchFamily="34" charset="0"/>
                          <a:ea typeface="Source Sans 3" pitchFamily="34" charset="-122"/>
                          <a:cs typeface="Source Sans 3" pitchFamily="34" charset="-120"/>
                        </a:rPr>
                        <a:t>Shelf signs, QR labels and stock bins for two sites.</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374904">
                <a:tc>
                  <a:txBody>
                    <a:bodyPr/>
                    <a:lstStyle/>
                    <a:p>
                      <a:pPr indent="0" marL="0">
                        <a:buNone/>
                      </a:pPr>
                      <a:r>
                        <a:rPr lang="en-US" sz="1300" b="1" dirty="0">
                          <a:solidFill>
                            <a:srgbClr val="15201A"/>
                          </a:solidFill>
                          <a:latin typeface="Source Sans 3" pitchFamily="34" charset="0"/>
                          <a:ea typeface="Source Sans 3" pitchFamily="34" charset="-122"/>
                          <a:cs typeface="Source Sans 3" pitchFamily="34" charset="-120"/>
                        </a:rPr>
                        <a:t>Contingency</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300" dirty="0">
                          <a:solidFill>
                            <a:srgbClr val="3A453E"/>
                          </a:solidFill>
                          <a:latin typeface="Source Sans 3" pitchFamily="34" charset="0"/>
                          <a:ea typeface="Source Sans 3" pitchFamily="34" charset="-122"/>
                          <a:cs typeface="Source Sans 3" pitchFamily="34" charset="-120"/>
                        </a:rPr>
                        <a:t>$250</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300" dirty="0">
                          <a:solidFill>
                            <a:srgbClr val="3A453E"/>
                          </a:solidFill>
                          <a:latin typeface="Source Sans 3" pitchFamily="34" charset="0"/>
                          <a:ea typeface="Source Sans 3" pitchFamily="34" charset="-122"/>
                          <a:cs typeface="Source Sans 3" pitchFamily="34" charset="-120"/>
                        </a:rPr>
                        <a:t>10% of the request.</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374904">
                <a:tc>
                  <a:txBody>
                    <a:bodyPr/>
                    <a:lstStyle/>
                    <a:p>
                      <a:pPr indent="0" marL="0">
                        <a:buNone/>
                      </a:pPr>
                      <a:r>
                        <a:rPr lang="en-US" sz="1300" b="1" dirty="0">
                          <a:solidFill>
                            <a:srgbClr val="15201A"/>
                          </a:solidFill>
                          <a:latin typeface="Source Sans 3" pitchFamily="34" charset="0"/>
                          <a:ea typeface="Source Sans 3" pitchFamily="34" charset="-122"/>
                          <a:cs typeface="Source Sans 3" pitchFamily="34" charset="-120"/>
                        </a:rPr>
                        <a:t>Promotion</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300" dirty="0">
                          <a:solidFill>
                            <a:srgbClr val="3A453E"/>
                          </a:solidFill>
                          <a:latin typeface="Source Sans 3" pitchFamily="34" charset="0"/>
                          <a:ea typeface="Source Sans 3" pitchFamily="34" charset="-122"/>
                          <a:cs typeface="Source Sans 3" pitchFamily="34" charset="-120"/>
                        </a:rPr>
                        <a:t>$250</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300" dirty="0">
                          <a:solidFill>
                            <a:srgbClr val="3A453E"/>
                          </a:solidFill>
                          <a:latin typeface="Source Sans 3" pitchFamily="34" charset="0"/>
                          <a:ea typeface="Source Sans 3" pitchFamily="34" charset="-122"/>
                          <a:cs typeface="Source Sans 3" pitchFamily="34" charset="-120"/>
                        </a:rPr>
                        <a:t>Posters, QR stickers and social posts.</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374904">
                <a:tc>
                  <a:txBody>
                    <a:bodyPr/>
                    <a:lstStyle/>
                    <a:p>
                      <a:pPr indent="0" marL="0">
                        <a:buNone/>
                      </a:pPr>
                      <a:r>
                        <a:rPr lang="en-US" sz="1300" b="1" dirty="0">
                          <a:solidFill>
                            <a:srgbClr val="15201A"/>
                          </a:solidFill>
                          <a:latin typeface="Source Sans 3" pitchFamily="34" charset="0"/>
                          <a:ea typeface="Source Sans 3" pitchFamily="34" charset="-122"/>
                          <a:cs typeface="Source Sans 3" pitchFamily="34" charset="-120"/>
                        </a:rPr>
                        <a:t>Food-handler training</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300" dirty="0">
                          <a:solidFill>
                            <a:srgbClr val="3A453E"/>
                          </a:solidFill>
                          <a:latin typeface="Source Sans 3" pitchFamily="34" charset="0"/>
                          <a:ea typeface="Source Sans 3" pitchFamily="34" charset="-122"/>
                          <a:cs typeface="Source Sans 3" pitchFamily="34" charset="-120"/>
                        </a:rPr>
                        <a:t>$200</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300" dirty="0">
                          <a:solidFill>
                            <a:srgbClr val="3A453E"/>
                          </a:solidFill>
                          <a:latin typeface="Source Sans 3" pitchFamily="34" charset="0"/>
                          <a:ea typeface="Source Sans 3" pitchFamily="34" charset="-122"/>
                          <a:cs typeface="Source Sans 3" pitchFamily="34" charset="-120"/>
                        </a:rPr>
                        <a:t>Online certification for six volunteers.</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374904">
                <a:tc>
                  <a:txBody>
                    <a:bodyPr/>
                    <a:lstStyle/>
                    <a:p>
                      <a:pPr indent="0" marL="0">
                        <a:buNone/>
                      </a:pPr>
                      <a:r>
                        <a:rPr lang="en-US" sz="1300" b="1" dirty="0">
                          <a:solidFill>
                            <a:srgbClr val="15201A"/>
                          </a:solidFill>
                          <a:latin typeface="Source Sans 3" pitchFamily="34" charset="0"/>
                          <a:ea typeface="Source Sans 3" pitchFamily="34" charset="-122"/>
                          <a:cs typeface="Source Sans 3" pitchFamily="34" charset="-120"/>
                        </a:rPr>
                        <a:t>Hosting and domain</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300" dirty="0">
                          <a:solidFill>
                            <a:srgbClr val="3A453E"/>
                          </a:solidFill>
                          <a:latin typeface="Source Sans 3" pitchFamily="34" charset="0"/>
                          <a:ea typeface="Source Sans 3" pitchFamily="34" charset="-122"/>
                          <a:cs typeface="Source Sans 3" pitchFamily="34" charset="-120"/>
                        </a:rPr>
                        <a:t>$50</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300" dirty="0">
                          <a:solidFill>
                            <a:srgbClr val="3A453E"/>
                          </a:solidFill>
                          <a:latin typeface="Source Sans 3" pitchFamily="34" charset="0"/>
                          <a:ea typeface="Source Sans 3" pitchFamily="34" charset="-122"/>
                          <a:cs typeface="Source Sans 3" pitchFamily="34" charset="-120"/>
                        </a:rPr>
                        <a:t>Free hosting tiers and one year of a domain.</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374904">
                <a:tc>
                  <a:txBody>
                    <a:bodyPr/>
                    <a:lstStyle/>
                    <a:p>
                      <a:pPr indent="0" marL="0">
                        <a:buNone/>
                      </a:pPr>
                      <a:r>
                        <a:rPr lang="en-US" sz="1300" b="1" dirty="0">
                          <a:solidFill>
                            <a:srgbClr val="15201A"/>
                          </a:solidFill>
                          <a:latin typeface="Source Sans 3" pitchFamily="34" charset="0"/>
                          <a:ea typeface="Source Sans 3" pitchFamily="34" charset="-122"/>
                          <a:cs typeface="Source Sans 3" pitchFamily="34" charset="-120"/>
                        </a:rPr>
                        <a:t>Shelving, not requested</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300" dirty="0">
                          <a:solidFill>
                            <a:srgbClr val="3A453E"/>
                          </a:solidFill>
                          <a:latin typeface="Source Sans 3" pitchFamily="34" charset="0"/>
                          <a:ea typeface="Source Sans 3" pitchFamily="34" charset="-122"/>
                          <a:cs typeface="Source Sans 3" pitchFamily="34" charset="-120"/>
                        </a:rPr>
                        <a:t>In kind</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300" dirty="0">
                          <a:solidFill>
                            <a:srgbClr val="3A453E"/>
                          </a:solidFill>
                          <a:latin typeface="Source Sans 3" pitchFamily="34" charset="0"/>
                          <a:ea typeface="Source Sans 3" pitchFamily="34" charset="-122"/>
                          <a:cs typeface="Source Sans 3" pitchFamily="34" charset="-120"/>
                        </a:rPr>
                        <a:t>Borrowed from Food Support or the host building (no equipment purchases).</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374904">
                <a:tc>
                  <a:txBody>
                    <a:bodyPr/>
                    <a:lstStyle/>
                    <a:p>
                      <a:pPr indent="0" marL="0">
                        <a:buNone/>
                      </a:pPr>
                      <a:r>
                        <a:rPr lang="en-US" sz="1300" b="1" dirty="0">
                          <a:solidFill>
                            <a:srgbClr val="15201A"/>
                          </a:solidFill>
                          <a:latin typeface="Source Sans 3" pitchFamily="34" charset="0"/>
                          <a:ea typeface="Source Sans 3" pitchFamily="34" charset="-122"/>
                          <a:cs typeface="Source Sans 3" pitchFamily="34" charset="-120"/>
                        </a:rPr>
                        <a:t>Team match, not requested</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300" dirty="0">
                          <a:solidFill>
                            <a:srgbClr val="3A453E"/>
                          </a:solidFill>
                          <a:latin typeface="Source Sans 3" pitchFamily="34" charset="0"/>
                          <a:ea typeface="Source Sans 3" pitchFamily="34" charset="-122"/>
                          <a:cs typeface="Source Sans 3" pitchFamily="34" charset="-120"/>
                        </a:rPr>
                        <a:t>$250</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300" dirty="0">
                          <a:solidFill>
                            <a:srgbClr val="3A453E"/>
                          </a:solidFill>
                          <a:latin typeface="Source Sans 3" pitchFamily="34" charset="0"/>
                          <a:ea typeface="Source Sans 3" pitchFamily="34" charset="-122"/>
                          <a:cs typeface="Source Sans 3" pitchFamily="34" charset="-120"/>
                        </a:rPr>
                        <a:t>A 10% contribution from our team, which the Grants Committee prefers.</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bl>
          </a:graphicData>
        </a:graphic>
      </p:graphicFrame>
      <p:sp>
        <p:nvSpPr>
          <p:cNvPr id="4" name="Text 1"/>
          <p:cNvSpPr txBox="1"/>
          <p:nvPr/>
        </p:nvSpPr>
        <p:spPr>
          <a:xfrm>
            <a:off x="685800" y="5760720"/>
            <a:ext cx="10820095" cy="292608"/>
          </a:xfrm>
          <a:prstGeom prst="rect">
            <a:avLst/>
          </a:prstGeom>
          <a:noFill/>
          <a:ln/>
        </p:spPr>
        <p:txBody>
          <a:bodyPr wrap="square" lIns="0" tIns="0" rIns="0" bIns="0" rtlCol="0" anchor="t"/>
          <a:lstStyle/>
          <a:p>
            <a:pPr indent="0" marL="0">
              <a:buNone/>
            </a:pPr>
            <a:r>
              <a:rPr lang="en-US" sz="1300" dirty="0">
                <a:solidFill>
                  <a:srgbClr val="15201A"/>
                </a:solidFill>
                <a:latin typeface="Source Sans 3" pitchFamily="34" charset="0"/>
                <a:ea typeface="Source Sans 3" pitchFamily="34" charset="-122"/>
                <a:cs typeface="Source Sans 3" pitchFamily="34" charset="-120"/>
              </a:rPr>
              <a:t>To reach 1,000 items: about 420 bought, about 100 hygiene items, and the rest from partners, food drives and Food Support.</a:t>
            </a:r>
            <a:endParaRPr lang="en-US" sz="13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rgbClr val="6B746D"/>
                </a:solidFill>
                <a:latin typeface="Source Sans 3"/>
                <a:ea typeface="Source Sans 3"/>
                <a:cs typeface="Source Sans 3"/>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4"/>
          <p:cNvSpPr/>
          <p:nvPr>
            <p:ph idx="104" type="title" hasCustomPrompt="1"/>
          </p:nvPr>
        </p:nvSpPr>
        <p:spPr>
          <a:xfrm>
            <a:off x="685800" y="502920"/>
            <a:ext cx="9692640" cy="1143000"/>
          </a:xfrm>
          <a:prstGeom prst="rect">
            <a:avLst/>
          </a:prstGeom>
          <a:noFill/>
          <a:ln/>
        </p:spPr>
        <p:txBody>
          <a:bodyPr wrap="square" lIns="0" tIns="0" rIns="0" bIns="0" rtlCol="0" anchor="t"/>
          <a:lstStyle/>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A3. Options we ruled out</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85800" y="1600200"/>
          <a:ext cx="10820095" cy="914400"/>
        </p:xfrm>
        <a:graphic>
          <a:graphicData uri="http://schemas.openxmlformats.org/drawingml/2006/table">
            <a:tbl>
              <a:tblPr/>
              <a:tblGrid>
                <a:gridCol w="2743200"/>
                <a:gridCol w="2560320"/>
                <a:gridCol w="5516575"/>
              </a:tblGrid>
              <a:tr h="548640">
                <a:tc>
                  <a:txBody>
                    <a:bodyPr/>
                    <a:lstStyle/>
                    <a:p>
                      <a:pPr indent="0" marL="0">
                        <a:buNone/>
                      </a:pPr>
                      <a:r>
                        <a:rPr lang="en-US" sz="1300" b="1" dirty="0">
                          <a:solidFill>
                            <a:srgbClr val="15201A"/>
                          </a:solidFill>
                          <a:latin typeface="Source Sans 3" pitchFamily="34" charset="0"/>
                          <a:ea typeface="Source Sans 3" pitchFamily="34" charset="-122"/>
                          <a:cs typeface="Source Sans 3" pitchFamily="34" charset="-120"/>
                        </a:rPr>
                        <a:t>Option</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15875" cap="flat" cmpd="sng" algn="ctr">
                      <a:solidFill>
                        <a:srgbClr val="15201A"/>
                      </a:solidFill>
                      <a:prstDash val="solid"/>
                      <a:round/>
                      <a:headEnd type="none" w="med" len="med"/>
                      <a:tailEnd type="none" w="med" len="med"/>
                    </a:lnB>
                    <a:solidFill>
                      <a:srgbClr val="F7F5EF"/>
                    </a:solidFill>
                  </a:tcPr>
                </a:tc>
                <a:tc>
                  <a:txBody>
                    <a:bodyPr/>
                    <a:lstStyle/>
                    <a:p>
                      <a:pPr indent="0" marL="0">
                        <a:buNone/>
                      </a:pPr>
                      <a:r>
                        <a:rPr lang="en-US" sz="1300" b="1" dirty="0">
                          <a:solidFill>
                            <a:srgbClr val="15201A"/>
                          </a:solidFill>
                          <a:latin typeface="Source Sans 3" pitchFamily="34" charset="0"/>
                          <a:ea typeface="Source Sans 3" pitchFamily="34" charset="-122"/>
                          <a:cs typeface="Source Sans 3" pitchFamily="34" charset="-120"/>
                        </a:rPr>
                        <a:t>What it offers</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15875" cap="flat" cmpd="sng" algn="ctr">
                      <a:solidFill>
                        <a:srgbClr val="15201A"/>
                      </a:solidFill>
                      <a:prstDash val="solid"/>
                      <a:round/>
                      <a:headEnd type="none" w="med" len="med"/>
                      <a:tailEnd type="none" w="med" len="med"/>
                    </a:lnB>
                    <a:solidFill>
                      <a:srgbClr val="F7F5EF"/>
                    </a:solidFill>
                  </a:tcPr>
                </a:tc>
                <a:tc>
                  <a:txBody>
                    <a:bodyPr/>
                    <a:lstStyle/>
                    <a:p>
                      <a:pPr indent="0" marL="0">
                        <a:buNone/>
                      </a:pPr>
                      <a:r>
                        <a:rPr lang="en-US" sz="1300" b="1" dirty="0">
                          <a:solidFill>
                            <a:srgbClr val="15201A"/>
                          </a:solidFill>
                          <a:latin typeface="Source Sans 3" pitchFamily="34" charset="0"/>
                          <a:ea typeface="Source Sans 3" pitchFamily="34" charset="-122"/>
                          <a:cs typeface="Source Sans 3" pitchFamily="34" charset="-120"/>
                        </a:rPr>
                        <a:t>Why not on its own</a:t>
                      </a:r>
                      <a:endParaRPr lang="en-US" sz="13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15875" cap="flat" cmpd="sng" algn="ctr">
                      <a:solidFill>
                        <a:srgbClr val="15201A"/>
                      </a:solidFill>
                      <a:prstDash val="solid"/>
                      <a:round/>
                      <a:headEnd type="none" w="med" len="med"/>
                      <a:tailEnd type="none" w="med" len="med"/>
                    </a:lnB>
                    <a:solidFill>
                      <a:srgbClr val="F7F5EF"/>
                    </a:solidFill>
                  </a:tcPr>
                </a:tc>
              </a:tr>
              <a:tr h="548640">
                <a:tc>
                  <a:txBody>
                    <a:bodyPr/>
                    <a:lstStyle/>
                    <a:p>
                      <a:pPr indent="0" marL="0">
                        <a:buNone/>
                      </a:pPr>
                      <a:r>
                        <a:rPr lang="en-US" sz="1400" b="1" dirty="0">
                          <a:solidFill>
                            <a:srgbClr val="15201A"/>
                          </a:solidFill>
                          <a:latin typeface="Source Sans 3" pitchFamily="34" charset="0"/>
                          <a:ea typeface="Source Sans 3" pitchFamily="34" charset="-122"/>
                          <a:cs typeface="Source Sans 3" pitchFamily="34" charset="-120"/>
                        </a:rPr>
                        <a:t>Longer walk-in hours at UCC 40F</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A453E"/>
                          </a:solidFill>
                          <a:latin typeface="Source Sans 3" pitchFamily="34" charset="0"/>
                          <a:ea typeface="Source Sans 3" pitchFamily="34" charset="-122"/>
                          <a:cs typeface="Source Sans 3" pitchFamily="34" charset="-120"/>
                        </a:rPr>
                        <a:t>Familiar, staffed</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A453E"/>
                          </a:solidFill>
                          <a:latin typeface="Source Sans 3" pitchFamily="34" charset="0"/>
                          <a:ea typeface="Source Sans 3" pitchFamily="34" charset="-122"/>
                          <a:cs typeface="Source Sans 3" pitchFamily="34" charset="-120"/>
                        </a:rPr>
                        <a:t>Still one basement room, and every extra hour needs paid staff. No live stock or counts.</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548640">
                <a:tc>
                  <a:txBody>
                    <a:bodyPr/>
                    <a:lstStyle/>
                    <a:p>
                      <a:pPr indent="0" marL="0">
                        <a:buNone/>
                      </a:pPr>
                      <a:r>
                        <a:rPr lang="en-US" sz="1400" b="1" dirty="0">
                          <a:solidFill>
                            <a:srgbClr val="15201A"/>
                          </a:solidFill>
                          <a:latin typeface="Source Sans 3" pitchFamily="34" charset="0"/>
                          <a:ea typeface="Source Sans 3" pitchFamily="34" charset="-122"/>
                          <a:cs typeface="Source Sans 3" pitchFamily="34" charset="-120"/>
                        </a:rPr>
                        <a:t>More hampers</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A453E"/>
                          </a:solidFill>
                          <a:latin typeface="Source Sans 3" pitchFamily="34" charset="0"/>
                          <a:ea typeface="Source Sans 3" pitchFamily="34" charset="-122"/>
                          <a:cs typeface="Source Sans 3" pitchFamily="34" charset="-120"/>
                        </a:rPr>
                        <a:t>Proven, private</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A453E"/>
                          </a:solidFill>
                          <a:latin typeface="Source Sans 3" pitchFamily="34" charset="0"/>
                          <a:ea typeface="Source Sans 3" pitchFamily="34" charset="-122"/>
                          <a:cs typeface="Source Sans 3" pitchFamily="34" charset="-120"/>
                        </a:rPr>
                        <a:t>Still a form and at least 48 hours. FoodLink lists hampers next to the shelves.</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548640">
                <a:tc>
                  <a:txBody>
                    <a:bodyPr/>
                    <a:lstStyle/>
                    <a:p>
                      <a:pPr indent="0" marL="0">
                        <a:buNone/>
                      </a:pPr>
                      <a:r>
                        <a:rPr lang="en-US" sz="1400" b="1" dirty="0">
                          <a:solidFill>
                            <a:srgbClr val="15201A"/>
                          </a:solidFill>
                          <a:latin typeface="Source Sans 3" pitchFamily="34" charset="0"/>
                          <a:ea typeface="Source Sans 3" pitchFamily="34" charset="-122"/>
                          <a:cs typeface="Source Sans 3" pitchFamily="34" charset="-120"/>
                        </a:rPr>
                        <a:t>Community fridge</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A453E"/>
                          </a:solidFill>
                          <a:latin typeface="Source Sans 3" pitchFamily="34" charset="0"/>
                          <a:ea typeface="Source Sans 3" pitchFamily="34" charset="-122"/>
                          <a:cs typeface="Source Sans 3" pitchFamily="34" charset="-120"/>
                        </a:rPr>
                        <a:t>Fresh food</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A453E"/>
                          </a:solidFill>
                          <a:latin typeface="Source Sans 3" pitchFamily="34" charset="0"/>
                          <a:ea typeface="Source Sans 3" pitchFamily="34" charset="-122"/>
                          <a:cs typeface="Source Sans 3" pitchFamily="34" charset="-120"/>
                        </a:rPr>
                        <a:t>Needs temperature logs, cleaning and public-health rules. A phase-two option.</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548640">
                <a:tc>
                  <a:txBody>
                    <a:bodyPr/>
                    <a:lstStyle/>
                    <a:p>
                      <a:pPr indent="0" marL="0">
                        <a:buNone/>
                      </a:pPr>
                      <a:r>
                        <a:rPr lang="en-US" sz="1400" b="1" dirty="0">
                          <a:solidFill>
                            <a:srgbClr val="15201A"/>
                          </a:solidFill>
                          <a:latin typeface="Source Sans 3" pitchFamily="34" charset="0"/>
                          <a:ea typeface="Source Sans 3" pitchFamily="34" charset="-122"/>
                          <a:cs typeface="Source Sans 3" pitchFamily="34" charset="-120"/>
                        </a:rPr>
                        <a:t>FoodRescue.ca alone</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A453E"/>
                          </a:solidFill>
                          <a:latin typeface="Source Sans 3" pitchFamily="34" charset="0"/>
                          <a:ea typeface="Source Sans 3" pitchFamily="34" charset="-122"/>
                          <a:cs typeface="Source Sans 3" pitchFamily="34" charset="-120"/>
                        </a:rPr>
                        <a:t>Free surplus for non-profits</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A453E"/>
                          </a:solidFill>
                          <a:latin typeface="Source Sans 3" pitchFamily="34" charset="0"/>
                          <a:ea typeface="Source Sans 3" pitchFamily="34" charset="-122"/>
                          <a:cs typeface="Source Sans 3" pitchFamily="34" charset="-120"/>
                        </a:rPr>
                        <a:t>Built for agencies collecting in bulk, not students. Food Support can join it to stock the shelves.</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548640">
                <a:tc>
                  <a:txBody>
                    <a:bodyPr/>
                    <a:lstStyle/>
                    <a:p>
                      <a:pPr indent="0" marL="0">
                        <a:buNone/>
                      </a:pPr>
                      <a:r>
                        <a:rPr lang="en-US" sz="1400" b="1" dirty="0">
                          <a:solidFill>
                            <a:srgbClr val="15201A"/>
                          </a:solidFill>
                          <a:latin typeface="Source Sans 3" pitchFamily="34" charset="0"/>
                          <a:ea typeface="Source Sans 3" pitchFamily="34" charset="-122"/>
                          <a:cs typeface="Source Sans 3" pitchFamily="34" charset="-120"/>
                        </a:rPr>
                        <a:t>Too Good To Go</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A453E"/>
                          </a:solidFill>
                          <a:latin typeface="Source Sans 3" pitchFamily="34" charset="0"/>
                          <a:ea typeface="Source Sans 3" pitchFamily="34" charset="-122"/>
                          <a:cs typeface="Source Sans 3" pitchFamily="34" charset="-120"/>
                        </a:rPr>
                        <a:t>Cheap surplus bags</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A453E"/>
                          </a:solidFill>
                          <a:latin typeface="Source Sans 3" pitchFamily="34" charset="0"/>
                          <a:ea typeface="Source Sans 3" pitchFamily="34" charset="-122"/>
                          <a:cs typeface="Source Sans 3" pitchFamily="34" charset="-120"/>
                        </a:rPr>
                        <a:t>Costs money and is mostly off campus.</a:t>
                      </a:r>
                      <a:endParaRPr lang="en-US" sz="1400" dirty="0">
                        <a:latin typeface="Source Sans 3" charset="0"/>
                        <a:ea typeface="Source Sans 3" charset="0"/>
                        <a:cs typeface="Source Sans 3" charset="0"/>
                      </a:endParaRPr>
                    </a:p>
                  </a:txBody>
                  <a:tcPr marL="0" marR="1524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bl>
          </a:graphicData>
        </a:graphic>
      </p:graphicFrame>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rgbClr val="6B746D"/>
                </a:solidFill>
                <a:latin typeface="Source Sans 3"/>
                <a:ea typeface="Source Sans 3"/>
                <a:cs typeface="Source Sans 3"/>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4"/>
          <p:cNvSpPr/>
          <p:nvPr>
            <p:ph idx="104" type="title" hasCustomPrompt="1"/>
          </p:nvPr>
        </p:nvSpPr>
        <p:spPr>
          <a:xfrm>
            <a:off x="685800" y="502920"/>
            <a:ext cx="9692640" cy="1143000"/>
          </a:xfrm>
          <a:prstGeom prst="rect">
            <a:avLst/>
          </a:prstGeom>
          <a:noFill/>
          <a:ln/>
        </p:spPr>
        <p:txBody>
          <a:bodyPr wrap="square" lIns="0" tIns="0" rIns="0" bIns="0" rtlCol="0" anchor="t"/>
          <a:lstStyle/>
          <a:p>
            <a:pPr algn="l" indent="0" marL="0">
              <a:lnSpc>
                <a:spcPct val="98000"/>
              </a:lnSpc>
              <a:buNone/>
            </a:pPr>
            <a:r>
              <a:rPr lang="en-US" sz="3000" dirty="0">
                <a:solidFill>
                  <a:srgbClr val="15201A"/>
                </a:solidFill>
                <a:latin typeface="Source Serif 4" pitchFamily="34" charset="0"/>
                <a:ea typeface="Source Serif 4" pitchFamily="34" charset="-122"/>
                <a:cs typeface="Source Serif 4" pitchFamily="34" charset="-120"/>
              </a:rPr>
              <a:t>A4. Questions we expect</a:t>
            </a:r>
            <a:endParaRPr lang="en-US" sz="3000" dirty="0"/>
          </a:p>
        </p:txBody>
      </p:sp>
      <p:sp>
        <p:nvSpPr>
          <p:cNvPr id="3" name="Shape 1"/>
          <p:cNvSpPr/>
          <p:nvPr/>
        </p:nvSpPr>
        <p:spPr>
          <a:xfrm>
            <a:off x="685800" y="1481328"/>
            <a:ext cx="5204308" cy="0"/>
          </a:xfrm>
          <a:prstGeom prst="line">
            <a:avLst/>
          </a:prstGeom>
          <a:noFill/>
          <a:ln w="9525">
            <a:solidFill>
              <a:srgbClr val="D9D4C7"/>
            </a:solidFill>
            <a:prstDash val="solid"/>
          </a:ln>
        </p:spPr>
      </p:sp>
      <p:sp>
        <p:nvSpPr>
          <p:cNvPr id="4" name="Text 2"/>
          <p:cNvSpPr txBox="1"/>
          <p:nvPr/>
        </p:nvSpPr>
        <p:spPr>
          <a:xfrm>
            <a:off x="685800" y="1572768"/>
            <a:ext cx="5204308" cy="310896"/>
          </a:xfrm>
          <a:prstGeom prst="rect">
            <a:avLst/>
          </a:prstGeom>
          <a:noFill/>
          <a:ln/>
        </p:spPr>
        <p:txBody>
          <a:bodyPr wrap="square" lIns="0" tIns="0" rIns="0" bIns="0" rtlCol="0" anchor="t"/>
          <a:lstStyle/>
          <a:p>
            <a:pPr indent="0" marL="0">
              <a:buNone/>
            </a:pPr>
            <a:r>
              <a:rPr lang="en-US" sz="1500" b="1" dirty="0">
                <a:solidFill>
                  <a:srgbClr val="15201A"/>
                </a:solidFill>
                <a:latin typeface="Source Sans 3" pitchFamily="34" charset="0"/>
                <a:ea typeface="Source Sans 3" pitchFamily="34" charset="-122"/>
                <a:cs typeface="Source Sans 3" pitchFamily="34" charset="-120"/>
              </a:rPr>
              <a:t>Isn’t this just walk-ins again?</a:t>
            </a:r>
            <a:endParaRPr lang="en-US" sz="1500" dirty="0"/>
          </a:p>
        </p:txBody>
      </p:sp>
      <p:sp>
        <p:nvSpPr>
          <p:cNvPr id="5" name="Text 3"/>
          <p:cNvSpPr txBox="1"/>
          <p:nvPr/>
        </p:nvSpPr>
        <p:spPr>
          <a:xfrm>
            <a:off x="685800" y="1911096"/>
            <a:ext cx="5204308" cy="658368"/>
          </a:xfrm>
          <a:prstGeom prst="rect">
            <a:avLst/>
          </a:prstGeom>
          <a:noFill/>
          <a:ln/>
        </p:spPr>
        <p:txBody>
          <a:bodyPr wrap="square" lIns="0" tIns="0" rIns="0" bIns="0" rtlCol="0" anchor="t"/>
          <a:lstStyle/>
          <a:p>
            <a:pPr indent="0" marL="0">
              <a:buNone/>
            </a:pPr>
            <a:r>
              <a:rPr lang="en-US" sz="1300" dirty="0">
                <a:solidFill>
                  <a:srgbClr val="3A453E"/>
                </a:solidFill>
                <a:latin typeface="Source Sans 3" pitchFamily="34" charset="0"/>
                <a:ea typeface="Source Sans 3" pitchFamily="34" charset="-122"/>
                <a:cs typeface="Source Sans 3" pitchFamily="34" charset="-120"/>
              </a:rPr>
              <a:t>Walk-up access, but every restock is counted and logged: the accountability the USC said walk-ins lacked.</a:t>
            </a:r>
            <a:endParaRPr lang="en-US" sz="1300" dirty="0"/>
          </a:p>
        </p:txBody>
      </p:sp>
      <p:sp>
        <p:nvSpPr>
          <p:cNvPr id="6" name="Shape 4"/>
          <p:cNvSpPr/>
          <p:nvPr/>
        </p:nvSpPr>
        <p:spPr>
          <a:xfrm>
            <a:off x="6301588" y="1481328"/>
            <a:ext cx="5204308" cy="0"/>
          </a:xfrm>
          <a:prstGeom prst="line">
            <a:avLst/>
          </a:prstGeom>
          <a:noFill/>
          <a:ln w="9525">
            <a:solidFill>
              <a:srgbClr val="D9D4C7"/>
            </a:solidFill>
            <a:prstDash val="solid"/>
          </a:ln>
        </p:spPr>
      </p:sp>
      <p:sp>
        <p:nvSpPr>
          <p:cNvPr id="7" name="Text 5"/>
          <p:cNvSpPr txBox="1"/>
          <p:nvPr/>
        </p:nvSpPr>
        <p:spPr>
          <a:xfrm>
            <a:off x="6301588" y="1572768"/>
            <a:ext cx="5204308" cy="310896"/>
          </a:xfrm>
          <a:prstGeom prst="rect">
            <a:avLst/>
          </a:prstGeom>
          <a:noFill/>
          <a:ln/>
        </p:spPr>
        <p:txBody>
          <a:bodyPr wrap="square" lIns="0" tIns="0" rIns="0" bIns="0" rtlCol="0" anchor="t"/>
          <a:lstStyle/>
          <a:p>
            <a:pPr indent="0" marL="0">
              <a:buNone/>
            </a:pPr>
            <a:r>
              <a:rPr lang="en-US" sz="1500" b="1" dirty="0">
                <a:solidFill>
                  <a:srgbClr val="15201A"/>
                </a:solidFill>
                <a:latin typeface="Source Sans 3" pitchFamily="34" charset="0"/>
                <a:ea typeface="Source Sans 3" pitchFamily="34" charset="-122"/>
                <a:cs typeface="Source Sans 3" pitchFamily="34" charset="-120"/>
              </a:rPr>
              <a:t>The USC already lists walk-in hours. Why shelves?</a:t>
            </a:r>
            <a:endParaRPr lang="en-US" sz="1500" dirty="0"/>
          </a:p>
        </p:txBody>
      </p:sp>
      <p:sp>
        <p:nvSpPr>
          <p:cNvPr id="8" name="Text 6"/>
          <p:cNvSpPr txBox="1"/>
          <p:nvPr/>
        </p:nvSpPr>
        <p:spPr>
          <a:xfrm>
            <a:off x="6301588" y="1911096"/>
            <a:ext cx="5204308" cy="658368"/>
          </a:xfrm>
          <a:prstGeom prst="rect">
            <a:avLst/>
          </a:prstGeom>
          <a:noFill/>
          <a:ln/>
        </p:spPr>
        <p:txBody>
          <a:bodyPr wrap="square" lIns="0" tIns="0" rIns="0" bIns="0" rtlCol="0" anchor="t"/>
          <a:lstStyle/>
          <a:p>
            <a:pPr indent="0" marL="0">
              <a:buNone/>
            </a:pPr>
            <a:r>
              <a:rPr lang="en-US" sz="1300" dirty="0">
                <a:solidFill>
                  <a:srgbClr val="3A453E"/>
                </a:solidFill>
                <a:latin typeface="Source Sans 3" pitchFamily="34" charset="0"/>
                <a:ea typeface="Source Sans 3" pitchFamily="34" charset="-122"/>
                <a:cs typeface="Source Sans 3" pitchFamily="34" charset="-120"/>
              </a:rPr>
              <a:t>UCC 40F is one basement room open 24 hours a week. Shelves in busy buildings reach students evenings and weekends.</a:t>
            </a:r>
            <a:endParaRPr lang="en-US" sz="1300" dirty="0"/>
          </a:p>
        </p:txBody>
      </p:sp>
      <p:sp>
        <p:nvSpPr>
          <p:cNvPr id="9" name="Shape 7"/>
          <p:cNvSpPr/>
          <p:nvPr/>
        </p:nvSpPr>
        <p:spPr>
          <a:xfrm>
            <a:off x="685800" y="2578608"/>
            <a:ext cx="5204308" cy="0"/>
          </a:xfrm>
          <a:prstGeom prst="line">
            <a:avLst/>
          </a:prstGeom>
          <a:noFill/>
          <a:ln w="9525">
            <a:solidFill>
              <a:srgbClr val="D9D4C7"/>
            </a:solidFill>
            <a:prstDash val="solid"/>
          </a:ln>
        </p:spPr>
      </p:sp>
      <p:sp>
        <p:nvSpPr>
          <p:cNvPr id="10" name="Text 8"/>
          <p:cNvSpPr txBox="1"/>
          <p:nvPr/>
        </p:nvSpPr>
        <p:spPr>
          <a:xfrm>
            <a:off x="685800" y="2670048"/>
            <a:ext cx="5204308" cy="310896"/>
          </a:xfrm>
          <a:prstGeom prst="rect">
            <a:avLst/>
          </a:prstGeom>
          <a:noFill/>
          <a:ln/>
        </p:spPr>
        <p:txBody>
          <a:bodyPr wrap="square" lIns="0" tIns="0" rIns="0" bIns="0" rtlCol="0" anchor="t"/>
          <a:lstStyle/>
          <a:p>
            <a:pPr indent="0" marL="0">
              <a:buNone/>
            </a:pPr>
            <a:r>
              <a:rPr lang="en-US" sz="1500" b="1" dirty="0">
                <a:solidFill>
                  <a:srgbClr val="15201A"/>
                </a:solidFill>
                <a:latin typeface="Source Sans 3" pitchFamily="34" charset="0"/>
                <a:ea typeface="Source Sans 3" pitchFamily="34" charset="-122"/>
                <a:cs typeface="Source Sans 3" pitchFamily="34" charset="-120"/>
              </a:rPr>
              <a:t>What stops one person emptying a shelf?</a:t>
            </a:r>
            <a:endParaRPr lang="en-US" sz="1500" dirty="0"/>
          </a:p>
        </p:txBody>
      </p:sp>
      <p:sp>
        <p:nvSpPr>
          <p:cNvPr id="11" name="Text 9"/>
          <p:cNvSpPr txBox="1"/>
          <p:nvPr/>
        </p:nvSpPr>
        <p:spPr>
          <a:xfrm>
            <a:off x="685800" y="3008376"/>
            <a:ext cx="5204308" cy="658368"/>
          </a:xfrm>
          <a:prstGeom prst="rect">
            <a:avLst/>
          </a:prstGeom>
          <a:noFill/>
          <a:ln/>
        </p:spPr>
        <p:txBody>
          <a:bodyPr wrap="square" lIns="0" tIns="0" rIns="0" bIns="0" rtlCol="0" anchor="t"/>
          <a:lstStyle/>
          <a:p>
            <a:pPr indent="0" marL="0">
              <a:buNone/>
            </a:pPr>
            <a:r>
              <a:rPr lang="en-US" sz="1300" dirty="0">
                <a:solidFill>
                  <a:srgbClr val="3A453E"/>
                </a:solidFill>
                <a:latin typeface="Source Sans 3" pitchFamily="34" charset="0"/>
                <a:ea typeface="Source Sans 3" pitchFamily="34" charset="-122"/>
                <a:cs typeface="Source Sans 3" pitchFamily="34" charset="-120"/>
              </a:rPr>
              <a:t>A posted guide, two restocks a day, and live counts that show rushes so stock can move.</a:t>
            </a:r>
            <a:endParaRPr lang="en-US" sz="1300" dirty="0"/>
          </a:p>
        </p:txBody>
      </p:sp>
      <p:sp>
        <p:nvSpPr>
          <p:cNvPr id="12" name="Shape 10"/>
          <p:cNvSpPr/>
          <p:nvPr/>
        </p:nvSpPr>
        <p:spPr>
          <a:xfrm>
            <a:off x="6301588" y="2578608"/>
            <a:ext cx="5204308" cy="0"/>
          </a:xfrm>
          <a:prstGeom prst="line">
            <a:avLst/>
          </a:prstGeom>
          <a:noFill/>
          <a:ln w="9525">
            <a:solidFill>
              <a:srgbClr val="D9D4C7"/>
            </a:solidFill>
            <a:prstDash val="solid"/>
          </a:ln>
        </p:spPr>
      </p:sp>
      <p:sp>
        <p:nvSpPr>
          <p:cNvPr id="13" name="Text 11"/>
          <p:cNvSpPr txBox="1"/>
          <p:nvPr/>
        </p:nvSpPr>
        <p:spPr>
          <a:xfrm>
            <a:off x="6301588" y="2670048"/>
            <a:ext cx="5204308" cy="310896"/>
          </a:xfrm>
          <a:prstGeom prst="rect">
            <a:avLst/>
          </a:prstGeom>
          <a:noFill/>
          <a:ln/>
        </p:spPr>
        <p:txBody>
          <a:bodyPr wrap="square" lIns="0" tIns="0" rIns="0" bIns="0" rtlCol="0" anchor="t"/>
          <a:lstStyle/>
          <a:p>
            <a:pPr indent="0" marL="0">
              <a:buNone/>
            </a:pPr>
            <a:r>
              <a:rPr lang="en-US" sz="1500" b="1" dirty="0">
                <a:solidFill>
                  <a:srgbClr val="15201A"/>
                </a:solidFill>
                <a:latin typeface="Source Sans 3" pitchFamily="34" charset="0"/>
                <a:ea typeface="Source Sans 3" pitchFamily="34" charset="-122"/>
                <a:cs typeface="Source Sans 3" pitchFamily="34" charset="-120"/>
              </a:rPr>
              <a:t>Who restocks?</a:t>
            </a:r>
            <a:endParaRPr lang="en-US" sz="1500" dirty="0"/>
          </a:p>
        </p:txBody>
      </p:sp>
      <p:sp>
        <p:nvSpPr>
          <p:cNvPr id="14" name="Text 12"/>
          <p:cNvSpPr txBox="1"/>
          <p:nvPr/>
        </p:nvSpPr>
        <p:spPr>
          <a:xfrm>
            <a:off x="6301588" y="3008376"/>
            <a:ext cx="5204308" cy="658368"/>
          </a:xfrm>
          <a:prstGeom prst="rect">
            <a:avLst/>
          </a:prstGeom>
          <a:noFill/>
          <a:ln/>
        </p:spPr>
        <p:txBody>
          <a:bodyPr wrap="square" lIns="0" tIns="0" rIns="0" bIns="0" rtlCol="0" anchor="t"/>
          <a:lstStyle/>
          <a:p>
            <a:pPr indent="0" marL="0">
              <a:buNone/>
            </a:pPr>
            <a:r>
              <a:rPr lang="en-US" sz="1300" dirty="0">
                <a:solidFill>
                  <a:srgbClr val="3A453E"/>
                </a:solidFill>
                <a:latin typeface="Source Sans 3" pitchFamily="34" charset="0"/>
                <a:ea typeface="Source Sans 3" pitchFamily="34" charset="-122"/>
                <a:cs typeface="Source Sans 3" pitchFamily="34" charset="-120"/>
              </a:rPr>
              <a:t>Six certified volunteers on 15-minute check-ins, with Food Support staff covering gaps.</a:t>
            </a:r>
            <a:endParaRPr lang="en-US" sz="1300" dirty="0"/>
          </a:p>
        </p:txBody>
      </p:sp>
      <p:sp>
        <p:nvSpPr>
          <p:cNvPr id="15" name="Shape 13"/>
          <p:cNvSpPr/>
          <p:nvPr/>
        </p:nvSpPr>
        <p:spPr>
          <a:xfrm>
            <a:off x="685800" y="3675888"/>
            <a:ext cx="5204308" cy="0"/>
          </a:xfrm>
          <a:prstGeom prst="line">
            <a:avLst/>
          </a:prstGeom>
          <a:noFill/>
          <a:ln w="9525">
            <a:solidFill>
              <a:srgbClr val="D9D4C7"/>
            </a:solidFill>
            <a:prstDash val="solid"/>
          </a:ln>
        </p:spPr>
      </p:sp>
      <p:sp>
        <p:nvSpPr>
          <p:cNvPr id="16" name="Text 14"/>
          <p:cNvSpPr txBox="1"/>
          <p:nvPr/>
        </p:nvSpPr>
        <p:spPr>
          <a:xfrm>
            <a:off x="685800" y="3767328"/>
            <a:ext cx="5204308" cy="310896"/>
          </a:xfrm>
          <a:prstGeom prst="rect">
            <a:avLst/>
          </a:prstGeom>
          <a:noFill/>
          <a:ln/>
        </p:spPr>
        <p:txBody>
          <a:bodyPr wrap="square" lIns="0" tIns="0" rIns="0" bIns="0" rtlCol="0" anchor="t"/>
          <a:lstStyle/>
          <a:p>
            <a:pPr indent="0" marL="0">
              <a:buNone/>
            </a:pPr>
            <a:r>
              <a:rPr lang="en-US" sz="1500" b="1" dirty="0">
                <a:solidFill>
                  <a:srgbClr val="15201A"/>
                </a:solidFill>
                <a:latin typeface="Source Sans 3" pitchFamily="34" charset="0"/>
                <a:ea typeface="Source Sans 3" pitchFamily="34" charset="-122"/>
                <a:cs typeface="Source Sans 3" pitchFamily="34" charset="-120"/>
              </a:rPr>
              <a:t>Is handing out donated food safe and legal?</a:t>
            </a:r>
            <a:endParaRPr lang="en-US" sz="1500" dirty="0"/>
          </a:p>
        </p:txBody>
      </p:sp>
      <p:sp>
        <p:nvSpPr>
          <p:cNvPr id="17" name="Text 15"/>
          <p:cNvSpPr txBox="1"/>
          <p:nvPr/>
        </p:nvSpPr>
        <p:spPr>
          <a:xfrm>
            <a:off x="685800" y="4105656"/>
            <a:ext cx="5204308" cy="658368"/>
          </a:xfrm>
          <a:prstGeom prst="rect">
            <a:avLst/>
          </a:prstGeom>
          <a:noFill/>
          <a:ln/>
        </p:spPr>
        <p:txBody>
          <a:bodyPr wrap="square" lIns="0" tIns="0" rIns="0" bIns="0" rtlCol="0" anchor="t"/>
          <a:lstStyle/>
          <a:p>
            <a:pPr indent="0" marL="0">
              <a:buNone/>
            </a:pPr>
            <a:r>
              <a:rPr lang="en-US" sz="1300" dirty="0">
                <a:solidFill>
                  <a:srgbClr val="3A453E"/>
                </a:solidFill>
                <a:latin typeface="Source Sans 3" pitchFamily="34" charset="0"/>
                <a:ea typeface="Source Sans 3" pitchFamily="34" charset="-122"/>
                <a:cs typeface="Source Sans 3" pitchFamily="34" charset="-120"/>
              </a:rPr>
              <a:t>Sealed, labelled, in-date food only, enforced in the app. Ontario’s Donation of Food Act protects good-faith donors.</a:t>
            </a:r>
            <a:endParaRPr lang="en-US" sz="1300" dirty="0"/>
          </a:p>
        </p:txBody>
      </p:sp>
      <p:sp>
        <p:nvSpPr>
          <p:cNvPr id="18" name="Shape 16"/>
          <p:cNvSpPr/>
          <p:nvPr/>
        </p:nvSpPr>
        <p:spPr>
          <a:xfrm>
            <a:off x="6301588" y="3675888"/>
            <a:ext cx="5204308" cy="0"/>
          </a:xfrm>
          <a:prstGeom prst="line">
            <a:avLst/>
          </a:prstGeom>
          <a:noFill/>
          <a:ln w="9525">
            <a:solidFill>
              <a:srgbClr val="D9D4C7"/>
            </a:solidFill>
            <a:prstDash val="solid"/>
          </a:ln>
        </p:spPr>
      </p:sp>
      <p:sp>
        <p:nvSpPr>
          <p:cNvPr id="19" name="Text 17"/>
          <p:cNvSpPr txBox="1"/>
          <p:nvPr/>
        </p:nvSpPr>
        <p:spPr>
          <a:xfrm>
            <a:off x="6301588" y="3767328"/>
            <a:ext cx="5204308" cy="310896"/>
          </a:xfrm>
          <a:prstGeom prst="rect">
            <a:avLst/>
          </a:prstGeom>
          <a:noFill/>
          <a:ln/>
        </p:spPr>
        <p:txBody>
          <a:bodyPr wrap="square" lIns="0" tIns="0" rIns="0" bIns="0" rtlCol="0" anchor="t"/>
          <a:lstStyle/>
          <a:p>
            <a:pPr indent="0" marL="0">
              <a:buNone/>
            </a:pPr>
            <a:r>
              <a:rPr lang="en-US" sz="1500" b="1" dirty="0">
                <a:solidFill>
                  <a:srgbClr val="15201A"/>
                </a:solidFill>
                <a:latin typeface="Source Sans 3" pitchFamily="34" charset="0"/>
                <a:ea typeface="Source Sans 3" pitchFamily="34" charset="-122"/>
                <a:cs typeface="Source Sans 3" pitchFamily="34" charset="-120"/>
              </a:rPr>
              <a:t>Food Support is a USC service. Can a USC Grant fund this?</a:t>
            </a:r>
            <a:endParaRPr lang="en-US" sz="1500" dirty="0"/>
          </a:p>
        </p:txBody>
      </p:sp>
      <p:sp>
        <p:nvSpPr>
          <p:cNvPr id="20" name="Text 18"/>
          <p:cNvSpPr txBox="1"/>
          <p:nvPr/>
        </p:nvSpPr>
        <p:spPr>
          <a:xfrm>
            <a:off x="6301588" y="4105656"/>
            <a:ext cx="5204308" cy="658368"/>
          </a:xfrm>
          <a:prstGeom prst="rect">
            <a:avLst/>
          </a:prstGeom>
          <a:noFill/>
          <a:ln/>
        </p:spPr>
        <p:txBody>
          <a:bodyPr wrap="square" lIns="0" tIns="0" rIns="0" bIns="0" rtlCol="0" anchor="t"/>
          <a:lstStyle/>
          <a:p>
            <a:pPr indent="0" marL="0">
              <a:buNone/>
            </a:pPr>
            <a:r>
              <a:rPr lang="en-US" sz="1300" dirty="0">
                <a:solidFill>
                  <a:srgbClr val="3A453E"/>
                </a:solidFill>
                <a:latin typeface="Source Sans 3" pitchFamily="34" charset="0"/>
                <a:ea typeface="Source Sans 3" pitchFamily="34" charset="-122"/>
                <a:cs typeface="Source Sans 3" pitchFamily="34" charset="-120"/>
              </a:rPr>
              <a:t>Yes. Our team applies as enrolled undergraduates, and USC Grants allow a collaborative to include ineligible partners.</a:t>
            </a:r>
            <a:endParaRPr lang="en-US" sz="1300" dirty="0"/>
          </a:p>
        </p:txBody>
      </p:sp>
      <p:sp>
        <p:nvSpPr>
          <p:cNvPr id="21" name="Shape 19"/>
          <p:cNvSpPr/>
          <p:nvPr/>
        </p:nvSpPr>
        <p:spPr>
          <a:xfrm>
            <a:off x="685800" y="4773168"/>
            <a:ext cx="5204308" cy="0"/>
          </a:xfrm>
          <a:prstGeom prst="line">
            <a:avLst/>
          </a:prstGeom>
          <a:noFill/>
          <a:ln w="9525">
            <a:solidFill>
              <a:srgbClr val="D9D4C7"/>
            </a:solidFill>
            <a:prstDash val="solid"/>
          </a:ln>
        </p:spPr>
      </p:sp>
      <p:sp>
        <p:nvSpPr>
          <p:cNvPr id="22" name="Text 20"/>
          <p:cNvSpPr txBox="1"/>
          <p:nvPr/>
        </p:nvSpPr>
        <p:spPr>
          <a:xfrm>
            <a:off x="685800" y="4864608"/>
            <a:ext cx="5204308" cy="310896"/>
          </a:xfrm>
          <a:prstGeom prst="rect">
            <a:avLst/>
          </a:prstGeom>
          <a:noFill/>
          <a:ln/>
        </p:spPr>
        <p:txBody>
          <a:bodyPr wrap="square" lIns="0" tIns="0" rIns="0" bIns="0" rtlCol="0" anchor="t"/>
          <a:lstStyle/>
          <a:p>
            <a:pPr indent="0" marL="0">
              <a:buNone/>
            </a:pPr>
            <a:r>
              <a:rPr lang="en-US" sz="1500" b="1" dirty="0">
                <a:solidFill>
                  <a:srgbClr val="15201A"/>
                </a:solidFill>
                <a:latin typeface="Source Sans 3" pitchFamily="34" charset="0"/>
                <a:ea typeface="Source Sans 3" pitchFamily="34" charset="-122"/>
                <a:cs typeface="Source Sans 3" pitchFamily="34" charset="-120"/>
              </a:rPr>
              <a:t>How do you know students will use it?</a:t>
            </a:r>
            <a:endParaRPr lang="en-US" sz="1500" dirty="0"/>
          </a:p>
        </p:txBody>
      </p:sp>
      <p:sp>
        <p:nvSpPr>
          <p:cNvPr id="23" name="Text 21"/>
          <p:cNvSpPr txBox="1"/>
          <p:nvPr/>
        </p:nvSpPr>
        <p:spPr>
          <a:xfrm>
            <a:off x="685800" y="5202936"/>
            <a:ext cx="5204308" cy="658368"/>
          </a:xfrm>
          <a:prstGeom prst="rect">
            <a:avLst/>
          </a:prstGeom>
          <a:noFill/>
          <a:ln/>
        </p:spPr>
        <p:txBody>
          <a:bodyPr wrap="square" lIns="0" tIns="0" rIns="0" bIns="0" rtlCol="0" anchor="t"/>
          <a:lstStyle/>
          <a:p>
            <a:pPr indent="0" marL="0">
              <a:buNone/>
            </a:pPr>
            <a:r>
              <a:rPr lang="en-US" sz="1300" dirty="0">
                <a:solidFill>
                  <a:srgbClr val="3A453E"/>
                </a:solidFill>
                <a:latin typeface="Source Sans 3" pitchFamily="34" charset="0"/>
                <a:ea typeface="Source Sans 3" pitchFamily="34" charset="-122"/>
                <a:cs typeface="Source Sans 3" pitchFamily="34" charset="-120"/>
              </a:rPr>
              <a:t>Comparable walk-up pantries are used heavily (VCU, Alberta). We have no Western data yet; the pilot measures it.</a:t>
            </a:r>
            <a:endParaRPr lang="en-US" sz="1300" dirty="0"/>
          </a:p>
        </p:txBody>
      </p:sp>
      <p:sp>
        <p:nvSpPr>
          <p:cNvPr id="24" name="Shape 22"/>
          <p:cNvSpPr/>
          <p:nvPr/>
        </p:nvSpPr>
        <p:spPr>
          <a:xfrm>
            <a:off x="6301588" y="4773168"/>
            <a:ext cx="5204308" cy="0"/>
          </a:xfrm>
          <a:prstGeom prst="line">
            <a:avLst/>
          </a:prstGeom>
          <a:noFill/>
          <a:ln w="9525">
            <a:solidFill>
              <a:srgbClr val="D9D4C7"/>
            </a:solidFill>
            <a:prstDash val="solid"/>
          </a:ln>
        </p:spPr>
      </p:sp>
      <p:sp>
        <p:nvSpPr>
          <p:cNvPr id="25" name="Text 23"/>
          <p:cNvSpPr txBox="1"/>
          <p:nvPr/>
        </p:nvSpPr>
        <p:spPr>
          <a:xfrm>
            <a:off x="6301588" y="4864608"/>
            <a:ext cx="5204308" cy="310896"/>
          </a:xfrm>
          <a:prstGeom prst="rect">
            <a:avLst/>
          </a:prstGeom>
          <a:noFill/>
          <a:ln/>
        </p:spPr>
        <p:txBody>
          <a:bodyPr wrap="square" lIns="0" tIns="0" rIns="0" bIns="0" rtlCol="0" anchor="t"/>
          <a:lstStyle/>
          <a:p>
            <a:pPr indent="0" marL="0">
              <a:buNone/>
            </a:pPr>
            <a:r>
              <a:rPr lang="en-US" sz="1500" b="1" dirty="0">
                <a:solidFill>
                  <a:srgbClr val="15201A"/>
                </a:solidFill>
                <a:latin typeface="Source Sans 3" pitchFamily="34" charset="0"/>
                <a:ea typeface="Source Sans 3" pitchFamily="34" charset="-122"/>
                <a:cs typeface="Source Sans 3" pitchFamily="34" charset="-120"/>
              </a:rPr>
              <a:t>What happens after week 11?</a:t>
            </a:r>
            <a:endParaRPr lang="en-US" sz="1500" dirty="0"/>
          </a:p>
        </p:txBody>
      </p:sp>
      <p:sp>
        <p:nvSpPr>
          <p:cNvPr id="26" name="Text 24"/>
          <p:cNvSpPr txBox="1"/>
          <p:nvPr/>
        </p:nvSpPr>
        <p:spPr>
          <a:xfrm>
            <a:off x="6301588" y="5202936"/>
            <a:ext cx="5204308" cy="658368"/>
          </a:xfrm>
          <a:prstGeom prst="rect">
            <a:avLst/>
          </a:prstGeom>
          <a:noFill/>
          <a:ln/>
        </p:spPr>
        <p:txBody>
          <a:bodyPr wrap="square" lIns="0" tIns="0" rIns="0" bIns="0" rtlCol="0" anchor="t"/>
          <a:lstStyle/>
          <a:p>
            <a:pPr indent="0" marL="0">
              <a:buNone/>
            </a:pPr>
            <a:r>
              <a:rPr lang="en-US" sz="1300" dirty="0">
                <a:solidFill>
                  <a:srgbClr val="3A453E"/>
                </a:solidFill>
                <a:latin typeface="Source Sans 3" pitchFamily="34" charset="0"/>
                <a:ea typeface="Source Sans 3" pitchFamily="34" charset="-122"/>
                <a:cs typeface="Source Sans 3" pitchFamily="34" charset="-120"/>
              </a:rPr>
              <a:t>If four of five targets are met, add two shelves and hand daily running to Food Support. If not, stop and publish what we learned.</a:t>
            </a:r>
            <a:endParaRPr lang="en-US" sz="13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rgbClr val="6B746D"/>
                </a:solidFill>
                <a:latin typeface="Source Sans 3"/>
                <a:ea typeface="Source Sans 3"/>
                <a:cs typeface="Source Sans 3"/>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FoodLink">
  <a:themeElements>
    <a:clrScheme name="FoodLink">
      <a:dk1>
        <a:srgbClr val="15201A"/>
      </a:dk1>
      <a:lt1>
        <a:srgbClr val="FFFFFF"/>
      </a:lt1>
      <a:dk2>
        <a:srgbClr val="113425"/>
      </a:dk2>
      <a:lt2>
        <a:srgbClr val="F7F5EF"/>
      </a:lt2>
      <a:accent1>
        <a:srgbClr val="1D5E40"/>
      </a:accent1>
      <a:accent2>
        <a:srgbClr val="A97A2F"/>
      </a:accent2>
      <a:accent3>
        <a:srgbClr val="2E5F7A"/>
      </a:accent3>
      <a:accent4>
        <a:srgbClr val="9C3B2E"/>
      </a:accent4>
      <a:accent5>
        <a:srgbClr val="6B746D"/>
      </a:accent5>
      <a:accent6>
        <a:srgbClr val="E1EAE1"/>
      </a:accent6>
      <a:hlink>
        <a:srgbClr val="1D5E40"/>
      </a:hlink>
      <a:folHlink>
        <a:srgbClr val="113425"/>
      </a:folHlink>
    </a:clrScheme>
    <a:fontScheme name="FoodLink">
      <a:majorFont>
        <a:latin typeface="Source Serif 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ource Sans 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PBSN ASPIRE: FoodLink</dc:title>
  <dc:subject>PptxGenJS Presentation</dc:subject>
  <dc:creator>PBSN ASPIRE team</dc:creator>
  <cp:lastModifiedBy>PBSN ASPIRE team</cp:lastModifiedBy>
  <cp:revision>1</cp:revision>
  <dcterms:created xsi:type="dcterms:W3CDTF">2026-10-31T12:14:22Z</dcterms:created>
  <dcterms:modified xsi:type="dcterms:W3CDTF">2026-10-31T12:14:22Z</dcterms:modified>
</cp:coreProperties>
</file>