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Good morning. We’re Xinge, Nuo, Zohra and Ahana, and this is FoodLink.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[0:10–0:30] Demand for USC Food Support more than doubled while the ways to reach it narrowed. FoodLink adds walk-up shelves, sealed partner surplus and one app, and it counts every restock. We ask for $3,500, two shelf spots and one Food Support contact for eleven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In 2022–23 the USC handed out about 750 hampers in the whole year. From September 2023 to mid-March 2024 it handed out more than 1,700, in about half the time. The USC reported demand up 600% in 2023 and closed walk-ins that September. Nationally, a quarter of people live in food-insecure households, and Western does not publish its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[0:55–1:25] While demand rose, access went the other way. Walk-ins closed in September 2023. In October 2024 the food bank went hamper-only and forty volunteers were replaced by six part-time staff. The proposed 2025–26 budget dropped the coordinator role. And today the service page still tells students that requests reopen September 8, 2025. Getting food now means an online form, at least 48 hours, and a locker.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[1:25–1:55] Three things get in the way. Access: one room or a locker, and an online form with a wait of at least 48 hours. Supply: the service runs entirely on donations; none of the 21 USC fee lines funds it, so special requests often cannot be met. Information: five services with different hours and rules, and no single place that shows what is open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[1:55–2:20] This shaped our design. The USC did not end walk-ins by accident: it said they made it incredibly difficult to get food out in an organized way. So FoodLink keeps walk-up access and adds what walk-ins lacked: every restock is counted, students see live stock, an empty shelf is reported in one tap, and every check-in includes a food-safety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FoodLink has three parts. Points are two walk-up shelves of sealed, shelf-stable food and hygiene products, with no forms and no ID. Drops let campus partners post sealed surplus that students reserve with an anonymous code. The app shows live stock, live drops, and every other option, including the USC hampers and city food banks. All three feed one dashboard the USC can audit, published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[2:50–3:15] Open FoodLink and see what is on each shelf and when it was last counted. Walk up and take what you need: no form, no name, no student number. If a shelf is empty, tap once; the volunteer on shift is told, and we aim to restock within two hours.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[3:15–4:30] LIVE DEMO, 75 seconds. Open the app’s Live demo page and press Reset demo first. Step 1: on the phone, a student reports the UCC canned protein empty, with no login. Step 2: the volunteer logs a restock; the phone updates and the dashboard records what was taken since the last check. Step 3: a café posts twelve sealed sandwiches; the app checks the food-safety rules before it goes live. Step 4: the student reserves one and gets an anonymous code. Step 5: switch the screen to USC dashboard; every number we just created is there. If the network fails, narrate the five steps from this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biggest line is two shelves and signage. Food is capped at thirty percent because that is the USC Grants rule, so partners, food drives and Food Support supply the rest. At our target of 1,000 items that is $3.50 per item, and the shelves and the app carry over. The Grant Fund holds about $100,000 a year and accepts applications until March, so this can start in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[5:00–5:25] We will judge the pilot on five targets: 1,000 items taken, under five percent thrown away, empty shelves restocked within two hours, three surplus partners, and zero food-safety incidents. The app measures all five; this is its dashboard with simulated data. The decision rule is set now: at week eleven we continue if four of the five are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[5:25–5:50] November and December we prepare: the grant, two sites, a Food Support agreement, certified volunteers and three partners. Weeks one and two we launch. From week three the shelves run, restocked twice a day, with the dashboard published weekly. Weeks seven and eight we adjust, week ten we run a two-question survey, and week eleven we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[5:50–6:15] Each risk has a control. Food safety: shelves hold sealed, shelf-stable food only; perishables go only through Drops, picked up within two hours; and Ontario’s Donation of Food Act protects good-faith donors. Emptied shelves: a posted guide and live counts. Volunteer drop-off: fifteen-minute check-ins with staff backup. Stale information: every listing is dated. Privacy: no accounts,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[6:15–6:35] Strengths: it’s built, anonymous, measures itself and costs $3,500. Weaknesses: shelf-stable food only, reliance on volunteers, and no per-person limit. Opportunities: the Grant Fund, FoodRescue.ca, and residences next. Threats: a safety incident, vandalism, burnout, and confusion with the hampers, so the app lists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[6:35–7:00] Our ask is $3,500 from the USC Grant Fund, two shelf locations and one Food Support contact for eleven weeks. FoodLink keeps the hampers the USC already runs and adds walk-up access with the accountability the USC asked for, and the app is already built.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only if a judge asks where a number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Bases for each budget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Why not something simpler.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Short answers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432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Text 2"/>
          <p:cNvSpPr/>
          <p:nvPr/>
        </p:nvSpPr>
        <p:spPr>
          <a:xfrm>
            <a:off x="367268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Problem</a:t>
            </a:r>
            <a:endParaRPr lang="en-US" sz="1100" dirty="0"/>
          </a:p>
        </p:txBody>
      </p:sp>
      <p:sp>
        <p:nvSpPr>
          <p:cNvPr id="5" name="Text 3"/>
          <p:cNvSpPr/>
          <p:nvPr/>
        </p:nvSpPr>
        <p:spPr>
          <a:xfrm>
            <a:off x="490712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Solution</a:t>
            </a:r>
            <a:endParaRPr lang="en-US" sz="1100" dirty="0"/>
          </a:p>
        </p:txBody>
      </p:sp>
      <p:sp>
        <p:nvSpPr>
          <p:cNvPr id="6" name="Text 4"/>
          <p:cNvSpPr/>
          <p:nvPr/>
        </p:nvSpPr>
        <p:spPr>
          <a:xfrm>
            <a:off x="614156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Model</a:t>
            </a:r>
            <a:endParaRPr lang="en-US" sz="1100" dirty="0"/>
          </a:p>
        </p:txBody>
      </p:sp>
      <p:sp>
        <p:nvSpPr>
          <p:cNvPr id="7" name="Text 5"/>
          <p:cNvSpPr/>
          <p:nvPr/>
        </p:nvSpPr>
        <p:spPr>
          <a:xfrm>
            <a:off x="737600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Execution</a:t>
            </a:r>
            <a:endParaRPr lang="en-US" sz="1100" dirty="0"/>
          </a:p>
        </p:txBody>
      </p:sp>
      <p:sp>
        <p:nvSpPr>
          <p:cNvPr id="8" name="Text 6"/>
          <p:cNvSpPr/>
          <p:nvPr>
            <p:ph idx="106"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Shape 2"/>
          <p:cNvSpPr/>
          <p:nvPr/>
        </p:nvSpPr>
        <p:spPr>
          <a:xfrm>
            <a:off x="3672688" y="6419088"/>
            <a:ext cx="1143000" cy="274320"/>
          </a:xfrm>
          <a:prstGeom prst="rect">
            <a:avLst/>
          </a:prstGeom>
          <a:solidFill>
            <a:srgbClr val="FFFFFF"/>
          </a:solidFill>
          <a:ln w="9525">
            <a:solidFill>
              <a:srgbClr val="1B1F1C"/>
            </a:solidFill>
            <a:prstDash val="solid"/>
          </a:ln>
        </p:spPr>
      </p:sp>
      <p:sp>
        <p:nvSpPr>
          <p:cNvPr id="5" name="Text 3"/>
          <p:cNvSpPr/>
          <p:nvPr/>
        </p:nvSpPr>
        <p:spPr>
          <a:xfrm>
            <a:off x="3672688" y="6419088"/>
            <a:ext cx="1143000" cy="274320"/>
          </a:xfrm>
          <a:prstGeom prst="rect">
            <a:avLst/>
          </a:prstGeom>
          <a:noFill/>
          <a:ln/>
        </p:spPr>
        <p:txBody>
          <a:bodyPr wrap="square" lIns="0" tIns="0" rIns="0" bIns="0" rtlCol="0" anchor="ctr"/>
          <a:lstStyle/>
          <a:p>
            <a:pPr algn="ctr" indent="0" marL="0">
              <a:buNone/>
            </a:pPr>
            <a:r>
              <a:rPr lang="en-US" sz="1100" b="1" dirty="0">
                <a:solidFill>
                  <a:srgbClr val="1B1F1C"/>
                </a:solidFill>
                <a:latin typeface="Source Sans 3" pitchFamily="34" charset="0"/>
                <a:ea typeface="Source Sans 3" pitchFamily="34" charset="-122"/>
                <a:cs typeface="Source Sans 3" pitchFamily="34" charset="-120"/>
              </a:rPr>
              <a:t>Problem</a:t>
            </a:r>
            <a:endParaRPr lang="en-US" sz="1100" dirty="0"/>
          </a:p>
        </p:txBody>
      </p:sp>
      <p:sp>
        <p:nvSpPr>
          <p:cNvPr id="6" name="Text 4"/>
          <p:cNvSpPr/>
          <p:nvPr/>
        </p:nvSpPr>
        <p:spPr>
          <a:xfrm>
            <a:off x="490712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Solution</a:t>
            </a:r>
            <a:endParaRPr lang="en-US" sz="1100" dirty="0"/>
          </a:p>
        </p:txBody>
      </p:sp>
      <p:sp>
        <p:nvSpPr>
          <p:cNvPr id="7" name="Text 5"/>
          <p:cNvSpPr/>
          <p:nvPr/>
        </p:nvSpPr>
        <p:spPr>
          <a:xfrm>
            <a:off x="614156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Model</a:t>
            </a:r>
            <a:endParaRPr lang="en-US" sz="1100" dirty="0"/>
          </a:p>
        </p:txBody>
      </p:sp>
      <p:sp>
        <p:nvSpPr>
          <p:cNvPr id="8" name="Text 6"/>
          <p:cNvSpPr/>
          <p:nvPr/>
        </p:nvSpPr>
        <p:spPr>
          <a:xfrm>
            <a:off x="737600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Execution</a:t>
            </a:r>
            <a:endParaRPr lang="en-US" sz="1100" dirty="0"/>
          </a:p>
        </p:txBody>
      </p:sp>
      <p:sp>
        <p:nvSpPr>
          <p:cNvPr id="9" name="Text 7"/>
          <p:cNvSpPr/>
          <p:nvPr>
            <p:ph idx="107"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Text 2"/>
          <p:cNvSpPr/>
          <p:nvPr/>
        </p:nvSpPr>
        <p:spPr>
          <a:xfrm>
            <a:off x="367268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Problem</a:t>
            </a:r>
            <a:endParaRPr lang="en-US" sz="1100" dirty="0"/>
          </a:p>
        </p:txBody>
      </p:sp>
      <p:sp>
        <p:nvSpPr>
          <p:cNvPr id="5" name="Shape 3"/>
          <p:cNvSpPr/>
          <p:nvPr/>
        </p:nvSpPr>
        <p:spPr>
          <a:xfrm>
            <a:off x="4907128" y="6419088"/>
            <a:ext cx="1143000" cy="274320"/>
          </a:xfrm>
          <a:prstGeom prst="rect">
            <a:avLst/>
          </a:prstGeom>
          <a:solidFill>
            <a:srgbClr val="FFFFFF"/>
          </a:solidFill>
          <a:ln w="9525">
            <a:solidFill>
              <a:srgbClr val="1B1F1C"/>
            </a:solidFill>
            <a:prstDash val="solid"/>
          </a:ln>
        </p:spPr>
      </p:sp>
      <p:sp>
        <p:nvSpPr>
          <p:cNvPr id="6" name="Text 4"/>
          <p:cNvSpPr/>
          <p:nvPr/>
        </p:nvSpPr>
        <p:spPr>
          <a:xfrm>
            <a:off x="4907128" y="6419088"/>
            <a:ext cx="1143000" cy="274320"/>
          </a:xfrm>
          <a:prstGeom prst="rect">
            <a:avLst/>
          </a:prstGeom>
          <a:noFill/>
          <a:ln/>
        </p:spPr>
        <p:txBody>
          <a:bodyPr wrap="square" lIns="0" tIns="0" rIns="0" bIns="0" rtlCol="0" anchor="ctr"/>
          <a:lstStyle/>
          <a:p>
            <a:pPr algn="ctr" indent="0" marL="0">
              <a:buNone/>
            </a:pPr>
            <a:r>
              <a:rPr lang="en-US" sz="1100" b="1" dirty="0">
                <a:solidFill>
                  <a:srgbClr val="1B1F1C"/>
                </a:solidFill>
                <a:latin typeface="Source Sans 3" pitchFamily="34" charset="0"/>
                <a:ea typeface="Source Sans 3" pitchFamily="34" charset="-122"/>
                <a:cs typeface="Source Sans 3" pitchFamily="34" charset="-120"/>
              </a:rPr>
              <a:t>Solution</a:t>
            </a:r>
            <a:endParaRPr lang="en-US" sz="1100" dirty="0"/>
          </a:p>
        </p:txBody>
      </p:sp>
      <p:sp>
        <p:nvSpPr>
          <p:cNvPr id="7" name="Text 5"/>
          <p:cNvSpPr/>
          <p:nvPr/>
        </p:nvSpPr>
        <p:spPr>
          <a:xfrm>
            <a:off x="614156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Model</a:t>
            </a:r>
            <a:endParaRPr lang="en-US" sz="1100" dirty="0"/>
          </a:p>
        </p:txBody>
      </p:sp>
      <p:sp>
        <p:nvSpPr>
          <p:cNvPr id="8" name="Text 6"/>
          <p:cNvSpPr/>
          <p:nvPr/>
        </p:nvSpPr>
        <p:spPr>
          <a:xfrm>
            <a:off x="737600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Execution</a:t>
            </a:r>
            <a:endParaRPr lang="en-US" sz="1100" dirty="0"/>
          </a:p>
        </p:txBody>
      </p:sp>
      <p:sp>
        <p:nvSpPr>
          <p:cNvPr id="9" name="Text 7"/>
          <p:cNvSpPr/>
          <p:nvPr>
            <p:ph idx="107"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ODE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Text 2"/>
          <p:cNvSpPr/>
          <p:nvPr/>
        </p:nvSpPr>
        <p:spPr>
          <a:xfrm>
            <a:off x="367268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Problem</a:t>
            </a:r>
            <a:endParaRPr lang="en-US" sz="1100" dirty="0"/>
          </a:p>
        </p:txBody>
      </p:sp>
      <p:sp>
        <p:nvSpPr>
          <p:cNvPr id="5" name="Text 3"/>
          <p:cNvSpPr/>
          <p:nvPr/>
        </p:nvSpPr>
        <p:spPr>
          <a:xfrm>
            <a:off x="490712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Solution</a:t>
            </a:r>
            <a:endParaRPr lang="en-US" sz="1100" dirty="0"/>
          </a:p>
        </p:txBody>
      </p:sp>
      <p:sp>
        <p:nvSpPr>
          <p:cNvPr id="6" name="Shape 4"/>
          <p:cNvSpPr/>
          <p:nvPr/>
        </p:nvSpPr>
        <p:spPr>
          <a:xfrm>
            <a:off x="6141568" y="6419088"/>
            <a:ext cx="1143000" cy="274320"/>
          </a:xfrm>
          <a:prstGeom prst="rect">
            <a:avLst/>
          </a:prstGeom>
          <a:solidFill>
            <a:srgbClr val="FFFFFF"/>
          </a:solidFill>
          <a:ln w="9525">
            <a:solidFill>
              <a:srgbClr val="1B1F1C"/>
            </a:solidFill>
            <a:prstDash val="solid"/>
          </a:ln>
        </p:spPr>
      </p:sp>
      <p:sp>
        <p:nvSpPr>
          <p:cNvPr id="7" name="Text 5"/>
          <p:cNvSpPr/>
          <p:nvPr/>
        </p:nvSpPr>
        <p:spPr>
          <a:xfrm>
            <a:off x="6141568" y="6419088"/>
            <a:ext cx="1143000" cy="274320"/>
          </a:xfrm>
          <a:prstGeom prst="rect">
            <a:avLst/>
          </a:prstGeom>
          <a:noFill/>
          <a:ln/>
        </p:spPr>
        <p:txBody>
          <a:bodyPr wrap="square" lIns="0" tIns="0" rIns="0" bIns="0" rtlCol="0" anchor="ctr"/>
          <a:lstStyle/>
          <a:p>
            <a:pPr algn="ctr" indent="0" marL="0">
              <a:buNone/>
            </a:pPr>
            <a:r>
              <a:rPr lang="en-US" sz="1100" b="1" dirty="0">
                <a:solidFill>
                  <a:srgbClr val="1B1F1C"/>
                </a:solidFill>
                <a:latin typeface="Source Sans 3" pitchFamily="34" charset="0"/>
                <a:ea typeface="Source Sans 3" pitchFamily="34" charset="-122"/>
                <a:cs typeface="Source Sans 3" pitchFamily="34" charset="-120"/>
              </a:rPr>
              <a:t>Model</a:t>
            </a:r>
            <a:endParaRPr lang="en-US" sz="1100" dirty="0"/>
          </a:p>
        </p:txBody>
      </p:sp>
      <p:sp>
        <p:nvSpPr>
          <p:cNvPr id="8" name="Text 6"/>
          <p:cNvSpPr/>
          <p:nvPr/>
        </p:nvSpPr>
        <p:spPr>
          <a:xfrm>
            <a:off x="737600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Execution</a:t>
            </a:r>
            <a:endParaRPr lang="en-US" sz="1100" dirty="0"/>
          </a:p>
        </p:txBody>
      </p:sp>
      <p:sp>
        <p:nvSpPr>
          <p:cNvPr id="9" name="Text 7"/>
          <p:cNvSpPr/>
          <p:nvPr>
            <p:ph idx="107"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EXEC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Text 2"/>
          <p:cNvSpPr/>
          <p:nvPr/>
        </p:nvSpPr>
        <p:spPr>
          <a:xfrm>
            <a:off x="367268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Problem</a:t>
            </a:r>
            <a:endParaRPr lang="en-US" sz="1100" dirty="0"/>
          </a:p>
        </p:txBody>
      </p:sp>
      <p:sp>
        <p:nvSpPr>
          <p:cNvPr id="5" name="Text 3"/>
          <p:cNvSpPr/>
          <p:nvPr/>
        </p:nvSpPr>
        <p:spPr>
          <a:xfrm>
            <a:off x="490712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Solution</a:t>
            </a:r>
            <a:endParaRPr lang="en-US" sz="1100" dirty="0"/>
          </a:p>
        </p:txBody>
      </p:sp>
      <p:sp>
        <p:nvSpPr>
          <p:cNvPr id="6" name="Text 4"/>
          <p:cNvSpPr/>
          <p:nvPr/>
        </p:nvSpPr>
        <p:spPr>
          <a:xfrm>
            <a:off x="6141568" y="6419088"/>
            <a:ext cx="1143000" cy="274320"/>
          </a:xfrm>
          <a:prstGeom prst="rect">
            <a:avLst/>
          </a:prstGeom>
          <a:noFill/>
          <a:ln/>
        </p:spPr>
        <p:txBody>
          <a:bodyPr wrap="square" lIns="0" tIns="0" rIns="0" bIns="0" rtlCol="0" anchor="ctr"/>
          <a:lstStyle/>
          <a:p>
            <a:pPr algn="ctr" indent="0" marL="0">
              <a:buNone/>
            </a:pPr>
            <a:r>
              <a:rPr lang="en-US" sz="1100" dirty="0">
                <a:solidFill>
                  <a:srgbClr val="67706A"/>
                </a:solidFill>
                <a:latin typeface="Source Sans 3" pitchFamily="34" charset="0"/>
                <a:ea typeface="Source Sans 3" pitchFamily="34" charset="-122"/>
                <a:cs typeface="Source Sans 3" pitchFamily="34" charset="-120"/>
              </a:rPr>
              <a:t>Model</a:t>
            </a:r>
            <a:endParaRPr lang="en-US" sz="1100" dirty="0"/>
          </a:p>
        </p:txBody>
      </p:sp>
      <p:sp>
        <p:nvSpPr>
          <p:cNvPr id="7" name="Shape 5"/>
          <p:cNvSpPr/>
          <p:nvPr/>
        </p:nvSpPr>
        <p:spPr>
          <a:xfrm>
            <a:off x="7376008" y="6419088"/>
            <a:ext cx="1143000" cy="274320"/>
          </a:xfrm>
          <a:prstGeom prst="rect">
            <a:avLst/>
          </a:prstGeom>
          <a:solidFill>
            <a:srgbClr val="FFFFFF"/>
          </a:solidFill>
          <a:ln w="9525">
            <a:solidFill>
              <a:srgbClr val="1B1F1C"/>
            </a:solidFill>
            <a:prstDash val="solid"/>
          </a:ln>
        </p:spPr>
      </p:sp>
      <p:sp>
        <p:nvSpPr>
          <p:cNvPr id="8" name="Text 6"/>
          <p:cNvSpPr/>
          <p:nvPr/>
        </p:nvSpPr>
        <p:spPr>
          <a:xfrm>
            <a:off x="7376008" y="6419088"/>
            <a:ext cx="1143000" cy="274320"/>
          </a:xfrm>
          <a:prstGeom prst="rect">
            <a:avLst/>
          </a:prstGeom>
          <a:noFill/>
          <a:ln/>
        </p:spPr>
        <p:txBody>
          <a:bodyPr wrap="square" lIns="0" tIns="0" rIns="0" bIns="0" rtlCol="0" anchor="ctr"/>
          <a:lstStyle/>
          <a:p>
            <a:pPr algn="ctr" indent="0" marL="0">
              <a:buNone/>
            </a:pPr>
            <a:r>
              <a:rPr lang="en-US" sz="1100" b="1" dirty="0">
                <a:solidFill>
                  <a:srgbClr val="1B1F1C"/>
                </a:solidFill>
                <a:latin typeface="Source Sans 3" pitchFamily="34" charset="0"/>
                <a:ea typeface="Source Sans 3" pitchFamily="34" charset="-122"/>
                <a:cs typeface="Source Sans 3" pitchFamily="34" charset="-120"/>
              </a:rPr>
              <a:t>Execution</a:t>
            </a:r>
            <a:endParaRPr lang="en-US" sz="1100" dirty="0"/>
          </a:p>
        </p:txBody>
      </p:sp>
      <p:sp>
        <p:nvSpPr>
          <p:cNvPr id="9" name="Text 7"/>
          <p:cNvSpPr/>
          <p:nvPr>
            <p:ph idx="107"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PPENDI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55080"/>
            <a:ext cx="11094415" cy="0"/>
          </a:xfrm>
          <a:prstGeom prst="line">
            <a:avLst/>
          </a:prstGeom>
          <a:noFill/>
          <a:ln w="9525">
            <a:solidFill>
              <a:srgbClr val="D5DBD7"/>
            </a:solidFill>
            <a:prstDash val="solid"/>
          </a:ln>
        </p:spPr>
      </p:sp>
      <p:sp>
        <p:nvSpPr>
          <p:cNvPr id="3" name="Text 1"/>
          <p:cNvSpPr/>
          <p:nvPr/>
        </p:nvSpPr>
        <p:spPr>
          <a:xfrm>
            <a:off x="548640" y="6419088"/>
            <a:ext cx="1463040" cy="274320"/>
          </a:xfrm>
          <a:prstGeom prst="rect">
            <a:avLst/>
          </a:prstGeom>
          <a:noFill/>
          <a:ln/>
        </p:spPr>
        <p:txBody>
          <a:bodyPr wrap="square" lIns="0" tIns="0" rIns="0" bIns="0" rtlCol="0" anchor="ctr"/>
          <a:lstStyle/>
          <a:p>
            <a:pPr indent="0" marL="0">
              <a:buNone/>
            </a:pPr>
            <a:r>
              <a:rPr lang="en-US" sz="1100" b="1" dirty="0">
                <a:solidFill>
                  <a:srgbClr val="1E6B45"/>
                </a:solidFill>
                <a:latin typeface="Source Sans 3" pitchFamily="34" charset="0"/>
                <a:ea typeface="Source Sans 3" pitchFamily="34" charset="-122"/>
                <a:cs typeface="Source Sans 3" pitchFamily="34" charset="-120"/>
              </a:rPr>
              <a:t>FoodLink</a:t>
            </a:r>
            <a:endParaRPr lang="en-US" sz="1100" dirty="0"/>
          </a:p>
        </p:txBody>
      </p:sp>
      <p:sp>
        <p:nvSpPr>
          <p:cNvPr id="4" name="Shape 2"/>
          <p:cNvSpPr/>
          <p:nvPr/>
        </p:nvSpPr>
        <p:spPr>
          <a:xfrm>
            <a:off x="5524348" y="6419088"/>
            <a:ext cx="1143000" cy="274320"/>
          </a:xfrm>
          <a:prstGeom prst="rect">
            <a:avLst/>
          </a:prstGeom>
          <a:solidFill>
            <a:srgbClr val="FFFFFF"/>
          </a:solidFill>
          <a:ln w="9525">
            <a:solidFill>
              <a:srgbClr val="1B1F1C"/>
            </a:solidFill>
            <a:prstDash val="solid"/>
          </a:ln>
        </p:spPr>
      </p:sp>
      <p:sp>
        <p:nvSpPr>
          <p:cNvPr id="5" name="Text 3"/>
          <p:cNvSpPr/>
          <p:nvPr/>
        </p:nvSpPr>
        <p:spPr>
          <a:xfrm>
            <a:off x="5524348" y="6419088"/>
            <a:ext cx="1143000" cy="274320"/>
          </a:xfrm>
          <a:prstGeom prst="rect">
            <a:avLst/>
          </a:prstGeom>
          <a:noFill/>
          <a:ln/>
        </p:spPr>
        <p:txBody>
          <a:bodyPr wrap="square" lIns="0" tIns="0" rIns="0" bIns="0" rtlCol="0" anchor="ctr"/>
          <a:lstStyle/>
          <a:p>
            <a:pPr algn="ctr" indent="0" marL="0">
              <a:buNone/>
            </a:pPr>
            <a:r>
              <a:rPr lang="en-US" sz="1100" b="1" dirty="0">
                <a:solidFill>
                  <a:srgbClr val="1B1F1C"/>
                </a:solidFill>
                <a:latin typeface="Source Sans 3" pitchFamily="34" charset="0"/>
                <a:ea typeface="Source Sans 3" pitchFamily="34" charset="-122"/>
                <a:cs typeface="Source Sans 3" pitchFamily="34" charset="-120"/>
              </a:rPr>
              <a:t>Appendix</a:t>
            </a:r>
            <a:endParaRPr lang="en-US" sz="1100" dirty="0"/>
          </a:p>
        </p:txBody>
      </p:sp>
      <p:sp>
        <p:nvSpPr>
          <p:cNvPr id="6" name="Text 4"/>
          <p:cNvSpPr/>
          <p:nvPr>
            <p:ph idx="104" type="title" hasCustomPrompt="1"/>
          </p:nvPr>
        </p:nvSpPr>
        <p:spPr>
          <a:xfrm>
            <a:off x="548640" y="411480"/>
            <a:ext cx="11094415" cy="960120"/>
          </a:xfrm>
          <a:prstGeom prst="rect">
            <a:avLst/>
          </a:prstGeom>
          <a:noFill/>
          <a:ln/>
        </p:spPr>
        <p:txBody>
          <a:bodyPr wrap="square" rtlCol="0"/>
          <a:lstStyle>
            <a:lvl1pPr algn="l" indent="0" marL="0">
              <a:buNone/>
              <a:defRPr lang="en-US" sz="2800" b="1" dirty="0">
                <a:solidFill>
                  <a:srgbClr val="1B1F1C"/>
                </a:solidFill>
                <a:latin typeface="Source Sans 3" pitchFamily="34" charset="0"/>
                <a:ea typeface="Source Sans 3" pitchFamily="34" charset="-122"/>
                <a:cs typeface="Source Sans 3"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85800"/>
            <a:ext cx="9144000" cy="365760"/>
          </a:xfrm>
          <a:prstGeom prst="rect">
            <a:avLst/>
          </a:prstGeom>
          <a:noFill/>
          <a:ln/>
        </p:spPr>
        <p:txBody>
          <a:bodyPr wrap="square" lIns="0" tIns="0" rIns="0" bIns="0" rtlCol="0" anchor="t"/>
          <a:lstStyle/>
          <a:p>
            <a:pPr indent="0" marL="0">
              <a:buNone/>
            </a:pPr>
            <a:r>
              <a:rPr lang="en-US" sz="1600" dirty="0">
                <a:solidFill>
                  <a:srgbClr val="CFE0D5"/>
                </a:solidFill>
                <a:latin typeface="Source Sans 3" pitchFamily="34" charset="0"/>
                <a:ea typeface="Source Sans 3" pitchFamily="34" charset="-122"/>
                <a:cs typeface="Source Sans 3" pitchFamily="34" charset="-120"/>
              </a:rPr>
              <a:t>A proposal to the University Students’ Council, Western University</a:t>
            </a:r>
            <a:endParaRPr lang="en-US" sz="1600" dirty="0"/>
          </a:p>
        </p:txBody>
      </p:sp>
      <p:sp>
        <p:nvSpPr>
          <p:cNvPr id="3" name="Text 1"/>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5400" b="1" dirty="0">
                <a:solidFill>
                  <a:srgbClr val="FFFFFF"/>
                </a:solidFill>
                <a:latin typeface="Source Sans 3" pitchFamily="34" charset="0"/>
                <a:ea typeface="Source Sans 3" pitchFamily="34" charset="-122"/>
                <a:cs typeface="Source Sans 3" pitchFamily="34" charset="-120"/>
              </a:rPr>
              <a:t>PBSN ASPIRE: FoodLink</a:t>
            </a:r>
            <a:endParaRPr lang="en-US" sz="5400" dirty="0"/>
          </a:p>
        </p:txBody>
      </p:sp>
      <p:sp>
        <p:nvSpPr>
          <p:cNvPr id="4" name="Text 2"/>
          <p:cNvSpPr txBox="1"/>
          <p:nvPr/>
        </p:nvSpPr>
        <p:spPr>
          <a:xfrm>
            <a:off x="548640" y="2880360"/>
            <a:ext cx="9601200" cy="548640"/>
          </a:xfrm>
          <a:prstGeom prst="rect">
            <a:avLst/>
          </a:prstGeom>
          <a:noFill/>
          <a:ln/>
        </p:spPr>
        <p:txBody>
          <a:bodyPr wrap="square" lIns="0" tIns="0" rIns="0" bIns="0" rtlCol="0" anchor="t"/>
          <a:lstStyle/>
          <a:p>
            <a:pPr indent="0" marL="0">
              <a:buNone/>
            </a:pPr>
            <a:r>
              <a:rPr lang="en-US" sz="2400" dirty="0">
                <a:solidFill>
                  <a:srgbClr val="CFE0D5"/>
                </a:solidFill>
                <a:latin typeface="Source Sans 3" pitchFamily="34" charset="0"/>
                <a:ea typeface="Source Sans 3" pitchFamily="34" charset="-122"/>
                <a:cs typeface="Source Sans 3" pitchFamily="34" charset="-120"/>
              </a:rPr>
              <a:t>Walk-up food access for Western students, with every restock counted</a:t>
            </a:r>
            <a:endParaRPr lang="en-US" sz="2400" dirty="0"/>
          </a:p>
        </p:txBody>
      </p:sp>
      <p:sp>
        <p:nvSpPr>
          <p:cNvPr id="5" name="Shape 3"/>
          <p:cNvSpPr/>
          <p:nvPr/>
        </p:nvSpPr>
        <p:spPr>
          <a:xfrm>
            <a:off x="548640" y="4800600"/>
            <a:ext cx="11094415" cy="0"/>
          </a:xfrm>
          <a:prstGeom prst="line">
            <a:avLst/>
          </a:prstGeom>
          <a:noFill/>
          <a:ln w="9525">
            <a:solidFill>
              <a:srgbClr val="3E6B54"/>
            </a:solidFill>
            <a:prstDash val="solid"/>
          </a:ln>
        </p:spPr>
      </p:sp>
      <p:sp>
        <p:nvSpPr>
          <p:cNvPr id="6" name="Text 4"/>
          <p:cNvSpPr txBox="1"/>
          <p:nvPr/>
        </p:nvSpPr>
        <p:spPr>
          <a:xfrm>
            <a:off x="548640" y="4983480"/>
            <a:ext cx="2743200" cy="274320"/>
          </a:xfrm>
          <a:prstGeom prst="rect">
            <a:avLst/>
          </a:prstGeom>
          <a:noFill/>
          <a:ln/>
        </p:spPr>
        <p:txBody>
          <a:bodyPr wrap="square" lIns="0" tIns="0" rIns="0" bIns="0" rtlCol="0" anchor="t"/>
          <a:lstStyle/>
          <a:p>
            <a:pPr indent="0" marL="0">
              <a:buNone/>
            </a:pPr>
            <a:r>
              <a:rPr lang="en-US" sz="1400" dirty="0">
                <a:solidFill>
                  <a:srgbClr val="9EBFAC"/>
                </a:solidFill>
                <a:latin typeface="Source Sans 3" pitchFamily="34" charset="0"/>
                <a:ea typeface="Source Sans 3" pitchFamily="34" charset="-122"/>
                <a:cs typeface="Source Sans 3" pitchFamily="34" charset="-120"/>
              </a:rPr>
              <a:t>Team</a:t>
            </a:r>
            <a:endParaRPr lang="en-US" sz="1400" dirty="0"/>
          </a:p>
        </p:txBody>
      </p:sp>
      <p:sp>
        <p:nvSpPr>
          <p:cNvPr id="7" name="Text 5"/>
          <p:cNvSpPr txBox="1"/>
          <p:nvPr/>
        </p:nvSpPr>
        <p:spPr>
          <a:xfrm>
            <a:off x="548640" y="5303520"/>
            <a:ext cx="11094415" cy="411480"/>
          </a:xfrm>
          <a:prstGeom prst="rect">
            <a:avLst/>
          </a:prstGeom>
          <a:noFill/>
          <a:ln/>
        </p:spPr>
        <p:txBody>
          <a:bodyPr wrap="square" lIns="0" tIns="0" rIns="0" bIns="0" rtlCol="0" anchor="t"/>
          <a:lstStyle/>
          <a:p>
            <a:pPr indent="0" marL="0">
              <a:buNone/>
            </a:pPr>
            <a:r>
              <a:rPr lang="en-US" sz="2000" dirty="0">
                <a:solidFill>
                  <a:srgbClr val="FFFFFF"/>
                </a:solidFill>
                <a:latin typeface="Source Sans 3" pitchFamily="34" charset="0"/>
                <a:ea typeface="Source Sans 3" pitchFamily="34" charset="-122"/>
                <a:cs typeface="Source Sans 3" pitchFamily="34" charset="-120"/>
              </a:rPr>
              <a:t>Xinge Xu (Zinger)  ·  Nuo Zhang  ·  Zohra Khawaja  ·  Ahana Gehlot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6"/>
          <p:cNvSpPr/>
          <p:nvPr>
            <p:ph idx="106"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We ask the USC to fund an 11-week FoodLink pilot for $3,500</a:t>
            </a:r>
            <a:endParaRPr lang="en-US" sz="2800" dirty="0"/>
          </a:p>
        </p:txBody>
      </p:sp>
      <p:sp>
        <p:nvSpPr>
          <p:cNvPr id="3" name="Text 1"/>
          <p:cNvSpPr txBox="1"/>
          <p:nvPr/>
        </p:nvSpPr>
        <p:spPr>
          <a:xfrm>
            <a:off x="548640" y="1828800"/>
            <a:ext cx="2011680" cy="45720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Problem</a:t>
            </a:r>
            <a:endParaRPr lang="en-US" sz="2000" dirty="0"/>
          </a:p>
        </p:txBody>
      </p:sp>
      <p:sp>
        <p:nvSpPr>
          <p:cNvPr id="4" name="Text 2"/>
          <p:cNvSpPr txBox="1"/>
          <p:nvPr/>
        </p:nvSpPr>
        <p:spPr>
          <a:xfrm>
            <a:off x="2743200" y="1828800"/>
            <a:ext cx="8899855" cy="914400"/>
          </a:xfrm>
          <a:prstGeom prst="rect">
            <a:avLst/>
          </a:prstGeom>
          <a:noFill/>
          <a:ln/>
        </p:spPr>
        <p:txBody>
          <a:bodyPr wrap="square" lIns="0" tIns="0" rIns="0" bIns="0" rtlCol="0" anchor="t"/>
          <a:lstStyle/>
          <a:p>
            <a:pPr indent="0" marL="0">
              <a:buNone/>
            </a:pPr>
            <a:r>
              <a:rPr lang="en-US" sz="2000" dirty="0">
                <a:solidFill>
                  <a:srgbClr val="1B1F1C"/>
                </a:solidFill>
                <a:latin typeface="Source Sans 3" pitchFamily="34" charset="0"/>
                <a:ea typeface="Source Sans 3" pitchFamily="34" charset="-122"/>
                <a:cs typeface="Source Sans 3" pitchFamily="34" charset="-120"/>
              </a:rPr>
              <a:t>Hamper demand more than doubled while access narrowed to an online form, a wait of at least 48 hours and a pickup locker.</a:t>
            </a:r>
            <a:endParaRPr lang="en-US" sz="2000" dirty="0"/>
          </a:p>
        </p:txBody>
      </p:sp>
      <p:sp>
        <p:nvSpPr>
          <p:cNvPr id="5" name="Shape 3"/>
          <p:cNvSpPr/>
          <p:nvPr/>
        </p:nvSpPr>
        <p:spPr>
          <a:xfrm>
            <a:off x="548640" y="3017520"/>
            <a:ext cx="11094415" cy="0"/>
          </a:xfrm>
          <a:prstGeom prst="line">
            <a:avLst/>
          </a:prstGeom>
          <a:noFill/>
          <a:ln w="9525">
            <a:solidFill>
              <a:srgbClr val="D5DBD7"/>
            </a:solidFill>
            <a:prstDash val="solid"/>
          </a:ln>
        </p:spPr>
      </p:sp>
      <p:sp>
        <p:nvSpPr>
          <p:cNvPr id="6" name="Text 4"/>
          <p:cNvSpPr txBox="1"/>
          <p:nvPr/>
        </p:nvSpPr>
        <p:spPr>
          <a:xfrm>
            <a:off x="548640" y="3291840"/>
            <a:ext cx="2011680" cy="45720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Solution</a:t>
            </a:r>
            <a:endParaRPr lang="en-US" sz="2000" dirty="0"/>
          </a:p>
        </p:txBody>
      </p:sp>
      <p:sp>
        <p:nvSpPr>
          <p:cNvPr id="7" name="Text 5"/>
          <p:cNvSpPr txBox="1"/>
          <p:nvPr/>
        </p:nvSpPr>
        <p:spPr>
          <a:xfrm>
            <a:off x="2743200" y="3291840"/>
            <a:ext cx="8899855" cy="914400"/>
          </a:xfrm>
          <a:prstGeom prst="rect">
            <a:avLst/>
          </a:prstGeom>
          <a:noFill/>
          <a:ln/>
        </p:spPr>
        <p:txBody>
          <a:bodyPr wrap="square" lIns="0" tIns="0" rIns="0" bIns="0" rtlCol="0" anchor="t"/>
          <a:lstStyle/>
          <a:p>
            <a:pPr indent="0" marL="0">
              <a:buNone/>
            </a:pPr>
            <a:r>
              <a:rPr lang="en-US" sz="2000" dirty="0">
                <a:solidFill>
                  <a:srgbClr val="1B1F1C"/>
                </a:solidFill>
                <a:latin typeface="Source Sans 3" pitchFamily="34" charset="0"/>
                <a:ea typeface="Source Sans 3" pitchFamily="34" charset="-122"/>
                <a:cs typeface="Source Sans 3" pitchFamily="34" charset="-120"/>
              </a:rPr>
              <a:t>FoodLink: walk-up shelves with live stock, sealed surplus from campus partners, and one app that lists every option. Every restock is counted.</a:t>
            </a:r>
            <a:endParaRPr lang="en-US" sz="2000" dirty="0"/>
          </a:p>
        </p:txBody>
      </p:sp>
      <p:sp>
        <p:nvSpPr>
          <p:cNvPr id="8" name="Shape 6"/>
          <p:cNvSpPr/>
          <p:nvPr/>
        </p:nvSpPr>
        <p:spPr>
          <a:xfrm>
            <a:off x="548640" y="4480560"/>
            <a:ext cx="11094415" cy="0"/>
          </a:xfrm>
          <a:prstGeom prst="line">
            <a:avLst/>
          </a:prstGeom>
          <a:noFill/>
          <a:ln w="9525">
            <a:solidFill>
              <a:srgbClr val="D5DBD7"/>
            </a:solidFill>
            <a:prstDash val="solid"/>
          </a:ln>
        </p:spPr>
      </p:sp>
      <p:sp>
        <p:nvSpPr>
          <p:cNvPr id="9" name="Text 7"/>
          <p:cNvSpPr txBox="1"/>
          <p:nvPr/>
        </p:nvSpPr>
        <p:spPr>
          <a:xfrm>
            <a:off x="548640" y="4754880"/>
            <a:ext cx="2011680" cy="45720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Ask</a:t>
            </a:r>
            <a:endParaRPr lang="en-US" sz="2000" dirty="0"/>
          </a:p>
        </p:txBody>
      </p:sp>
      <p:sp>
        <p:nvSpPr>
          <p:cNvPr id="10" name="Text 8"/>
          <p:cNvSpPr txBox="1"/>
          <p:nvPr/>
        </p:nvSpPr>
        <p:spPr>
          <a:xfrm>
            <a:off x="2743200" y="4754880"/>
            <a:ext cx="8899855" cy="914400"/>
          </a:xfrm>
          <a:prstGeom prst="rect">
            <a:avLst/>
          </a:prstGeom>
          <a:noFill/>
          <a:ln/>
        </p:spPr>
        <p:txBody>
          <a:bodyPr wrap="square" lIns="0" tIns="0" rIns="0" bIns="0" rtlCol="0" anchor="t"/>
          <a:lstStyle/>
          <a:p>
            <a:pPr indent="0" marL="0">
              <a:buNone/>
            </a:pPr>
            <a:r>
              <a:rPr lang="en-US" sz="2000" dirty="0">
                <a:solidFill>
                  <a:srgbClr val="1B1F1C"/>
                </a:solidFill>
                <a:latin typeface="Source Sans 3" pitchFamily="34" charset="0"/>
                <a:ea typeface="Source Sans 3" pitchFamily="34" charset="-122"/>
                <a:cs typeface="Source Sans 3" pitchFamily="34" charset="-120"/>
              </a:rPr>
              <a:t>$3,500 from the USC Grant Fund, two shelf locations and one Food Support contact, January to March 2027.</a:t>
            </a:r>
            <a:endParaRPr lang="en-US" sz="2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Hamper demand more than doubled in about half the time</a:t>
            </a:r>
            <a:endParaRPr lang="en-US" sz="2800" dirty="0"/>
          </a:p>
        </p:txBody>
      </p:sp>
      <p:sp>
        <p:nvSpPr>
          <p:cNvPr id="3" name="Shape 1"/>
          <p:cNvSpPr/>
          <p:nvPr/>
        </p:nvSpPr>
        <p:spPr>
          <a:xfrm>
            <a:off x="548640" y="5257800"/>
            <a:ext cx="6035040" cy="0"/>
          </a:xfrm>
          <a:prstGeom prst="line">
            <a:avLst/>
          </a:prstGeom>
          <a:noFill/>
          <a:ln w="9525">
            <a:solidFill>
              <a:srgbClr val="67706A"/>
            </a:solidFill>
            <a:prstDash val="solid"/>
          </a:ln>
        </p:spPr>
      </p:sp>
      <p:sp>
        <p:nvSpPr>
          <p:cNvPr id="4" name="Shape 2"/>
          <p:cNvSpPr/>
          <p:nvPr/>
        </p:nvSpPr>
        <p:spPr>
          <a:xfrm>
            <a:off x="1097280" y="4067735"/>
            <a:ext cx="1554480" cy="1190065"/>
          </a:xfrm>
          <a:prstGeom prst="rect">
            <a:avLst/>
          </a:prstGeom>
          <a:solidFill>
            <a:srgbClr val="B9C2BC"/>
          </a:solidFill>
          <a:ln w="12700">
            <a:solidFill>
              <a:srgbClr val="B9C2BC"/>
            </a:solidFill>
            <a:prstDash val="solid"/>
          </a:ln>
        </p:spPr>
      </p:sp>
      <p:sp>
        <p:nvSpPr>
          <p:cNvPr id="5" name="Text 3"/>
          <p:cNvSpPr txBox="1"/>
          <p:nvPr/>
        </p:nvSpPr>
        <p:spPr>
          <a:xfrm>
            <a:off x="822960" y="3500807"/>
            <a:ext cx="2103120" cy="502920"/>
          </a:xfrm>
          <a:prstGeom prst="rect">
            <a:avLst/>
          </a:prstGeom>
          <a:noFill/>
          <a:ln/>
        </p:spPr>
        <p:txBody>
          <a:bodyPr wrap="square" lIns="0" tIns="0" rIns="0" bIns="0" rtlCol="0" anchor="b"/>
          <a:lstStyle/>
          <a:p>
            <a:pPr algn="ctr" indent="0" marL="0">
              <a:buNone/>
            </a:pPr>
            <a:r>
              <a:rPr lang="en-US" sz="3000" b="1" dirty="0">
                <a:solidFill>
                  <a:srgbClr val="1B1F1C"/>
                </a:solidFill>
                <a:latin typeface="Source Sans 3" pitchFamily="34" charset="0"/>
                <a:ea typeface="Source Sans 3" pitchFamily="34" charset="-122"/>
                <a:cs typeface="Source Sans 3" pitchFamily="34" charset="-120"/>
              </a:rPr>
              <a:t>750</a:t>
            </a:r>
            <a:endParaRPr lang="en-US" sz="3000" dirty="0"/>
          </a:p>
        </p:txBody>
      </p:sp>
      <p:sp>
        <p:nvSpPr>
          <p:cNvPr id="6" name="Text 4"/>
          <p:cNvSpPr txBox="1"/>
          <p:nvPr/>
        </p:nvSpPr>
        <p:spPr>
          <a:xfrm>
            <a:off x="548640" y="5349240"/>
            <a:ext cx="2651760" cy="292608"/>
          </a:xfrm>
          <a:prstGeom prst="rect">
            <a:avLst/>
          </a:prstGeom>
          <a:noFill/>
          <a:ln/>
        </p:spPr>
        <p:txBody>
          <a:bodyPr wrap="square" lIns="0" tIns="0" rIns="0" bIns="0" rtlCol="0" anchor="t"/>
          <a:lstStyle/>
          <a:p>
            <a:pPr algn="ctr" indent="0" marL="0">
              <a:buNone/>
            </a:pPr>
            <a:r>
              <a:rPr lang="en-US" sz="1400" b="1" dirty="0">
                <a:solidFill>
                  <a:srgbClr val="1B1F1C"/>
                </a:solidFill>
                <a:latin typeface="Source Sans 3" pitchFamily="34" charset="0"/>
                <a:ea typeface="Source Sans 3" pitchFamily="34" charset="-122"/>
                <a:cs typeface="Source Sans 3" pitchFamily="34" charset="-120"/>
              </a:rPr>
              <a:t>2022–23</a:t>
            </a:r>
            <a:endParaRPr lang="en-US" sz="1400" dirty="0"/>
          </a:p>
        </p:txBody>
      </p:sp>
      <p:sp>
        <p:nvSpPr>
          <p:cNvPr id="7" name="Text 5"/>
          <p:cNvSpPr txBox="1"/>
          <p:nvPr/>
        </p:nvSpPr>
        <p:spPr>
          <a:xfrm>
            <a:off x="548640" y="5623560"/>
            <a:ext cx="2651760" cy="274320"/>
          </a:xfrm>
          <a:prstGeom prst="rect">
            <a:avLst/>
          </a:prstGeom>
          <a:noFill/>
          <a:ln/>
        </p:spPr>
        <p:txBody>
          <a:bodyPr wrap="square" lIns="0" tIns="0" rIns="0" bIns="0" rtlCol="0" anchor="t"/>
          <a:lstStyle/>
          <a:p>
            <a:pPr algn="ctr" indent="0" marL="0">
              <a:buNone/>
            </a:pPr>
            <a:r>
              <a:rPr lang="en-US" sz="1300" dirty="0">
                <a:solidFill>
                  <a:srgbClr val="67706A"/>
                </a:solidFill>
                <a:latin typeface="Source Sans 3" pitchFamily="34" charset="0"/>
                <a:ea typeface="Source Sans 3" pitchFamily="34" charset="-122"/>
                <a:cs typeface="Source Sans 3" pitchFamily="34" charset="-120"/>
              </a:rPr>
              <a:t>full year (12 months)</a:t>
            </a:r>
            <a:endParaRPr lang="en-US" sz="1300" dirty="0"/>
          </a:p>
        </p:txBody>
      </p:sp>
      <p:sp>
        <p:nvSpPr>
          <p:cNvPr id="8" name="Shape 6"/>
          <p:cNvSpPr/>
          <p:nvPr/>
        </p:nvSpPr>
        <p:spPr>
          <a:xfrm>
            <a:off x="3657600" y="2560320"/>
            <a:ext cx="1554480" cy="2697480"/>
          </a:xfrm>
          <a:prstGeom prst="rect">
            <a:avLst/>
          </a:prstGeom>
          <a:solidFill>
            <a:srgbClr val="1E6B45"/>
          </a:solidFill>
          <a:ln w="12700">
            <a:solidFill>
              <a:srgbClr val="1E6B45"/>
            </a:solidFill>
            <a:prstDash val="solid"/>
          </a:ln>
        </p:spPr>
      </p:sp>
      <p:sp>
        <p:nvSpPr>
          <p:cNvPr id="9" name="Text 7"/>
          <p:cNvSpPr txBox="1"/>
          <p:nvPr/>
        </p:nvSpPr>
        <p:spPr>
          <a:xfrm>
            <a:off x="3383280" y="1993392"/>
            <a:ext cx="2103120" cy="502920"/>
          </a:xfrm>
          <a:prstGeom prst="rect">
            <a:avLst/>
          </a:prstGeom>
          <a:noFill/>
          <a:ln/>
        </p:spPr>
        <p:txBody>
          <a:bodyPr wrap="square" lIns="0" tIns="0" rIns="0" bIns="0" rtlCol="0" anchor="b"/>
          <a:lstStyle/>
          <a:p>
            <a:pPr algn="ctr" indent="0" marL="0">
              <a:buNone/>
            </a:pPr>
            <a:r>
              <a:rPr lang="en-US" sz="3000" b="1" dirty="0">
                <a:solidFill>
                  <a:srgbClr val="1B1F1C"/>
                </a:solidFill>
                <a:latin typeface="Source Sans 3" pitchFamily="34" charset="0"/>
                <a:ea typeface="Source Sans 3" pitchFamily="34" charset="-122"/>
                <a:cs typeface="Source Sans 3" pitchFamily="34" charset="-120"/>
              </a:rPr>
              <a:t>1,700+</a:t>
            </a:r>
            <a:endParaRPr lang="en-US" sz="3000" dirty="0"/>
          </a:p>
        </p:txBody>
      </p:sp>
      <p:sp>
        <p:nvSpPr>
          <p:cNvPr id="10" name="Text 8"/>
          <p:cNvSpPr txBox="1"/>
          <p:nvPr/>
        </p:nvSpPr>
        <p:spPr>
          <a:xfrm>
            <a:off x="3108960" y="5349240"/>
            <a:ext cx="2651760" cy="292608"/>
          </a:xfrm>
          <a:prstGeom prst="rect">
            <a:avLst/>
          </a:prstGeom>
          <a:noFill/>
          <a:ln/>
        </p:spPr>
        <p:txBody>
          <a:bodyPr wrap="square" lIns="0" tIns="0" rIns="0" bIns="0" rtlCol="0" anchor="t"/>
          <a:lstStyle/>
          <a:p>
            <a:pPr algn="ctr" indent="0" marL="0">
              <a:buNone/>
            </a:pPr>
            <a:r>
              <a:rPr lang="en-US" sz="1400" b="1" dirty="0">
                <a:solidFill>
                  <a:srgbClr val="1B1F1C"/>
                </a:solidFill>
                <a:latin typeface="Source Sans 3" pitchFamily="34" charset="0"/>
                <a:ea typeface="Source Sans 3" pitchFamily="34" charset="-122"/>
                <a:cs typeface="Source Sans 3" pitchFamily="34" charset="-120"/>
              </a:rPr>
              <a:t>Sept 2023 – mid-March 2024</a:t>
            </a:r>
            <a:endParaRPr lang="en-US" sz="1400" dirty="0"/>
          </a:p>
        </p:txBody>
      </p:sp>
      <p:sp>
        <p:nvSpPr>
          <p:cNvPr id="11" name="Text 9"/>
          <p:cNvSpPr txBox="1"/>
          <p:nvPr/>
        </p:nvSpPr>
        <p:spPr>
          <a:xfrm>
            <a:off x="3108960" y="5623560"/>
            <a:ext cx="2651760" cy="274320"/>
          </a:xfrm>
          <a:prstGeom prst="rect">
            <a:avLst/>
          </a:prstGeom>
          <a:noFill/>
          <a:ln/>
        </p:spPr>
        <p:txBody>
          <a:bodyPr wrap="square" lIns="0" tIns="0" rIns="0" bIns="0" rtlCol="0" anchor="t"/>
          <a:lstStyle/>
          <a:p>
            <a:pPr algn="ctr" indent="0" marL="0">
              <a:buNone/>
            </a:pPr>
            <a:r>
              <a:rPr lang="en-US" sz="1300" dirty="0">
                <a:solidFill>
                  <a:srgbClr val="67706A"/>
                </a:solidFill>
                <a:latin typeface="Source Sans 3" pitchFamily="34" charset="0"/>
                <a:ea typeface="Source Sans 3" pitchFamily="34" charset="-122"/>
                <a:cs typeface="Source Sans 3" pitchFamily="34" charset="-120"/>
              </a:rPr>
              <a:t>6.5 months</a:t>
            </a:r>
            <a:endParaRPr lang="en-US" sz="1300" dirty="0"/>
          </a:p>
        </p:txBody>
      </p:sp>
      <p:sp>
        <p:nvSpPr>
          <p:cNvPr id="12" name="Text 10"/>
          <p:cNvSpPr txBox="1"/>
          <p:nvPr/>
        </p:nvSpPr>
        <p:spPr>
          <a:xfrm>
            <a:off x="548640" y="1600200"/>
            <a:ext cx="6035040" cy="274320"/>
          </a:xfrm>
          <a:prstGeom prst="rect">
            <a:avLst/>
          </a:prstGeom>
          <a:noFill/>
          <a:ln/>
        </p:spPr>
        <p:txBody>
          <a:bodyPr wrap="square" lIns="0" tIns="0" rIns="0" bIns="0" rtlCol="0" anchor="t"/>
          <a:lstStyle/>
          <a:p>
            <a:pPr indent="0" marL="0">
              <a:buNone/>
            </a:pPr>
            <a:r>
              <a:rPr lang="en-US" sz="1400" dirty="0">
                <a:solidFill>
                  <a:srgbClr val="67706A"/>
                </a:solidFill>
                <a:latin typeface="Source Sans 3" pitchFamily="34" charset="0"/>
                <a:ea typeface="Source Sans 3" pitchFamily="34" charset="-122"/>
                <a:cs typeface="Source Sans 3" pitchFamily="34" charset="-120"/>
              </a:rPr>
              <a:t>Hampers handed out by USC Food Support</a:t>
            </a:r>
            <a:endParaRPr lang="en-US" sz="1400" dirty="0"/>
          </a:p>
        </p:txBody>
      </p:sp>
      <p:sp>
        <p:nvSpPr>
          <p:cNvPr id="13" name="Text 11"/>
          <p:cNvSpPr txBox="1"/>
          <p:nvPr/>
        </p:nvSpPr>
        <p:spPr>
          <a:xfrm>
            <a:off x="7315200" y="1737360"/>
            <a:ext cx="4327855"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+600%</a:t>
            </a:r>
            <a:endParaRPr lang="en-US" sz="3000" dirty="0"/>
          </a:p>
        </p:txBody>
      </p:sp>
      <p:sp>
        <p:nvSpPr>
          <p:cNvPr id="14" name="Text 12"/>
          <p:cNvSpPr txBox="1"/>
          <p:nvPr/>
        </p:nvSpPr>
        <p:spPr>
          <a:xfrm>
            <a:off x="7315200" y="2286000"/>
            <a:ext cx="4327855" cy="54864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rise in demand the USC reported for 2023</a:t>
            </a:r>
            <a:endParaRPr lang="en-US" sz="1500" dirty="0"/>
          </a:p>
        </p:txBody>
      </p:sp>
      <p:sp>
        <p:nvSpPr>
          <p:cNvPr id="15" name="Shape 13"/>
          <p:cNvSpPr/>
          <p:nvPr/>
        </p:nvSpPr>
        <p:spPr>
          <a:xfrm>
            <a:off x="7315200" y="2880360"/>
            <a:ext cx="4327855" cy="0"/>
          </a:xfrm>
          <a:prstGeom prst="line">
            <a:avLst/>
          </a:prstGeom>
          <a:noFill/>
          <a:ln w="9525">
            <a:solidFill>
              <a:srgbClr val="D5DBD7"/>
            </a:solidFill>
            <a:prstDash val="solid"/>
          </a:ln>
        </p:spPr>
      </p:sp>
      <p:sp>
        <p:nvSpPr>
          <p:cNvPr id="16" name="Text 14"/>
          <p:cNvSpPr txBox="1"/>
          <p:nvPr/>
        </p:nvSpPr>
        <p:spPr>
          <a:xfrm>
            <a:off x="7315200" y="3063240"/>
            <a:ext cx="4327855"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Sept 2023</a:t>
            </a:r>
            <a:endParaRPr lang="en-US" sz="3000" dirty="0"/>
          </a:p>
        </p:txBody>
      </p:sp>
      <p:sp>
        <p:nvSpPr>
          <p:cNvPr id="17" name="Text 15"/>
          <p:cNvSpPr txBox="1"/>
          <p:nvPr/>
        </p:nvSpPr>
        <p:spPr>
          <a:xfrm>
            <a:off x="7315200" y="3611880"/>
            <a:ext cx="4327855" cy="54864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walk-ins closed because of that rise</a:t>
            </a:r>
            <a:endParaRPr lang="en-US" sz="1500" dirty="0"/>
          </a:p>
        </p:txBody>
      </p:sp>
      <p:sp>
        <p:nvSpPr>
          <p:cNvPr id="18" name="Shape 16"/>
          <p:cNvSpPr/>
          <p:nvPr/>
        </p:nvSpPr>
        <p:spPr>
          <a:xfrm>
            <a:off x="7315200" y="4206240"/>
            <a:ext cx="4327855" cy="0"/>
          </a:xfrm>
          <a:prstGeom prst="line">
            <a:avLst/>
          </a:prstGeom>
          <a:noFill/>
          <a:ln w="9525">
            <a:solidFill>
              <a:srgbClr val="D5DBD7"/>
            </a:solidFill>
            <a:prstDash val="solid"/>
          </a:ln>
        </p:spPr>
      </p:sp>
      <p:sp>
        <p:nvSpPr>
          <p:cNvPr id="19" name="Text 17"/>
          <p:cNvSpPr txBox="1"/>
          <p:nvPr/>
        </p:nvSpPr>
        <p:spPr>
          <a:xfrm>
            <a:off x="7315200" y="4389120"/>
            <a:ext cx="4327855"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24%</a:t>
            </a:r>
            <a:endParaRPr lang="en-US" sz="3000" dirty="0"/>
          </a:p>
        </p:txBody>
      </p:sp>
      <p:sp>
        <p:nvSpPr>
          <p:cNvPr id="20" name="Text 18"/>
          <p:cNvSpPr txBox="1"/>
          <p:nvPr/>
        </p:nvSpPr>
        <p:spPr>
          <a:xfrm>
            <a:off x="7315200" y="4937760"/>
            <a:ext cx="4327855" cy="54864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of people in Canada lived in a food-insecure household in 2025</a:t>
            </a:r>
            <a:endParaRPr lang="en-US" sz="1500" dirty="0"/>
          </a:p>
        </p:txBody>
      </p:sp>
      <p:sp>
        <p:nvSpPr>
          <p:cNvPr id="21" name="Text 19"/>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rgbClr val="67706A"/>
                </a:solidFill>
                <a:latin typeface="Source Sans 3" pitchFamily="34" charset="0"/>
                <a:ea typeface="Source Sans 3" pitchFamily="34" charset="-122"/>
                <a:cs typeface="Source Sans 3" pitchFamily="34" charset="-120"/>
              </a:rPr>
              <a:t>Sources: Global News, Mar 15, 2024; The Gazette, Oct 4, 2024; PROOF (University of Toronto), Apr 29, 2026.</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As demand rose, the ways students could reach help narrowed</a:t>
            </a:r>
            <a:endParaRPr lang="en-US" sz="2800" dirty="0"/>
          </a:p>
        </p:txBody>
      </p:sp>
      <p:sp>
        <p:nvSpPr>
          <p:cNvPr id="3" name="Shape 1"/>
          <p:cNvSpPr/>
          <p:nvPr/>
        </p:nvSpPr>
        <p:spPr>
          <a:xfrm>
            <a:off x="685800" y="1783080"/>
            <a:ext cx="0" cy="3886200"/>
          </a:xfrm>
          <a:prstGeom prst="line">
            <a:avLst/>
          </a:prstGeom>
          <a:noFill/>
          <a:ln w="19050">
            <a:solidFill>
              <a:srgbClr val="D5DBD7"/>
            </a:solidFill>
            <a:prstDash val="solid"/>
          </a:ln>
        </p:spPr>
      </p:sp>
      <p:sp>
        <p:nvSpPr>
          <p:cNvPr id="4" name="Shape 2"/>
          <p:cNvSpPr/>
          <p:nvPr/>
        </p:nvSpPr>
        <p:spPr>
          <a:xfrm>
            <a:off x="603504" y="1764792"/>
            <a:ext cx="164592" cy="164592"/>
          </a:xfrm>
          <a:prstGeom prst="ellipse">
            <a:avLst/>
          </a:prstGeom>
          <a:solidFill>
            <a:srgbClr val="FFFFFF"/>
          </a:solidFill>
          <a:ln w="15875">
            <a:solidFill>
              <a:srgbClr val="67706A"/>
            </a:solidFill>
            <a:prstDash val="solid"/>
          </a:ln>
        </p:spPr>
      </p:sp>
      <p:sp>
        <p:nvSpPr>
          <p:cNvPr id="5" name="Text 3"/>
          <p:cNvSpPr txBox="1"/>
          <p:nvPr/>
        </p:nvSpPr>
        <p:spPr>
          <a:xfrm>
            <a:off x="1005840" y="1691640"/>
            <a:ext cx="155448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Sept 2023</a:t>
            </a:r>
            <a:endParaRPr lang="en-US" sz="1800" dirty="0"/>
          </a:p>
        </p:txBody>
      </p:sp>
      <p:sp>
        <p:nvSpPr>
          <p:cNvPr id="6" name="Text 4"/>
          <p:cNvSpPr txBox="1"/>
          <p:nvPr/>
        </p:nvSpPr>
        <p:spPr>
          <a:xfrm>
            <a:off x="2651760" y="1691640"/>
            <a:ext cx="8991295" cy="685800"/>
          </a:xfrm>
          <a:prstGeom prst="rect">
            <a:avLst/>
          </a:prstGeom>
          <a:noFill/>
          <a:ln/>
        </p:spPr>
        <p:txBody>
          <a:bodyPr wrap="square" lIns="0" tIns="0" rIns="0" bIns="0" rtlCol="0" anchor="t"/>
          <a:lstStyle/>
          <a:p>
            <a:pPr indent="0" marL="0">
              <a:buNone/>
            </a:pPr>
            <a:r>
              <a:rPr lang="en-US" sz="1800" dirty="0">
                <a:solidFill>
                  <a:srgbClr val="3A423C"/>
                </a:solidFill>
                <a:latin typeface="Source Sans 3" pitchFamily="34" charset="0"/>
                <a:ea typeface="Source Sans 3" pitchFamily="34" charset="-122"/>
                <a:cs typeface="Source Sans 3" pitchFamily="34" charset="-120"/>
              </a:rPr>
              <a:t>Walk-ins closed after demand rose 600%.</a:t>
            </a:r>
            <a:endParaRPr lang="en-US" sz="1800" dirty="0"/>
          </a:p>
        </p:txBody>
      </p:sp>
      <p:sp>
        <p:nvSpPr>
          <p:cNvPr id="7" name="Shape 5"/>
          <p:cNvSpPr/>
          <p:nvPr/>
        </p:nvSpPr>
        <p:spPr>
          <a:xfrm>
            <a:off x="603504" y="2569464"/>
            <a:ext cx="164592" cy="164592"/>
          </a:xfrm>
          <a:prstGeom prst="ellipse">
            <a:avLst/>
          </a:prstGeom>
          <a:solidFill>
            <a:srgbClr val="FFFFFF"/>
          </a:solidFill>
          <a:ln w="15875">
            <a:solidFill>
              <a:srgbClr val="67706A"/>
            </a:solidFill>
            <a:prstDash val="solid"/>
          </a:ln>
        </p:spPr>
      </p:sp>
      <p:sp>
        <p:nvSpPr>
          <p:cNvPr id="8" name="Text 6"/>
          <p:cNvSpPr txBox="1"/>
          <p:nvPr/>
        </p:nvSpPr>
        <p:spPr>
          <a:xfrm>
            <a:off x="1005840" y="2496312"/>
            <a:ext cx="155448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Oct 2024</a:t>
            </a:r>
            <a:endParaRPr lang="en-US" sz="1800" dirty="0"/>
          </a:p>
        </p:txBody>
      </p:sp>
      <p:sp>
        <p:nvSpPr>
          <p:cNvPr id="9" name="Text 7"/>
          <p:cNvSpPr txBox="1"/>
          <p:nvPr/>
        </p:nvSpPr>
        <p:spPr>
          <a:xfrm>
            <a:off x="2651760" y="2496312"/>
            <a:ext cx="8991295" cy="685800"/>
          </a:xfrm>
          <a:prstGeom prst="rect">
            <a:avLst/>
          </a:prstGeom>
          <a:noFill/>
          <a:ln/>
        </p:spPr>
        <p:txBody>
          <a:bodyPr wrap="square" lIns="0" tIns="0" rIns="0" bIns="0" rtlCol="0" anchor="t"/>
          <a:lstStyle/>
          <a:p>
            <a:pPr indent="0" marL="0">
              <a:buNone/>
            </a:pPr>
            <a:r>
              <a:rPr lang="en-US" sz="1800" dirty="0">
                <a:solidFill>
                  <a:srgbClr val="3A423C"/>
                </a:solidFill>
                <a:latin typeface="Source Sans 3" pitchFamily="34" charset="0"/>
                <a:ea typeface="Source Sans 3" pitchFamily="34" charset="-122"/>
                <a:cs typeface="Source Sans 3" pitchFamily="34" charset="-120"/>
              </a:rPr>
              <a:t>The food bank became hamper-only. Its 40 volunteers were replaced by six part-time staff.</a:t>
            </a:r>
            <a:endParaRPr lang="en-US" sz="1800" dirty="0"/>
          </a:p>
        </p:txBody>
      </p:sp>
      <p:sp>
        <p:nvSpPr>
          <p:cNvPr id="10" name="Shape 8"/>
          <p:cNvSpPr/>
          <p:nvPr/>
        </p:nvSpPr>
        <p:spPr>
          <a:xfrm>
            <a:off x="603504" y="3374136"/>
            <a:ext cx="164592" cy="164592"/>
          </a:xfrm>
          <a:prstGeom prst="ellipse">
            <a:avLst/>
          </a:prstGeom>
          <a:solidFill>
            <a:srgbClr val="FFFFFF"/>
          </a:solidFill>
          <a:ln w="15875">
            <a:solidFill>
              <a:srgbClr val="67706A"/>
            </a:solidFill>
            <a:prstDash val="solid"/>
          </a:ln>
        </p:spPr>
      </p:sp>
      <p:sp>
        <p:nvSpPr>
          <p:cNvPr id="11" name="Text 9"/>
          <p:cNvSpPr txBox="1"/>
          <p:nvPr/>
        </p:nvSpPr>
        <p:spPr>
          <a:xfrm>
            <a:off x="1005840" y="3300984"/>
            <a:ext cx="155448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Feb 2025</a:t>
            </a:r>
            <a:endParaRPr lang="en-US" sz="1800" dirty="0"/>
          </a:p>
        </p:txBody>
      </p:sp>
      <p:sp>
        <p:nvSpPr>
          <p:cNvPr id="12" name="Text 10"/>
          <p:cNvSpPr txBox="1"/>
          <p:nvPr/>
        </p:nvSpPr>
        <p:spPr>
          <a:xfrm>
            <a:off x="2651760" y="3300984"/>
            <a:ext cx="8991295" cy="685800"/>
          </a:xfrm>
          <a:prstGeom prst="rect">
            <a:avLst/>
          </a:prstGeom>
          <a:noFill/>
          <a:ln/>
        </p:spPr>
        <p:txBody>
          <a:bodyPr wrap="square" lIns="0" tIns="0" rIns="0" bIns="0" rtlCol="0" anchor="t"/>
          <a:lstStyle/>
          <a:p>
            <a:pPr indent="0" marL="0">
              <a:buNone/>
            </a:pPr>
            <a:r>
              <a:rPr lang="en-US" sz="1800" dirty="0">
                <a:solidFill>
                  <a:srgbClr val="3A423C"/>
                </a:solidFill>
                <a:latin typeface="Source Sans 3" pitchFamily="34" charset="0"/>
                <a:ea typeface="Source Sans 3" pitchFamily="34" charset="-122"/>
                <a:cs typeface="Source Sans 3" pitchFamily="34" charset="-120"/>
              </a:rPr>
              <a:t>The proposed 2025–26 USC budget dropped the Food Support Coordinator role.</a:t>
            </a:r>
            <a:endParaRPr lang="en-US" sz="1800" dirty="0"/>
          </a:p>
        </p:txBody>
      </p:sp>
      <p:sp>
        <p:nvSpPr>
          <p:cNvPr id="13" name="Shape 11"/>
          <p:cNvSpPr/>
          <p:nvPr/>
        </p:nvSpPr>
        <p:spPr>
          <a:xfrm>
            <a:off x="603504" y="4178808"/>
            <a:ext cx="164592" cy="164592"/>
          </a:xfrm>
          <a:prstGeom prst="ellipse">
            <a:avLst/>
          </a:prstGeom>
          <a:solidFill>
            <a:srgbClr val="FFFFFF"/>
          </a:solidFill>
          <a:ln w="15875">
            <a:solidFill>
              <a:srgbClr val="67706A"/>
            </a:solidFill>
            <a:prstDash val="solid"/>
          </a:ln>
        </p:spPr>
      </p:sp>
      <p:sp>
        <p:nvSpPr>
          <p:cNvPr id="14" name="Text 12"/>
          <p:cNvSpPr txBox="1"/>
          <p:nvPr/>
        </p:nvSpPr>
        <p:spPr>
          <a:xfrm>
            <a:off x="1005840" y="4105656"/>
            <a:ext cx="155448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Oct 2026</a:t>
            </a:r>
            <a:endParaRPr lang="en-US" sz="1800" dirty="0"/>
          </a:p>
        </p:txBody>
      </p:sp>
      <p:sp>
        <p:nvSpPr>
          <p:cNvPr id="15" name="Text 13"/>
          <p:cNvSpPr txBox="1"/>
          <p:nvPr/>
        </p:nvSpPr>
        <p:spPr>
          <a:xfrm>
            <a:off x="2651760" y="4105656"/>
            <a:ext cx="8991295" cy="685800"/>
          </a:xfrm>
          <a:prstGeom prst="rect">
            <a:avLst/>
          </a:prstGeom>
          <a:noFill/>
          <a:ln/>
        </p:spPr>
        <p:txBody>
          <a:bodyPr wrap="square" lIns="0" tIns="0" rIns="0" bIns="0" rtlCol="0" anchor="t"/>
          <a:lstStyle/>
          <a:p>
            <a:pPr indent="0" marL="0">
              <a:buNone/>
            </a:pPr>
            <a:r>
              <a:rPr lang="en-US" sz="1800" dirty="0">
                <a:solidFill>
                  <a:srgbClr val="3A423C"/>
                </a:solidFill>
                <a:latin typeface="Source Sans 3" pitchFamily="34" charset="0"/>
                <a:ea typeface="Source Sans 3" pitchFamily="34" charset="-122"/>
                <a:cs typeface="Source Sans 3" pitchFamily="34" charset="-120"/>
              </a:rPr>
              <a:t>The service’s web page still says requests reopen September 8, 2025.</a:t>
            </a:r>
            <a:endParaRPr lang="en-US" sz="1800" dirty="0"/>
          </a:p>
        </p:txBody>
      </p:sp>
      <p:sp>
        <p:nvSpPr>
          <p:cNvPr id="16" name="Shape 14"/>
          <p:cNvSpPr/>
          <p:nvPr/>
        </p:nvSpPr>
        <p:spPr>
          <a:xfrm>
            <a:off x="603504" y="4983480"/>
            <a:ext cx="164592" cy="164592"/>
          </a:xfrm>
          <a:prstGeom prst="ellipse">
            <a:avLst/>
          </a:prstGeom>
          <a:solidFill>
            <a:srgbClr val="1E6B45"/>
          </a:solidFill>
          <a:ln w="15875">
            <a:solidFill>
              <a:srgbClr val="1E6B45"/>
            </a:solidFill>
            <a:prstDash val="solid"/>
          </a:ln>
        </p:spPr>
      </p:sp>
      <p:sp>
        <p:nvSpPr>
          <p:cNvPr id="17" name="Text 15"/>
          <p:cNvSpPr txBox="1"/>
          <p:nvPr/>
        </p:nvSpPr>
        <p:spPr>
          <a:xfrm>
            <a:off x="1005840" y="4910328"/>
            <a:ext cx="155448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Today</a:t>
            </a:r>
            <a:endParaRPr lang="en-US" sz="1800" dirty="0"/>
          </a:p>
        </p:txBody>
      </p:sp>
      <p:sp>
        <p:nvSpPr>
          <p:cNvPr id="18" name="Text 16"/>
          <p:cNvSpPr txBox="1"/>
          <p:nvPr/>
        </p:nvSpPr>
        <p:spPr>
          <a:xfrm>
            <a:off x="2651760" y="4910328"/>
            <a:ext cx="8991295" cy="685800"/>
          </a:xfrm>
          <a:prstGeom prst="rect">
            <a:avLst/>
          </a:prstGeom>
          <a:noFill/>
          <a:ln/>
        </p:spPr>
        <p:txBody>
          <a:bodyPr wrap="square" lIns="0" tIns="0" rIns="0" bIns="0" rtlCol="0" anchor="t"/>
          <a:lstStyle/>
          <a:p>
            <a:pPr indent="0" marL="0">
              <a:buNone/>
            </a:pPr>
            <a:r>
              <a:rPr lang="en-US" sz="1800" dirty="0">
                <a:solidFill>
                  <a:srgbClr val="3A423C"/>
                </a:solidFill>
                <a:latin typeface="Source Sans 3" pitchFamily="34" charset="0"/>
                <a:ea typeface="Source Sans 3" pitchFamily="34" charset="-122"/>
                <a:cs typeface="Source Sans 3" pitchFamily="34" charset="-120"/>
              </a:rPr>
              <a:t>Students request online, wait at least 48 hours, and collect from a locker or room UCC 40F.</a:t>
            </a:r>
            <a:endParaRPr lang="en-US" sz="1800" dirty="0"/>
          </a:p>
        </p:txBody>
      </p:sp>
      <p:sp>
        <p:nvSpPr>
          <p:cNvPr id="19" name="Text 17"/>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rgbClr val="67706A"/>
                </a:solidFill>
                <a:latin typeface="Source Sans 3" pitchFamily="34" charset="0"/>
                <a:ea typeface="Source Sans 3" pitchFamily="34" charset="-122"/>
                <a:cs typeface="Source Sans 3" pitchFamily="34" charset="-120"/>
              </a:rPr>
              <a:t>Sources: The Gazette, Oct 4, 2024 and Feb 2025; USC Food Support Services page, checked Oct 31, 2026.</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Help exists, but access, supply and information get in the way</a:t>
            </a:r>
            <a:endParaRPr lang="en-US" sz="2800" dirty="0"/>
          </a:p>
        </p:txBody>
      </p:sp>
      <p:sp>
        <p:nvSpPr>
          <p:cNvPr id="3" name="Text 1"/>
          <p:cNvSpPr txBox="1"/>
          <p:nvPr/>
        </p:nvSpPr>
        <p:spPr>
          <a:xfrm>
            <a:off x="548640" y="1691640"/>
            <a:ext cx="345429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Access</a:t>
            </a:r>
            <a:endParaRPr lang="en-US" sz="2200" dirty="0"/>
          </a:p>
        </p:txBody>
      </p:sp>
      <p:sp>
        <p:nvSpPr>
          <p:cNvPr id="4" name="Text 2"/>
          <p:cNvSpPr txBox="1"/>
          <p:nvPr/>
        </p:nvSpPr>
        <p:spPr>
          <a:xfrm>
            <a:off x="548640" y="2240280"/>
            <a:ext cx="336285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One room (UCC 40F) or a locker</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Online form, at least 48 hours</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Nothing to grab between classes</a:t>
            </a:r>
            <a:endParaRPr lang="en-US" sz="1700" dirty="0"/>
          </a:p>
        </p:txBody>
      </p:sp>
      <p:sp>
        <p:nvSpPr>
          <p:cNvPr id="5" name="Shape 3"/>
          <p:cNvSpPr/>
          <p:nvPr/>
        </p:nvSpPr>
        <p:spPr>
          <a:xfrm>
            <a:off x="4185818" y="1691640"/>
            <a:ext cx="0" cy="3291840"/>
          </a:xfrm>
          <a:prstGeom prst="line">
            <a:avLst/>
          </a:prstGeom>
          <a:noFill/>
          <a:ln w="9525">
            <a:solidFill>
              <a:srgbClr val="D5DBD7"/>
            </a:solidFill>
            <a:prstDash val="solid"/>
          </a:ln>
        </p:spPr>
      </p:sp>
      <p:sp>
        <p:nvSpPr>
          <p:cNvPr id="6" name="Text 4"/>
          <p:cNvSpPr txBox="1"/>
          <p:nvPr/>
        </p:nvSpPr>
        <p:spPr>
          <a:xfrm>
            <a:off x="4368698" y="1691640"/>
            <a:ext cx="345429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Supply</a:t>
            </a:r>
            <a:endParaRPr lang="en-US" sz="2200" dirty="0"/>
          </a:p>
        </p:txBody>
      </p:sp>
      <p:sp>
        <p:nvSpPr>
          <p:cNvPr id="7" name="Text 5"/>
          <p:cNvSpPr txBox="1"/>
          <p:nvPr/>
        </p:nvSpPr>
        <p:spPr>
          <a:xfrm>
            <a:off x="4368698" y="2240280"/>
            <a:ext cx="336285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Runs entirely on donations</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None of the 21 USC fee lines for 2026–27 funds it</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Special requests often go unmet</a:t>
            </a:r>
            <a:endParaRPr lang="en-US" sz="1700" dirty="0"/>
          </a:p>
        </p:txBody>
      </p:sp>
      <p:sp>
        <p:nvSpPr>
          <p:cNvPr id="8" name="Shape 6"/>
          <p:cNvSpPr/>
          <p:nvPr/>
        </p:nvSpPr>
        <p:spPr>
          <a:xfrm>
            <a:off x="8005877" y="1691640"/>
            <a:ext cx="0" cy="3291840"/>
          </a:xfrm>
          <a:prstGeom prst="line">
            <a:avLst/>
          </a:prstGeom>
          <a:noFill/>
          <a:ln w="9525">
            <a:solidFill>
              <a:srgbClr val="D5DBD7"/>
            </a:solidFill>
            <a:prstDash val="solid"/>
          </a:ln>
        </p:spPr>
      </p:sp>
      <p:sp>
        <p:nvSpPr>
          <p:cNvPr id="9" name="Text 7"/>
          <p:cNvSpPr txBox="1"/>
          <p:nvPr/>
        </p:nvSpPr>
        <p:spPr>
          <a:xfrm>
            <a:off x="8188757" y="1691640"/>
            <a:ext cx="345429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Information</a:t>
            </a:r>
            <a:endParaRPr lang="en-US" sz="2200" dirty="0"/>
          </a:p>
        </p:txBody>
      </p:sp>
      <p:sp>
        <p:nvSpPr>
          <p:cNvPr id="10" name="Text 8"/>
          <p:cNvSpPr txBox="1"/>
          <p:nvPr/>
        </p:nvSpPr>
        <p:spPr>
          <a:xfrm>
            <a:off x="8188757" y="2240280"/>
            <a:ext cx="336285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Five services, each with its own hours and rules</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The USC page still points to September 2025</a:t>
            </a:r>
            <a:endParaRPr lang="en-US" sz="1700" dirty="0"/>
          </a:p>
          <a:p>
            <a:pPr marL="203200" indent="-203200">
              <a:spcAft>
                <a:spcPts val="1000"/>
              </a:spcAft>
              <a:buSzPct val="100000"/>
              <a:buChar char="•"/>
            </a:pPr>
            <a:r>
              <a:rPr lang="en-US" sz="1700" dirty="0">
                <a:solidFill>
                  <a:srgbClr val="1B1F1C"/>
                </a:solidFill>
                <a:latin typeface="Source Sans 3" pitchFamily="34" charset="0"/>
                <a:ea typeface="Source Sans 3" pitchFamily="34" charset="-122"/>
                <a:cs typeface="Source Sans 3" pitchFamily="34" charset="-120"/>
              </a:rPr>
              <a:t>Nowhere shows what is open now</a:t>
            </a:r>
            <a:endParaRPr lang="en-US" sz="1700" dirty="0"/>
          </a:p>
        </p:txBody>
      </p:sp>
      <p:sp>
        <p:nvSpPr>
          <p:cNvPr id="11" name="Shape 9"/>
          <p:cNvSpPr/>
          <p:nvPr/>
        </p:nvSpPr>
        <p:spPr>
          <a:xfrm>
            <a:off x="548640" y="5212080"/>
            <a:ext cx="11094415" cy="566928"/>
          </a:xfrm>
          <a:prstGeom prst="rect">
            <a:avLst/>
          </a:prstGeom>
          <a:solidFill>
            <a:srgbClr val="E2EFE7"/>
          </a:solidFill>
          <a:ln w="12700">
            <a:solidFill>
              <a:srgbClr val="E2EFE7"/>
            </a:solidFill>
            <a:prstDash val="solid"/>
          </a:ln>
        </p:spPr>
      </p:sp>
      <p:sp>
        <p:nvSpPr>
          <p:cNvPr id="12" name="Text 10"/>
          <p:cNvSpPr txBox="1"/>
          <p:nvPr/>
        </p:nvSpPr>
        <p:spPr>
          <a:xfrm>
            <a:off x="777240" y="5212080"/>
            <a:ext cx="10637215" cy="566928"/>
          </a:xfrm>
          <a:prstGeom prst="rect">
            <a:avLst/>
          </a:prstGeom>
          <a:noFill/>
          <a:ln/>
        </p:spPr>
        <p:txBody>
          <a:bodyPr wrap="square" lIns="0" tIns="0" rIns="0" bIns="0" rtlCol="0" anchor="ctr"/>
          <a:lstStyle/>
          <a:p>
            <a:pPr indent="0" marL="0">
              <a:buNone/>
            </a:pPr>
            <a:r>
              <a:rPr lang="en-US" sz="1600" dirty="0">
                <a:solidFill>
                  <a:srgbClr val="1B1F1C"/>
                </a:solidFill>
                <a:latin typeface="Source Sans 3" pitchFamily="34" charset="0"/>
                <a:ea typeface="Source Sans 3" pitchFamily="34" charset="-122"/>
                <a:cs typeface="Source Sans 3" pitchFamily="34" charset="-120"/>
              </a:rPr>
              <a:t>Western publishes no food-insecurity rate of its own, so hamper counts only show the students who asked.</a:t>
            </a:r>
            <a:endParaRPr lang="en-US" sz="1600" dirty="0"/>
          </a:p>
        </p:txBody>
      </p:sp>
      <p:sp>
        <p:nvSpPr>
          <p:cNvPr id="13" name="Text 11"/>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rgbClr val="67706A"/>
                </a:solidFill>
                <a:latin typeface="Source Sans 3" pitchFamily="34" charset="0"/>
                <a:ea typeface="Source Sans 3" pitchFamily="34" charset="-122"/>
                <a:cs typeface="Source Sans 3" pitchFamily="34" charset="-120"/>
              </a:rPr>
              <a:t>Sources: USC Food Support Services page and 2026–27 fee schedule, checked Oct 2026.</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The USC ended walk-ins because they were hard to organize</a:t>
            </a:r>
            <a:endParaRPr lang="en-US" sz="2800" dirty="0"/>
          </a:p>
        </p:txBody>
      </p:sp>
      <p:sp>
        <p:nvSpPr>
          <p:cNvPr id="3" name="Shape 1"/>
          <p:cNvSpPr/>
          <p:nvPr/>
        </p:nvSpPr>
        <p:spPr>
          <a:xfrm>
            <a:off x="548640" y="1691640"/>
            <a:ext cx="4937760" cy="3429000"/>
          </a:xfrm>
          <a:prstGeom prst="rect">
            <a:avLst/>
          </a:prstGeom>
          <a:solidFill>
            <a:srgbClr val="F2F4F2"/>
          </a:solidFill>
          <a:ln w="12700">
            <a:solidFill>
              <a:srgbClr val="F2F4F2"/>
            </a:solidFill>
            <a:prstDash val="solid"/>
          </a:ln>
        </p:spPr>
      </p:sp>
      <p:sp>
        <p:nvSpPr>
          <p:cNvPr id="4" name="Text 2"/>
          <p:cNvSpPr txBox="1"/>
          <p:nvPr/>
        </p:nvSpPr>
        <p:spPr>
          <a:xfrm>
            <a:off x="914400" y="2057400"/>
            <a:ext cx="4206240" cy="2103120"/>
          </a:xfrm>
          <a:prstGeom prst="rect">
            <a:avLst/>
          </a:prstGeom>
          <a:noFill/>
          <a:ln/>
        </p:spPr>
        <p:txBody>
          <a:bodyPr wrap="square" lIns="0" tIns="0" rIns="0" bIns="0" rtlCol="0" anchor="t"/>
          <a:lstStyle/>
          <a:p>
            <a:pPr indent="0" marL="0">
              <a:buNone/>
            </a:pPr>
            <a:r>
              <a:rPr lang="en-US" sz="3000" dirty="0">
                <a:solidFill>
                  <a:srgbClr val="1B1F1C"/>
                </a:solidFill>
                <a:latin typeface="Source Sans 3" pitchFamily="34" charset="0"/>
                <a:ea typeface="Source Sans 3" pitchFamily="34" charset="-122"/>
                <a:cs typeface="Source Sans 3" pitchFamily="34" charset="-120"/>
              </a:rPr>
              <a:t>Walk-ins made it </a:t>
            </a:r>
            <a:pPr indent="0" marL="0">
              <a:buNone/>
            </a:pPr>
            <a:r>
              <a:rPr lang="en-US" sz="3000" b="1" dirty="0">
                <a:solidFill>
                  <a:srgbClr val="1E6B45"/>
                </a:solidFill>
                <a:latin typeface="Source Sans 3" pitchFamily="34" charset="0"/>
                <a:ea typeface="Source Sans 3" pitchFamily="34" charset="-122"/>
                <a:cs typeface="Source Sans 3" pitchFamily="34" charset="-120"/>
              </a:rPr>
              <a:t>“incredibly difficult”</a:t>
            </a:r>
            <a:pPr indent="0" marL="0">
              <a:buNone/>
            </a:pPr>
            <a:r>
              <a:rPr lang="en-US" sz="3000" dirty="0">
                <a:solidFill>
                  <a:srgbClr val="1B1F1C"/>
                </a:solidFill>
                <a:latin typeface="Source Sans 3" pitchFamily="34" charset="0"/>
                <a:ea typeface="Source Sans 3" pitchFamily="34" charset="-122"/>
                <a:cs typeface="Source Sans 3" pitchFamily="34" charset="-120"/>
              </a:rPr>
              <a:t> to get food out in an organized way.</a:t>
            </a:r>
            <a:endParaRPr lang="en-US" sz="3000" dirty="0"/>
          </a:p>
        </p:txBody>
      </p:sp>
      <p:sp>
        <p:nvSpPr>
          <p:cNvPr id="5" name="Text 3"/>
          <p:cNvSpPr txBox="1"/>
          <p:nvPr/>
        </p:nvSpPr>
        <p:spPr>
          <a:xfrm>
            <a:off x="914400" y="4434840"/>
            <a:ext cx="4206240" cy="365760"/>
          </a:xfrm>
          <a:prstGeom prst="rect">
            <a:avLst/>
          </a:prstGeom>
          <a:noFill/>
          <a:ln/>
        </p:spPr>
        <p:txBody>
          <a:bodyPr wrap="square" lIns="0" tIns="0" rIns="0" bIns="0" rtlCol="0" anchor="t"/>
          <a:lstStyle/>
          <a:p>
            <a:pPr indent="0" marL="0">
              <a:buNone/>
            </a:pPr>
            <a:r>
              <a:rPr lang="en-US" sz="1400" dirty="0">
                <a:solidFill>
                  <a:srgbClr val="67706A"/>
                </a:solidFill>
                <a:latin typeface="Source Sans 3" pitchFamily="34" charset="0"/>
                <a:ea typeface="Source Sans 3" pitchFamily="34" charset="-122"/>
                <a:cs typeface="Source Sans 3" pitchFamily="34" charset="-120"/>
              </a:rPr>
              <a:t>The USC, quoted in The Gazette, October 4, 2024</a:t>
            </a:r>
            <a:endParaRPr lang="en-US" sz="1400" dirty="0"/>
          </a:p>
        </p:txBody>
      </p:sp>
      <p:sp>
        <p:nvSpPr>
          <p:cNvPr id="6" name="Text 4"/>
          <p:cNvSpPr txBox="1"/>
          <p:nvPr/>
        </p:nvSpPr>
        <p:spPr>
          <a:xfrm>
            <a:off x="5943600" y="1691640"/>
            <a:ext cx="5699455" cy="64008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FoodLink keeps walk-up access and adds the controls walk-ins lacked:</a:t>
            </a:r>
            <a:endParaRPr lang="en-US" sz="1800" dirty="0"/>
          </a:p>
        </p:txBody>
      </p:sp>
      <p:sp>
        <p:nvSpPr>
          <p:cNvPr id="7" name="Shape 5"/>
          <p:cNvSpPr/>
          <p:nvPr/>
        </p:nvSpPr>
        <p:spPr>
          <a:xfrm>
            <a:off x="5943600" y="2404872"/>
            <a:ext cx="5699455" cy="0"/>
          </a:xfrm>
          <a:prstGeom prst="line">
            <a:avLst/>
          </a:prstGeom>
          <a:noFill/>
          <a:ln w="9525">
            <a:solidFill>
              <a:srgbClr val="D5DBD7"/>
            </a:solidFill>
            <a:prstDash val="solid"/>
          </a:ln>
        </p:spPr>
      </p:sp>
      <p:sp>
        <p:nvSpPr>
          <p:cNvPr id="8" name="Text 6"/>
          <p:cNvSpPr txBox="1"/>
          <p:nvPr/>
        </p:nvSpPr>
        <p:spPr>
          <a:xfrm>
            <a:off x="5943600" y="2514600"/>
            <a:ext cx="1920240" cy="502920"/>
          </a:xfrm>
          <a:prstGeom prst="rect">
            <a:avLst/>
          </a:prstGeom>
          <a:noFill/>
          <a:ln/>
        </p:spPr>
        <p:txBody>
          <a:bodyPr wrap="square" lIns="0" tIns="0" rIns="0" bIns="0" rtlCol="0" anchor="t"/>
          <a:lstStyle/>
          <a:p>
            <a:pPr indent="0" marL="0">
              <a:buNone/>
            </a:pPr>
            <a:r>
              <a:rPr lang="en-US" sz="1600" b="1" dirty="0">
                <a:solidFill>
                  <a:srgbClr val="1E6B45"/>
                </a:solidFill>
                <a:latin typeface="Source Sans 3" pitchFamily="34" charset="0"/>
                <a:ea typeface="Source Sans 3" pitchFamily="34" charset="-122"/>
                <a:cs typeface="Source Sans 3" pitchFamily="34" charset="-120"/>
              </a:rPr>
              <a:t>Counted restocks</a:t>
            </a:r>
            <a:endParaRPr lang="en-US" sz="1600" dirty="0"/>
          </a:p>
        </p:txBody>
      </p:sp>
      <p:sp>
        <p:nvSpPr>
          <p:cNvPr id="9" name="Text 7"/>
          <p:cNvSpPr txBox="1"/>
          <p:nvPr/>
        </p:nvSpPr>
        <p:spPr>
          <a:xfrm>
            <a:off x="7955280" y="2514600"/>
            <a:ext cx="3687775" cy="54864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Each check-in records what was taken since the last one.</a:t>
            </a:r>
            <a:endParaRPr lang="en-US" sz="1600" dirty="0"/>
          </a:p>
        </p:txBody>
      </p:sp>
      <p:sp>
        <p:nvSpPr>
          <p:cNvPr id="10" name="Shape 8"/>
          <p:cNvSpPr/>
          <p:nvPr/>
        </p:nvSpPr>
        <p:spPr>
          <a:xfrm>
            <a:off x="5943600" y="3118104"/>
            <a:ext cx="5699455" cy="0"/>
          </a:xfrm>
          <a:prstGeom prst="line">
            <a:avLst/>
          </a:prstGeom>
          <a:noFill/>
          <a:ln w="9525">
            <a:solidFill>
              <a:srgbClr val="D5DBD7"/>
            </a:solidFill>
            <a:prstDash val="solid"/>
          </a:ln>
        </p:spPr>
      </p:sp>
      <p:sp>
        <p:nvSpPr>
          <p:cNvPr id="11" name="Text 9"/>
          <p:cNvSpPr txBox="1"/>
          <p:nvPr/>
        </p:nvSpPr>
        <p:spPr>
          <a:xfrm>
            <a:off x="5943600" y="3227832"/>
            <a:ext cx="1920240" cy="502920"/>
          </a:xfrm>
          <a:prstGeom prst="rect">
            <a:avLst/>
          </a:prstGeom>
          <a:noFill/>
          <a:ln/>
        </p:spPr>
        <p:txBody>
          <a:bodyPr wrap="square" lIns="0" tIns="0" rIns="0" bIns="0" rtlCol="0" anchor="t"/>
          <a:lstStyle/>
          <a:p>
            <a:pPr indent="0" marL="0">
              <a:buNone/>
            </a:pPr>
            <a:r>
              <a:rPr lang="en-US" sz="1600" b="1" dirty="0">
                <a:solidFill>
                  <a:srgbClr val="1E6B45"/>
                </a:solidFill>
                <a:latin typeface="Source Sans 3" pitchFamily="34" charset="0"/>
                <a:ea typeface="Source Sans 3" pitchFamily="34" charset="-122"/>
                <a:cs typeface="Source Sans 3" pitchFamily="34" charset="-120"/>
              </a:rPr>
              <a:t>Live stock</a:t>
            </a:r>
            <a:endParaRPr lang="en-US" sz="1600" dirty="0"/>
          </a:p>
        </p:txBody>
      </p:sp>
      <p:sp>
        <p:nvSpPr>
          <p:cNvPr id="12" name="Text 10"/>
          <p:cNvSpPr txBox="1"/>
          <p:nvPr/>
        </p:nvSpPr>
        <p:spPr>
          <a:xfrm>
            <a:off x="7955280" y="3227832"/>
            <a:ext cx="3687775" cy="54864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Students see what is on the shelf before they walk over.</a:t>
            </a:r>
            <a:endParaRPr lang="en-US" sz="1600" dirty="0"/>
          </a:p>
        </p:txBody>
      </p:sp>
      <p:sp>
        <p:nvSpPr>
          <p:cNvPr id="13" name="Shape 11"/>
          <p:cNvSpPr/>
          <p:nvPr/>
        </p:nvSpPr>
        <p:spPr>
          <a:xfrm>
            <a:off x="5943600" y="3831336"/>
            <a:ext cx="5699455" cy="0"/>
          </a:xfrm>
          <a:prstGeom prst="line">
            <a:avLst/>
          </a:prstGeom>
          <a:noFill/>
          <a:ln w="9525">
            <a:solidFill>
              <a:srgbClr val="D5DBD7"/>
            </a:solidFill>
            <a:prstDash val="solid"/>
          </a:ln>
        </p:spPr>
      </p:sp>
      <p:sp>
        <p:nvSpPr>
          <p:cNvPr id="14" name="Text 12"/>
          <p:cNvSpPr txBox="1"/>
          <p:nvPr/>
        </p:nvSpPr>
        <p:spPr>
          <a:xfrm>
            <a:off x="5943600" y="3941064"/>
            <a:ext cx="1920240" cy="502920"/>
          </a:xfrm>
          <a:prstGeom prst="rect">
            <a:avLst/>
          </a:prstGeom>
          <a:noFill/>
          <a:ln/>
        </p:spPr>
        <p:txBody>
          <a:bodyPr wrap="square" lIns="0" tIns="0" rIns="0" bIns="0" rtlCol="0" anchor="t"/>
          <a:lstStyle/>
          <a:p>
            <a:pPr indent="0" marL="0">
              <a:buNone/>
            </a:pPr>
            <a:r>
              <a:rPr lang="en-US" sz="1600" b="1" dirty="0">
                <a:solidFill>
                  <a:srgbClr val="1E6B45"/>
                </a:solidFill>
                <a:latin typeface="Source Sans 3" pitchFamily="34" charset="0"/>
                <a:ea typeface="Source Sans 3" pitchFamily="34" charset="-122"/>
                <a:cs typeface="Source Sans 3" pitchFamily="34" charset="-120"/>
              </a:rPr>
              <a:t>One-tap reports</a:t>
            </a:r>
            <a:endParaRPr lang="en-US" sz="1600" dirty="0"/>
          </a:p>
        </p:txBody>
      </p:sp>
      <p:sp>
        <p:nvSpPr>
          <p:cNvPr id="15" name="Text 13"/>
          <p:cNvSpPr txBox="1"/>
          <p:nvPr/>
        </p:nvSpPr>
        <p:spPr>
          <a:xfrm>
            <a:off x="7955280" y="3941064"/>
            <a:ext cx="3687775" cy="54864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An empty shelf alerts the volunteer on shift.</a:t>
            </a:r>
            <a:endParaRPr lang="en-US" sz="1600" dirty="0"/>
          </a:p>
        </p:txBody>
      </p:sp>
      <p:sp>
        <p:nvSpPr>
          <p:cNvPr id="16" name="Shape 14"/>
          <p:cNvSpPr/>
          <p:nvPr/>
        </p:nvSpPr>
        <p:spPr>
          <a:xfrm>
            <a:off x="5943600" y="4544568"/>
            <a:ext cx="5699455" cy="0"/>
          </a:xfrm>
          <a:prstGeom prst="line">
            <a:avLst/>
          </a:prstGeom>
          <a:noFill/>
          <a:ln w="9525">
            <a:solidFill>
              <a:srgbClr val="D5DBD7"/>
            </a:solidFill>
            <a:prstDash val="solid"/>
          </a:ln>
        </p:spPr>
      </p:sp>
      <p:sp>
        <p:nvSpPr>
          <p:cNvPr id="17" name="Text 15"/>
          <p:cNvSpPr txBox="1"/>
          <p:nvPr/>
        </p:nvSpPr>
        <p:spPr>
          <a:xfrm>
            <a:off x="5943600" y="4654296"/>
            <a:ext cx="1920240" cy="502920"/>
          </a:xfrm>
          <a:prstGeom prst="rect">
            <a:avLst/>
          </a:prstGeom>
          <a:noFill/>
          <a:ln/>
        </p:spPr>
        <p:txBody>
          <a:bodyPr wrap="square" lIns="0" tIns="0" rIns="0" bIns="0" rtlCol="0" anchor="t"/>
          <a:lstStyle/>
          <a:p>
            <a:pPr indent="0" marL="0">
              <a:buNone/>
            </a:pPr>
            <a:r>
              <a:rPr lang="en-US" sz="1600" b="1" dirty="0">
                <a:solidFill>
                  <a:srgbClr val="1E6B45"/>
                </a:solidFill>
                <a:latin typeface="Source Sans 3" pitchFamily="34" charset="0"/>
                <a:ea typeface="Source Sans 3" pitchFamily="34" charset="-122"/>
                <a:cs typeface="Source Sans 3" pitchFamily="34" charset="-120"/>
              </a:rPr>
              <a:t>Safety checklist</a:t>
            </a:r>
            <a:endParaRPr lang="en-US" sz="1600" dirty="0"/>
          </a:p>
        </p:txBody>
      </p:sp>
      <p:sp>
        <p:nvSpPr>
          <p:cNvPr id="18" name="Text 16"/>
          <p:cNvSpPr txBox="1"/>
          <p:nvPr/>
        </p:nvSpPr>
        <p:spPr>
          <a:xfrm>
            <a:off x="7955280" y="4654296"/>
            <a:ext cx="3687775" cy="54864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Sealed, in date, and nothing that needs a fridge.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FoodLink has three parts that feed one dashboard the USC can audit</a:t>
            </a:r>
            <a:endParaRPr lang="en-US" sz="2800" dirty="0"/>
          </a:p>
        </p:txBody>
      </p:sp>
      <p:sp>
        <p:nvSpPr>
          <p:cNvPr id="3" name="Shape 1"/>
          <p:cNvSpPr/>
          <p:nvPr/>
        </p:nvSpPr>
        <p:spPr>
          <a:xfrm>
            <a:off x="548640" y="1691640"/>
            <a:ext cx="3423818" cy="1691640"/>
          </a:xfrm>
          <a:prstGeom prst="rect">
            <a:avLst/>
          </a:prstGeom>
          <a:solidFill>
            <a:srgbClr val="FFFFFF"/>
          </a:solidFill>
          <a:ln w="12700">
            <a:solidFill>
              <a:srgbClr val="D5DBD7"/>
            </a:solidFill>
            <a:prstDash val="solid"/>
          </a:ln>
        </p:spPr>
      </p:sp>
      <p:sp>
        <p:nvSpPr>
          <p:cNvPr id="4" name="Text 2"/>
          <p:cNvSpPr txBox="1"/>
          <p:nvPr/>
        </p:nvSpPr>
        <p:spPr>
          <a:xfrm>
            <a:off x="777240" y="1874520"/>
            <a:ext cx="296661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Points</a:t>
            </a:r>
            <a:endParaRPr lang="en-US" sz="2200" dirty="0"/>
          </a:p>
        </p:txBody>
      </p:sp>
      <p:sp>
        <p:nvSpPr>
          <p:cNvPr id="5" name="Text 3"/>
          <p:cNvSpPr txBox="1"/>
          <p:nvPr/>
        </p:nvSpPr>
        <p:spPr>
          <a:xfrm>
            <a:off x="777240" y="2377440"/>
            <a:ext cx="2966618" cy="91440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Two walk-up shelves of sealed, shelf-stable food and hygiene products. No forms, no ID.</a:t>
            </a:r>
            <a:endParaRPr lang="en-US" sz="1600" dirty="0"/>
          </a:p>
        </p:txBody>
      </p:sp>
      <p:sp>
        <p:nvSpPr>
          <p:cNvPr id="6" name="Shape 4"/>
          <p:cNvSpPr/>
          <p:nvPr/>
        </p:nvSpPr>
        <p:spPr>
          <a:xfrm>
            <a:off x="2260549" y="3456432"/>
            <a:ext cx="0" cy="502920"/>
          </a:xfrm>
          <a:prstGeom prst="line">
            <a:avLst/>
          </a:prstGeom>
          <a:noFill/>
          <a:ln w="15875">
            <a:solidFill>
              <a:srgbClr val="67706A"/>
            </a:solidFill>
            <a:prstDash val="solid"/>
            <a:tailEnd type="triangle"/>
          </a:ln>
        </p:spPr>
      </p:sp>
      <p:sp>
        <p:nvSpPr>
          <p:cNvPr id="7" name="Shape 5"/>
          <p:cNvSpPr/>
          <p:nvPr/>
        </p:nvSpPr>
        <p:spPr>
          <a:xfrm>
            <a:off x="4383938" y="1691640"/>
            <a:ext cx="3423818" cy="1691640"/>
          </a:xfrm>
          <a:prstGeom prst="rect">
            <a:avLst/>
          </a:prstGeom>
          <a:solidFill>
            <a:srgbClr val="FFFFFF"/>
          </a:solidFill>
          <a:ln w="12700">
            <a:solidFill>
              <a:srgbClr val="D5DBD7"/>
            </a:solidFill>
            <a:prstDash val="solid"/>
          </a:ln>
        </p:spPr>
      </p:sp>
      <p:sp>
        <p:nvSpPr>
          <p:cNvPr id="8" name="Text 6"/>
          <p:cNvSpPr txBox="1"/>
          <p:nvPr/>
        </p:nvSpPr>
        <p:spPr>
          <a:xfrm>
            <a:off x="4612538" y="1874520"/>
            <a:ext cx="296661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Drops</a:t>
            </a:r>
            <a:endParaRPr lang="en-US" sz="2200" dirty="0"/>
          </a:p>
        </p:txBody>
      </p:sp>
      <p:sp>
        <p:nvSpPr>
          <p:cNvPr id="9" name="Text 7"/>
          <p:cNvSpPr txBox="1"/>
          <p:nvPr/>
        </p:nvSpPr>
        <p:spPr>
          <a:xfrm>
            <a:off x="4612538" y="2377440"/>
            <a:ext cx="2966618" cy="91440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Campus partners post sealed surplus. Students reserve with an anonymous code.</a:t>
            </a:r>
            <a:endParaRPr lang="en-US" sz="1600" dirty="0"/>
          </a:p>
        </p:txBody>
      </p:sp>
      <p:sp>
        <p:nvSpPr>
          <p:cNvPr id="10" name="Shape 8"/>
          <p:cNvSpPr/>
          <p:nvPr/>
        </p:nvSpPr>
        <p:spPr>
          <a:xfrm>
            <a:off x="6095848" y="3456432"/>
            <a:ext cx="0" cy="502920"/>
          </a:xfrm>
          <a:prstGeom prst="line">
            <a:avLst/>
          </a:prstGeom>
          <a:noFill/>
          <a:ln w="15875">
            <a:solidFill>
              <a:srgbClr val="67706A"/>
            </a:solidFill>
            <a:prstDash val="solid"/>
            <a:tailEnd type="triangle"/>
          </a:ln>
        </p:spPr>
      </p:sp>
      <p:sp>
        <p:nvSpPr>
          <p:cNvPr id="11" name="Shape 9"/>
          <p:cNvSpPr/>
          <p:nvPr/>
        </p:nvSpPr>
        <p:spPr>
          <a:xfrm>
            <a:off x="8219237" y="1691640"/>
            <a:ext cx="3423818" cy="1691640"/>
          </a:xfrm>
          <a:prstGeom prst="rect">
            <a:avLst/>
          </a:prstGeom>
          <a:solidFill>
            <a:srgbClr val="FFFFFF"/>
          </a:solidFill>
          <a:ln w="12700">
            <a:solidFill>
              <a:srgbClr val="D5DBD7"/>
            </a:solidFill>
            <a:prstDash val="solid"/>
          </a:ln>
        </p:spPr>
      </p:sp>
      <p:sp>
        <p:nvSpPr>
          <p:cNvPr id="12" name="Text 10"/>
          <p:cNvSpPr txBox="1"/>
          <p:nvPr/>
        </p:nvSpPr>
        <p:spPr>
          <a:xfrm>
            <a:off x="8447837" y="1874520"/>
            <a:ext cx="2966618" cy="411480"/>
          </a:xfrm>
          <a:prstGeom prst="rect">
            <a:avLst/>
          </a:prstGeom>
          <a:noFill/>
          <a:ln/>
        </p:spPr>
        <p:txBody>
          <a:bodyPr wrap="square" lIns="0" tIns="0" rIns="0" bIns="0" rtlCol="0" anchor="t"/>
          <a:lstStyle/>
          <a:p>
            <a:pPr indent="0" marL="0">
              <a:buNone/>
            </a:pPr>
            <a:r>
              <a:rPr lang="en-US" sz="2200" b="1" dirty="0">
                <a:solidFill>
                  <a:srgbClr val="1E6B45"/>
                </a:solidFill>
                <a:latin typeface="Source Sans 3" pitchFamily="34" charset="0"/>
                <a:ea typeface="Source Sans 3" pitchFamily="34" charset="-122"/>
                <a:cs typeface="Source Sans 3" pitchFamily="34" charset="-120"/>
              </a:rPr>
              <a:t>App</a:t>
            </a:r>
            <a:endParaRPr lang="en-US" sz="2200" dirty="0"/>
          </a:p>
        </p:txBody>
      </p:sp>
      <p:sp>
        <p:nvSpPr>
          <p:cNvPr id="13" name="Text 11"/>
          <p:cNvSpPr txBox="1"/>
          <p:nvPr/>
        </p:nvSpPr>
        <p:spPr>
          <a:xfrm>
            <a:off x="8447837" y="2377440"/>
            <a:ext cx="2966618" cy="91440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Live stock, live drops, USC hampers and city food banks with hours and rules.</a:t>
            </a:r>
            <a:endParaRPr lang="en-US" sz="1600" dirty="0"/>
          </a:p>
        </p:txBody>
      </p:sp>
      <p:sp>
        <p:nvSpPr>
          <p:cNvPr id="14" name="Shape 12"/>
          <p:cNvSpPr/>
          <p:nvPr/>
        </p:nvSpPr>
        <p:spPr>
          <a:xfrm>
            <a:off x="9931146" y="3456432"/>
            <a:ext cx="0" cy="502920"/>
          </a:xfrm>
          <a:prstGeom prst="line">
            <a:avLst/>
          </a:prstGeom>
          <a:noFill/>
          <a:ln w="15875">
            <a:solidFill>
              <a:srgbClr val="67706A"/>
            </a:solidFill>
            <a:prstDash val="solid"/>
            <a:tailEnd type="triangle"/>
          </a:ln>
        </p:spPr>
      </p:sp>
      <p:sp>
        <p:nvSpPr>
          <p:cNvPr id="15" name="Shape 13"/>
          <p:cNvSpPr/>
          <p:nvPr/>
        </p:nvSpPr>
        <p:spPr>
          <a:xfrm>
            <a:off x="548640" y="4069080"/>
            <a:ext cx="11094415" cy="1234440"/>
          </a:xfrm>
          <a:prstGeom prst="rect">
            <a:avLst/>
          </a:prstGeom>
          <a:solidFill>
            <a:srgbClr val="E2EFE7"/>
          </a:solidFill>
          <a:ln w="12700">
            <a:solidFill>
              <a:srgbClr val="E2EFE7"/>
            </a:solidFill>
            <a:prstDash val="solid"/>
          </a:ln>
        </p:spPr>
      </p:sp>
      <p:sp>
        <p:nvSpPr>
          <p:cNvPr id="16" name="Text 14"/>
          <p:cNvSpPr txBox="1"/>
          <p:nvPr/>
        </p:nvSpPr>
        <p:spPr>
          <a:xfrm>
            <a:off x="822960" y="4233672"/>
            <a:ext cx="3657600" cy="365760"/>
          </a:xfrm>
          <a:prstGeom prst="rect">
            <a:avLst/>
          </a:prstGeom>
          <a:noFill/>
          <a:ln/>
        </p:spPr>
        <p:txBody>
          <a:bodyPr wrap="square" lIns="0" tIns="0" rIns="0" bIns="0" rtlCol="0" anchor="t"/>
          <a:lstStyle/>
          <a:p>
            <a:pPr indent="0" marL="0">
              <a:buNone/>
            </a:pPr>
            <a:r>
              <a:rPr lang="en-US" sz="2000" b="1" dirty="0">
                <a:solidFill>
                  <a:srgbClr val="1B1F1C"/>
                </a:solidFill>
                <a:latin typeface="Source Sans 3" pitchFamily="34" charset="0"/>
                <a:ea typeface="Source Sans 3" pitchFamily="34" charset="-122"/>
                <a:cs typeface="Source Sans 3" pitchFamily="34" charset="-120"/>
              </a:rPr>
              <a:t>USC dashboard</a:t>
            </a:r>
            <a:endParaRPr lang="en-US" sz="2000" dirty="0"/>
          </a:p>
        </p:txBody>
      </p:sp>
      <p:sp>
        <p:nvSpPr>
          <p:cNvPr id="17" name="Text 15"/>
          <p:cNvSpPr txBox="1"/>
          <p:nvPr/>
        </p:nvSpPr>
        <p:spPr>
          <a:xfrm>
            <a:off x="822960" y="4636008"/>
            <a:ext cx="10545775" cy="54864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Items taken, items thrown away, time to restock an empty shelf, surplus rescued and active partners. Published weekly.</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 student finds food in three steps, with no form and no name</a:t>
            </a:r>
            <a:endParaRPr lang="en-US" sz="2800" dirty="0"/>
          </a:p>
        </p:txBody>
      </p:sp>
      <p:sp>
        <p:nvSpPr>
          <p:cNvPr id="3" name="Text 1"/>
          <p:cNvSpPr txBox="1"/>
          <p:nvPr/>
        </p:nvSpPr>
        <p:spPr>
          <a:xfrm>
            <a:off x="548640" y="1783080"/>
            <a:ext cx="548640"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1</a:t>
            </a:r>
            <a:endParaRPr lang="en-US" sz="3000" dirty="0"/>
          </a:p>
        </p:txBody>
      </p:sp>
      <p:sp>
        <p:nvSpPr>
          <p:cNvPr id="4" name="Text 2"/>
          <p:cNvSpPr txBox="1"/>
          <p:nvPr/>
        </p:nvSpPr>
        <p:spPr>
          <a:xfrm>
            <a:off x="1234440" y="1783080"/>
            <a:ext cx="7315200" cy="411480"/>
          </a:xfrm>
          <a:prstGeom prst="rect">
            <a:avLst/>
          </a:prstGeom>
          <a:noFill/>
          <a:ln/>
        </p:spPr>
        <p:txBody>
          <a:bodyPr wrap="square" lIns="0" tIns="0" rIns="0" bIns="0" rtlCol="0" anchor="t"/>
          <a:lstStyle/>
          <a:p>
            <a:pPr indent="0" marL="0">
              <a:buNone/>
            </a:pPr>
            <a:r>
              <a:rPr lang="en-US" sz="2000" b="1" dirty="0">
                <a:solidFill>
                  <a:srgbClr val="1B1F1C"/>
                </a:solidFill>
                <a:latin typeface="Source Sans 3" pitchFamily="34" charset="0"/>
                <a:ea typeface="Source Sans 3" pitchFamily="34" charset="-122"/>
                <a:cs typeface="Source Sans 3" pitchFamily="34" charset="-120"/>
              </a:rPr>
              <a:t>Open FoodLink</a:t>
            </a:r>
            <a:endParaRPr lang="en-US" sz="2000" dirty="0"/>
          </a:p>
        </p:txBody>
      </p:sp>
      <p:sp>
        <p:nvSpPr>
          <p:cNvPr id="5" name="Text 3"/>
          <p:cNvSpPr txBox="1"/>
          <p:nvPr/>
        </p:nvSpPr>
        <p:spPr>
          <a:xfrm>
            <a:off x="1234440" y="2221992"/>
            <a:ext cx="7315200" cy="64008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See what is on each shelf right now and when it was last counted.</a:t>
            </a:r>
            <a:endParaRPr lang="en-US" sz="1600" dirty="0"/>
          </a:p>
        </p:txBody>
      </p:sp>
      <p:sp>
        <p:nvSpPr>
          <p:cNvPr id="6" name="Text 4"/>
          <p:cNvSpPr txBox="1"/>
          <p:nvPr/>
        </p:nvSpPr>
        <p:spPr>
          <a:xfrm>
            <a:off x="548640" y="3063240"/>
            <a:ext cx="548640"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2</a:t>
            </a:r>
            <a:endParaRPr lang="en-US" sz="3000" dirty="0"/>
          </a:p>
        </p:txBody>
      </p:sp>
      <p:sp>
        <p:nvSpPr>
          <p:cNvPr id="7" name="Text 5"/>
          <p:cNvSpPr txBox="1"/>
          <p:nvPr/>
        </p:nvSpPr>
        <p:spPr>
          <a:xfrm>
            <a:off x="1234440" y="3063240"/>
            <a:ext cx="7315200" cy="411480"/>
          </a:xfrm>
          <a:prstGeom prst="rect">
            <a:avLst/>
          </a:prstGeom>
          <a:noFill/>
          <a:ln/>
        </p:spPr>
        <p:txBody>
          <a:bodyPr wrap="square" lIns="0" tIns="0" rIns="0" bIns="0" rtlCol="0" anchor="t"/>
          <a:lstStyle/>
          <a:p>
            <a:pPr indent="0" marL="0">
              <a:buNone/>
            </a:pPr>
            <a:r>
              <a:rPr lang="en-US" sz="2000" b="1" dirty="0">
                <a:solidFill>
                  <a:srgbClr val="1B1F1C"/>
                </a:solidFill>
                <a:latin typeface="Source Sans 3" pitchFamily="34" charset="0"/>
                <a:ea typeface="Source Sans 3" pitchFamily="34" charset="-122"/>
                <a:cs typeface="Source Sans 3" pitchFamily="34" charset="-120"/>
              </a:rPr>
              <a:t>Walk up and take what you need</a:t>
            </a:r>
            <a:endParaRPr lang="en-US" sz="2000" dirty="0"/>
          </a:p>
        </p:txBody>
      </p:sp>
      <p:sp>
        <p:nvSpPr>
          <p:cNvPr id="8" name="Text 6"/>
          <p:cNvSpPr txBox="1"/>
          <p:nvPr/>
        </p:nvSpPr>
        <p:spPr>
          <a:xfrm>
            <a:off x="1234440" y="3502152"/>
            <a:ext cx="7315200" cy="64008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No form, no name, no student number. A posted guide asks for enough for today.</a:t>
            </a:r>
            <a:endParaRPr lang="en-US" sz="1600" dirty="0"/>
          </a:p>
        </p:txBody>
      </p:sp>
      <p:sp>
        <p:nvSpPr>
          <p:cNvPr id="9" name="Text 7"/>
          <p:cNvSpPr txBox="1"/>
          <p:nvPr/>
        </p:nvSpPr>
        <p:spPr>
          <a:xfrm>
            <a:off x="548640" y="4343400"/>
            <a:ext cx="548640" cy="548640"/>
          </a:xfrm>
          <a:prstGeom prst="rect">
            <a:avLst/>
          </a:prstGeom>
          <a:noFill/>
          <a:ln/>
        </p:spPr>
        <p:txBody>
          <a:bodyPr wrap="square" lIns="0" tIns="0" rIns="0" bIns="0" rtlCol="0" anchor="t"/>
          <a:lstStyle/>
          <a:p>
            <a:pPr indent="0" marL="0">
              <a:buNone/>
            </a:pPr>
            <a:r>
              <a:rPr lang="en-US" sz="3000" b="1" dirty="0">
                <a:solidFill>
                  <a:srgbClr val="1E6B45"/>
                </a:solidFill>
                <a:latin typeface="Source Sans 3" pitchFamily="34" charset="0"/>
                <a:ea typeface="Source Sans 3" pitchFamily="34" charset="-122"/>
                <a:cs typeface="Source Sans 3" pitchFamily="34" charset="-120"/>
              </a:rPr>
              <a:t>3</a:t>
            </a:r>
            <a:endParaRPr lang="en-US" sz="3000" dirty="0"/>
          </a:p>
        </p:txBody>
      </p:sp>
      <p:sp>
        <p:nvSpPr>
          <p:cNvPr id="10" name="Text 8"/>
          <p:cNvSpPr txBox="1"/>
          <p:nvPr/>
        </p:nvSpPr>
        <p:spPr>
          <a:xfrm>
            <a:off x="1234440" y="4343400"/>
            <a:ext cx="7315200" cy="411480"/>
          </a:xfrm>
          <a:prstGeom prst="rect">
            <a:avLst/>
          </a:prstGeom>
          <a:noFill/>
          <a:ln/>
        </p:spPr>
        <p:txBody>
          <a:bodyPr wrap="square" lIns="0" tIns="0" rIns="0" bIns="0" rtlCol="0" anchor="t"/>
          <a:lstStyle/>
          <a:p>
            <a:pPr indent="0" marL="0">
              <a:buNone/>
            </a:pPr>
            <a:r>
              <a:rPr lang="en-US" sz="2000" b="1" dirty="0">
                <a:solidFill>
                  <a:srgbClr val="1B1F1C"/>
                </a:solidFill>
                <a:latin typeface="Source Sans 3" pitchFamily="34" charset="0"/>
                <a:ea typeface="Source Sans 3" pitchFamily="34" charset="-122"/>
                <a:cs typeface="Source Sans 3" pitchFamily="34" charset="-120"/>
              </a:rPr>
              <a:t>Shelf empty? Tap once</a:t>
            </a:r>
            <a:endParaRPr lang="en-US" sz="2000" dirty="0"/>
          </a:p>
        </p:txBody>
      </p:sp>
      <p:sp>
        <p:nvSpPr>
          <p:cNvPr id="11" name="Text 9"/>
          <p:cNvSpPr txBox="1"/>
          <p:nvPr/>
        </p:nvSpPr>
        <p:spPr>
          <a:xfrm>
            <a:off x="1234440" y="4782312"/>
            <a:ext cx="7315200" cy="640080"/>
          </a:xfrm>
          <a:prstGeom prst="rect">
            <a:avLst/>
          </a:prstGeom>
          <a:noFill/>
          <a:ln/>
        </p:spPr>
        <p:txBody>
          <a:bodyPr wrap="square" lIns="0" tIns="0" rIns="0" bIns="0" rtlCol="0" anchor="t"/>
          <a:lstStyle/>
          <a:p>
            <a:pPr indent="0" marL="0">
              <a:buNone/>
            </a:pPr>
            <a:r>
              <a:rPr lang="en-US" sz="1600" dirty="0">
                <a:solidFill>
                  <a:srgbClr val="3A423C"/>
                </a:solidFill>
                <a:latin typeface="Source Sans 3" pitchFamily="34" charset="0"/>
                <a:ea typeface="Source Sans 3" pitchFamily="34" charset="-122"/>
                <a:cs typeface="Source Sans 3" pitchFamily="34" charset="-120"/>
              </a:rPr>
              <a:t>The volunteer on shift gets the report. Target: restocked within two hours.</a:t>
            </a:r>
            <a:endParaRPr lang="en-US" sz="1600" dirty="0"/>
          </a:p>
        </p:txBody>
      </p:sp>
      <p:pic>
        <p:nvPicPr>
          <p:cNvPr id="12" name="Image 0" descr="/tmp/claude-0/-home-claude/cb850c95-8acd-5c96-8a28-bf7aa743d4f8/scratchpad/foodlink/deck/img2/phone.png">    </p:cNvPr>
          <p:cNvPicPr>
            <a:picLocks noChangeAspect="1"/>
          </p:cNvPicPr>
          <p:nvPr/>
        </p:nvPicPr>
        <p:blipFill>
          <a:blip r:embed="rId1"/>
          <a:stretch>
            <a:fillRect/>
          </a:stretch>
        </p:blipFill>
        <p:spPr>
          <a:xfrm>
            <a:off x="9145565" y="1645920"/>
            <a:ext cx="2131730" cy="4343400"/>
          </a:xfrm>
          <a:prstGeom prst="rect">
            <a:avLst/>
          </a:prstGeom>
        </p:spPr>
      </p:pic>
      <p:sp>
        <p:nvSpPr>
          <p:cNvPr id="13" name="Text 10"/>
          <p:cNvSpPr txBox="1"/>
          <p:nvPr/>
        </p:nvSpPr>
        <p:spPr>
          <a:xfrm>
            <a:off x="548640" y="5623560"/>
            <a:ext cx="6949440" cy="274320"/>
          </a:xfrm>
          <a:prstGeom prst="rect">
            <a:avLst/>
          </a:prstGeom>
          <a:noFill/>
          <a:ln/>
        </p:spPr>
        <p:txBody>
          <a:bodyPr wrap="square" lIns="0" tIns="0" rIns="0" bIns="0" rtlCol="0" anchor="t"/>
          <a:lstStyle/>
          <a:p>
            <a:pPr indent="0" marL="0">
              <a:buNone/>
            </a:pPr>
            <a:r>
              <a:rPr lang="en-US" sz="1200" dirty="0">
                <a:solidFill>
                  <a:srgbClr val="67706A"/>
                </a:solidFill>
                <a:latin typeface="Source Sans 3" pitchFamily="34" charset="0"/>
                <a:ea typeface="Source Sans 3" pitchFamily="34" charset="-122"/>
                <a:cs typeface="Source Sans 3" pitchFamily="34" charset="-120"/>
              </a:rPr>
              <a:t>Screenshot of the working app. Stock counts come from a simulated pilot.</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Live demo: a report, a restock and a surplus drop, updating in real time</a:t>
            </a:r>
            <a:endParaRPr lang="en-US" sz="2800" dirty="0"/>
          </a:p>
        </p:txBody>
      </p:sp>
      <p:pic>
        <p:nvPicPr>
          <p:cNvPr id="3" name="Image 0" descr="/tmp/claude-0/-home-claude/cb850c95-8acd-5c96-8a28-bf7aa743d4f8/scratchpad/foodlink/deck/img2/present.png">    </p:cNvPr>
          <p:cNvPicPr>
            <a:picLocks noChangeAspect="1"/>
          </p:cNvPicPr>
          <p:nvPr/>
        </p:nvPicPr>
        <p:blipFill>
          <a:blip r:embed="rId1"/>
          <a:stretch>
            <a:fillRect/>
          </a:stretch>
        </p:blipFill>
        <p:spPr>
          <a:xfrm>
            <a:off x="548640" y="1600200"/>
            <a:ext cx="7589520" cy="4269105"/>
          </a:xfrm>
          <a:prstGeom prst="rect">
            <a:avLst/>
          </a:prstGeom>
        </p:spPr>
      </p:pic>
      <p:sp>
        <p:nvSpPr>
          <p:cNvPr id="4" name="Shape 1"/>
          <p:cNvSpPr/>
          <p:nvPr/>
        </p:nvSpPr>
        <p:spPr>
          <a:xfrm>
            <a:off x="548640" y="1600200"/>
            <a:ext cx="7589520" cy="4269105"/>
          </a:xfrm>
          <a:prstGeom prst="rect">
            <a:avLst/>
          </a:prstGeom>
          <a:solidFill>
            <a:srgbClr val="FFFFFF">
              <a:alpha val="0"/>
            </a:srgbClr>
          </a:solidFill>
          <a:ln w="9525">
            <a:solidFill>
              <a:srgbClr val="D5DBD7"/>
            </a:solidFill>
            <a:prstDash val="solid"/>
          </a:ln>
        </p:spPr>
      </p:sp>
      <p:sp>
        <p:nvSpPr>
          <p:cNvPr id="5" name="Text 2"/>
          <p:cNvSpPr txBox="1"/>
          <p:nvPr/>
        </p:nvSpPr>
        <p:spPr>
          <a:xfrm>
            <a:off x="8503920" y="1645920"/>
            <a:ext cx="365760"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1</a:t>
            </a:r>
            <a:endParaRPr lang="en-US" sz="2000" dirty="0"/>
          </a:p>
        </p:txBody>
      </p:sp>
      <p:sp>
        <p:nvSpPr>
          <p:cNvPr id="6" name="Text 3"/>
          <p:cNvSpPr txBox="1"/>
          <p:nvPr/>
        </p:nvSpPr>
        <p:spPr>
          <a:xfrm>
            <a:off x="8915400" y="1645920"/>
            <a:ext cx="2727655"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A student reports an empty shelf</a:t>
            </a:r>
            <a:endParaRPr lang="en-US" sz="1600" dirty="0"/>
          </a:p>
        </p:txBody>
      </p:sp>
      <p:sp>
        <p:nvSpPr>
          <p:cNvPr id="7" name="Text 4"/>
          <p:cNvSpPr txBox="1"/>
          <p:nvPr/>
        </p:nvSpPr>
        <p:spPr>
          <a:xfrm>
            <a:off x="8503920" y="2432304"/>
            <a:ext cx="365760"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2</a:t>
            </a:r>
            <a:endParaRPr lang="en-US" sz="2000" dirty="0"/>
          </a:p>
        </p:txBody>
      </p:sp>
      <p:sp>
        <p:nvSpPr>
          <p:cNvPr id="8" name="Text 5"/>
          <p:cNvSpPr txBox="1"/>
          <p:nvPr/>
        </p:nvSpPr>
        <p:spPr>
          <a:xfrm>
            <a:off x="8915400" y="2432304"/>
            <a:ext cx="2727655"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A volunteer restocks it</a:t>
            </a:r>
            <a:endParaRPr lang="en-US" sz="1600" dirty="0"/>
          </a:p>
        </p:txBody>
      </p:sp>
      <p:sp>
        <p:nvSpPr>
          <p:cNvPr id="9" name="Text 6"/>
          <p:cNvSpPr txBox="1"/>
          <p:nvPr/>
        </p:nvSpPr>
        <p:spPr>
          <a:xfrm>
            <a:off x="8503920" y="3218688"/>
            <a:ext cx="365760"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3</a:t>
            </a:r>
            <a:endParaRPr lang="en-US" sz="2000" dirty="0"/>
          </a:p>
        </p:txBody>
      </p:sp>
      <p:sp>
        <p:nvSpPr>
          <p:cNvPr id="10" name="Text 7"/>
          <p:cNvSpPr txBox="1"/>
          <p:nvPr/>
        </p:nvSpPr>
        <p:spPr>
          <a:xfrm>
            <a:off x="8915400" y="3218688"/>
            <a:ext cx="2727655"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A café posts sealed surplus</a:t>
            </a:r>
            <a:endParaRPr lang="en-US" sz="1600" dirty="0"/>
          </a:p>
        </p:txBody>
      </p:sp>
      <p:sp>
        <p:nvSpPr>
          <p:cNvPr id="11" name="Text 8"/>
          <p:cNvSpPr txBox="1"/>
          <p:nvPr/>
        </p:nvSpPr>
        <p:spPr>
          <a:xfrm>
            <a:off x="8503920" y="4005072"/>
            <a:ext cx="365760"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4</a:t>
            </a:r>
            <a:endParaRPr lang="en-US" sz="2000" dirty="0"/>
          </a:p>
        </p:txBody>
      </p:sp>
      <p:sp>
        <p:nvSpPr>
          <p:cNvPr id="12" name="Text 9"/>
          <p:cNvSpPr txBox="1"/>
          <p:nvPr/>
        </p:nvSpPr>
        <p:spPr>
          <a:xfrm>
            <a:off x="8915400" y="4005072"/>
            <a:ext cx="2727655"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A student reserves it with a code</a:t>
            </a:r>
            <a:endParaRPr lang="en-US" sz="1600" dirty="0"/>
          </a:p>
        </p:txBody>
      </p:sp>
      <p:sp>
        <p:nvSpPr>
          <p:cNvPr id="13" name="Text 10"/>
          <p:cNvSpPr txBox="1"/>
          <p:nvPr/>
        </p:nvSpPr>
        <p:spPr>
          <a:xfrm>
            <a:off x="8503920" y="4791456"/>
            <a:ext cx="365760"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5</a:t>
            </a:r>
            <a:endParaRPr lang="en-US" sz="2000" dirty="0"/>
          </a:p>
        </p:txBody>
      </p:sp>
      <p:sp>
        <p:nvSpPr>
          <p:cNvPr id="14" name="Text 11"/>
          <p:cNvSpPr txBox="1"/>
          <p:nvPr/>
        </p:nvSpPr>
        <p:spPr>
          <a:xfrm>
            <a:off x="8915400" y="4791456"/>
            <a:ext cx="2727655"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The USC dashboard updates</a:t>
            </a:r>
            <a:endParaRPr lang="en-US" sz="1600" dirty="0"/>
          </a:p>
        </p:txBody>
      </p:sp>
      <p:sp>
        <p:nvSpPr>
          <p:cNvPr id="15" name="Text 12"/>
          <p:cNvSpPr txBox="1"/>
          <p:nvPr/>
        </p:nvSpPr>
        <p:spPr>
          <a:xfrm>
            <a:off x="8503920" y="5669280"/>
            <a:ext cx="3139135" cy="274320"/>
          </a:xfrm>
          <a:prstGeom prst="rect">
            <a:avLst/>
          </a:prstGeom>
          <a:noFill/>
          <a:ln/>
        </p:spPr>
        <p:txBody>
          <a:bodyPr wrap="square" lIns="0" tIns="0" rIns="0" bIns="0" rtlCol="0" anchor="t"/>
          <a:lstStyle/>
          <a:p>
            <a:pPr indent="0" marL="0">
              <a:buNone/>
            </a:pPr>
            <a:r>
              <a:rPr lang="en-US" sz="1200" dirty="0">
                <a:solidFill>
                  <a:srgbClr val="67706A"/>
                </a:solidFill>
                <a:latin typeface="Source Sans 3" pitchFamily="34" charset="0"/>
                <a:ea typeface="Source Sans 3" pitchFamily="34" charset="-122"/>
                <a:cs typeface="Source Sans 3" pitchFamily="34" charset="-120"/>
              </a:rPr>
              <a:t>The app’s live demo page, after step 4.</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The $3,500 pilot fits USC Grant rules, with food capped at 30%</a:t>
            </a:r>
            <a:endParaRPr lang="en-US" sz="2800" dirty="0"/>
          </a:p>
        </p:txBody>
      </p:sp>
      <p:sp>
        <p:nvSpPr>
          <p:cNvPr id="3" name="Text 1"/>
          <p:cNvSpPr txBox="1"/>
          <p:nvPr/>
        </p:nvSpPr>
        <p:spPr>
          <a:xfrm>
            <a:off x="548640" y="169164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Shelves and signage (2)</a:t>
            </a:r>
            <a:endParaRPr lang="en-US" sz="1500" dirty="0"/>
          </a:p>
        </p:txBody>
      </p:sp>
      <p:sp>
        <p:nvSpPr>
          <p:cNvPr id="4" name="Shape 2"/>
          <p:cNvSpPr/>
          <p:nvPr/>
        </p:nvSpPr>
        <p:spPr>
          <a:xfrm>
            <a:off x="3063240" y="1773936"/>
            <a:ext cx="2834640" cy="219456"/>
          </a:xfrm>
          <a:prstGeom prst="rect">
            <a:avLst/>
          </a:prstGeom>
          <a:solidFill>
            <a:srgbClr val="B9C2BC"/>
          </a:solidFill>
          <a:ln w="12700">
            <a:solidFill>
              <a:srgbClr val="B9C2BC"/>
            </a:solidFill>
            <a:prstDash val="solid"/>
          </a:ln>
        </p:spPr>
      </p:sp>
      <p:sp>
        <p:nvSpPr>
          <p:cNvPr id="5" name="Text 3"/>
          <p:cNvSpPr txBox="1"/>
          <p:nvPr/>
        </p:nvSpPr>
        <p:spPr>
          <a:xfrm>
            <a:off x="5989320" y="169164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$1,100</a:t>
            </a:r>
            <a:endParaRPr lang="en-US" sz="1500" dirty="0"/>
          </a:p>
        </p:txBody>
      </p:sp>
      <p:sp>
        <p:nvSpPr>
          <p:cNvPr id="6" name="Text 4"/>
          <p:cNvSpPr txBox="1"/>
          <p:nvPr/>
        </p:nvSpPr>
        <p:spPr>
          <a:xfrm>
            <a:off x="548640" y="2194560"/>
            <a:ext cx="2377440" cy="365760"/>
          </a:xfrm>
          <a:prstGeom prst="rect">
            <a:avLst/>
          </a:prstGeom>
          <a:noFill/>
          <a:ln/>
        </p:spPr>
        <p:txBody>
          <a:bodyPr wrap="square" lIns="0" tIns="0" rIns="0" bIns="0" rtlCol="0" anchor="ctr"/>
          <a:lstStyle/>
          <a:p>
            <a:pPr indent="0" marL="0">
              <a:buNone/>
            </a:pPr>
            <a:r>
              <a:rPr lang="en-US" sz="1500" b="1" dirty="0">
                <a:solidFill>
                  <a:srgbClr val="1B1F1C"/>
                </a:solidFill>
                <a:latin typeface="Source Sans 3" pitchFamily="34" charset="0"/>
                <a:ea typeface="Source Sans 3" pitchFamily="34" charset="-122"/>
                <a:cs typeface="Source Sans 3" pitchFamily="34" charset="-120"/>
              </a:rPr>
              <a:t>Food seed stock</a:t>
            </a:r>
            <a:endParaRPr lang="en-US" sz="1500" dirty="0"/>
          </a:p>
        </p:txBody>
      </p:sp>
      <p:sp>
        <p:nvSpPr>
          <p:cNvPr id="7" name="Shape 5"/>
          <p:cNvSpPr/>
          <p:nvPr/>
        </p:nvSpPr>
        <p:spPr>
          <a:xfrm>
            <a:off x="3063240" y="2276856"/>
            <a:ext cx="2705793" cy="219456"/>
          </a:xfrm>
          <a:prstGeom prst="rect">
            <a:avLst/>
          </a:prstGeom>
          <a:solidFill>
            <a:srgbClr val="1E6B45"/>
          </a:solidFill>
          <a:ln w="12700">
            <a:solidFill>
              <a:srgbClr val="1E6B45"/>
            </a:solidFill>
            <a:prstDash val="solid"/>
          </a:ln>
        </p:spPr>
      </p:sp>
      <p:sp>
        <p:nvSpPr>
          <p:cNvPr id="8" name="Text 6"/>
          <p:cNvSpPr txBox="1"/>
          <p:nvPr/>
        </p:nvSpPr>
        <p:spPr>
          <a:xfrm>
            <a:off x="5989320" y="219456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$1,050</a:t>
            </a:r>
            <a:endParaRPr lang="en-US" sz="1500" dirty="0"/>
          </a:p>
        </p:txBody>
      </p:sp>
      <p:sp>
        <p:nvSpPr>
          <p:cNvPr id="9" name="Text 7"/>
          <p:cNvSpPr txBox="1"/>
          <p:nvPr/>
        </p:nvSpPr>
        <p:spPr>
          <a:xfrm>
            <a:off x="548640" y="269748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Contingency</a:t>
            </a:r>
            <a:endParaRPr lang="en-US" sz="1500" dirty="0"/>
          </a:p>
        </p:txBody>
      </p:sp>
      <p:sp>
        <p:nvSpPr>
          <p:cNvPr id="10" name="Shape 8"/>
          <p:cNvSpPr/>
          <p:nvPr/>
        </p:nvSpPr>
        <p:spPr>
          <a:xfrm>
            <a:off x="3063240" y="2779776"/>
            <a:ext cx="1159625" cy="219456"/>
          </a:xfrm>
          <a:prstGeom prst="rect">
            <a:avLst/>
          </a:prstGeom>
          <a:solidFill>
            <a:srgbClr val="B9C2BC"/>
          </a:solidFill>
          <a:ln w="12700">
            <a:solidFill>
              <a:srgbClr val="B9C2BC"/>
            </a:solidFill>
            <a:prstDash val="solid"/>
          </a:ln>
        </p:spPr>
      </p:sp>
      <p:sp>
        <p:nvSpPr>
          <p:cNvPr id="11" name="Text 9"/>
          <p:cNvSpPr txBox="1"/>
          <p:nvPr/>
        </p:nvSpPr>
        <p:spPr>
          <a:xfrm>
            <a:off x="5989320" y="269748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$450</a:t>
            </a:r>
            <a:endParaRPr lang="en-US" sz="1500" dirty="0"/>
          </a:p>
        </p:txBody>
      </p:sp>
      <p:sp>
        <p:nvSpPr>
          <p:cNvPr id="12" name="Text 10"/>
          <p:cNvSpPr txBox="1"/>
          <p:nvPr/>
        </p:nvSpPr>
        <p:spPr>
          <a:xfrm>
            <a:off x="548640" y="320040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Hygiene products</a:t>
            </a:r>
            <a:endParaRPr lang="en-US" sz="1500" dirty="0"/>
          </a:p>
        </p:txBody>
      </p:sp>
      <p:sp>
        <p:nvSpPr>
          <p:cNvPr id="13" name="Shape 11"/>
          <p:cNvSpPr/>
          <p:nvPr/>
        </p:nvSpPr>
        <p:spPr>
          <a:xfrm>
            <a:off x="3063240" y="3282696"/>
            <a:ext cx="1030778" cy="219456"/>
          </a:xfrm>
          <a:prstGeom prst="rect">
            <a:avLst/>
          </a:prstGeom>
          <a:solidFill>
            <a:srgbClr val="B9C2BC"/>
          </a:solidFill>
          <a:ln w="12700">
            <a:solidFill>
              <a:srgbClr val="B9C2BC"/>
            </a:solidFill>
            <a:prstDash val="solid"/>
          </a:ln>
        </p:spPr>
      </p:sp>
      <p:sp>
        <p:nvSpPr>
          <p:cNvPr id="14" name="Text 12"/>
          <p:cNvSpPr txBox="1"/>
          <p:nvPr/>
        </p:nvSpPr>
        <p:spPr>
          <a:xfrm>
            <a:off x="5989320" y="320040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$400</a:t>
            </a:r>
            <a:endParaRPr lang="en-US" sz="1500" dirty="0"/>
          </a:p>
        </p:txBody>
      </p:sp>
      <p:sp>
        <p:nvSpPr>
          <p:cNvPr id="15" name="Text 13"/>
          <p:cNvSpPr txBox="1"/>
          <p:nvPr/>
        </p:nvSpPr>
        <p:spPr>
          <a:xfrm>
            <a:off x="548640" y="370332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Promotion</a:t>
            </a:r>
            <a:endParaRPr lang="en-US" sz="1500" dirty="0"/>
          </a:p>
        </p:txBody>
      </p:sp>
      <p:sp>
        <p:nvSpPr>
          <p:cNvPr id="16" name="Shape 14"/>
          <p:cNvSpPr/>
          <p:nvPr/>
        </p:nvSpPr>
        <p:spPr>
          <a:xfrm>
            <a:off x="3063240" y="3785616"/>
            <a:ext cx="644236" cy="219456"/>
          </a:xfrm>
          <a:prstGeom prst="rect">
            <a:avLst/>
          </a:prstGeom>
          <a:solidFill>
            <a:srgbClr val="B9C2BC"/>
          </a:solidFill>
          <a:ln w="12700">
            <a:solidFill>
              <a:srgbClr val="B9C2BC"/>
            </a:solidFill>
            <a:prstDash val="solid"/>
          </a:ln>
        </p:spPr>
      </p:sp>
      <p:sp>
        <p:nvSpPr>
          <p:cNvPr id="17" name="Text 15"/>
          <p:cNvSpPr txBox="1"/>
          <p:nvPr/>
        </p:nvSpPr>
        <p:spPr>
          <a:xfrm>
            <a:off x="5989320" y="370332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$250</a:t>
            </a:r>
            <a:endParaRPr lang="en-US" sz="1500" dirty="0"/>
          </a:p>
        </p:txBody>
      </p:sp>
      <p:sp>
        <p:nvSpPr>
          <p:cNvPr id="18" name="Text 16"/>
          <p:cNvSpPr txBox="1"/>
          <p:nvPr/>
        </p:nvSpPr>
        <p:spPr>
          <a:xfrm>
            <a:off x="548640" y="420624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Food-handler training</a:t>
            </a:r>
            <a:endParaRPr lang="en-US" sz="1500" dirty="0"/>
          </a:p>
        </p:txBody>
      </p:sp>
      <p:sp>
        <p:nvSpPr>
          <p:cNvPr id="19" name="Shape 17"/>
          <p:cNvSpPr/>
          <p:nvPr/>
        </p:nvSpPr>
        <p:spPr>
          <a:xfrm>
            <a:off x="3063240" y="4288536"/>
            <a:ext cx="515389" cy="219456"/>
          </a:xfrm>
          <a:prstGeom prst="rect">
            <a:avLst/>
          </a:prstGeom>
          <a:solidFill>
            <a:srgbClr val="B9C2BC"/>
          </a:solidFill>
          <a:ln w="12700">
            <a:solidFill>
              <a:srgbClr val="B9C2BC"/>
            </a:solidFill>
            <a:prstDash val="solid"/>
          </a:ln>
        </p:spPr>
      </p:sp>
      <p:sp>
        <p:nvSpPr>
          <p:cNvPr id="20" name="Text 18"/>
          <p:cNvSpPr txBox="1"/>
          <p:nvPr/>
        </p:nvSpPr>
        <p:spPr>
          <a:xfrm>
            <a:off x="5989320" y="420624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$200</a:t>
            </a:r>
            <a:endParaRPr lang="en-US" sz="1500" dirty="0"/>
          </a:p>
        </p:txBody>
      </p:sp>
      <p:sp>
        <p:nvSpPr>
          <p:cNvPr id="21" name="Text 19"/>
          <p:cNvSpPr txBox="1"/>
          <p:nvPr/>
        </p:nvSpPr>
        <p:spPr>
          <a:xfrm>
            <a:off x="548640" y="4709160"/>
            <a:ext cx="2377440" cy="365760"/>
          </a:xfrm>
          <a:prstGeom prst="rect">
            <a:avLst/>
          </a:prstGeom>
          <a:noFill/>
          <a:ln/>
        </p:spPr>
        <p:txBody>
          <a:bodyPr wrap="square" lIns="0" tIns="0" rIns="0" bIns="0" rtlCol="0" anchor="ctr"/>
          <a:lstStyle/>
          <a:p>
            <a:pPr indent="0" marL="0">
              <a:buNone/>
            </a:pPr>
            <a:r>
              <a:rPr lang="en-US" sz="1500" dirty="0">
                <a:solidFill>
                  <a:srgbClr val="1B1F1C"/>
                </a:solidFill>
                <a:latin typeface="Source Sans 3" pitchFamily="34" charset="0"/>
                <a:ea typeface="Source Sans 3" pitchFamily="34" charset="-122"/>
                <a:cs typeface="Source Sans 3" pitchFamily="34" charset="-120"/>
              </a:rPr>
              <a:t>Hosting and domain</a:t>
            </a:r>
            <a:endParaRPr lang="en-US" sz="1500" dirty="0"/>
          </a:p>
        </p:txBody>
      </p:sp>
      <p:sp>
        <p:nvSpPr>
          <p:cNvPr id="22" name="Shape 20"/>
          <p:cNvSpPr/>
          <p:nvPr/>
        </p:nvSpPr>
        <p:spPr>
          <a:xfrm>
            <a:off x="3063240" y="4791456"/>
            <a:ext cx="128847" cy="219456"/>
          </a:xfrm>
          <a:prstGeom prst="rect">
            <a:avLst/>
          </a:prstGeom>
          <a:solidFill>
            <a:srgbClr val="B9C2BC"/>
          </a:solidFill>
          <a:ln w="12700">
            <a:solidFill>
              <a:srgbClr val="B9C2BC"/>
            </a:solidFill>
            <a:prstDash val="solid"/>
          </a:ln>
        </p:spPr>
      </p:sp>
      <p:sp>
        <p:nvSpPr>
          <p:cNvPr id="23" name="Text 21"/>
          <p:cNvSpPr txBox="1"/>
          <p:nvPr/>
        </p:nvSpPr>
        <p:spPr>
          <a:xfrm>
            <a:off x="5989320" y="4709160"/>
            <a:ext cx="868680" cy="365760"/>
          </a:xfrm>
          <a:prstGeom prst="rect">
            <a:avLst/>
          </a:prstGeom>
          <a:noFill/>
          <a:ln/>
        </p:spPr>
        <p:txBody>
          <a:bodyPr wrap="square" lIns="0" tIns="0" rIns="0" bIns="0" rtlCol="0" anchor="ctr"/>
          <a:lstStyle/>
          <a:p>
            <a:pPr algn="r" indent="0" marL="0">
              <a:buNone/>
            </a:pPr>
            <a:r>
              <a:rPr lang="en-US" sz="1500" b="1" dirty="0">
                <a:solidFill>
                  <a:srgbClr val="1B1F1C"/>
                </a:solidFill>
                <a:latin typeface="Source Sans 3" pitchFamily="34" charset="0"/>
                <a:ea typeface="Source Sans 3" pitchFamily="34" charset="-122"/>
                <a:cs typeface="Source Sans 3" pitchFamily="34" charset="-120"/>
              </a:rPr>
              <a:t>$50</a:t>
            </a:r>
            <a:endParaRPr lang="en-US" sz="1500" dirty="0"/>
          </a:p>
        </p:txBody>
      </p:sp>
      <p:sp>
        <p:nvSpPr>
          <p:cNvPr id="24" name="Shape 22"/>
          <p:cNvSpPr/>
          <p:nvPr/>
        </p:nvSpPr>
        <p:spPr>
          <a:xfrm>
            <a:off x="548640" y="5303520"/>
            <a:ext cx="6309360" cy="0"/>
          </a:xfrm>
          <a:prstGeom prst="line">
            <a:avLst/>
          </a:prstGeom>
          <a:noFill/>
          <a:ln w="9525">
            <a:solidFill>
              <a:srgbClr val="67706A"/>
            </a:solidFill>
            <a:prstDash val="solid"/>
          </a:ln>
        </p:spPr>
      </p:sp>
      <p:sp>
        <p:nvSpPr>
          <p:cNvPr id="25" name="Text 23"/>
          <p:cNvSpPr txBox="1"/>
          <p:nvPr/>
        </p:nvSpPr>
        <p:spPr>
          <a:xfrm>
            <a:off x="548640" y="5376672"/>
            <a:ext cx="1828800" cy="365760"/>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Total</a:t>
            </a:r>
            <a:endParaRPr lang="en-US" sz="1600" dirty="0"/>
          </a:p>
        </p:txBody>
      </p:sp>
      <p:sp>
        <p:nvSpPr>
          <p:cNvPr id="26" name="Text 24"/>
          <p:cNvSpPr txBox="1"/>
          <p:nvPr/>
        </p:nvSpPr>
        <p:spPr>
          <a:xfrm>
            <a:off x="5074920" y="5376672"/>
            <a:ext cx="1783080" cy="365760"/>
          </a:xfrm>
          <a:prstGeom prst="rect">
            <a:avLst/>
          </a:prstGeom>
          <a:noFill/>
          <a:ln/>
        </p:spPr>
        <p:txBody>
          <a:bodyPr wrap="square" lIns="0" tIns="0" rIns="0" bIns="0" rtlCol="0" anchor="ctr"/>
          <a:lstStyle/>
          <a:p>
            <a:pPr algn="r" indent="0" marL="0">
              <a:buNone/>
            </a:pPr>
            <a:r>
              <a:rPr lang="en-US" sz="1800" b="1" dirty="0">
                <a:solidFill>
                  <a:srgbClr val="1B1F1C"/>
                </a:solidFill>
                <a:latin typeface="Source Sans 3" pitchFamily="34" charset="0"/>
                <a:ea typeface="Source Sans 3" pitchFamily="34" charset="-122"/>
                <a:cs typeface="Source Sans 3" pitchFamily="34" charset="-120"/>
              </a:rPr>
              <a:t>$3,500</a:t>
            </a:r>
            <a:endParaRPr lang="en-US" sz="1800" dirty="0"/>
          </a:p>
        </p:txBody>
      </p:sp>
      <p:sp>
        <p:nvSpPr>
          <p:cNvPr id="27" name="Text 25"/>
          <p:cNvSpPr txBox="1"/>
          <p:nvPr/>
        </p:nvSpPr>
        <p:spPr>
          <a:xfrm>
            <a:off x="7498080" y="1691640"/>
            <a:ext cx="4144975" cy="502920"/>
          </a:xfrm>
          <a:prstGeom prst="rect">
            <a:avLst/>
          </a:prstGeom>
          <a:noFill/>
          <a:ln/>
        </p:spPr>
        <p:txBody>
          <a:bodyPr wrap="square" lIns="0" tIns="0" rIns="0" bIns="0" rtlCol="0" anchor="t"/>
          <a:lstStyle/>
          <a:p>
            <a:pPr indent="0" marL="0">
              <a:buNone/>
            </a:pPr>
            <a:r>
              <a:rPr lang="en-US" sz="2800" b="1" dirty="0">
                <a:solidFill>
                  <a:srgbClr val="1E6B45"/>
                </a:solidFill>
                <a:latin typeface="Source Sans 3" pitchFamily="34" charset="0"/>
                <a:ea typeface="Source Sans 3" pitchFamily="34" charset="-122"/>
                <a:cs typeface="Source Sans 3" pitchFamily="34" charset="-120"/>
              </a:rPr>
              <a:t>30%</a:t>
            </a:r>
            <a:endParaRPr lang="en-US" sz="2800" dirty="0"/>
          </a:p>
        </p:txBody>
      </p:sp>
      <p:sp>
        <p:nvSpPr>
          <p:cNvPr id="28" name="Text 26"/>
          <p:cNvSpPr txBox="1"/>
          <p:nvPr/>
        </p:nvSpPr>
        <p:spPr>
          <a:xfrm>
            <a:off x="7498080" y="2194560"/>
            <a:ext cx="4144975" cy="73152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USC Grants cap food at 30% of a grant. Partners, food drives and Food Support supply the rest.</a:t>
            </a:r>
            <a:endParaRPr lang="en-US" sz="1500" dirty="0"/>
          </a:p>
        </p:txBody>
      </p:sp>
      <p:sp>
        <p:nvSpPr>
          <p:cNvPr id="29" name="Shape 27"/>
          <p:cNvSpPr/>
          <p:nvPr/>
        </p:nvSpPr>
        <p:spPr>
          <a:xfrm>
            <a:off x="7498080" y="2880360"/>
            <a:ext cx="4144975" cy="0"/>
          </a:xfrm>
          <a:prstGeom prst="line">
            <a:avLst/>
          </a:prstGeom>
          <a:noFill/>
          <a:ln w="9525">
            <a:solidFill>
              <a:srgbClr val="D5DBD7"/>
            </a:solidFill>
            <a:prstDash val="solid"/>
          </a:ln>
        </p:spPr>
      </p:sp>
      <p:sp>
        <p:nvSpPr>
          <p:cNvPr id="30" name="Text 28"/>
          <p:cNvSpPr txBox="1"/>
          <p:nvPr/>
        </p:nvSpPr>
        <p:spPr>
          <a:xfrm>
            <a:off x="7498080" y="3063240"/>
            <a:ext cx="4144975" cy="502920"/>
          </a:xfrm>
          <a:prstGeom prst="rect">
            <a:avLst/>
          </a:prstGeom>
          <a:noFill/>
          <a:ln/>
        </p:spPr>
        <p:txBody>
          <a:bodyPr wrap="square" lIns="0" tIns="0" rIns="0" bIns="0" rtlCol="0" anchor="t"/>
          <a:lstStyle/>
          <a:p>
            <a:pPr indent="0" marL="0">
              <a:buNone/>
            </a:pPr>
            <a:r>
              <a:rPr lang="en-US" sz="2800" b="1" dirty="0">
                <a:solidFill>
                  <a:srgbClr val="1E6B45"/>
                </a:solidFill>
                <a:latin typeface="Source Sans 3" pitchFamily="34" charset="0"/>
                <a:ea typeface="Source Sans 3" pitchFamily="34" charset="-122"/>
                <a:cs typeface="Source Sans 3" pitchFamily="34" charset="-120"/>
              </a:rPr>
              <a:t>$3.50</a:t>
            </a:r>
            <a:endParaRPr lang="en-US" sz="2800" dirty="0"/>
          </a:p>
        </p:txBody>
      </p:sp>
      <p:sp>
        <p:nvSpPr>
          <p:cNvPr id="31" name="Text 29"/>
          <p:cNvSpPr txBox="1"/>
          <p:nvPr/>
        </p:nvSpPr>
        <p:spPr>
          <a:xfrm>
            <a:off x="7498080" y="3566160"/>
            <a:ext cx="4144975" cy="73152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Pilot cost per item at 1,000 items. Shelves and app carry over after week 11.</a:t>
            </a:r>
            <a:endParaRPr lang="en-US" sz="1500" dirty="0"/>
          </a:p>
        </p:txBody>
      </p:sp>
      <p:sp>
        <p:nvSpPr>
          <p:cNvPr id="32" name="Shape 30"/>
          <p:cNvSpPr/>
          <p:nvPr/>
        </p:nvSpPr>
        <p:spPr>
          <a:xfrm>
            <a:off x="7498080" y="4251960"/>
            <a:ext cx="4144975" cy="0"/>
          </a:xfrm>
          <a:prstGeom prst="line">
            <a:avLst/>
          </a:prstGeom>
          <a:noFill/>
          <a:ln w="9525">
            <a:solidFill>
              <a:srgbClr val="D5DBD7"/>
            </a:solidFill>
            <a:prstDash val="solid"/>
          </a:ln>
        </p:spPr>
      </p:sp>
      <p:sp>
        <p:nvSpPr>
          <p:cNvPr id="33" name="Text 31"/>
          <p:cNvSpPr txBox="1"/>
          <p:nvPr/>
        </p:nvSpPr>
        <p:spPr>
          <a:xfrm>
            <a:off x="7498080" y="4434840"/>
            <a:ext cx="4144975" cy="502920"/>
          </a:xfrm>
          <a:prstGeom prst="rect">
            <a:avLst/>
          </a:prstGeom>
          <a:noFill/>
          <a:ln/>
        </p:spPr>
        <p:txBody>
          <a:bodyPr wrap="square" lIns="0" tIns="0" rIns="0" bIns="0" rtlCol="0" anchor="t"/>
          <a:lstStyle/>
          <a:p>
            <a:pPr indent="0" marL="0">
              <a:buNone/>
            </a:pPr>
            <a:r>
              <a:rPr lang="en-US" sz="2800" b="1" dirty="0">
                <a:solidFill>
                  <a:srgbClr val="1E6B45"/>
                </a:solidFill>
                <a:latin typeface="Source Sans 3" pitchFamily="34" charset="0"/>
                <a:ea typeface="Source Sans 3" pitchFamily="34" charset="-122"/>
                <a:cs typeface="Source Sans 3" pitchFamily="34" charset="-120"/>
              </a:rPr>
              <a:t>$100K</a:t>
            </a:r>
            <a:endParaRPr lang="en-US" sz="2800" dirty="0"/>
          </a:p>
        </p:txBody>
      </p:sp>
      <p:sp>
        <p:nvSpPr>
          <p:cNvPr id="34" name="Text 32"/>
          <p:cNvSpPr txBox="1"/>
          <p:nvPr/>
        </p:nvSpPr>
        <p:spPr>
          <a:xfrm>
            <a:off x="7498080" y="4937760"/>
            <a:ext cx="4144975" cy="731520"/>
          </a:xfrm>
          <a:prstGeom prst="rect">
            <a:avLst/>
          </a:prstGeom>
          <a:noFill/>
          <a:ln/>
        </p:spPr>
        <p:txBody>
          <a:bodyPr wrap="square" lIns="0" tIns="0" rIns="0" bIns="0" rtlCol="0" anchor="t"/>
          <a:lstStyle/>
          <a:p>
            <a:pPr indent="0" marL="0">
              <a:buNone/>
            </a:pPr>
            <a:r>
              <a:rPr lang="en-US" sz="1500" dirty="0">
                <a:solidFill>
                  <a:srgbClr val="3A423C"/>
                </a:solidFill>
                <a:latin typeface="Source Sans 3" pitchFamily="34" charset="0"/>
                <a:ea typeface="Source Sans 3" pitchFamily="34" charset="-122"/>
                <a:cs typeface="Source Sans 3" pitchFamily="34" charset="-120"/>
              </a:rPr>
              <a:t>About this much in the USC Grant Fund each year, open on a rolling basis until March.</a:t>
            </a:r>
            <a:endParaRPr lang="en-US" sz="1500" dirty="0"/>
          </a:p>
        </p:txBody>
      </p:sp>
      <p:sp>
        <p:nvSpPr>
          <p:cNvPr id="35" name="Text 33"/>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rgbClr val="67706A"/>
                </a:solidFill>
                <a:latin typeface="Source Sans 3" pitchFamily="34" charset="0"/>
                <a:ea typeface="Source Sans 3" pitchFamily="34" charset="-122"/>
                <a:cs typeface="Source Sans 3" pitchFamily="34" charset="-120"/>
              </a:rPr>
              <a:t>Line amounts are our estimates; quotes come during preparation. USC Grants rules: westernusc.ca, checked Oct 31, 2026.</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We will judge the pilot on five targets the app measures itself</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66560" cy="914400"/>
        </p:xfrm>
        <a:graphic>
          <a:graphicData uri="http://schemas.openxmlformats.org/drawingml/2006/table">
            <a:tbl>
              <a:tblPr/>
              <a:tblGrid>
                <a:gridCol w="2011680"/>
                <a:gridCol w="1371600"/>
                <a:gridCol w="3383280"/>
              </a:tblGrid>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Target</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Goal</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How the app measures it</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r>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Items taken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1,000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Shelf counts at each check-in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Thrown away</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Under 5%</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Expired items removed at check-in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Empty to restocked</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Under 2 hours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Median time from a report to a restock</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Surplus partners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3</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Partners posting drops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Food-safety incidents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Incident log</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54880"/>
            <a:ext cx="6766560" cy="548640"/>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Decision rule: </a:t>
            </a:r>
            <a:pPr indent="0" marL="0">
              <a:buNone/>
            </a:pPr>
            <a:r>
              <a:rPr lang="en-US" sz="1600" dirty="0">
                <a:solidFill>
                  <a:srgbClr val="3A423C"/>
                </a:solidFill>
                <a:latin typeface="Source Sans 3" pitchFamily="34" charset="0"/>
                <a:ea typeface="Source Sans 3" pitchFamily="34" charset="-122"/>
                <a:cs typeface="Source Sans 3" pitchFamily="34" charset="-120"/>
              </a:rPr>
              <a:t>at week 11 we continue if four of the five targets are met.</a:t>
            </a:r>
            <a:endParaRPr lang="en-US" sz="1600" dirty="0"/>
          </a:p>
        </p:txBody>
      </p:sp>
      <p:pic>
        <p:nvPicPr>
          <p:cNvPr id="5" name="Image 0" descr="/tmp/claude-0/-home-claude/cb850c95-8acd-5c96-8a28-bf7aa743d4f8/scratchpad/foodlink/deck/img2/impact.png">    </p:cNvPr>
          <p:cNvPicPr>
            <a:picLocks noChangeAspect="1"/>
          </p:cNvPicPr>
          <p:nvPr/>
        </p:nvPicPr>
        <p:blipFill>
          <a:blip r:embed="rId1"/>
          <a:stretch>
            <a:fillRect/>
          </a:stretch>
        </p:blipFill>
        <p:spPr>
          <a:xfrm>
            <a:off x="7756855" y="1691640"/>
            <a:ext cx="3886200" cy="2275856"/>
          </a:xfrm>
          <a:prstGeom prst="rect">
            <a:avLst/>
          </a:prstGeom>
        </p:spPr>
      </p:pic>
      <p:sp>
        <p:nvSpPr>
          <p:cNvPr id="6" name="Shape 2"/>
          <p:cNvSpPr/>
          <p:nvPr/>
        </p:nvSpPr>
        <p:spPr>
          <a:xfrm>
            <a:off x="7756855" y="1691640"/>
            <a:ext cx="3886200" cy="2275856"/>
          </a:xfrm>
          <a:prstGeom prst="rect">
            <a:avLst/>
          </a:prstGeom>
          <a:solidFill>
            <a:srgbClr val="FFFFFF">
              <a:alpha val="0"/>
            </a:srgbClr>
          </a:solidFill>
          <a:ln w="9525">
            <a:solidFill>
              <a:srgbClr val="D5DBD7"/>
            </a:solidFill>
            <a:prstDash val="solid"/>
          </a:ln>
        </p:spPr>
      </p:sp>
      <p:sp>
        <p:nvSpPr>
          <p:cNvPr id="7" name="Text 3"/>
          <p:cNvSpPr txBox="1"/>
          <p:nvPr/>
        </p:nvSpPr>
        <p:spPr>
          <a:xfrm>
            <a:off x="7756855" y="4058936"/>
            <a:ext cx="3886200" cy="457200"/>
          </a:xfrm>
          <a:prstGeom prst="rect">
            <a:avLst/>
          </a:prstGeom>
          <a:noFill/>
          <a:ln/>
        </p:spPr>
        <p:txBody>
          <a:bodyPr wrap="square" lIns="0" tIns="0" rIns="0" bIns="0" rtlCol="0" anchor="t"/>
          <a:lstStyle/>
          <a:p>
            <a:pPr indent="0" marL="0">
              <a:buNone/>
            </a:pPr>
            <a:r>
              <a:rPr lang="en-US" sz="1200" dirty="0">
                <a:solidFill>
                  <a:srgbClr val="67706A"/>
                </a:solidFill>
                <a:latin typeface="Source Sans 3" pitchFamily="34" charset="0"/>
                <a:ea typeface="Source Sans 3" pitchFamily="34" charset="-122"/>
                <a:cs typeface="Source Sans 3" pitchFamily="34" charset="-120"/>
              </a:rPr>
              <a:t>The dashboard in the app, shown with simulated pilot data.</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The pilot runs January to March, with a go/no-go decision in week 11</a:t>
            </a:r>
            <a:endParaRPr lang="en-US" sz="2800" dirty="0"/>
          </a:p>
        </p:txBody>
      </p:sp>
      <p:sp>
        <p:nvSpPr>
          <p:cNvPr id="3" name="Text 1"/>
          <p:cNvSpPr txBox="1"/>
          <p:nvPr/>
        </p:nvSpPr>
        <p:spPr>
          <a:xfrm>
            <a:off x="5029200" y="1645920"/>
            <a:ext cx="960120"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Nov–Dec</a:t>
            </a:r>
            <a:endParaRPr lang="en-US" sz="1200" dirty="0"/>
          </a:p>
        </p:txBody>
      </p:sp>
      <p:sp>
        <p:nvSpPr>
          <p:cNvPr id="4" name="Text 2"/>
          <p:cNvSpPr txBox="1"/>
          <p:nvPr/>
        </p:nvSpPr>
        <p:spPr>
          <a:xfrm>
            <a:off x="6035040"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W1</a:t>
            </a:r>
            <a:endParaRPr lang="en-US" sz="1200" dirty="0"/>
          </a:p>
        </p:txBody>
      </p:sp>
      <p:sp>
        <p:nvSpPr>
          <p:cNvPr id="5" name="Text 3"/>
          <p:cNvSpPr txBox="1"/>
          <p:nvPr/>
        </p:nvSpPr>
        <p:spPr>
          <a:xfrm>
            <a:off x="6549016"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W2</a:t>
            </a:r>
            <a:endParaRPr lang="en-US" sz="1200" dirty="0"/>
          </a:p>
        </p:txBody>
      </p:sp>
      <p:sp>
        <p:nvSpPr>
          <p:cNvPr id="6" name="Text 4"/>
          <p:cNvSpPr txBox="1"/>
          <p:nvPr/>
        </p:nvSpPr>
        <p:spPr>
          <a:xfrm>
            <a:off x="7062992"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W3</a:t>
            </a:r>
            <a:endParaRPr lang="en-US" sz="1200" dirty="0"/>
          </a:p>
        </p:txBody>
      </p:sp>
      <p:sp>
        <p:nvSpPr>
          <p:cNvPr id="7" name="Text 5"/>
          <p:cNvSpPr txBox="1"/>
          <p:nvPr/>
        </p:nvSpPr>
        <p:spPr>
          <a:xfrm>
            <a:off x="7576968"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W4</a:t>
            </a:r>
            <a:endParaRPr lang="en-US" sz="1200" dirty="0"/>
          </a:p>
        </p:txBody>
      </p:sp>
      <p:sp>
        <p:nvSpPr>
          <p:cNvPr id="8" name="Text 6"/>
          <p:cNvSpPr txBox="1"/>
          <p:nvPr/>
        </p:nvSpPr>
        <p:spPr>
          <a:xfrm>
            <a:off x="8090944"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W5</a:t>
            </a:r>
            <a:endParaRPr lang="en-US" sz="1200" dirty="0"/>
          </a:p>
        </p:txBody>
      </p:sp>
      <p:sp>
        <p:nvSpPr>
          <p:cNvPr id="9" name="Text 7"/>
          <p:cNvSpPr txBox="1"/>
          <p:nvPr/>
        </p:nvSpPr>
        <p:spPr>
          <a:xfrm>
            <a:off x="8604920"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W6</a:t>
            </a:r>
            <a:endParaRPr lang="en-US" sz="1200" dirty="0"/>
          </a:p>
        </p:txBody>
      </p:sp>
      <p:sp>
        <p:nvSpPr>
          <p:cNvPr id="10" name="Text 8"/>
          <p:cNvSpPr txBox="1"/>
          <p:nvPr/>
        </p:nvSpPr>
        <p:spPr>
          <a:xfrm>
            <a:off x="9118896"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W7</a:t>
            </a:r>
            <a:endParaRPr lang="en-US" sz="1200" dirty="0"/>
          </a:p>
        </p:txBody>
      </p:sp>
      <p:sp>
        <p:nvSpPr>
          <p:cNvPr id="11" name="Text 9"/>
          <p:cNvSpPr txBox="1"/>
          <p:nvPr/>
        </p:nvSpPr>
        <p:spPr>
          <a:xfrm>
            <a:off x="9632871"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W8</a:t>
            </a:r>
            <a:endParaRPr lang="en-US" sz="1200" dirty="0"/>
          </a:p>
        </p:txBody>
      </p:sp>
      <p:sp>
        <p:nvSpPr>
          <p:cNvPr id="12" name="Text 10"/>
          <p:cNvSpPr txBox="1"/>
          <p:nvPr/>
        </p:nvSpPr>
        <p:spPr>
          <a:xfrm>
            <a:off x="10146847"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W9</a:t>
            </a:r>
            <a:endParaRPr lang="en-US" sz="1200" dirty="0"/>
          </a:p>
        </p:txBody>
      </p:sp>
      <p:sp>
        <p:nvSpPr>
          <p:cNvPr id="13" name="Text 11"/>
          <p:cNvSpPr txBox="1"/>
          <p:nvPr/>
        </p:nvSpPr>
        <p:spPr>
          <a:xfrm>
            <a:off x="10660823"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W10</a:t>
            </a:r>
            <a:endParaRPr lang="en-US" sz="1200" dirty="0"/>
          </a:p>
        </p:txBody>
      </p:sp>
      <p:sp>
        <p:nvSpPr>
          <p:cNvPr id="14" name="Text 12"/>
          <p:cNvSpPr txBox="1"/>
          <p:nvPr/>
        </p:nvSpPr>
        <p:spPr>
          <a:xfrm>
            <a:off x="11174799" y="1645920"/>
            <a:ext cx="468256" cy="274320"/>
          </a:xfrm>
          <a:prstGeom prst="rect">
            <a:avLst/>
          </a:prstGeom>
          <a:noFill/>
          <a:ln/>
        </p:spPr>
        <p:txBody>
          <a:bodyPr wrap="square" lIns="0" tIns="0" rIns="0" bIns="0" rtlCol="0" anchor="t"/>
          <a:lstStyle/>
          <a:p>
            <a:pPr algn="ctr" indent="0" marL="0">
              <a:buNone/>
            </a:pPr>
            <a:r>
              <a:rPr lang="en-US" sz="1200" b="1" dirty="0">
                <a:solidFill>
                  <a:srgbClr val="67706A"/>
                </a:solidFill>
                <a:latin typeface="Source Sans 3" pitchFamily="34" charset="0"/>
                <a:ea typeface="Source Sans 3" pitchFamily="34" charset="-122"/>
                <a:cs typeface="Source Sans 3" pitchFamily="34" charset="-120"/>
              </a:rPr>
              <a:t>W11</a:t>
            </a:r>
            <a:endParaRPr lang="en-US" sz="1200" dirty="0"/>
          </a:p>
        </p:txBody>
      </p:sp>
      <p:sp>
        <p:nvSpPr>
          <p:cNvPr id="15" name="Shape 13"/>
          <p:cNvSpPr/>
          <p:nvPr/>
        </p:nvSpPr>
        <p:spPr>
          <a:xfrm>
            <a:off x="548640" y="2002536"/>
            <a:ext cx="11094415" cy="0"/>
          </a:xfrm>
          <a:prstGeom prst="line">
            <a:avLst/>
          </a:prstGeom>
          <a:noFill/>
          <a:ln w="9525">
            <a:solidFill>
              <a:srgbClr val="D5DBD7"/>
            </a:solidFill>
            <a:prstDash val="solid"/>
          </a:ln>
        </p:spPr>
      </p:sp>
      <p:sp>
        <p:nvSpPr>
          <p:cNvPr id="16" name="Text 14"/>
          <p:cNvSpPr txBox="1"/>
          <p:nvPr/>
        </p:nvSpPr>
        <p:spPr>
          <a:xfrm>
            <a:off x="548640" y="2057400"/>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Prepare</a:t>
            </a:r>
            <a:endParaRPr lang="en-US" sz="1600" dirty="0"/>
          </a:p>
        </p:txBody>
      </p:sp>
      <p:sp>
        <p:nvSpPr>
          <p:cNvPr id="17" name="Text 15"/>
          <p:cNvSpPr txBox="1"/>
          <p:nvPr/>
        </p:nvSpPr>
        <p:spPr>
          <a:xfrm>
            <a:off x="1600200" y="2057400"/>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Grant, two sites, Food Support agreement, volunteers certified, partners signed</a:t>
            </a:r>
            <a:endParaRPr lang="en-US" sz="1300" dirty="0"/>
          </a:p>
        </p:txBody>
      </p:sp>
      <p:sp>
        <p:nvSpPr>
          <p:cNvPr id="18" name="Shape 16"/>
          <p:cNvSpPr/>
          <p:nvPr/>
        </p:nvSpPr>
        <p:spPr>
          <a:xfrm>
            <a:off x="5029200" y="2194560"/>
            <a:ext cx="960120" cy="237744"/>
          </a:xfrm>
          <a:prstGeom prst="rect">
            <a:avLst/>
          </a:prstGeom>
          <a:solidFill>
            <a:srgbClr val="B9C2BC"/>
          </a:solidFill>
          <a:ln w="12700">
            <a:solidFill>
              <a:srgbClr val="B9C2BC"/>
            </a:solidFill>
            <a:prstDash val="solid"/>
          </a:ln>
        </p:spPr>
      </p:sp>
      <p:sp>
        <p:nvSpPr>
          <p:cNvPr id="19" name="Shape 17"/>
          <p:cNvSpPr/>
          <p:nvPr/>
        </p:nvSpPr>
        <p:spPr>
          <a:xfrm>
            <a:off x="548640" y="2624328"/>
            <a:ext cx="11094415" cy="0"/>
          </a:xfrm>
          <a:prstGeom prst="line">
            <a:avLst/>
          </a:prstGeom>
          <a:noFill/>
          <a:ln w="9525">
            <a:solidFill>
              <a:srgbClr val="D5DBD7"/>
            </a:solidFill>
            <a:prstDash val="solid"/>
          </a:ln>
        </p:spPr>
      </p:sp>
      <p:sp>
        <p:nvSpPr>
          <p:cNvPr id="20" name="Text 18"/>
          <p:cNvSpPr txBox="1"/>
          <p:nvPr/>
        </p:nvSpPr>
        <p:spPr>
          <a:xfrm>
            <a:off x="548640" y="2679192"/>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Launch</a:t>
            </a:r>
            <a:endParaRPr lang="en-US" sz="1600" dirty="0"/>
          </a:p>
        </p:txBody>
      </p:sp>
      <p:sp>
        <p:nvSpPr>
          <p:cNvPr id="21" name="Text 19"/>
          <p:cNvSpPr txBox="1"/>
          <p:nvPr/>
        </p:nvSpPr>
        <p:spPr>
          <a:xfrm>
            <a:off x="1600200" y="2679192"/>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Shelves, QR codes and posters up; first counts</a:t>
            </a:r>
            <a:endParaRPr lang="en-US" sz="1300" dirty="0"/>
          </a:p>
        </p:txBody>
      </p:sp>
      <p:sp>
        <p:nvSpPr>
          <p:cNvPr id="22" name="Shape 20"/>
          <p:cNvSpPr/>
          <p:nvPr/>
        </p:nvSpPr>
        <p:spPr>
          <a:xfrm>
            <a:off x="6035040" y="2816352"/>
            <a:ext cx="982232" cy="237744"/>
          </a:xfrm>
          <a:prstGeom prst="rect">
            <a:avLst/>
          </a:prstGeom>
          <a:solidFill>
            <a:srgbClr val="1E6B45"/>
          </a:solidFill>
          <a:ln w="12700">
            <a:solidFill>
              <a:srgbClr val="1E6B45"/>
            </a:solidFill>
            <a:prstDash val="solid"/>
          </a:ln>
        </p:spPr>
      </p:sp>
      <p:sp>
        <p:nvSpPr>
          <p:cNvPr id="23" name="Shape 21"/>
          <p:cNvSpPr/>
          <p:nvPr/>
        </p:nvSpPr>
        <p:spPr>
          <a:xfrm>
            <a:off x="548640" y="3246120"/>
            <a:ext cx="11094415" cy="0"/>
          </a:xfrm>
          <a:prstGeom prst="line">
            <a:avLst/>
          </a:prstGeom>
          <a:noFill/>
          <a:ln w="9525">
            <a:solidFill>
              <a:srgbClr val="D5DBD7"/>
            </a:solidFill>
            <a:prstDash val="solid"/>
          </a:ln>
        </p:spPr>
      </p:sp>
      <p:sp>
        <p:nvSpPr>
          <p:cNvPr id="24" name="Text 22"/>
          <p:cNvSpPr txBox="1"/>
          <p:nvPr/>
        </p:nvSpPr>
        <p:spPr>
          <a:xfrm>
            <a:off x="548640" y="3300984"/>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Run</a:t>
            </a:r>
            <a:endParaRPr lang="en-US" sz="1600" dirty="0"/>
          </a:p>
        </p:txBody>
      </p:sp>
      <p:sp>
        <p:nvSpPr>
          <p:cNvPr id="25" name="Text 23"/>
          <p:cNvSpPr txBox="1"/>
          <p:nvPr/>
        </p:nvSpPr>
        <p:spPr>
          <a:xfrm>
            <a:off x="1600200" y="3300984"/>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Restock twice a day; dashboard published weekly</a:t>
            </a:r>
            <a:endParaRPr lang="en-US" sz="1300" dirty="0"/>
          </a:p>
        </p:txBody>
      </p:sp>
      <p:sp>
        <p:nvSpPr>
          <p:cNvPr id="26" name="Shape 24"/>
          <p:cNvSpPr/>
          <p:nvPr/>
        </p:nvSpPr>
        <p:spPr>
          <a:xfrm>
            <a:off x="7062992" y="3438144"/>
            <a:ext cx="4580063" cy="237744"/>
          </a:xfrm>
          <a:prstGeom prst="rect">
            <a:avLst/>
          </a:prstGeom>
          <a:solidFill>
            <a:srgbClr val="1E6B45"/>
          </a:solidFill>
          <a:ln w="12700">
            <a:solidFill>
              <a:srgbClr val="1E6B45"/>
            </a:solidFill>
            <a:prstDash val="solid"/>
          </a:ln>
        </p:spPr>
      </p:sp>
      <p:sp>
        <p:nvSpPr>
          <p:cNvPr id="27" name="Shape 25"/>
          <p:cNvSpPr/>
          <p:nvPr/>
        </p:nvSpPr>
        <p:spPr>
          <a:xfrm>
            <a:off x="548640" y="3867912"/>
            <a:ext cx="11094415" cy="0"/>
          </a:xfrm>
          <a:prstGeom prst="line">
            <a:avLst/>
          </a:prstGeom>
          <a:noFill/>
          <a:ln w="9525">
            <a:solidFill>
              <a:srgbClr val="D5DBD7"/>
            </a:solidFill>
            <a:prstDash val="solid"/>
          </a:ln>
        </p:spPr>
      </p:sp>
      <p:sp>
        <p:nvSpPr>
          <p:cNvPr id="28" name="Text 26"/>
          <p:cNvSpPr txBox="1"/>
          <p:nvPr/>
        </p:nvSpPr>
        <p:spPr>
          <a:xfrm>
            <a:off x="548640" y="3922776"/>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Adjust</a:t>
            </a:r>
            <a:endParaRPr lang="en-US" sz="1600" dirty="0"/>
          </a:p>
        </p:txBody>
      </p:sp>
      <p:sp>
        <p:nvSpPr>
          <p:cNvPr id="29" name="Text 27"/>
          <p:cNvSpPr txBox="1"/>
          <p:nvPr/>
        </p:nvSpPr>
        <p:spPr>
          <a:xfrm>
            <a:off x="1600200" y="3922776"/>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Move stock to where demand is; add partners</a:t>
            </a:r>
            <a:endParaRPr lang="en-US" sz="1300" dirty="0"/>
          </a:p>
        </p:txBody>
      </p:sp>
      <p:sp>
        <p:nvSpPr>
          <p:cNvPr id="30" name="Shape 28"/>
          <p:cNvSpPr/>
          <p:nvPr/>
        </p:nvSpPr>
        <p:spPr>
          <a:xfrm>
            <a:off x="9118896" y="4059936"/>
            <a:ext cx="982232" cy="237744"/>
          </a:xfrm>
          <a:prstGeom prst="rect">
            <a:avLst/>
          </a:prstGeom>
          <a:solidFill>
            <a:srgbClr val="2C6B8A"/>
          </a:solidFill>
          <a:ln w="12700">
            <a:solidFill>
              <a:srgbClr val="2C6B8A"/>
            </a:solidFill>
            <a:prstDash val="solid"/>
          </a:ln>
        </p:spPr>
      </p:sp>
      <p:sp>
        <p:nvSpPr>
          <p:cNvPr id="31" name="Shape 29"/>
          <p:cNvSpPr/>
          <p:nvPr/>
        </p:nvSpPr>
        <p:spPr>
          <a:xfrm>
            <a:off x="548640" y="4489704"/>
            <a:ext cx="11094415" cy="0"/>
          </a:xfrm>
          <a:prstGeom prst="line">
            <a:avLst/>
          </a:prstGeom>
          <a:noFill/>
          <a:ln w="9525">
            <a:solidFill>
              <a:srgbClr val="D5DBD7"/>
            </a:solidFill>
            <a:prstDash val="solid"/>
          </a:ln>
        </p:spPr>
      </p:sp>
      <p:sp>
        <p:nvSpPr>
          <p:cNvPr id="32" name="Text 30"/>
          <p:cNvSpPr txBox="1"/>
          <p:nvPr/>
        </p:nvSpPr>
        <p:spPr>
          <a:xfrm>
            <a:off x="548640" y="4544568"/>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Survey</a:t>
            </a:r>
            <a:endParaRPr lang="en-US" sz="1600" dirty="0"/>
          </a:p>
        </p:txBody>
      </p:sp>
      <p:sp>
        <p:nvSpPr>
          <p:cNvPr id="33" name="Text 31"/>
          <p:cNvSpPr txBox="1"/>
          <p:nvPr/>
        </p:nvSpPr>
        <p:spPr>
          <a:xfrm>
            <a:off x="1600200" y="4544568"/>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Two-question anonymous survey at the shelves</a:t>
            </a:r>
            <a:endParaRPr lang="en-US" sz="1300" dirty="0"/>
          </a:p>
        </p:txBody>
      </p:sp>
      <p:sp>
        <p:nvSpPr>
          <p:cNvPr id="34" name="Shape 32"/>
          <p:cNvSpPr/>
          <p:nvPr/>
        </p:nvSpPr>
        <p:spPr>
          <a:xfrm>
            <a:off x="10660823" y="4681728"/>
            <a:ext cx="468256" cy="237744"/>
          </a:xfrm>
          <a:prstGeom prst="rect">
            <a:avLst/>
          </a:prstGeom>
          <a:solidFill>
            <a:srgbClr val="2C6B8A"/>
          </a:solidFill>
          <a:ln w="12700">
            <a:solidFill>
              <a:srgbClr val="2C6B8A"/>
            </a:solidFill>
            <a:prstDash val="solid"/>
          </a:ln>
        </p:spPr>
      </p:sp>
      <p:sp>
        <p:nvSpPr>
          <p:cNvPr id="35" name="Shape 33"/>
          <p:cNvSpPr/>
          <p:nvPr/>
        </p:nvSpPr>
        <p:spPr>
          <a:xfrm>
            <a:off x="548640" y="5111496"/>
            <a:ext cx="11094415" cy="0"/>
          </a:xfrm>
          <a:prstGeom prst="line">
            <a:avLst/>
          </a:prstGeom>
          <a:noFill/>
          <a:ln w="9525">
            <a:solidFill>
              <a:srgbClr val="D5DBD7"/>
            </a:solidFill>
            <a:prstDash val="solid"/>
          </a:ln>
        </p:spPr>
      </p:sp>
      <p:sp>
        <p:nvSpPr>
          <p:cNvPr id="36" name="Text 34"/>
          <p:cNvSpPr txBox="1"/>
          <p:nvPr/>
        </p:nvSpPr>
        <p:spPr>
          <a:xfrm>
            <a:off x="548640" y="5166360"/>
            <a:ext cx="1005840" cy="512064"/>
          </a:xfrm>
          <a:prstGeom prst="rect">
            <a:avLst/>
          </a:prstGeom>
          <a:noFill/>
          <a:ln/>
        </p:spPr>
        <p:txBody>
          <a:bodyPr wrap="square" lIns="0" tIns="0" rIns="0" bIns="0" rtlCol="0" anchor="ctr"/>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Decide</a:t>
            </a:r>
            <a:endParaRPr lang="en-US" sz="1600" dirty="0"/>
          </a:p>
        </p:txBody>
      </p:sp>
      <p:sp>
        <p:nvSpPr>
          <p:cNvPr id="37" name="Text 35"/>
          <p:cNvSpPr txBox="1"/>
          <p:nvPr/>
        </p:nvSpPr>
        <p:spPr>
          <a:xfrm>
            <a:off x="1600200" y="5166360"/>
            <a:ext cx="3291840" cy="512064"/>
          </a:xfrm>
          <a:prstGeom prst="rect">
            <a:avLst/>
          </a:prstGeom>
          <a:noFill/>
          <a:ln/>
        </p:spPr>
        <p:txBody>
          <a:bodyPr wrap="square" lIns="0" tIns="0" rIns="0" bIns="0" rtlCol="0" anchor="ctr"/>
          <a:lstStyle/>
          <a:p>
            <a:pPr indent="0" marL="0">
              <a:buNone/>
            </a:pPr>
            <a:r>
              <a:rPr lang="en-US" sz="1300" dirty="0">
                <a:solidFill>
                  <a:srgbClr val="3A423C"/>
                </a:solidFill>
                <a:latin typeface="Source Sans 3" pitchFamily="34" charset="0"/>
                <a:ea typeface="Source Sans 3" pitchFamily="34" charset="-122"/>
                <a:cs typeface="Source Sans 3" pitchFamily="34" charset="-120"/>
              </a:rPr>
              <a:t>Go or stop against the five targets</a:t>
            </a:r>
            <a:endParaRPr lang="en-US" sz="1300" dirty="0"/>
          </a:p>
        </p:txBody>
      </p:sp>
      <p:sp>
        <p:nvSpPr>
          <p:cNvPr id="38" name="Shape 36"/>
          <p:cNvSpPr/>
          <p:nvPr/>
        </p:nvSpPr>
        <p:spPr>
          <a:xfrm>
            <a:off x="11174799" y="5303520"/>
            <a:ext cx="468256" cy="237744"/>
          </a:xfrm>
          <a:prstGeom prst="rect">
            <a:avLst/>
          </a:prstGeom>
          <a:solidFill>
            <a:srgbClr val="1B1F1C"/>
          </a:solidFill>
          <a:ln w="12700">
            <a:solidFill>
              <a:srgbClr val="1B1F1C"/>
            </a:solidFill>
            <a:prstDash val="solid"/>
          </a:ln>
        </p:spPr>
      </p:sp>
      <p:sp>
        <p:nvSpPr>
          <p:cNvPr id="39" name="Shape 37"/>
          <p:cNvSpPr/>
          <p:nvPr/>
        </p:nvSpPr>
        <p:spPr>
          <a:xfrm>
            <a:off x="548640" y="5733288"/>
            <a:ext cx="11094415" cy="0"/>
          </a:xfrm>
          <a:prstGeom prst="line">
            <a:avLst/>
          </a:prstGeom>
          <a:noFill/>
          <a:ln w="9525">
            <a:solidFill>
              <a:srgbClr val="D5DBD7"/>
            </a:solidFill>
            <a:prstDash val="solid"/>
          </a:ln>
        </p:spPr>
      </p:sp>
      <p:sp>
        <p:nvSpPr>
          <p:cNvPr id="40" name="Text 38"/>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rgbClr val="67706A"/>
                </a:solidFill>
                <a:latin typeface="Source Sans 3" pitchFamily="34" charset="0"/>
                <a:ea typeface="Source Sans 3" pitchFamily="34" charset="-122"/>
                <a:cs typeface="Source Sans 3" pitchFamily="34" charset="-120"/>
              </a:rPr>
              <a:t>Assumes a grant decision in November and a Winter term that starts in January 2027.</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Each of the five main risks has a control built into the design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2743200"/>
                <a:gridCol w="8351215"/>
              </a:tblGrid>
              <a:tr h="41148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Risk</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Control</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r>
              <a:tr h="77724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Food safety</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Shelves hold sealed, shelf-stable items only. Perishables go only through Drops: sealed, labelled, picked up within two hours, chilled items kept in the partner’s fridge. Ontario’s Donation of Food Act, 1994 protects good-faith donors.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One person empties a shelf</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A posted guide asks for enough for today. Live counts show rushes, so stock moves to where demand is.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Volunteers drop off</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Check-ins take 15 minutes. Food Support staff cover gaps, and exam weeks get lighter schedules.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Information goes stale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Every listing shows when it was checked. Anything older than 30 days is flagged in the app.</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640080">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Privacy and stigma</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No accounts, names or student numbers. Pickup codes only. Shelves sit in busy, neutral spots.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7"/>
          <p:cNvSpPr/>
          <p:nvPr>
            <p:ph idx="107"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SWOT: strongest on cost and accountability, weakest on supply</a:t>
            </a:r>
            <a:endParaRPr lang="en-US" sz="2800" dirty="0"/>
          </a:p>
        </p:txBody>
      </p:sp>
      <p:sp>
        <p:nvSpPr>
          <p:cNvPr id="3" name="Shape 1"/>
          <p:cNvSpPr/>
          <p:nvPr/>
        </p:nvSpPr>
        <p:spPr>
          <a:xfrm>
            <a:off x="548640" y="1645920"/>
            <a:ext cx="5410048" cy="2011680"/>
          </a:xfrm>
          <a:prstGeom prst="rect">
            <a:avLst/>
          </a:prstGeom>
          <a:solidFill>
            <a:srgbClr val="F2F4F2"/>
          </a:solidFill>
          <a:ln w="12700">
            <a:solidFill>
              <a:srgbClr val="F2F4F2"/>
            </a:solidFill>
            <a:prstDash val="solid"/>
          </a:ln>
        </p:spPr>
      </p:sp>
      <p:sp>
        <p:nvSpPr>
          <p:cNvPr id="4" name="Text 2"/>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Strengths</a:t>
            </a:r>
            <a:endParaRPr lang="en-US" sz="2000" dirty="0"/>
          </a:p>
        </p:txBody>
      </p:sp>
      <p:sp>
        <p:nvSpPr>
          <p:cNvPr id="5" name="Text 3"/>
          <p:cNvSpPr txBox="1"/>
          <p:nvPr/>
        </p:nvSpPr>
        <p:spPr>
          <a:xfrm>
            <a:off x="822960" y="2331720"/>
            <a:ext cx="4861408" cy="1234440"/>
          </a:xfrm>
          <a:prstGeom prst="rect">
            <a:avLst/>
          </a:prstGeom>
          <a:noFill/>
          <a:ln/>
        </p:spPr>
        <p:txBody>
          <a:bodyPr wrap="square" lIns="0" tIns="0" rIns="0" bIns="0" rtlCol="0" anchor="t"/>
          <a:lstStyle/>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Built and working today</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Anonymous, walk-up access</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Measures itself at every check-in</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Pilot costs $3,500</a:t>
            </a:r>
            <a:endParaRPr lang="en-US" sz="1600" dirty="0"/>
          </a:p>
        </p:txBody>
      </p:sp>
      <p:sp>
        <p:nvSpPr>
          <p:cNvPr id="6" name="Shape 4"/>
          <p:cNvSpPr/>
          <p:nvPr/>
        </p:nvSpPr>
        <p:spPr>
          <a:xfrm>
            <a:off x="6233008" y="1645920"/>
            <a:ext cx="5410048" cy="2011680"/>
          </a:xfrm>
          <a:prstGeom prst="rect">
            <a:avLst/>
          </a:prstGeom>
          <a:solidFill>
            <a:srgbClr val="F2F4F2"/>
          </a:solidFill>
          <a:ln w="12700">
            <a:solidFill>
              <a:srgbClr val="F2F4F2"/>
            </a:solidFill>
            <a:prstDash val="solid"/>
          </a:ln>
        </p:spPr>
      </p:sp>
      <p:sp>
        <p:nvSpPr>
          <p:cNvPr id="7" name="Text 5"/>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Weaknesses</a:t>
            </a:r>
            <a:endParaRPr lang="en-US" sz="2000" dirty="0"/>
          </a:p>
        </p:txBody>
      </p:sp>
      <p:sp>
        <p:nvSpPr>
          <p:cNvPr id="8" name="Text 6"/>
          <p:cNvSpPr txBox="1"/>
          <p:nvPr/>
        </p:nvSpPr>
        <p:spPr>
          <a:xfrm>
            <a:off x="6507328" y="2331720"/>
            <a:ext cx="4861408" cy="1234440"/>
          </a:xfrm>
          <a:prstGeom prst="rect">
            <a:avLst/>
          </a:prstGeom>
          <a:noFill/>
          <a:ln/>
        </p:spPr>
        <p:txBody>
          <a:bodyPr wrap="square" lIns="0" tIns="0" rIns="0" bIns="0" rtlCol="0" anchor="t"/>
          <a:lstStyle/>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Shelf-stable food only</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Depends on volunteers to restock</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No ID means no per-person limit</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No real pilot data yet</a:t>
            </a:r>
            <a:endParaRPr lang="en-US" sz="1600" dirty="0"/>
          </a:p>
        </p:txBody>
      </p:sp>
      <p:sp>
        <p:nvSpPr>
          <p:cNvPr id="9" name="Shape 7"/>
          <p:cNvSpPr/>
          <p:nvPr/>
        </p:nvSpPr>
        <p:spPr>
          <a:xfrm>
            <a:off x="548640" y="3886200"/>
            <a:ext cx="5410048" cy="2011680"/>
          </a:xfrm>
          <a:prstGeom prst="rect">
            <a:avLst/>
          </a:prstGeom>
          <a:solidFill>
            <a:srgbClr val="F2F4F2"/>
          </a:solidFill>
          <a:ln w="12700">
            <a:solidFill>
              <a:srgbClr val="F2F4F2"/>
            </a:solidFill>
            <a:prstDash val="solid"/>
          </a:ln>
        </p:spPr>
      </p:sp>
      <p:sp>
        <p:nvSpPr>
          <p:cNvPr id="10" name="Text 8"/>
          <p:cNvSpPr txBox="1"/>
          <p:nvPr/>
        </p:nvSpPr>
        <p:spPr>
          <a:xfrm>
            <a:off x="822960" y="4069080"/>
            <a:ext cx="4861408"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Opportunities</a:t>
            </a:r>
            <a:endParaRPr lang="en-US" sz="2000" dirty="0"/>
          </a:p>
        </p:txBody>
      </p:sp>
      <p:sp>
        <p:nvSpPr>
          <p:cNvPr id="11" name="Text 9"/>
          <p:cNvSpPr txBox="1"/>
          <p:nvPr/>
        </p:nvSpPr>
        <p:spPr>
          <a:xfrm>
            <a:off x="822960" y="4572000"/>
            <a:ext cx="4861408" cy="1234440"/>
          </a:xfrm>
          <a:prstGeom prst="rect">
            <a:avLst/>
          </a:prstGeom>
          <a:noFill/>
          <a:ln/>
        </p:spPr>
        <p:txBody>
          <a:bodyPr wrap="square" lIns="0" tIns="0" rIns="0" bIns="0" rtlCol="0" anchor="t"/>
          <a:lstStyle/>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USC Grant Fund open until March</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FoodRescue.ca surplus for Food Support</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Event and catering leftovers</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Residences and affiliate colleges next</a:t>
            </a:r>
            <a:endParaRPr lang="en-US" sz="1600" dirty="0"/>
          </a:p>
        </p:txBody>
      </p:sp>
      <p:sp>
        <p:nvSpPr>
          <p:cNvPr id="12" name="Shape 10"/>
          <p:cNvSpPr/>
          <p:nvPr/>
        </p:nvSpPr>
        <p:spPr>
          <a:xfrm>
            <a:off x="6233008" y="3886200"/>
            <a:ext cx="5410048" cy="2011680"/>
          </a:xfrm>
          <a:prstGeom prst="rect">
            <a:avLst/>
          </a:prstGeom>
          <a:solidFill>
            <a:srgbClr val="F2F4F2"/>
          </a:solidFill>
          <a:ln w="12700">
            <a:solidFill>
              <a:srgbClr val="F2F4F2"/>
            </a:solidFill>
            <a:prstDash val="solid"/>
          </a:ln>
        </p:spPr>
      </p:sp>
      <p:sp>
        <p:nvSpPr>
          <p:cNvPr id="13" name="Text 11"/>
          <p:cNvSpPr txBox="1"/>
          <p:nvPr/>
        </p:nvSpPr>
        <p:spPr>
          <a:xfrm>
            <a:off x="6507328" y="4069080"/>
            <a:ext cx="4861408" cy="411480"/>
          </a:xfrm>
          <a:prstGeom prst="rect">
            <a:avLst/>
          </a:prstGeom>
          <a:noFill/>
          <a:ln/>
        </p:spPr>
        <p:txBody>
          <a:bodyPr wrap="square" lIns="0" tIns="0" rIns="0" bIns="0" rtlCol="0" anchor="t"/>
          <a:lstStyle/>
          <a:p>
            <a:pPr indent="0" marL="0">
              <a:buNone/>
            </a:pPr>
            <a:r>
              <a:rPr lang="en-US" sz="2000" b="1" dirty="0">
                <a:solidFill>
                  <a:srgbClr val="1E6B45"/>
                </a:solidFill>
                <a:latin typeface="Source Sans 3" pitchFamily="34" charset="0"/>
                <a:ea typeface="Source Sans 3" pitchFamily="34" charset="-122"/>
                <a:cs typeface="Source Sans 3" pitchFamily="34" charset="-120"/>
              </a:rPr>
              <a:t>Threats</a:t>
            </a:r>
            <a:endParaRPr lang="en-US" sz="2000" dirty="0"/>
          </a:p>
        </p:txBody>
      </p:sp>
      <p:sp>
        <p:nvSpPr>
          <p:cNvPr id="14" name="Text 12"/>
          <p:cNvSpPr txBox="1"/>
          <p:nvPr/>
        </p:nvSpPr>
        <p:spPr>
          <a:xfrm>
            <a:off x="6507328" y="4572000"/>
            <a:ext cx="4861408" cy="1234440"/>
          </a:xfrm>
          <a:prstGeom prst="rect">
            <a:avLst/>
          </a:prstGeom>
          <a:noFill/>
          <a:ln/>
        </p:spPr>
        <p:txBody>
          <a:bodyPr wrap="square" lIns="0" tIns="0" rIns="0" bIns="0" rtlCol="0" anchor="t"/>
          <a:lstStyle/>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A food-safety incident</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Theft or vandalism at a shelf</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Volunteer burnout in exams</a:t>
            </a:r>
            <a:endParaRPr lang="en-US" sz="1600" dirty="0"/>
          </a:p>
          <a:p>
            <a:pPr marL="203200" indent="-203200">
              <a:spcAft>
                <a:spcPts val="200"/>
              </a:spcAft>
              <a:buSzPct val="100000"/>
              <a:buChar char="•"/>
            </a:pPr>
            <a:r>
              <a:rPr lang="en-US" sz="1600" dirty="0">
                <a:solidFill>
                  <a:srgbClr val="1B1F1C"/>
                </a:solidFill>
                <a:latin typeface="Source Sans 3" pitchFamily="34" charset="0"/>
                <a:ea typeface="Source Sans 3" pitchFamily="34" charset="-122"/>
                <a:cs typeface="Source Sans 3" pitchFamily="34" charset="-120"/>
              </a:rPr>
              <a:t>Confusion with USC hampers</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6"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Our ask: fund the FoodLink pilot</a:t>
            </a:r>
            <a:endParaRPr lang="en-US" sz="2800" dirty="0"/>
          </a:p>
        </p:txBody>
      </p:sp>
      <p:sp>
        <p:nvSpPr>
          <p:cNvPr id="3" name="Shape 1"/>
          <p:cNvSpPr/>
          <p:nvPr/>
        </p:nvSpPr>
        <p:spPr>
          <a:xfrm>
            <a:off x="548640" y="1691640"/>
            <a:ext cx="3454298" cy="1828800"/>
          </a:xfrm>
          <a:prstGeom prst="rect">
            <a:avLst/>
          </a:prstGeom>
          <a:solidFill>
            <a:srgbClr val="F2F4F2"/>
          </a:solidFill>
          <a:ln w="12700">
            <a:solidFill>
              <a:srgbClr val="F2F4F2"/>
            </a:solidFill>
            <a:prstDash val="solid"/>
          </a:ln>
        </p:spPr>
      </p:sp>
      <p:sp>
        <p:nvSpPr>
          <p:cNvPr id="4" name="Text 2"/>
          <p:cNvSpPr txBox="1"/>
          <p:nvPr/>
        </p:nvSpPr>
        <p:spPr>
          <a:xfrm>
            <a:off x="822960" y="1874520"/>
            <a:ext cx="2905658" cy="822960"/>
          </a:xfrm>
          <a:prstGeom prst="rect">
            <a:avLst/>
          </a:prstGeom>
          <a:noFill/>
          <a:ln/>
        </p:spPr>
        <p:txBody>
          <a:bodyPr wrap="square" lIns="0" tIns="0" rIns="0" bIns="0" rtlCol="0" anchor="t"/>
          <a:lstStyle/>
          <a:p>
            <a:pPr indent="0" marL="0">
              <a:buNone/>
            </a:pPr>
            <a:r>
              <a:rPr lang="en-US" sz="4800" b="1" dirty="0">
                <a:solidFill>
                  <a:srgbClr val="1E6B45"/>
                </a:solidFill>
                <a:latin typeface="Source Sans 3" pitchFamily="34" charset="0"/>
                <a:ea typeface="Source Sans 3" pitchFamily="34" charset="-122"/>
                <a:cs typeface="Source Sans 3" pitchFamily="34" charset="-120"/>
              </a:rPr>
              <a:t>$3,500</a:t>
            </a:r>
            <a:endParaRPr lang="en-US" sz="4800" dirty="0"/>
          </a:p>
        </p:txBody>
      </p:sp>
      <p:sp>
        <p:nvSpPr>
          <p:cNvPr id="5" name="Text 3"/>
          <p:cNvSpPr txBox="1"/>
          <p:nvPr/>
        </p:nvSpPr>
        <p:spPr>
          <a:xfrm>
            <a:off x="822960" y="2697480"/>
            <a:ext cx="2905658"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from the USC Grant Fund</a:t>
            </a:r>
            <a:endParaRPr lang="en-US" sz="1600" dirty="0"/>
          </a:p>
        </p:txBody>
      </p:sp>
      <p:sp>
        <p:nvSpPr>
          <p:cNvPr id="6" name="Shape 4"/>
          <p:cNvSpPr/>
          <p:nvPr/>
        </p:nvSpPr>
        <p:spPr>
          <a:xfrm>
            <a:off x="4368698" y="1691640"/>
            <a:ext cx="3454298" cy="1828800"/>
          </a:xfrm>
          <a:prstGeom prst="rect">
            <a:avLst/>
          </a:prstGeom>
          <a:solidFill>
            <a:srgbClr val="F2F4F2"/>
          </a:solidFill>
          <a:ln w="12700">
            <a:solidFill>
              <a:srgbClr val="F2F4F2"/>
            </a:solidFill>
            <a:prstDash val="solid"/>
          </a:ln>
        </p:spPr>
      </p:sp>
      <p:sp>
        <p:nvSpPr>
          <p:cNvPr id="7" name="Text 5"/>
          <p:cNvSpPr txBox="1"/>
          <p:nvPr/>
        </p:nvSpPr>
        <p:spPr>
          <a:xfrm>
            <a:off x="4643018" y="1874520"/>
            <a:ext cx="2905658" cy="822960"/>
          </a:xfrm>
          <a:prstGeom prst="rect">
            <a:avLst/>
          </a:prstGeom>
          <a:noFill/>
          <a:ln/>
        </p:spPr>
        <p:txBody>
          <a:bodyPr wrap="square" lIns="0" tIns="0" rIns="0" bIns="0" rtlCol="0" anchor="t"/>
          <a:lstStyle/>
          <a:p>
            <a:pPr indent="0" marL="0">
              <a:buNone/>
            </a:pPr>
            <a:r>
              <a:rPr lang="en-US" sz="4800" b="1" dirty="0">
                <a:solidFill>
                  <a:srgbClr val="1E6B45"/>
                </a:solidFill>
                <a:latin typeface="Source Sans 3" pitchFamily="34" charset="0"/>
                <a:ea typeface="Source Sans 3" pitchFamily="34" charset="-122"/>
                <a:cs typeface="Source Sans 3" pitchFamily="34" charset="-120"/>
              </a:rPr>
              <a:t>2</a:t>
            </a:r>
            <a:endParaRPr lang="en-US" sz="4800" dirty="0"/>
          </a:p>
        </p:txBody>
      </p:sp>
      <p:sp>
        <p:nvSpPr>
          <p:cNvPr id="8" name="Text 6"/>
          <p:cNvSpPr txBox="1"/>
          <p:nvPr/>
        </p:nvSpPr>
        <p:spPr>
          <a:xfrm>
            <a:off x="4643018" y="2697480"/>
            <a:ext cx="2905658"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shelf locations, UCC plus one busy building</a:t>
            </a:r>
            <a:endParaRPr lang="en-US" sz="1600" dirty="0"/>
          </a:p>
        </p:txBody>
      </p:sp>
      <p:sp>
        <p:nvSpPr>
          <p:cNvPr id="9" name="Shape 7"/>
          <p:cNvSpPr/>
          <p:nvPr/>
        </p:nvSpPr>
        <p:spPr>
          <a:xfrm>
            <a:off x="8188757" y="1691640"/>
            <a:ext cx="3454298" cy="1828800"/>
          </a:xfrm>
          <a:prstGeom prst="rect">
            <a:avLst/>
          </a:prstGeom>
          <a:solidFill>
            <a:srgbClr val="F2F4F2"/>
          </a:solidFill>
          <a:ln w="12700">
            <a:solidFill>
              <a:srgbClr val="F2F4F2"/>
            </a:solidFill>
            <a:prstDash val="solid"/>
          </a:ln>
        </p:spPr>
      </p:sp>
      <p:sp>
        <p:nvSpPr>
          <p:cNvPr id="10" name="Text 8"/>
          <p:cNvSpPr txBox="1"/>
          <p:nvPr/>
        </p:nvSpPr>
        <p:spPr>
          <a:xfrm>
            <a:off x="8463077" y="1874520"/>
            <a:ext cx="2905658" cy="822960"/>
          </a:xfrm>
          <a:prstGeom prst="rect">
            <a:avLst/>
          </a:prstGeom>
          <a:noFill/>
          <a:ln/>
        </p:spPr>
        <p:txBody>
          <a:bodyPr wrap="square" lIns="0" tIns="0" rIns="0" bIns="0" rtlCol="0" anchor="t"/>
          <a:lstStyle/>
          <a:p>
            <a:pPr indent="0" marL="0">
              <a:buNone/>
            </a:pPr>
            <a:r>
              <a:rPr lang="en-US" sz="4800" b="1" dirty="0">
                <a:solidFill>
                  <a:srgbClr val="1E6B45"/>
                </a:solidFill>
                <a:latin typeface="Source Sans 3" pitchFamily="34" charset="0"/>
                <a:ea typeface="Source Sans 3" pitchFamily="34" charset="-122"/>
                <a:cs typeface="Source Sans 3" pitchFamily="34" charset="-120"/>
              </a:rPr>
              <a:t>11</a:t>
            </a:r>
            <a:endParaRPr lang="en-US" sz="4800" dirty="0"/>
          </a:p>
        </p:txBody>
      </p:sp>
      <p:sp>
        <p:nvSpPr>
          <p:cNvPr id="11" name="Text 9"/>
          <p:cNvSpPr txBox="1"/>
          <p:nvPr/>
        </p:nvSpPr>
        <p:spPr>
          <a:xfrm>
            <a:off x="8463077" y="2697480"/>
            <a:ext cx="2905658" cy="640080"/>
          </a:xfrm>
          <a:prstGeom prst="rect">
            <a:avLst/>
          </a:prstGeom>
          <a:noFill/>
          <a:ln/>
        </p:spPr>
        <p:txBody>
          <a:bodyPr wrap="square" lIns="0" tIns="0" rIns="0" bIns="0" rtlCol="0" anchor="t"/>
          <a:lstStyle/>
          <a:p>
            <a:pPr indent="0" marL="0">
              <a:buNone/>
            </a:pPr>
            <a:r>
              <a:rPr lang="en-US" sz="1600" dirty="0">
                <a:solidFill>
                  <a:srgbClr val="1B1F1C"/>
                </a:solidFill>
                <a:latin typeface="Source Sans 3" pitchFamily="34" charset="0"/>
                <a:ea typeface="Source Sans 3" pitchFamily="34" charset="-122"/>
                <a:cs typeface="Source Sans 3" pitchFamily="34" charset="-120"/>
              </a:rPr>
              <a:t>weeks, January to March 2027</a:t>
            </a:r>
            <a:endParaRPr lang="en-US" sz="1600" dirty="0"/>
          </a:p>
        </p:txBody>
      </p:sp>
      <p:sp>
        <p:nvSpPr>
          <p:cNvPr id="12" name="Text 10"/>
          <p:cNvSpPr txBox="1"/>
          <p:nvPr/>
        </p:nvSpPr>
        <p:spPr>
          <a:xfrm>
            <a:off x="548640" y="3886200"/>
            <a:ext cx="11094415" cy="731520"/>
          </a:xfrm>
          <a:prstGeom prst="rect">
            <a:avLst/>
          </a:prstGeom>
          <a:noFill/>
          <a:ln/>
        </p:spPr>
        <p:txBody>
          <a:bodyPr wrap="square" lIns="0" tIns="0" rIns="0" bIns="0" rtlCol="0" anchor="t"/>
          <a:lstStyle/>
          <a:p>
            <a:pPr indent="0" marL="0">
              <a:buNone/>
            </a:pPr>
            <a:r>
              <a:rPr lang="en-US" sz="2000" dirty="0">
                <a:solidFill>
                  <a:srgbClr val="1B1F1C"/>
                </a:solidFill>
                <a:latin typeface="Source Sans 3" pitchFamily="34" charset="0"/>
                <a:ea typeface="Source Sans 3" pitchFamily="34" charset="-122"/>
                <a:cs typeface="Source Sans 3" pitchFamily="34" charset="-120"/>
              </a:rPr>
              <a:t>FoodLink keeps the USC’s hampers and adds walk-up access with the accountability the USC asked for. The app is already built.</a:t>
            </a:r>
            <a:endParaRPr lang="en-US" sz="2000" dirty="0"/>
          </a:p>
        </p:txBody>
      </p:sp>
      <p:sp>
        <p:nvSpPr>
          <p:cNvPr id="13" name="Shape 11"/>
          <p:cNvSpPr/>
          <p:nvPr/>
        </p:nvSpPr>
        <p:spPr>
          <a:xfrm>
            <a:off x="548640" y="4937760"/>
            <a:ext cx="11094415" cy="0"/>
          </a:xfrm>
          <a:prstGeom prst="line">
            <a:avLst/>
          </a:prstGeom>
          <a:noFill/>
          <a:ln w="9525">
            <a:solidFill>
              <a:srgbClr val="D5DBD7"/>
            </a:solidFill>
            <a:prstDash val="solid"/>
          </a:ln>
        </p:spPr>
      </p:sp>
      <p:sp>
        <p:nvSpPr>
          <p:cNvPr id="14" name="Text 12"/>
          <p:cNvSpPr txBox="1"/>
          <p:nvPr/>
        </p:nvSpPr>
        <p:spPr>
          <a:xfrm>
            <a:off x="548640" y="5074920"/>
            <a:ext cx="6400800" cy="365760"/>
          </a:xfrm>
          <a:prstGeom prst="rect">
            <a:avLst/>
          </a:prstGeom>
          <a:noFill/>
          <a:ln/>
        </p:spPr>
        <p:txBody>
          <a:bodyPr wrap="square" lIns="0" tIns="0" rIns="0" bIns="0" rtlCol="0" anchor="t"/>
          <a:lstStyle/>
          <a:p>
            <a:pPr indent="0" marL="0">
              <a:buNone/>
            </a:pPr>
            <a:r>
              <a:rPr lang="en-US" sz="1800" b="1" dirty="0">
                <a:solidFill>
                  <a:srgbClr val="1B1F1C"/>
                </a:solidFill>
                <a:latin typeface="Source Sans 3" pitchFamily="34" charset="0"/>
                <a:ea typeface="Source Sans 3" pitchFamily="34" charset="-122"/>
                <a:cs typeface="Source Sans 3" pitchFamily="34" charset="-120"/>
              </a:rPr>
              <a:t>Thank you. We’re happy to take questions.</a:t>
            </a:r>
            <a:endParaRPr lang="en-US" sz="1800" dirty="0"/>
          </a:p>
        </p:txBody>
      </p:sp>
      <p:sp>
        <p:nvSpPr>
          <p:cNvPr id="15" name="Text 13"/>
          <p:cNvSpPr txBox="1"/>
          <p:nvPr/>
        </p:nvSpPr>
        <p:spPr>
          <a:xfrm>
            <a:off x="548640" y="5486400"/>
            <a:ext cx="11094415" cy="365760"/>
          </a:xfrm>
          <a:prstGeom prst="rect">
            <a:avLst/>
          </a:prstGeom>
          <a:noFill/>
          <a:ln/>
        </p:spPr>
        <p:txBody>
          <a:bodyPr wrap="square" lIns="0" tIns="0" rIns="0" bIns="0" rtlCol="0" anchor="t"/>
          <a:lstStyle/>
          <a:p>
            <a:pPr indent="0" marL="0">
              <a:buNone/>
            </a:pPr>
            <a:r>
              <a:rPr lang="en-US" sz="1400" dirty="0">
                <a:solidFill>
                  <a:srgbClr val="67706A"/>
                </a:solidFill>
                <a:latin typeface="Source Sans 3" pitchFamily="34" charset="0"/>
                <a:ea typeface="Source Sans 3" pitchFamily="34" charset="-122"/>
                <a:cs typeface="Source Sans 3" pitchFamily="34" charset="-120"/>
              </a:rPr>
              <a:t>Xinge Xu (Zinger)  ·  Nuo Zhang  ·  Zohra Khawaja  ·  Ahana Gehlot</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A1. Sources</a:t>
            </a:r>
            <a:endParaRPr lang="en-US" sz="2800" dirty="0"/>
          </a:p>
        </p:txBody>
      </p:sp>
      <p:sp>
        <p:nvSpPr>
          <p:cNvPr id="3" name="Text 1"/>
          <p:cNvSpPr txBox="1"/>
          <p:nvPr/>
        </p:nvSpPr>
        <p:spPr>
          <a:xfrm>
            <a:off x="548640" y="160020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Global News, Mar 15, 2024</a:t>
            </a:r>
            <a:endParaRPr lang="en-US" sz="1400" dirty="0"/>
          </a:p>
        </p:txBody>
      </p:sp>
      <p:sp>
        <p:nvSpPr>
          <p:cNvPr id="4" name="Text 2"/>
          <p:cNvSpPr txBox="1"/>
          <p:nvPr/>
        </p:nvSpPr>
        <p:spPr>
          <a:xfrm>
            <a:off x="548640" y="189280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1,700+ hampers since September 2023; about 750 in all of 2022–23.</a:t>
            </a:r>
            <a:endParaRPr lang="en-US" sz="1300" dirty="0"/>
          </a:p>
        </p:txBody>
      </p:sp>
      <p:sp>
        <p:nvSpPr>
          <p:cNvPr id="5" name="Text 3"/>
          <p:cNvSpPr txBox="1"/>
          <p:nvPr/>
        </p:nvSpPr>
        <p:spPr>
          <a:xfrm>
            <a:off x="548640" y="246888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The Gazette, Oct 4, 2024</a:t>
            </a:r>
            <a:endParaRPr lang="en-US" sz="1400" dirty="0"/>
          </a:p>
        </p:txBody>
      </p:sp>
      <p:sp>
        <p:nvSpPr>
          <p:cNvPr id="6" name="Text 4"/>
          <p:cNvSpPr txBox="1"/>
          <p:nvPr/>
        </p:nvSpPr>
        <p:spPr>
          <a:xfrm>
            <a:off x="548640" y="276148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Walk-ins closed Sept 2023 after a 600% rise in demand; hamper-only; 40 volunteers to six part-time staff; “incredibly difficult.”</a:t>
            </a:r>
            <a:endParaRPr lang="en-US" sz="1300" dirty="0"/>
          </a:p>
        </p:txBody>
      </p:sp>
      <p:sp>
        <p:nvSpPr>
          <p:cNvPr id="7" name="Text 5"/>
          <p:cNvSpPr txBox="1"/>
          <p:nvPr/>
        </p:nvSpPr>
        <p:spPr>
          <a:xfrm>
            <a:off x="548640" y="333756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The Gazette, Feb 2025</a:t>
            </a:r>
            <a:endParaRPr lang="en-US" sz="1400" dirty="0"/>
          </a:p>
        </p:txBody>
      </p:sp>
      <p:sp>
        <p:nvSpPr>
          <p:cNvPr id="8" name="Text 6"/>
          <p:cNvSpPr txBox="1"/>
          <p:nvPr/>
        </p:nvSpPr>
        <p:spPr>
          <a:xfrm>
            <a:off x="548640" y="363016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Proposed 2025–26 USC budget drops the Food Support Coordinator role.</a:t>
            </a:r>
            <a:endParaRPr lang="en-US" sz="1300" dirty="0"/>
          </a:p>
        </p:txBody>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USC Food Support page, Oct 31, 2026</a:t>
            </a:r>
            <a:endParaRPr lang="en-US" sz="1400" dirty="0"/>
          </a:p>
        </p:txBody>
      </p:sp>
      <p:sp>
        <p:nvSpPr>
          <p:cNvPr id="10" name="Text 8"/>
          <p:cNvSpPr txBox="1"/>
          <p:nvPr/>
        </p:nvSpPr>
        <p:spPr>
          <a:xfrm>
            <a:off x="548640" y="449884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Donations only; requests filled in as soon as 48 hours; locker pickup; “requests reopen Sept 8, 2025”; other food resources.</a:t>
            </a:r>
            <a:endParaRPr lang="en-US" sz="1300" dirty="0"/>
          </a:p>
        </p:txBody>
      </p:sp>
      <p:sp>
        <p:nvSpPr>
          <p:cNvPr id="11" name="Text 9"/>
          <p:cNvSpPr txBox="1"/>
          <p:nvPr/>
        </p:nvSpPr>
        <p:spPr>
          <a:xfrm>
            <a:off x="548640" y="507492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Western 2026–27 fee schedule</a:t>
            </a:r>
            <a:endParaRPr lang="en-US" sz="1400" dirty="0"/>
          </a:p>
        </p:txBody>
      </p:sp>
      <p:sp>
        <p:nvSpPr>
          <p:cNvPr id="12" name="Text 10"/>
          <p:cNvSpPr txBox="1"/>
          <p:nvPr/>
        </p:nvSpPr>
        <p:spPr>
          <a:xfrm>
            <a:off x="548640" y="536752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None of the 21 USC fee lines funds food support.</a:t>
            </a:r>
            <a:endParaRPr lang="en-US" sz="1300" dirty="0"/>
          </a:p>
        </p:txBody>
      </p:sp>
      <p:sp>
        <p:nvSpPr>
          <p:cNvPr id="13" name="Text 11"/>
          <p:cNvSpPr txBox="1"/>
          <p:nvPr/>
        </p:nvSpPr>
        <p:spPr>
          <a:xfrm>
            <a:off x="6278728" y="160020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USC Grants page, Oct 31, 2026</a:t>
            </a:r>
            <a:endParaRPr lang="en-US" sz="1400" dirty="0"/>
          </a:p>
        </p:txBody>
      </p:sp>
      <p:sp>
        <p:nvSpPr>
          <p:cNvPr id="14" name="Text 12"/>
          <p:cNvSpPr txBox="1"/>
          <p:nvPr/>
        </p:nvSpPr>
        <p:spPr>
          <a:xfrm>
            <a:off x="6278728" y="189280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About $100,000 a year; rolling applications October to March; food up to 30% of a grant; union-run operations ineligible.</a:t>
            </a:r>
            <a:endParaRPr lang="en-US" sz="1300" dirty="0"/>
          </a:p>
        </p:txBody>
      </p:sp>
      <p:sp>
        <p:nvSpPr>
          <p:cNvPr id="15" name="Text 13"/>
          <p:cNvSpPr txBox="1"/>
          <p:nvPr/>
        </p:nvSpPr>
        <p:spPr>
          <a:xfrm>
            <a:off x="6278728" y="246888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PROOF, Apr 29, 2026</a:t>
            </a:r>
            <a:endParaRPr lang="en-US" sz="1400" dirty="0"/>
          </a:p>
        </p:txBody>
      </p:sp>
      <p:sp>
        <p:nvSpPr>
          <p:cNvPr id="16" name="Text 14"/>
          <p:cNvSpPr txBox="1"/>
          <p:nvPr/>
        </p:nvSpPr>
        <p:spPr>
          <a:xfrm>
            <a:off x="6278728" y="276148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24.0% of people in Canada lived in food-insecure households in 2025 (Canadian Income Survey).</a:t>
            </a:r>
            <a:endParaRPr lang="en-US" sz="1300" dirty="0"/>
          </a:p>
        </p:txBody>
      </p:sp>
      <p:sp>
        <p:nvSpPr>
          <p:cNvPr id="17" name="Text 15"/>
          <p:cNvSpPr txBox="1"/>
          <p:nvPr/>
        </p:nvSpPr>
        <p:spPr>
          <a:xfrm>
            <a:off x="6278728" y="333756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Donation of Food Act, 1994 (Ontario)</a:t>
            </a:r>
            <a:endParaRPr lang="en-US" sz="1400" dirty="0"/>
          </a:p>
        </p:txBody>
      </p:sp>
      <p:sp>
        <p:nvSpPr>
          <p:cNvPr id="18" name="Text 16"/>
          <p:cNvSpPr txBox="1"/>
          <p:nvPr/>
        </p:nvSpPr>
        <p:spPr>
          <a:xfrm>
            <a:off x="6278728" y="363016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Donors and distributors are not liable unless food was unfit and they acted with intent or reckless disregard.</a:t>
            </a:r>
            <a:endParaRPr lang="en-US" sz="1300" dirty="0"/>
          </a:p>
        </p:txBody>
      </p:sp>
      <p:sp>
        <p:nvSpPr>
          <p:cNvPr id="19" name="Text 17"/>
          <p:cNvSpPr txBox="1"/>
          <p:nvPr/>
        </p:nvSpPr>
        <p:spPr>
          <a:xfrm>
            <a:off x="6278728" y="4206240"/>
            <a:ext cx="5364328" cy="274320"/>
          </a:xfrm>
          <a:prstGeom prst="rect">
            <a:avLst/>
          </a:prstGeom>
          <a:noFill/>
          <a:ln/>
        </p:spPr>
        <p:txBody>
          <a:bodyPr wrap="square" lIns="0" tIns="0" rIns="0" bIns="0" rtlCol="0" anchor="t"/>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Second Harvest, FoodRescue.ca</a:t>
            </a:r>
            <a:endParaRPr lang="en-US" sz="1400" dirty="0"/>
          </a:p>
        </p:txBody>
      </p:sp>
      <p:sp>
        <p:nvSpPr>
          <p:cNvPr id="20" name="Text 18"/>
          <p:cNvSpPr txBox="1"/>
          <p:nvPr/>
        </p:nvSpPr>
        <p:spPr>
          <a:xfrm>
            <a:off x="6278728" y="4498848"/>
            <a:ext cx="5364328" cy="548640"/>
          </a:xfrm>
          <a:prstGeom prst="rect">
            <a:avLst/>
          </a:prstGeom>
          <a:noFill/>
          <a:ln/>
        </p:spPr>
        <p:txBody>
          <a:bodyPr wrap="square" lIns="0" tIns="0" rIns="0" bIns="0" rtlCol="0" anchor="t"/>
          <a:lstStyle/>
          <a:p>
            <a:pPr indent="0" marL="0">
              <a:buNone/>
            </a:pPr>
            <a:r>
              <a:rPr lang="en-US" sz="1300" dirty="0">
                <a:solidFill>
                  <a:srgbClr val="3A423C"/>
                </a:solidFill>
                <a:latin typeface="Source Sans 3" pitchFamily="34" charset="0"/>
                <a:ea typeface="Source Sans 3" pitchFamily="34" charset="-122"/>
                <a:cs typeface="Source Sans 3" pitchFamily="34" charset="-120"/>
              </a:rPr>
              <a:t>Free surplus-food platform for charities and non-profits.</a:t>
            </a:r>
            <a:endParaRPr lang="en-US" sz="13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A2. Budget assumptions</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560320"/>
                <a:gridCol w="1188720"/>
                <a:gridCol w="7345375"/>
              </a:tblGrid>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Line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Amount</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Basis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Shelves and signage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$1,100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Lockable steel shelving about $400 each; bins, signs and QR codes about $150 each. Quotes during preparation.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Food seed stock</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$1,050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30% of the grant, the USC Grants food cap. About 420 items at $2.50.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Contingency</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$450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About 13% of the budget.</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Hygiene products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$400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Period products, first on the USC most-needed list, plus soap and toothpaste.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Promotion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$250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Posters, QR stickers, social posts.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Food-handler training</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$200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Online certification for six volunteers.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Hosting and domain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$50</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Free hosting tiers; one year of a domain.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669280"/>
            <a:ext cx="11094415" cy="320040"/>
          </a:xfrm>
          <a:prstGeom prst="rect">
            <a:avLst/>
          </a:prstGeom>
          <a:noFill/>
          <a:ln/>
        </p:spPr>
        <p:txBody>
          <a:bodyPr wrap="square" lIns="0" tIns="0" rIns="0" bIns="0" rtlCol="0" anchor="t"/>
          <a:lstStyle/>
          <a:p>
            <a:pPr indent="0" marL="0">
              <a:buNone/>
            </a:pPr>
            <a:r>
              <a:rPr lang="en-US" sz="1400" dirty="0">
                <a:solidFill>
                  <a:srgbClr val="1B1F1C"/>
                </a:solidFill>
                <a:latin typeface="Source Sans 3" pitchFamily="34" charset="0"/>
                <a:ea typeface="Source Sans 3" pitchFamily="34" charset="-122"/>
                <a:cs typeface="Source Sans 3" pitchFamily="34" charset="-120"/>
              </a:rPr>
              <a:t>To reach 1,000 items: about 420 bought, about 100 hygiene items, the rest from partners, food drives and Food Support.</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A3. Options we ruled out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43200"/>
                <a:gridCol w="2560320"/>
                <a:gridCol w="5790895"/>
              </a:tblGrid>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Option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What it offers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Why not on its own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2F4F2"/>
                    </a:solidFill>
                  </a:tcPr>
                </a:tc>
              </a:tr>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Reopen walk-ins at UCC 40F</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Familiar, immediate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The USC closed them because they could not be run in an organized way. No live data.</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More hampers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Proven, private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Still a form and at least 48 hours. FoodLink lists hampers next to the shelves.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Community fridge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Fresh food</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Needs temperature logs, cleaning and public-health rules. A phase-two option.</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FoodRescue.ca alone</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Free surplus for non-profits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Built for agencies collecting in bulk, not students. Food Support can join it to stock the shelves.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1F1C"/>
                          </a:solidFill>
                          <a:latin typeface="Source Sans 3" pitchFamily="34" charset="0"/>
                          <a:ea typeface="Source Sans 3" pitchFamily="34" charset="-122"/>
                          <a:cs typeface="Source Sans 3" pitchFamily="34" charset="-120"/>
                        </a:rPr>
                        <a:t>Too Good To Go</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Cheap surplus bags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c>
                  <a:txBody>
                    <a:bodyPr/>
                    <a:lstStyle/>
                    <a:p>
                      <a:pPr indent="0" marL="0">
                        <a:buNone/>
                      </a:pPr>
                      <a:r>
                        <a:rPr lang="en-US" sz="1400" dirty="0">
                          <a:solidFill>
                            <a:srgbClr val="3A423C"/>
                          </a:solidFill>
                          <a:latin typeface="Source Sans 3" pitchFamily="34" charset="0"/>
                          <a:ea typeface="Source Sans 3" pitchFamily="34" charset="-122"/>
                          <a:cs typeface="Source Sans 3" pitchFamily="34" charset="-120"/>
                        </a:rPr>
                        <a:t>Costs money and is mostly off campus.</a:t>
                      </a:r>
                      <a:endParaRPr lang="en-US" sz="1400" dirty="0">
                        <a:latin typeface="Source Sans 3" charset="0"/>
                        <a:ea typeface="Source Sans 3" charset="0"/>
                        <a:cs typeface="Source Sans 3" charset="0"/>
                      </a:endParaRPr>
                    </a:p>
                  </a:txBody>
                  <a:tcPr marL="101600" marR="101600" marT="63500" marB="63500" anchor="ctr">
                    <a:lnL w="9525" cap="flat" cmpd="sng" algn="ctr">
                      <a:solidFill>
                        <a:srgbClr val="D5DBD7"/>
                      </a:solidFill>
                      <a:prstDash val="solid"/>
                      <a:round/>
                      <a:headEnd type="none" w="med" len="med"/>
                      <a:tailEnd type="none" w="med" len="med"/>
                    </a:lnL>
                    <a:lnR w="9525" cap="flat" cmpd="sng" algn="ctr">
                      <a:solidFill>
                        <a:srgbClr val="D5DBD7"/>
                      </a:solidFill>
                      <a:prstDash val="solid"/>
                      <a:round/>
                      <a:headEnd type="none" w="med" len="med"/>
                      <a:tailEnd type="none" w="med" len="med"/>
                    </a:lnR>
                    <a:lnT w="9525" cap="flat" cmpd="sng" algn="ctr">
                      <a:solidFill>
                        <a:srgbClr val="D5DBD7"/>
                      </a:solidFill>
                      <a:prstDash val="solid"/>
                      <a:round/>
                      <a:headEnd type="none" w="med" len="med"/>
                      <a:tailEnd type="none" w="med" len="med"/>
                    </a:lnT>
                    <a:lnB w="9525" cap="flat" cmpd="sng" algn="ctr">
                      <a:solidFill>
                        <a:srgbClr val="D5DB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548640" y="411480"/>
            <a:ext cx="11094415" cy="960120"/>
          </a:xfrm>
          <a:prstGeom prst="rect">
            <a:avLst/>
          </a:prstGeom>
          <a:noFill/>
          <a:ln/>
        </p:spPr>
        <p:txBody>
          <a:bodyPr wrap="square" lIns="0" tIns="0" rIns="0" bIns="0" rtlCol="0" anchor="t"/>
          <a:lstStyle/>
          <a:p>
            <a:pPr algn="l" indent="0" marL="0">
              <a:buNone/>
            </a:pPr>
            <a:r>
              <a:rPr lang="en-US" sz="2800" b="1" dirty="0">
                <a:solidFill>
                  <a:srgbClr val="1B1F1C"/>
                </a:solidFill>
                <a:latin typeface="Source Sans 3" pitchFamily="34" charset="0"/>
                <a:ea typeface="Source Sans 3" pitchFamily="34" charset="-122"/>
                <a:cs typeface="Source Sans 3" pitchFamily="34" charset="-120"/>
              </a:rPr>
              <a:t>A4. Questions we expect</a:t>
            </a:r>
            <a:endParaRPr lang="en-US" sz="2800" dirty="0"/>
          </a:p>
        </p:txBody>
      </p:sp>
      <p:sp>
        <p:nvSpPr>
          <p:cNvPr id="3" name="Text 1"/>
          <p:cNvSpPr txBox="1"/>
          <p:nvPr/>
        </p:nvSpPr>
        <p:spPr>
          <a:xfrm>
            <a:off x="548640" y="1554480"/>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Isn’t this just walk-ins again?</a:t>
            </a:r>
            <a:endParaRPr lang="en-US" sz="1600" dirty="0"/>
          </a:p>
        </p:txBody>
      </p:sp>
      <p:sp>
        <p:nvSpPr>
          <p:cNvPr id="4" name="Text 2"/>
          <p:cNvSpPr txBox="1"/>
          <p:nvPr/>
        </p:nvSpPr>
        <p:spPr>
          <a:xfrm>
            <a:off x="548640" y="1920240"/>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Walk-up access, but every restock is counted and logged: the accountability the USC said walk-ins lacked.</a:t>
            </a:r>
            <a:endParaRPr lang="en-US" sz="1400" dirty="0"/>
          </a:p>
        </p:txBody>
      </p:sp>
      <p:sp>
        <p:nvSpPr>
          <p:cNvPr id="5" name="Text 3"/>
          <p:cNvSpPr txBox="1"/>
          <p:nvPr/>
        </p:nvSpPr>
        <p:spPr>
          <a:xfrm>
            <a:off x="6278728" y="1554480"/>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What stops one person emptying a shelf?</a:t>
            </a:r>
            <a:endParaRPr lang="en-US" sz="1600" dirty="0"/>
          </a:p>
        </p:txBody>
      </p:sp>
      <p:sp>
        <p:nvSpPr>
          <p:cNvPr id="6" name="Text 4"/>
          <p:cNvSpPr txBox="1"/>
          <p:nvPr/>
        </p:nvSpPr>
        <p:spPr>
          <a:xfrm>
            <a:off x="6278728" y="1920240"/>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A posted guide, two restocks a day, and live counts that show rushes so stock can move.</a:t>
            </a:r>
            <a:endParaRPr lang="en-US" sz="1400" dirty="0"/>
          </a:p>
        </p:txBody>
      </p:sp>
      <p:sp>
        <p:nvSpPr>
          <p:cNvPr id="7" name="Text 5"/>
          <p:cNvSpPr txBox="1"/>
          <p:nvPr/>
        </p:nvSpPr>
        <p:spPr>
          <a:xfrm>
            <a:off x="548640" y="2670048"/>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Who restocks?</a:t>
            </a:r>
            <a:endParaRPr lang="en-US" sz="1600" dirty="0"/>
          </a:p>
        </p:txBody>
      </p:sp>
      <p:sp>
        <p:nvSpPr>
          <p:cNvPr id="8" name="Text 6"/>
          <p:cNvSpPr txBox="1"/>
          <p:nvPr/>
        </p:nvSpPr>
        <p:spPr>
          <a:xfrm>
            <a:off x="548640" y="3035808"/>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Six certified volunteers on 15-minute check-ins, with Food Support staff covering gaps.</a:t>
            </a:r>
            <a:endParaRPr lang="en-US" sz="1400" dirty="0"/>
          </a:p>
        </p:txBody>
      </p:sp>
      <p:sp>
        <p:nvSpPr>
          <p:cNvPr id="9" name="Text 7"/>
          <p:cNvSpPr txBox="1"/>
          <p:nvPr/>
        </p:nvSpPr>
        <p:spPr>
          <a:xfrm>
            <a:off x="6278728" y="2670048"/>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Is handing out donated food safe and legal?</a:t>
            </a:r>
            <a:endParaRPr lang="en-US" sz="1600" dirty="0"/>
          </a:p>
        </p:txBody>
      </p:sp>
      <p:sp>
        <p:nvSpPr>
          <p:cNvPr id="10" name="Text 8"/>
          <p:cNvSpPr txBox="1"/>
          <p:nvPr/>
        </p:nvSpPr>
        <p:spPr>
          <a:xfrm>
            <a:off x="6278728" y="3035808"/>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Sealed, labelled, in-date food only, enforced in the app. Ontario’s Donation of Food Act protects good-faith donors.</a:t>
            </a:r>
            <a:endParaRPr lang="en-US" sz="1400" dirty="0"/>
          </a:p>
        </p:txBody>
      </p:sp>
      <p:sp>
        <p:nvSpPr>
          <p:cNvPr id="11" name="Text 9"/>
          <p:cNvSpPr txBox="1"/>
          <p:nvPr/>
        </p:nvSpPr>
        <p:spPr>
          <a:xfrm>
            <a:off x="548640" y="3785616"/>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Why an app and not a spreadsheet?</a:t>
            </a:r>
            <a:endParaRPr lang="en-US" sz="1600" dirty="0"/>
          </a:p>
        </p:txBody>
      </p:sp>
      <p:sp>
        <p:nvSpPr>
          <p:cNvPr id="12" name="Text 10"/>
          <p:cNvSpPr txBox="1"/>
          <p:nvPr/>
        </p:nvSpPr>
        <p:spPr>
          <a:xfrm>
            <a:off x="548640" y="4151376"/>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Students need live stock and the USC needs an audit trail. One app does both, and it already exists.</a:t>
            </a:r>
            <a:endParaRPr lang="en-US" sz="1400" dirty="0"/>
          </a:p>
        </p:txBody>
      </p:sp>
      <p:sp>
        <p:nvSpPr>
          <p:cNvPr id="13" name="Text 11"/>
          <p:cNvSpPr txBox="1"/>
          <p:nvPr/>
        </p:nvSpPr>
        <p:spPr>
          <a:xfrm>
            <a:off x="6278728" y="3785616"/>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What happens after week 11?</a:t>
            </a:r>
            <a:endParaRPr lang="en-US" sz="1600" dirty="0"/>
          </a:p>
        </p:txBody>
      </p:sp>
      <p:sp>
        <p:nvSpPr>
          <p:cNvPr id="14" name="Text 12"/>
          <p:cNvSpPr txBox="1"/>
          <p:nvPr/>
        </p:nvSpPr>
        <p:spPr>
          <a:xfrm>
            <a:off x="6278728" y="4151376"/>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If four of five targets are met, add two shelves and hand daily running to Food Support. If not, stop and publish what we learned.</a:t>
            </a:r>
            <a:endParaRPr lang="en-US" sz="1400" dirty="0"/>
          </a:p>
        </p:txBody>
      </p:sp>
      <p:sp>
        <p:nvSpPr>
          <p:cNvPr id="15" name="Text 13"/>
          <p:cNvSpPr txBox="1"/>
          <p:nvPr/>
        </p:nvSpPr>
        <p:spPr>
          <a:xfrm>
            <a:off x="548640" y="4901184"/>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Food Support is a USC service. Can a USC Grant fund this?</a:t>
            </a:r>
            <a:endParaRPr lang="en-US" sz="1600" dirty="0"/>
          </a:p>
        </p:txBody>
      </p:sp>
      <p:sp>
        <p:nvSpPr>
          <p:cNvPr id="16" name="Text 14"/>
          <p:cNvSpPr txBox="1"/>
          <p:nvPr/>
        </p:nvSpPr>
        <p:spPr>
          <a:xfrm>
            <a:off x="548640" y="5266944"/>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The grant goes to our student team, which runs the pilot. Food Support is a partner, not the applicant.</a:t>
            </a:r>
            <a:endParaRPr lang="en-US" sz="1400" dirty="0"/>
          </a:p>
        </p:txBody>
      </p:sp>
      <p:sp>
        <p:nvSpPr>
          <p:cNvPr id="17" name="Text 15"/>
          <p:cNvSpPr txBox="1"/>
          <p:nvPr/>
        </p:nvSpPr>
        <p:spPr>
          <a:xfrm>
            <a:off x="6278728" y="4901184"/>
            <a:ext cx="5364328" cy="329184"/>
          </a:xfrm>
          <a:prstGeom prst="rect">
            <a:avLst/>
          </a:prstGeom>
          <a:noFill/>
          <a:ln/>
        </p:spPr>
        <p:txBody>
          <a:bodyPr wrap="square" lIns="0" tIns="0" rIns="0" bIns="0" rtlCol="0" anchor="t"/>
          <a:lstStyle/>
          <a:p>
            <a:pPr indent="0" marL="0">
              <a:buNone/>
            </a:pPr>
            <a:r>
              <a:rPr lang="en-US" sz="1600" b="1" dirty="0">
                <a:solidFill>
                  <a:srgbClr val="1B1F1C"/>
                </a:solidFill>
                <a:latin typeface="Source Sans 3" pitchFamily="34" charset="0"/>
                <a:ea typeface="Source Sans 3" pitchFamily="34" charset="-122"/>
                <a:cs typeface="Source Sans 3" pitchFamily="34" charset="-120"/>
              </a:rPr>
              <a:t>How do you know students will use it?</a:t>
            </a:r>
            <a:endParaRPr lang="en-US" sz="1600" dirty="0"/>
          </a:p>
        </p:txBody>
      </p:sp>
      <p:sp>
        <p:nvSpPr>
          <p:cNvPr id="18" name="Text 16"/>
          <p:cNvSpPr txBox="1"/>
          <p:nvPr/>
        </p:nvSpPr>
        <p:spPr>
          <a:xfrm>
            <a:off x="6278728" y="5266944"/>
            <a:ext cx="5364328" cy="658368"/>
          </a:xfrm>
          <a:prstGeom prst="rect">
            <a:avLst/>
          </a:prstGeom>
          <a:noFill/>
          <a:ln/>
        </p:spPr>
        <p:txBody>
          <a:bodyPr wrap="square" lIns="0" tIns="0" rIns="0" bIns="0" rtlCol="0" anchor="t"/>
          <a:lstStyle/>
          <a:p>
            <a:pPr indent="0" marL="0">
              <a:buNone/>
            </a:pPr>
            <a:r>
              <a:rPr lang="en-US" sz="1400" dirty="0">
                <a:solidFill>
                  <a:srgbClr val="3A423C"/>
                </a:solidFill>
                <a:latin typeface="Source Sans 3" pitchFamily="34" charset="0"/>
                <a:ea typeface="Source Sans 3" pitchFamily="34" charset="-122"/>
                <a:cs typeface="Source Sans 3" pitchFamily="34" charset="-120"/>
              </a:rPr>
              <a:t>We don’t yet; the pilot tests it. The bar is 1,000 items in 11 weeks, and a week-10 survey at the shelves asks users what to change.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7706A"/>
                </a:solidFill>
                <a:latin typeface="Source Sans 3"/>
                <a:ea typeface="Source Sans 3"/>
                <a:cs typeface="Source Sans 3"/>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FoodLink">
  <a:themeElements>
    <a:clrScheme name="FoodLink">
      <a:dk1>
        <a:srgbClr val="1B1F1C"/>
      </a:dk1>
      <a:lt1>
        <a:srgbClr val="FFFFFF"/>
      </a:lt1>
      <a:dk2>
        <a:srgbClr val="17432F"/>
      </a:dk2>
      <a:lt2>
        <a:srgbClr val="F2F4F2"/>
      </a:lt2>
      <a:accent1>
        <a:srgbClr val="1E6B45"/>
      </a:accent1>
      <a:accent2>
        <a:srgbClr val="2C6B8A"/>
      </a:accent2>
      <a:accent3>
        <a:srgbClr val="A8322A"/>
      </a:accent3>
      <a:accent4>
        <a:srgbClr val="B9C2BC"/>
      </a:accent4>
      <a:accent5>
        <a:srgbClr val="67706A"/>
      </a:accent5>
      <a:accent6>
        <a:srgbClr val="E2EFE7"/>
      </a:accent6>
      <a:hlink>
        <a:srgbClr val="1E6B45"/>
      </a:hlink>
      <a:folHlink>
        <a:srgbClr val="17432F"/>
      </a:folHlink>
    </a:clrScheme>
    <a:fontScheme name="FoodLink">
      <a:majorFont>
        <a:latin typeface="Source Sans 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urce Sans 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PBSN ASPIRE: FoodLink</dc:title>
  <dc:subject>PptxGenJS Presentation</dc:subject>
  <dc:creator>PBSN ASPIRE team</dc:creator>
  <cp:lastModifiedBy>PBSN ASPIRE team</cp:lastModifiedBy>
  <cp:revision>1</cp:revision>
  <dcterms:created xsi:type="dcterms:W3CDTF">2026-10-31T09:01:39Z</dcterms:created>
  <dcterms:modified xsi:type="dcterms:W3CDTF">2026-10-31T09:01:39Z</dcterms:modified>
</cp:coreProperties>
</file>